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768" r:id="rId1"/>
  </p:sldMasterIdLst>
  <p:notesMasterIdLst>
    <p:notesMasterId r:id="rId215"/>
  </p:notesMasterIdLst>
  <p:sldIdLst>
    <p:sldId id="806" r:id="rId2"/>
    <p:sldId id="803" r:id="rId3"/>
    <p:sldId id="596" r:id="rId4"/>
    <p:sldId id="597" r:id="rId5"/>
    <p:sldId id="598" r:id="rId6"/>
    <p:sldId id="599" r:id="rId7"/>
    <p:sldId id="600" r:id="rId8"/>
    <p:sldId id="645" r:id="rId9"/>
    <p:sldId id="646" r:id="rId10"/>
    <p:sldId id="601" r:id="rId11"/>
    <p:sldId id="602" r:id="rId12"/>
    <p:sldId id="603" r:id="rId13"/>
    <p:sldId id="606" r:id="rId14"/>
    <p:sldId id="604" r:id="rId15"/>
    <p:sldId id="607" r:id="rId16"/>
    <p:sldId id="609" r:id="rId17"/>
    <p:sldId id="608" r:id="rId18"/>
    <p:sldId id="610" r:id="rId19"/>
    <p:sldId id="611" r:id="rId20"/>
    <p:sldId id="619" r:id="rId21"/>
    <p:sldId id="612" r:id="rId22"/>
    <p:sldId id="613" r:id="rId23"/>
    <p:sldId id="615" r:id="rId24"/>
    <p:sldId id="616" r:id="rId25"/>
    <p:sldId id="617" r:id="rId26"/>
    <p:sldId id="618" r:id="rId27"/>
    <p:sldId id="620" r:id="rId28"/>
    <p:sldId id="621" r:id="rId29"/>
    <p:sldId id="622" r:id="rId30"/>
    <p:sldId id="625" r:id="rId31"/>
    <p:sldId id="624" r:id="rId32"/>
    <p:sldId id="628" r:id="rId33"/>
    <p:sldId id="626" r:id="rId34"/>
    <p:sldId id="627" r:id="rId35"/>
    <p:sldId id="810" r:id="rId36"/>
    <p:sldId id="811" r:id="rId37"/>
    <p:sldId id="812" r:id="rId38"/>
    <p:sldId id="1938" r:id="rId39"/>
    <p:sldId id="643" r:id="rId40"/>
    <p:sldId id="644" r:id="rId41"/>
    <p:sldId id="647" r:id="rId42"/>
    <p:sldId id="648" r:id="rId43"/>
    <p:sldId id="649" r:id="rId44"/>
    <p:sldId id="650" r:id="rId45"/>
    <p:sldId id="651" r:id="rId46"/>
    <p:sldId id="807" r:id="rId47"/>
    <p:sldId id="652" r:id="rId48"/>
    <p:sldId id="657" r:id="rId49"/>
    <p:sldId id="653" r:id="rId50"/>
    <p:sldId id="654" r:id="rId51"/>
    <p:sldId id="655" r:id="rId52"/>
    <p:sldId id="813" r:id="rId53"/>
    <p:sldId id="814" r:id="rId54"/>
    <p:sldId id="815" r:id="rId55"/>
    <p:sldId id="816" r:id="rId56"/>
    <p:sldId id="1932" r:id="rId57"/>
    <p:sldId id="1933" r:id="rId58"/>
    <p:sldId id="656" r:id="rId59"/>
    <p:sldId id="805" r:id="rId60"/>
    <p:sldId id="658" r:id="rId61"/>
    <p:sldId id="817" r:id="rId62"/>
    <p:sldId id="285" r:id="rId63"/>
    <p:sldId id="371" r:id="rId64"/>
    <p:sldId id="376" r:id="rId65"/>
    <p:sldId id="377" r:id="rId66"/>
    <p:sldId id="378" r:id="rId67"/>
    <p:sldId id="379" r:id="rId68"/>
    <p:sldId id="380" r:id="rId69"/>
    <p:sldId id="381" r:id="rId70"/>
    <p:sldId id="382" r:id="rId71"/>
    <p:sldId id="360" r:id="rId72"/>
    <p:sldId id="487" r:id="rId73"/>
    <p:sldId id="479" r:id="rId74"/>
    <p:sldId id="478" r:id="rId75"/>
    <p:sldId id="488" r:id="rId76"/>
    <p:sldId id="383" r:id="rId77"/>
    <p:sldId id="818" r:id="rId78"/>
    <p:sldId id="659" r:id="rId79"/>
    <p:sldId id="660" r:id="rId80"/>
    <p:sldId id="661" r:id="rId81"/>
    <p:sldId id="662" r:id="rId82"/>
    <p:sldId id="663" r:id="rId83"/>
    <p:sldId id="664" r:id="rId84"/>
    <p:sldId id="665" r:id="rId85"/>
    <p:sldId id="667" r:id="rId86"/>
    <p:sldId id="666" r:id="rId87"/>
    <p:sldId id="668" r:id="rId88"/>
    <p:sldId id="669" r:id="rId89"/>
    <p:sldId id="674" r:id="rId90"/>
    <p:sldId id="670" r:id="rId91"/>
    <p:sldId id="671" r:id="rId92"/>
    <p:sldId id="676" r:id="rId93"/>
    <p:sldId id="672" r:id="rId94"/>
    <p:sldId id="673" r:id="rId95"/>
    <p:sldId id="678" r:id="rId96"/>
    <p:sldId id="675" r:id="rId97"/>
    <p:sldId id="808" r:id="rId98"/>
    <p:sldId id="809" r:id="rId99"/>
    <p:sldId id="677" r:id="rId100"/>
    <p:sldId id="819" r:id="rId101"/>
    <p:sldId id="704" r:id="rId102"/>
    <p:sldId id="841" r:id="rId103"/>
    <p:sldId id="705" r:id="rId104"/>
    <p:sldId id="706" r:id="rId105"/>
    <p:sldId id="708" r:id="rId106"/>
    <p:sldId id="820" r:id="rId107"/>
    <p:sldId id="821" r:id="rId108"/>
    <p:sldId id="709" r:id="rId109"/>
    <p:sldId id="710" r:id="rId110"/>
    <p:sldId id="711" r:id="rId111"/>
    <p:sldId id="795" r:id="rId112"/>
    <p:sldId id="712" r:id="rId113"/>
    <p:sldId id="713" r:id="rId114"/>
    <p:sldId id="716" r:id="rId115"/>
    <p:sldId id="714" r:id="rId116"/>
    <p:sldId id="717" r:id="rId117"/>
    <p:sldId id="718" r:id="rId118"/>
    <p:sldId id="719" r:id="rId119"/>
    <p:sldId id="715" r:id="rId120"/>
    <p:sldId id="1934" r:id="rId121"/>
    <p:sldId id="1935" r:id="rId122"/>
    <p:sldId id="720" r:id="rId123"/>
    <p:sldId id="729" r:id="rId124"/>
    <p:sldId id="728" r:id="rId125"/>
    <p:sldId id="721" r:id="rId126"/>
    <p:sldId id="722" r:id="rId127"/>
    <p:sldId id="725" r:id="rId128"/>
    <p:sldId id="726" r:id="rId129"/>
    <p:sldId id="723" r:id="rId130"/>
    <p:sldId id="829" r:id="rId131"/>
    <p:sldId id="828" r:id="rId132"/>
    <p:sldId id="724" r:id="rId133"/>
    <p:sldId id="830" r:id="rId134"/>
    <p:sldId id="831" r:id="rId135"/>
    <p:sldId id="832" r:id="rId136"/>
    <p:sldId id="731" r:id="rId137"/>
    <p:sldId id="732" r:id="rId138"/>
    <p:sldId id="730" r:id="rId139"/>
    <p:sldId id="833" r:id="rId140"/>
    <p:sldId id="734" r:id="rId141"/>
    <p:sldId id="735" r:id="rId142"/>
    <p:sldId id="1936" r:id="rId143"/>
    <p:sldId id="1937" r:id="rId144"/>
    <p:sldId id="760" r:id="rId145"/>
    <p:sldId id="761" r:id="rId146"/>
    <p:sldId id="762" r:id="rId147"/>
    <p:sldId id="763" r:id="rId148"/>
    <p:sldId id="822" r:id="rId149"/>
    <p:sldId id="764" r:id="rId150"/>
    <p:sldId id="765" r:id="rId151"/>
    <p:sldId id="766" r:id="rId152"/>
    <p:sldId id="778" r:id="rId153"/>
    <p:sldId id="779" r:id="rId154"/>
    <p:sldId id="767" r:id="rId155"/>
    <p:sldId id="768" r:id="rId156"/>
    <p:sldId id="781" r:id="rId157"/>
    <p:sldId id="769" r:id="rId158"/>
    <p:sldId id="770" r:id="rId159"/>
    <p:sldId id="771" r:id="rId160"/>
    <p:sldId id="780" r:id="rId161"/>
    <p:sldId id="785" r:id="rId162"/>
    <p:sldId id="782" r:id="rId163"/>
    <p:sldId id="788" r:id="rId164"/>
    <p:sldId id="784" r:id="rId165"/>
    <p:sldId id="786" r:id="rId166"/>
    <p:sldId id="789" r:id="rId167"/>
    <p:sldId id="790" r:id="rId168"/>
    <p:sldId id="823" r:id="rId169"/>
    <p:sldId id="824" r:id="rId170"/>
    <p:sldId id="826" r:id="rId171"/>
    <p:sldId id="827" r:id="rId172"/>
    <p:sldId id="787" r:id="rId173"/>
    <p:sldId id="773" r:id="rId174"/>
    <p:sldId id="776" r:id="rId175"/>
    <p:sldId id="774" r:id="rId176"/>
    <p:sldId id="775" r:id="rId177"/>
    <p:sldId id="796" r:id="rId178"/>
    <p:sldId id="797" r:id="rId179"/>
    <p:sldId id="798" r:id="rId180"/>
    <p:sldId id="799" r:id="rId181"/>
    <p:sldId id="800" r:id="rId182"/>
    <p:sldId id="825" r:id="rId183"/>
    <p:sldId id="777" r:id="rId184"/>
    <p:sldId id="791" r:id="rId185"/>
    <p:sldId id="792" r:id="rId186"/>
    <p:sldId id="793" r:id="rId187"/>
    <p:sldId id="834" r:id="rId188"/>
    <p:sldId id="736" r:id="rId189"/>
    <p:sldId id="737" r:id="rId190"/>
    <p:sldId id="738" r:id="rId191"/>
    <p:sldId id="739" r:id="rId192"/>
    <p:sldId id="740" r:id="rId193"/>
    <p:sldId id="741" r:id="rId194"/>
    <p:sldId id="742" r:id="rId195"/>
    <p:sldId id="745" r:id="rId196"/>
    <p:sldId id="743" r:id="rId197"/>
    <p:sldId id="744" r:id="rId198"/>
    <p:sldId id="839" r:id="rId199"/>
    <p:sldId id="751" r:id="rId200"/>
    <p:sldId id="746" r:id="rId201"/>
    <p:sldId id="747" r:id="rId202"/>
    <p:sldId id="748" r:id="rId203"/>
    <p:sldId id="749" r:id="rId204"/>
    <p:sldId id="750" r:id="rId205"/>
    <p:sldId id="752" r:id="rId206"/>
    <p:sldId id="753" r:id="rId207"/>
    <p:sldId id="840" r:id="rId208"/>
    <p:sldId id="754" r:id="rId209"/>
    <p:sldId id="757" r:id="rId210"/>
    <p:sldId id="756" r:id="rId211"/>
    <p:sldId id="755" r:id="rId212"/>
    <p:sldId id="758" r:id="rId213"/>
    <p:sldId id="759" r:id="rId214"/>
  </p:sldIdLst>
  <p:sldSz cx="9144000" cy="6858000" type="screen4x3"/>
  <p:notesSz cx="6858000" cy="9144000"/>
  <p:defaultTex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118" autoAdjust="0"/>
    <p:restoredTop sz="94660"/>
  </p:normalViewPr>
  <p:slideViewPr>
    <p:cSldViewPr>
      <p:cViewPr varScale="1">
        <p:scale>
          <a:sx n="81" d="100"/>
          <a:sy n="81" d="100"/>
        </p:scale>
        <p:origin x="1570" y="91"/>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slide" Target="slides/slide164.xml"/><Relationship Id="rId181" Type="http://schemas.openxmlformats.org/officeDocument/2006/relationships/slide" Target="slides/slide180.xml"/><Relationship Id="rId186" Type="http://schemas.openxmlformats.org/officeDocument/2006/relationships/slide" Target="slides/slide185.xml"/><Relationship Id="rId216" Type="http://schemas.openxmlformats.org/officeDocument/2006/relationships/presProps" Target="presProps.xml"/><Relationship Id="rId211" Type="http://schemas.openxmlformats.org/officeDocument/2006/relationships/slide" Target="slides/slide210.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slide" Target="slides/slide170.xml"/><Relationship Id="rId176" Type="http://schemas.openxmlformats.org/officeDocument/2006/relationships/slide" Target="slides/slide175.xml"/><Relationship Id="rId192" Type="http://schemas.openxmlformats.org/officeDocument/2006/relationships/slide" Target="slides/slide191.xml"/><Relationship Id="rId197" Type="http://schemas.openxmlformats.org/officeDocument/2006/relationships/slide" Target="slides/slide196.xml"/><Relationship Id="rId206" Type="http://schemas.openxmlformats.org/officeDocument/2006/relationships/slide" Target="slides/slide205.xml"/><Relationship Id="rId201" Type="http://schemas.openxmlformats.org/officeDocument/2006/relationships/slide" Target="slides/slide200.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82" Type="http://schemas.openxmlformats.org/officeDocument/2006/relationships/slide" Target="slides/slide181.xml"/><Relationship Id="rId187" Type="http://schemas.openxmlformats.org/officeDocument/2006/relationships/slide" Target="slides/slide186.xml"/><Relationship Id="rId217"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212" Type="http://schemas.openxmlformats.org/officeDocument/2006/relationships/slide" Target="slides/slide211.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172" Type="http://schemas.openxmlformats.org/officeDocument/2006/relationships/slide" Target="slides/slide171.xml"/><Relationship Id="rId193" Type="http://schemas.openxmlformats.org/officeDocument/2006/relationships/slide" Target="slides/slide192.xml"/><Relationship Id="rId202" Type="http://schemas.openxmlformats.org/officeDocument/2006/relationships/slide" Target="slides/slide201.xml"/><Relationship Id="rId207" Type="http://schemas.openxmlformats.org/officeDocument/2006/relationships/slide" Target="slides/slide206.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13" Type="http://schemas.openxmlformats.org/officeDocument/2006/relationships/slide" Target="slides/slide212.xml"/><Relationship Id="rId218"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slide" Target="slides/slide202.xml"/><Relationship Id="rId208" Type="http://schemas.openxmlformats.org/officeDocument/2006/relationships/slide" Target="slides/slide207.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219" Type="http://schemas.openxmlformats.org/officeDocument/2006/relationships/tableStyles" Target="tableStyles.xml"/><Relationship Id="rId3" Type="http://schemas.openxmlformats.org/officeDocument/2006/relationships/slide" Target="slides/slide2.xml"/><Relationship Id="rId214" Type="http://schemas.openxmlformats.org/officeDocument/2006/relationships/slide" Target="slides/slide213.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notesMaster" Target="notesMasters/notesMaster1.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nagłówka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pl-PL"/>
          </a:p>
        </p:txBody>
      </p:sp>
      <p:sp>
        <p:nvSpPr>
          <p:cNvPr id="3" name="Symbol zastępczy daty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AA93238-105C-4C66-9EC7-292656D80C77}" type="datetimeFigureOut">
              <a:rPr lang="pl-PL" smtClean="0"/>
              <a:pPr/>
              <a:t>2025-10-12</a:t>
            </a:fld>
            <a:endParaRPr lang="pl-PL"/>
          </a:p>
        </p:txBody>
      </p:sp>
      <p:sp>
        <p:nvSpPr>
          <p:cNvPr id="4" name="Symbol zastępczy obrazu slajdu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pl-PL"/>
          </a:p>
        </p:txBody>
      </p:sp>
      <p:sp>
        <p:nvSpPr>
          <p:cNvPr id="5" name="Symbol zastępczy notatek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6" name="Symbol zastępczy stopki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pl-PL"/>
          </a:p>
        </p:txBody>
      </p:sp>
      <p:sp>
        <p:nvSpPr>
          <p:cNvPr id="7" name="Symbol zastępczy numeru slajdu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A11798A-5AFE-40AF-82FB-4965F1F2CD04}" type="slidenum">
              <a:rPr lang="pl-PL" smtClean="0"/>
              <a:pPr/>
              <a:t>‹#›</a:t>
            </a:fld>
            <a:endParaRPr lang="pl-PL"/>
          </a:p>
        </p:txBody>
      </p:sp>
    </p:spTree>
    <p:extLst>
      <p:ext uri="{BB962C8B-B14F-4D97-AF65-F5344CB8AC3E}">
        <p14:creationId xmlns:p14="http://schemas.microsoft.com/office/powerpoint/2010/main" val="5120333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normAutofit/>
          </a:bodyPr>
          <a:lstStyle/>
          <a:p>
            <a:endParaRPr lang="pl-PL" dirty="0"/>
          </a:p>
        </p:txBody>
      </p:sp>
      <p:sp>
        <p:nvSpPr>
          <p:cNvPr id="4" name="Symbol zastępczy numeru slajdu 3"/>
          <p:cNvSpPr>
            <a:spLocks noGrp="1"/>
          </p:cNvSpPr>
          <p:nvPr>
            <p:ph type="sldNum" sz="quarter" idx="10"/>
          </p:nvPr>
        </p:nvSpPr>
        <p:spPr/>
        <p:txBody>
          <a:bodyPr/>
          <a:lstStyle/>
          <a:p>
            <a:fld id="{8A11798A-5AFE-40AF-82FB-4965F1F2CD04}" type="slidenum">
              <a:rPr lang="pl-PL" smtClean="0"/>
              <a:pPr/>
              <a:t>145</a:t>
            </a:fld>
            <a:endParaRPr lang="pl-PL"/>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Slajd tytułowy">
    <p:spTree>
      <p:nvGrpSpPr>
        <p:cNvPr id="1" name=""/>
        <p:cNvGrpSpPr/>
        <p:nvPr/>
      </p:nvGrpSpPr>
      <p:grpSpPr>
        <a:xfrm>
          <a:off x="0" y="0"/>
          <a:ext cx="0" cy="0"/>
          <a:chOff x="0" y="0"/>
          <a:chExt cx="0" cy="0"/>
        </a:xfrm>
      </p:grpSpPr>
      <p:sp>
        <p:nvSpPr>
          <p:cNvPr id="15" name="Prostokąt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Prostokąt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Prostokąt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Prostokąt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Prostokąt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Podtytuł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pl-PL"/>
              <a:t>Kliknij, aby edytować styl wzorca podtytułu</a:t>
            </a:r>
            <a:endParaRPr kumimoji="0" lang="en-US"/>
          </a:p>
        </p:txBody>
      </p:sp>
      <p:sp>
        <p:nvSpPr>
          <p:cNvPr id="28" name="Symbol zastępczy daty 27"/>
          <p:cNvSpPr>
            <a:spLocks noGrp="1"/>
          </p:cNvSpPr>
          <p:nvPr>
            <p:ph type="dt" sz="half" idx="10"/>
          </p:nvPr>
        </p:nvSpPr>
        <p:spPr/>
        <p:txBody>
          <a:bodyPr/>
          <a:lstStyle/>
          <a:p>
            <a:fld id="{6FA8F5B0-6EC4-4B90-95DB-C694ADE2A020}" type="datetimeFigureOut">
              <a:rPr lang="pl-PL" smtClean="0"/>
              <a:pPr/>
              <a:t>2025-10-12</a:t>
            </a:fld>
            <a:endParaRPr lang="pl-PL"/>
          </a:p>
        </p:txBody>
      </p:sp>
      <p:sp>
        <p:nvSpPr>
          <p:cNvPr id="17" name="Symbol zastępczy stopki 16"/>
          <p:cNvSpPr>
            <a:spLocks noGrp="1"/>
          </p:cNvSpPr>
          <p:nvPr>
            <p:ph type="ftr" sz="quarter" idx="11"/>
          </p:nvPr>
        </p:nvSpPr>
        <p:spPr/>
        <p:txBody>
          <a:bodyPr/>
          <a:lstStyle/>
          <a:p>
            <a:endParaRPr lang="pl-PL"/>
          </a:p>
        </p:txBody>
      </p:sp>
      <p:sp>
        <p:nvSpPr>
          <p:cNvPr id="7" name="Łącznik prosty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Prostokąt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Elipsa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Elipsa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Symbol zastępczy numeru slajdu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51DC6538-DAC2-4436-80CF-1C1EA190B12E}" type="slidenum">
              <a:rPr lang="pl-PL" smtClean="0"/>
              <a:pPr/>
              <a:t>‹#›</a:t>
            </a:fld>
            <a:endParaRPr lang="pl-PL"/>
          </a:p>
        </p:txBody>
      </p:sp>
      <p:sp>
        <p:nvSpPr>
          <p:cNvPr id="8" name="Tytuł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pl-PL"/>
              <a:t>Kliknij, aby edytować styl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ytuł i zawartość">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lvl1pPr>
              <a:defRPr>
                <a:solidFill>
                  <a:schemeClr val="accent3">
                    <a:shade val="75000"/>
                  </a:schemeClr>
                </a:solidFill>
              </a:defRPr>
            </a:lvl1pPr>
          </a:lstStyle>
          <a:p>
            <a:r>
              <a:rPr kumimoji="0" lang="pl-PL"/>
              <a:t>Kliknij, aby edytować styl</a:t>
            </a:r>
            <a:endParaRPr kumimoji="0" lang="en-US"/>
          </a:p>
        </p:txBody>
      </p:sp>
      <p:sp>
        <p:nvSpPr>
          <p:cNvPr id="4" name="Symbol zastępczy daty 3"/>
          <p:cNvSpPr>
            <a:spLocks noGrp="1"/>
          </p:cNvSpPr>
          <p:nvPr>
            <p:ph type="dt" sz="half" idx="10"/>
          </p:nvPr>
        </p:nvSpPr>
        <p:spPr/>
        <p:txBody>
          <a:bodyPr/>
          <a:lstStyle/>
          <a:p>
            <a:fld id="{6FA8F5B0-6EC4-4B90-95DB-C694ADE2A020}" type="datetimeFigureOut">
              <a:rPr lang="pl-PL" smtClean="0"/>
              <a:pPr/>
              <a:t>2025-10-12</a:t>
            </a:fld>
            <a:endParaRPr lang="pl-PL"/>
          </a:p>
        </p:txBody>
      </p:sp>
      <p:sp>
        <p:nvSpPr>
          <p:cNvPr id="5" name="Symbol zastępczy stopki 4"/>
          <p:cNvSpPr>
            <a:spLocks noGrp="1"/>
          </p:cNvSpPr>
          <p:nvPr>
            <p:ph type="ftr" sz="quarter" idx="11"/>
          </p:nvPr>
        </p:nvSpPr>
        <p:spPr/>
        <p:txBody>
          <a:bodyPr/>
          <a:lstStyle/>
          <a:p>
            <a:endParaRPr lang="pl-PL"/>
          </a:p>
        </p:txBody>
      </p:sp>
      <p:sp>
        <p:nvSpPr>
          <p:cNvPr id="6" name="Symbol zastępczy numeru slajdu 5"/>
          <p:cNvSpPr>
            <a:spLocks noGrp="1"/>
          </p:cNvSpPr>
          <p:nvPr>
            <p:ph type="sldNum" sz="quarter" idx="12"/>
          </p:nvPr>
        </p:nvSpPr>
        <p:spPr>
          <a:xfrm>
            <a:off x="4361688" y="1026372"/>
            <a:ext cx="457200" cy="441325"/>
          </a:xfrm>
        </p:spPr>
        <p:txBody>
          <a:bodyPr/>
          <a:lstStyle/>
          <a:p>
            <a:fld id="{51DC6538-DAC2-4436-80CF-1C1EA190B12E}" type="slidenum">
              <a:rPr lang="pl-PL" smtClean="0"/>
              <a:pPr/>
              <a:t>‹#›</a:t>
            </a:fld>
            <a:endParaRPr lang="pl-PL"/>
          </a:p>
        </p:txBody>
      </p:sp>
      <p:sp>
        <p:nvSpPr>
          <p:cNvPr id="8" name="Symbol zastępczy zawartości 7"/>
          <p:cNvSpPr>
            <a:spLocks noGrp="1"/>
          </p:cNvSpPr>
          <p:nvPr>
            <p:ph sz="quarter" idx="1"/>
          </p:nvPr>
        </p:nvSpPr>
        <p:spPr>
          <a:xfrm>
            <a:off x="301752" y="1527048"/>
            <a:ext cx="8503920" cy="4572000"/>
          </a:xfrm>
        </p:spPr>
        <p:txBody>
          <a:bodyPr/>
          <a:lstStyle/>
          <a:p>
            <a:pPr lvl="0" eaLnBrk="1" latinLnBrk="0" hangingPunct="1"/>
            <a:r>
              <a:rPr lang="pl-PL"/>
              <a:t>Kliknij, aby edytować style wzorca tekstu</a:t>
            </a:r>
          </a:p>
          <a:p>
            <a:pPr lvl="1" eaLnBrk="1" latinLnBrk="0" hangingPunct="1"/>
            <a:r>
              <a:rPr lang="pl-PL"/>
              <a:t>Drugi poziom</a:t>
            </a:r>
          </a:p>
          <a:p>
            <a:pPr lvl="2" eaLnBrk="1" latinLnBrk="0" hangingPunct="1"/>
            <a:r>
              <a:rPr lang="pl-PL"/>
              <a:t>Trzeci poziom</a:t>
            </a:r>
          </a:p>
          <a:p>
            <a:pPr lvl="3" eaLnBrk="1" latinLnBrk="0" hangingPunct="1"/>
            <a:r>
              <a:rPr lang="pl-PL"/>
              <a:t>Czwarty poziom</a:t>
            </a:r>
          </a:p>
          <a:p>
            <a:pPr lvl="4" eaLnBrk="1" latinLnBrk="0" hangingPunct="1"/>
            <a:r>
              <a:rPr lang="pl-PL"/>
              <a:t>Piąty poziom</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Nagłówek sekcji">
    <p:spTree>
      <p:nvGrpSpPr>
        <p:cNvPr id="1" name=""/>
        <p:cNvGrpSpPr/>
        <p:nvPr/>
      </p:nvGrpSpPr>
      <p:grpSpPr>
        <a:xfrm>
          <a:off x="0" y="0"/>
          <a:ext cx="0" cy="0"/>
          <a:chOff x="0" y="0"/>
          <a:chExt cx="0" cy="0"/>
        </a:xfrm>
      </p:grpSpPr>
      <p:sp>
        <p:nvSpPr>
          <p:cNvPr id="17" name="Prostokąt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Prostokąt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Prostokąt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Prostokąt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Prostokąt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Prostokąt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Symbol zastępczy tekstu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pl-PL"/>
              <a:t>Kliknij, aby edytować style wzorca tekstu</a:t>
            </a:r>
          </a:p>
        </p:txBody>
      </p:sp>
      <p:sp>
        <p:nvSpPr>
          <p:cNvPr id="13" name="Prostokąt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Prostokąt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Symbol zastępczy stopki 4"/>
          <p:cNvSpPr>
            <a:spLocks noGrp="1"/>
          </p:cNvSpPr>
          <p:nvPr>
            <p:ph type="ftr" sz="quarter" idx="11"/>
          </p:nvPr>
        </p:nvSpPr>
        <p:spPr/>
        <p:txBody>
          <a:bodyPr/>
          <a:lstStyle/>
          <a:p>
            <a:endParaRPr lang="pl-PL"/>
          </a:p>
        </p:txBody>
      </p:sp>
      <p:sp>
        <p:nvSpPr>
          <p:cNvPr id="4" name="Symbol zastępczy daty 3"/>
          <p:cNvSpPr>
            <a:spLocks noGrp="1"/>
          </p:cNvSpPr>
          <p:nvPr>
            <p:ph type="dt" sz="half" idx="10"/>
          </p:nvPr>
        </p:nvSpPr>
        <p:spPr/>
        <p:txBody>
          <a:bodyPr/>
          <a:lstStyle/>
          <a:p>
            <a:fld id="{6FA8F5B0-6EC4-4B90-95DB-C694ADE2A020}" type="datetimeFigureOut">
              <a:rPr lang="pl-PL" smtClean="0"/>
              <a:pPr/>
              <a:t>2025-10-12</a:t>
            </a:fld>
            <a:endParaRPr lang="pl-PL"/>
          </a:p>
        </p:txBody>
      </p:sp>
      <p:sp>
        <p:nvSpPr>
          <p:cNvPr id="8" name="Łącznik prosty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Elipsa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Elipsa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ymbol zastępczy numeru slajdu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51DC6538-DAC2-4436-80CF-1C1EA190B12E}" type="slidenum">
              <a:rPr lang="pl-PL" smtClean="0"/>
              <a:pPr/>
              <a:t>‹#›</a:t>
            </a:fld>
            <a:endParaRPr lang="pl-PL"/>
          </a:p>
        </p:txBody>
      </p:sp>
      <p:sp>
        <p:nvSpPr>
          <p:cNvPr id="2" name="Tytuł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pl-PL"/>
              <a:t>Kliknij, aby edytować styl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Dwa elementy zawartości">
    <p:spTree>
      <p:nvGrpSpPr>
        <p:cNvPr id="1" name=""/>
        <p:cNvGrpSpPr/>
        <p:nvPr/>
      </p:nvGrpSpPr>
      <p:grpSpPr>
        <a:xfrm>
          <a:off x="0" y="0"/>
          <a:ext cx="0" cy="0"/>
          <a:chOff x="0" y="0"/>
          <a:chExt cx="0" cy="0"/>
        </a:xfrm>
      </p:grpSpPr>
      <p:sp>
        <p:nvSpPr>
          <p:cNvPr id="2" name="Tytuł 1"/>
          <p:cNvSpPr>
            <a:spLocks noGrp="1"/>
          </p:cNvSpPr>
          <p:nvPr>
            <p:ph type="title"/>
          </p:nvPr>
        </p:nvSpPr>
        <p:spPr>
          <a:xfrm>
            <a:off x="301752" y="228600"/>
            <a:ext cx="8534400" cy="758952"/>
          </a:xfrm>
        </p:spPr>
        <p:txBody>
          <a:bodyPr/>
          <a:lstStyle/>
          <a:p>
            <a:r>
              <a:rPr kumimoji="0" lang="pl-PL"/>
              <a:t>Kliknij, aby edytować styl</a:t>
            </a:r>
            <a:endParaRPr kumimoji="0" lang="en-US"/>
          </a:p>
        </p:txBody>
      </p:sp>
      <p:sp>
        <p:nvSpPr>
          <p:cNvPr id="5" name="Symbol zastępczy daty 4"/>
          <p:cNvSpPr>
            <a:spLocks noGrp="1"/>
          </p:cNvSpPr>
          <p:nvPr>
            <p:ph type="dt" sz="half" idx="10"/>
          </p:nvPr>
        </p:nvSpPr>
        <p:spPr>
          <a:xfrm>
            <a:off x="5791200" y="6409944"/>
            <a:ext cx="3044952" cy="365760"/>
          </a:xfrm>
        </p:spPr>
        <p:txBody>
          <a:bodyPr/>
          <a:lstStyle/>
          <a:p>
            <a:fld id="{6FA8F5B0-6EC4-4B90-95DB-C694ADE2A020}" type="datetimeFigureOut">
              <a:rPr lang="pl-PL" smtClean="0"/>
              <a:pPr/>
              <a:t>2025-10-12</a:t>
            </a:fld>
            <a:endParaRPr lang="pl-PL"/>
          </a:p>
        </p:txBody>
      </p:sp>
      <p:sp>
        <p:nvSpPr>
          <p:cNvPr id="6" name="Symbol zastępczy stopki 5"/>
          <p:cNvSpPr>
            <a:spLocks noGrp="1"/>
          </p:cNvSpPr>
          <p:nvPr>
            <p:ph type="ftr" sz="quarter" idx="11"/>
          </p:nvPr>
        </p:nvSpPr>
        <p:spPr/>
        <p:txBody>
          <a:bodyPr/>
          <a:lstStyle/>
          <a:p>
            <a:endParaRPr lang="pl-PL"/>
          </a:p>
        </p:txBody>
      </p:sp>
      <p:sp>
        <p:nvSpPr>
          <p:cNvPr id="7" name="Symbol zastępczy numeru slajdu 6"/>
          <p:cNvSpPr>
            <a:spLocks noGrp="1"/>
          </p:cNvSpPr>
          <p:nvPr>
            <p:ph type="sldNum" sz="quarter" idx="12"/>
          </p:nvPr>
        </p:nvSpPr>
        <p:spPr/>
        <p:txBody>
          <a:bodyPr/>
          <a:lstStyle/>
          <a:p>
            <a:fld id="{51DC6538-DAC2-4436-80CF-1C1EA190B12E}" type="slidenum">
              <a:rPr lang="pl-PL" smtClean="0"/>
              <a:pPr/>
              <a:t>‹#›</a:t>
            </a:fld>
            <a:endParaRPr lang="pl-PL"/>
          </a:p>
        </p:txBody>
      </p:sp>
      <p:sp>
        <p:nvSpPr>
          <p:cNvPr id="8" name="Łącznik prosty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Symbol zastępczy zawartości 9"/>
          <p:cNvSpPr>
            <a:spLocks noGrp="1"/>
          </p:cNvSpPr>
          <p:nvPr>
            <p:ph sz="half" idx="1"/>
          </p:nvPr>
        </p:nvSpPr>
        <p:spPr>
          <a:xfrm>
            <a:off x="301752" y="1371600"/>
            <a:ext cx="4038600" cy="4681728"/>
          </a:xfrm>
        </p:spPr>
        <p:txBody>
          <a:bodyPr/>
          <a:lstStyle>
            <a:lvl1pPr>
              <a:defRPr sz="2500"/>
            </a:lvl1pPr>
          </a:lstStyle>
          <a:p>
            <a:pPr lvl="0" eaLnBrk="1" latinLnBrk="0" hangingPunct="1"/>
            <a:r>
              <a:rPr lang="pl-PL"/>
              <a:t>Kliknij, aby edytować style wzorca tekstu</a:t>
            </a:r>
          </a:p>
          <a:p>
            <a:pPr lvl="1" eaLnBrk="1" latinLnBrk="0" hangingPunct="1"/>
            <a:r>
              <a:rPr lang="pl-PL"/>
              <a:t>Drugi poziom</a:t>
            </a:r>
          </a:p>
          <a:p>
            <a:pPr lvl="2" eaLnBrk="1" latinLnBrk="0" hangingPunct="1"/>
            <a:r>
              <a:rPr lang="pl-PL"/>
              <a:t>Trzeci poziom</a:t>
            </a:r>
          </a:p>
          <a:p>
            <a:pPr lvl="3" eaLnBrk="1" latinLnBrk="0" hangingPunct="1"/>
            <a:r>
              <a:rPr lang="pl-PL"/>
              <a:t>Czwarty poziom</a:t>
            </a:r>
          </a:p>
          <a:p>
            <a:pPr lvl="4" eaLnBrk="1" latinLnBrk="0" hangingPunct="1"/>
            <a:r>
              <a:rPr lang="pl-PL"/>
              <a:t>Piąty poziom</a:t>
            </a:r>
            <a:endParaRPr kumimoji="0" lang="en-US"/>
          </a:p>
        </p:txBody>
      </p:sp>
      <p:sp>
        <p:nvSpPr>
          <p:cNvPr id="12" name="Symbol zastępczy zawartości 11"/>
          <p:cNvSpPr>
            <a:spLocks noGrp="1"/>
          </p:cNvSpPr>
          <p:nvPr>
            <p:ph sz="half" idx="2"/>
          </p:nvPr>
        </p:nvSpPr>
        <p:spPr>
          <a:xfrm>
            <a:off x="4800600" y="1371600"/>
            <a:ext cx="4038600" cy="4681728"/>
          </a:xfrm>
        </p:spPr>
        <p:txBody>
          <a:bodyPr/>
          <a:lstStyle>
            <a:lvl1pPr>
              <a:defRPr sz="2500"/>
            </a:lvl1pPr>
          </a:lstStyle>
          <a:p>
            <a:pPr lvl="0" eaLnBrk="1" latinLnBrk="0" hangingPunct="1"/>
            <a:r>
              <a:rPr lang="pl-PL"/>
              <a:t>Kliknij, aby edytować style wzorca tekstu</a:t>
            </a:r>
          </a:p>
          <a:p>
            <a:pPr lvl="1" eaLnBrk="1" latinLnBrk="0" hangingPunct="1"/>
            <a:r>
              <a:rPr lang="pl-PL"/>
              <a:t>Drugi poziom</a:t>
            </a:r>
          </a:p>
          <a:p>
            <a:pPr lvl="2" eaLnBrk="1" latinLnBrk="0" hangingPunct="1"/>
            <a:r>
              <a:rPr lang="pl-PL"/>
              <a:t>Trzeci poziom</a:t>
            </a:r>
          </a:p>
          <a:p>
            <a:pPr lvl="3" eaLnBrk="1" latinLnBrk="0" hangingPunct="1"/>
            <a:r>
              <a:rPr lang="pl-PL"/>
              <a:t>Czwarty poziom</a:t>
            </a:r>
          </a:p>
          <a:p>
            <a:pPr lvl="4" eaLnBrk="1" latinLnBrk="0" hangingPunct="1"/>
            <a:r>
              <a:rPr lang="pl-PL"/>
              <a:t>Piąty poziom</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Porównanie">
    <p:spTree>
      <p:nvGrpSpPr>
        <p:cNvPr id="1" name=""/>
        <p:cNvGrpSpPr/>
        <p:nvPr/>
      </p:nvGrpSpPr>
      <p:grpSpPr>
        <a:xfrm>
          <a:off x="0" y="0"/>
          <a:ext cx="0" cy="0"/>
          <a:chOff x="0" y="0"/>
          <a:chExt cx="0" cy="0"/>
        </a:xfrm>
      </p:grpSpPr>
      <p:sp>
        <p:nvSpPr>
          <p:cNvPr id="10" name="Łącznik prosty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Prostokąt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Prostokąt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Prostokąt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Prostokąt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Prostokąt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Prostokąt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Symbol zastępczy tekstu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pl-PL"/>
              <a:t>Kliknij, aby edytować style wzorca tekstu</a:t>
            </a:r>
          </a:p>
        </p:txBody>
      </p:sp>
      <p:sp>
        <p:nvSpPr>
          <p:cNvPr id="4" name="Symbol zastępczy tekstu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pl-PL"/>
              <a:t>Kliknij, aby edytować style wzorca tekstu</a:t>
            </a:r>
          </a:p>
        </p:txBody>
      </p:sp>
      <p:sp>
        <p:nvSpPr>
          <p:cNvPr id="7" name="Symbol zastępczy daty 6"/>
          <p:cNvSpPr>
            <a:spLocks noGrp="1"/>
          </p:cNvSpPr>
          <p:nvPr>
            <p:ph type="dt" sz="half" idx="10"/>
          </p:nvPr>
        </p:nvSpPr>
        <p:spPr/>
        <p:txBody>
          <a:bodyPr/>
          <a:lstStyle/>
          <a:p>
            <a:fld id="{6FA8F5B0-6EC4-4B90-95DB-C694ADE2A020}" type="datetimeFigureOut">
              <a:rPr lang="pl-PL" smtClean="0"/>
              <a:pPr/>
              <a:t>2025-10-12</a:t>
            </a:fld>
            <a:endParaRPr lang="pl-PL"/>
          </a:p>
        </p:txBody>
      </p:sp>
      <p:sp>
        <p:nvSpPr>
          <p:cNvPr id="8" name="Symbol zastępczy stopki 7"/>
          <p:cNvSpPr>
            <a:spLocks noGrp="1"/>
          </p:cNvSpPr>
          <p:nvPr>
            <p:ph type="ftr" sz="quarter" idx="11"/>
          </p:nvPr>
        </p:nvSpPr>
        <p:spPr>
          <a:xfrm>
            <a:off x="304800" y="6409944"/>
            <a:ext cx="3581400" cy="365760"/>
          </a:xfrm>
        </p:spPr>
        <p:txBody>
          <a:bodyPr/>
          <a:lstStyle/>
          <a:p>
            <a:endParaRPr lang="pl-PL"/>
          </a:p>
        </p:txBody>
      </p:sp>
      <p:sp>
        <p:nvSpPr>
          <p:cNvPr id="15" name="Łącznik prosty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Prostokąt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Symbol zastępczy zawartości 23"/>
          <p:cNvSpPr>
            <a:spLocks noGrp="1"/>
          </p:cNvSpPr>
          <p:nvPr>
            <p:ph sz="quarter" idx="2"/>
          </p:nvPr>
        </p:nvSpPr>
        <p:spPr>
          <a:xfrm>
            <a:off x="301752" y="2471383"/>
            <a:ext cx="4041648" cy="3818404"/>
          </a:xfrm>
        </p:spPr>
        <p:txBody>
          <a:bodyPr/>
          <a:lstStyle/>
          <a:p>
            <a:pPr lvl="0" eaLnBrk="1" latinLnBrk="0" hangingPunct="1"/>
            <a:r>
              <a:rPr lang="pl-PL"/>
              <a:t>Kliknij, aby edytować style wzorca tekstu</a:t>
            </a:r>
          </a:p>
          <a:p>
            <a:pPr lvl="1" eaLnBrk="1" latinLnBrk="0" hangingPunct="1"/>
            <a:r>
              <a:rPr lang="pl-PL"/>
              <a:t>Drugi poziom</a:t>
            </a:r>
          </a:p>
          <a:p>
            <a:pPr lvl="2" eaLnBrk="1" latinLnBrk="0" hangingPunct="1"/>
            <a:r>
              <a:rPr lang="pl-PL"/>
              <a:t>Trzeci poziom</a:t>
            </a:r>
          </a:p>
          <a:p>
            <a:pPr lvl="3" eaLnBrk="1" latinLnBrk="0" hangingPunct="1"/>
            <a:r>
              <a:rPr lang="pl-PL"/>
              <a:t>Czwarty poziom</a:t>
            </a:r>
          </a:p>
          <a:p>
            <a:pPr lvl="4" eaLnBrk="1" latinLnBrk="0" hangingPunct="1"/>
            <a:r>
              <a:rPr lang="pl-PL"/>
              <a:t>Piąty poziom</a:t>
            </a:r>
            <a:endParaRPr kumimoji="0" lang="en-US"/>
          </a:p>
        </p:txBody>
      </p:sp>
      <p:sp>
        <p:nvSpPr>
          <p:cNvPr id="26" name="Symbol zastępczy zawartości 25"/>
          <p:cNvSpPr>
            <a:spLocks noGrp="1"/>
          </p:cNvSpPr>
          <p:nvPr>
            <p:ph sz="quarter" idx="4"/>
          </p:nvPr>
        </p:nvSpPr>
        <p:spPr>
          <a:xfrm>
            <a:off x="4800600" y="2471383"/>
            <a:ext cx="4038600" cy="3822192"/>
          </a:xfrm>
        </p:spPr>
        <p:txBody>
          <a:bodyPr/>
          <a:lstStyle/>
          <a:p>
            <a:pPr lvl="0" eaLnBrk="1" latinLnBrk="0" hangingPunct="1"/>
            <a:r>
              <a:rPr lang="pl-PL"/>
              <a:t>Kliknij, aby edytować style wzorca tekstu</a:t>
            </a:r>
          </a:p>
          <a:p>
            <a:pPr lvl="1" eaLnBrk="1" latinLnBrk="0" hangingPunct="1"/>
            <a:r>
              <a:rPr lang="pl-PL"/>
              <a:t>Drugi poziom</a:t>
            </a:r>
          </a:p>
          <a:p>
            <a:pPr lvl="2" eaLnBrk="1" latinLnBrk="0" hangingPunct="1"/>
            <a:r>
              <a:rPr lang="pl-PL"/>
              <a:t>Trzeci poziom</a:t>
            </a:r>
          </a:p>
          <a:p>
            <a:pPr lvl="3" eaLnBrk="1" latinLnBrk="0" hangingPunct="1"/>
            <a:r>
              <a:rPr lang="pl-PL"/>
              <a:t>Czwarty poziom</a:t>
            </a:r>
          </a:p>
          <a:p>
            <a:pPr lvl="4" eaLnBrk="1" latinLnBrk="0" hangingPunct="1"/>
            <a:r>
              <a:rPr lang="pl-PL"/>
              <a:t>Piąty poziom</a:t>
            </a:r>
            <a:endParaRPr kumimoji="0" lang="en-US"/>
          </a:p>
        </p:txBody>
      </p:sp>
      <p:sp>
        <p:nvSpPr>
          <p:cNvPr id="25" name="Elipsa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Elipsa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ymbol zastępczy numeru slajdu 8"/>
          <p:cNvSpPr>
            <a:spLocks noGrp="1"/>
          </p:cNvSpPr>
          <p:nvPr>
            <p:ph type="sldNum" sz="quarter" idx="12"/>
          </p:nvPr>
        </p:nvSpPr>
        <p:spPr>
          <a:xfrm>
            <a:off x="4343400" y="1042416"/>
            <a:ext cx="457200" cy="441325"/>
          </a:xfrm>
        </p:spPr>
        <p:txBody>
          <a:bodyPr/>
          <a:lstStyle>
            <a:lvl1pPr algn="ctr">
              <a:defRPr/>
            </a:lvl1pPr>
          </a:lstStyle>
          <a:p>
            <a:fld id="{51DC6538-DAC2-4436-80CF-1C1EA190B12E}" type="slidenum">
              <a:rPr lang="pl-PL" smtClean="0"/>
              <a:pPr/>
              <a:t>‹#›</a:t>
            </a:fld>
            <a:endParaRPr lang="pl-PL"/>
          </a:p>
        </p:txBody>
      </p:sp>
      <p:sp>
        <p:nvSpPr>
          <p:cNvPr id="23" name="Tytuł 22"/>
          <p:cNvSpPr>
            <a:spLocks noGrp="1"/>
          </p:cNvSpPr>
          <p:nvPr>
            <p:ph type="title"/>
          </p:nvPr>
        </p:nvSpPr>
        <p:spPr/>
        <p:txBody>
          <a:bodyPr rtlCol="0" anchor="b" anchorCtr="0"/>
          <a:lstStyle/>
          <a:p>
            <a:r>
              <a:rPr kumimoji="0" lang="pl-PL"/>
              <a:t>Kliknij, aby edytować styl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ylko tytuł">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kumimoji="0" lang="pl-PL"/>
              <a:t>Kliknij, aby edytować styl</a:t>
            </a:r>
            <a:endParaRPr kumimoji="0" lang="en-US"/>
          </a:p>
        </p:txBody>
      </p:sp>
      <p:sp>
        <p:nvSpPr>
          <p:cNvPr id="3" name="Symbol zastępczy daty 2"/>
          <p:cNvSpPr>
            <a:spLocks noGrp="1"/>
          </p:cNvSpPr>
          <p:nvPr>
            <p:ph type="dt" sz="half" idx="10"/>
          </p:nvPr>
        </p:nvSpPr>
        <p:spPr/>
        <p:txBody>
          <a:bodyPr/>
          <a:lstStyle/>
          <a:p>
            <a:fld id="{6FA8F5B0-6EC4-4B90-95DB-C694ADE2A020}" type="datetimeFigureOut">
              <a:rPr lang="pl-PL" smtClean="0"/>
              <a:pPr/>
              <a:t>2025-10-12</a:t>
            </a:fld>
            <a:endParaRPr lang="pl-PL"/>
          </a:p>
        </p:txBody>
      </p:sp>
      <p:sp>
        <p:nvSpPr>
          <p:cNvPr id="4" name="Symbol zastępczy stopki 3"/>
          <p:cNvSpPr>
            <a:spLocks noGrp="1"/>
          </p:cNvSpPr>
          <p:nvPr>
            <p:ph type="ftr" sz="quarter" idx="11"/>
          </p:nvPr>
        </p:nvSpPr>
        <p:spPr/>
        <p:txBody>
          <a:bodyPr/>
          <a:lstStyle/>
          <a:p>
            <a:endParaRPr lang="pl-PL"/>
          </a:p>
        </p:txBody>
      </p:sp>
      <p:sp>
        <p:nvSpPr>
          <p:cNvPr id="5" name="Symbol zastępczy numeru slajdu 4"/>
          <p:cNvSpPr>
            <a:spLocks noGrp="1"/>
          </p:cNvSpPr>
          <p:nvPr>
            <p:ph type="sldNum" sz="quarter" idx="12"/>
          </p:nvPr>
        </p:nvSpPr>
        <p:spPr>
          <a:xfrm>
            <a:off x="4343400" y="1036020"/>
            <a:ext cx="457200" cy="441325"/>
          </a:xfrm>
        </p:spPr>
        <p:txBody>
          <a:bodyPr/>
          <a:lstStyle/>
          <a:p>
            <a:fld id="{51DC6538-DAC2-4436-80CF-1C1EA190B12E}" type="slidenum">
              <a:rPr lang="pl-PL" smtClean="0"/>
              <a:pPr/>
              <a:t>‹#›</a:t>
            </a:fld>
            <a:endParaRPr lang="pl-PL"/>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Pusty">
    <p:spTree>
      <p:nvGrpSpPr>
        <p:cNvPr id="1" name=""/>
        <p:cNvGrpSpPr/>
        <p:nvPr/>
      </p:nvGrpSpPr>
      <p:grpSpPr>
        <a:xfrm>
          <a:off x="0" y="0"/>
          <a:ext cx="0" cy="0"/>
          <a:chOff x="0" y="0"/>
          <a:chExt cx="0" cy="0"/>
        </a:xfrm>
      </p:grpSpPr>
      <p:sp>
        <p:nvSpPr>
          <p:cNvPr id="7" name="Prostokąt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Prostokąt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Prostokąt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Prostokąt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Prostokąt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Prostokąt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Symbol zastępczy daty 1"/>
          <p:cNvSpPr>
            <a:spLocks noGrp="1"/>
          </p:cNvSpPr>
          <p:nvPr>
            <p:ph type="dt" sz="half" idx="10"/>
          </p:nvPr>
        </p:nvSpPr>
        <p:spPr/>
        <p:txBody>
          <a:bodyPr/>
          <a:lstStyle/>
          <a:p>
            <a:fld id="{6FA8F5B0-6EC4-4B90-95DB-C694ADE2A020}" type="datetimeFigureOut">
              <a:rPr lang="pl-PL" smtClean="0"/>
              <a:pPr/>
              <a:t>2025-10-12</a:t>
            </a:fld>
            <a:endParaRPr lang="pl-PL"/>
          </a:p>
        </p:txBody>
      </p:sp>
      <p:sp>
        <p:nvSpPr>
          <p:cNvPr id="3" name="Symbol zastępczy stopki 2"/>
          <p:cNvSpPr>
            <a:spLocks noGrp="1"/>
          </p:cNvSpPr>
          <p:nvPr>
            <p:ph type="ftr" sz="quarter" idx="11"/>
          </p:nvPr>
        </p:nvSpPr>
        <p:spPr/>
        <p:txBody>
          <a:bodyPr/>
          <a:lstStyle/>
          <a:p>
            <a:endParaRPr lang="pl-PL"/>
          </a:p>
        </p:txBody>
      </p:sp>
      <p:sp>
        <p:nvSpPr>
          <p:cNvPr id="4" name="Symbol zastępczy numeru slajdu 3"/>
          <p:cNvSpPr>
            <a:spLocks noGrp="1"/>
          </p:cNvSpPr>
          <p:nvPr>
            <p:ph type="sldNum" sz="quarter" idx="12"/>
          </p:nvPr>
        </p:nvSpPr>
        <p:spPr>
          <a:xfrm>
            <a:off x="4267200" y="6324600"/>
            <a:ext cx="609600" cy="441324"/>
          </a:xfrm>
        </p:spPr>
        <p:txBody>
          <a:bodyPr/>
          <a:lstStyle>
            <a:lvl1pPr>
              <a:defRPr>
                <a:solidFill>
                  <a:srgbClr val="FFFFFF"/>
                </a:solidFill>
              </a:defRPr>
            </a:lvl1pPr>
          </a:lstStyle>
          <a:p>
            <a:fld id="{51DC6538-DAC2-4436-80CF-1C1EA190B12E}" type="slidenum">
              <a:rPr lang="pl-PL" smtClean="0"/>
              <a:pPr/>
              <a:t>‹#›</a:t>
            </a:fld>
            <a:endParaRPr lang="pl-PL"/>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Zawartość z podpisem">
    <p:spTree>
      <p:nvGrpSpPr>
        <p:cNvPr id="1" name=""/>
        <p:cNvGrpSpPr/>
        <p:nvPr/>
      </p:nvGrpSpPr>
      <p:grpSpPr>
        <a:xfrm>
          <a:off x="0" y="0"/>
          <a:ext cx="0" cy="0"/>
          <a:chOff x="0" y="0"/>
          <a:chExt cx="0" cy="0"/>
        </a:xfrm>
      </p:grpSpPr>
      <p:sp>
        <p:nvSpPr>
          <p:cNvPr id="19" name="Prostokąt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Prostokąt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Prostokąt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Prostokąt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Prostokąt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Prostokąt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ytuł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pl-PL"/>
              <a:t>Kliknij, aby edytować styl</a:t>
            </a:r>
            <a:endParaRPr kumimoji="0" lang="en-US"/>
          </a:p>
        </p:txBody>
      </p:sp>
      <p:sp>
        <p:nvSpPr>
          <p:cNvPr id="3" name="Symbol zastępczy tekstu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pl-PL"/>
              <a:t>Kliknij, aby edytować style wzorca tekstu</a:t>
            </a:r>
          </a:p>
        </p:txBody>
      </p:sp>
      <p:sp>
        <p:nvSpPr>
          <p:cNvPr id="8" name="Prostokąt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Łącznik prosty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Symbol zastępczy zawartości 19"/>
          <p:cNvSpPr>
            <a:spLocks noGrp="1"/>
          </p:cNvSpPr>
          <p:nvPr>
            <p:ph sz="quarter" idx="1"/>
          </p:nvPr>
        </p:nvSpPr>
        <p:spPr>
          <a:xfrm>
            <a:off x="3124200" y="685800"/>
            <a:ext cx="5638800" cy="5410200"/>
          </a:xfrm>
        </p:spPr>
        <p:txBody>
          <a:bodyPr/>
          <a:lstStyle/>
          <a:p>
            <a:pPr lvl="0" eaLnBrk="1" latinLnBrk="0" hangingPunct="1"/>
            <a:r>
              <a:rPr lang="pl-PL"/>
              <a:t>Kliknij, aby edytować style wzorca tekstu</a:t>
            </a:r>
          </a:p>
          <a:p>
            <a:pPr lvl="1" eaLnBrk="1" latinLnBrk="0" hangingPunct="1"/>
            <a:r>
              <a:rPr lang="pl-PL"/>
              <a:t>Drugi poziom</a:t>
            </a:r>
          </a:p>
          <a:p>
            <a:pPr lvl="2" eaLnBrk="1" latinLnBrk="0" hangingPunct="1"/>
            <a:r>
              <a:rPr lang="pl-PL"/>
              <a:t>Trzeci poziom</a:t>
            </a:r>
          </a:p>
          <a:p>
            <a:pPr lvl="3" eaLnBrk="1" latinLnBrk="0" hangingPunct="1"/>
            <a:r>
              <a:rPr lang="pl-PL"/>
              <a:t>Czwarty poziom</a:t>
            </a:r>
          </a:p>
          <a:p>
            <a:pPr lvl="4" eaLnBrk="1" latinLnBrk="0" hangingPunct="1"/>
            <a:r>
              <a:rPr lang="pl-PL"/>
              <a:t>Piąty poziom</a:t>
            </a:r>
            <a:endParaRPr kumimoji="0" lang="en-US"/>
          </a:p>
        </p:txBody>
      </p:sp>
      <p:sp>
        <p:nvSpPr>
          <p:cNvPr id="10" name="Elipsa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Elipsa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ymbol zastępczy numeru slajdu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51DC6538-DAC2-4436-80CF-1C1EA190B12E}" type="slidenum">
              <a:rPr lang="pl-PL" smtClean="0"/>
              <a:pPr/>
              <a:t>‹#›</a:t>
            </a:fld>
            <a:endParaRPr lang="pl-PL"/>
          </a:p>
        </p:txBody>
      </p:sp>
      <p:sp>
        <p:nvSpPr>
          <p:cNvPr id="21" name="Prostokąt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Symbol zastępczy daty 4"/>
          <p:cNvSpPr>
            <a:spLocks noGrp="1"/>
          </p:cNvSpPr>
          <p:nvPr>
            <p:ph type="dt" sz="half" idx="10"/>
          </p:nvPr>
        </p:nvSpPr>
        <p:spPr/>
        <p:txBody>
          <a:bodyPr/>
          <a:lstStyle/>
          <a:p>
            <a:fld id="{6FA8F5B0-6EC4-4B90-95DB-C694ADE2A020}" type="datetimeFigureOut">
              <a:rPr lang="pl-PL" smtClean="0"/>
              <a:pPr/>
              <a:t>2025-10-12</a:t>
            </a:fld>
            <a:endParaRPr lang="pl-PL"/>
          </a:p>
        </p:txBody>
      </p:sp>
      <p:sp>
        <p:nvSpPr>
          <p:cNvPr id="6" name="Symbol zastępczy stopki 5"/>
          <p:cNvSpPr>
            <a:spLocks noGrp="1"/>
          </p:cNvSpPr>
          <p:nvPr>
            <p:ph type="ftr" sz="quarter" idx="11"/>
          </p:nvPr>
        </p:nvSpPr>
        <p:spPr>
          <a:xfrm>
            <a:off x="301752" y="6410848"/>
            <a:ext cx="3383280" cy="365760"/>
          </a:xfrm>
        </p:spPr>
        <p:txBody>
          <a:bodyPr/>
          <a:lstStyle/>
          <a:p>
            <a:endParaRPr lang="pl-PL"/>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Obraz z podpisem">
    <p:spTree>
      <p:nvGrpSpPr>
        <p:cNvPr id="1" name=""/>
        <p:cNvGrpSpPr/>
        <p:nvPr/>
      </p:nvGrpSpPr>
      <p:grpSpPr>
        <a:xfrm>
          <a:off x="0" y="0"/>
          <a:ext cx="0" cy="0"/>
          <a:chOff x="0" y="0"/>
          <a:chExt cx="0" cy="0"/>
        </a:xfrm>
      </p:grpSpPr>
      <p:sp>
        <p:nvSpPr>
          <p:cNvPr id="21" name="Łącznik prosty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Prostokąt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Prostokąt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Prostokąt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Prostokąt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Prostokąt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Prostokąt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Prostokąt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Elipsa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Elipsa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ymbol zastępczy numeru slajdu 6"/>
          <p:cNvSpPr>
            <a:spLocks noGrp="1"/>
          </p:cNvSpPr>
          <p:nvPr>
            <p:ph type="sldNum" sz="quarter" idx="12"/>
          </p:nvPr>
        </p:nvSpPr>
        <p:spPr>
          <a:xfrm>
            <a:off x="1371600" y="312738"/>
            <a:ext cx="457200" cy="441325"/>
          </a:xfrm>
        </p:spPr>
        <p:txBody>
          <a:bodyPr/>
          <a:lstStyle/>
          <a:p>
            <a:fld id="{51DC6538-DAC2-4436-80CF-1C1EA190B12E}" type="slidenum">
              <a:rPr lang="pl-PL" smtClean="0"/>
              <a:pPr/>
              <a:t>‹#›</a:t>
            </a:fld>
            <a:endParaRPr lang="pl-PL"/>
          </a:p>
        </p:txBody>
      </p:sp>
      <p:sp>
        <p:nvSpPr>
          <p:cNvPr id="2" name="Tytuł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pl-PL"/>
              <a:t>Kliknij, aby edytować styl</a:t>
            </a:r>
            <a:endParaRPr kumimoji="0" lang="en-US"/>
          </a:p>
        </p:txBody>
      </p:sp>
      <p:sp>
        <p:nvSpPr>
          <p:cNvPr id="3" name="Symbol zastępczy obrazu 2"/>
          <p:cNvSpPr>
            <a:spLocks noGrp="1"/>
          </p:cNvSpPr>
          <p:nvPr>
            <p:ph type="pic" idx="1"/>
          </p:nvPr>
        </p:nvSpPr>
        <p:spPr>
          <a:xfrm>
            <a:off x="3000375" y="609600"/>
            <a:ext cx="5867400" cy="4267200"/>
          </a:xfrm>
        </p:spPr>
        <p:txBody>
          <a:bodyPr/>
          <a:lstStyle>
            <a:lvl1pPr marL="0" indent="0">
              <a:buNone/>
              <a:defRPr sz="3200"/>
            </a:lvl1pPr>
          </a:lstStyle>
          <a:p>
            <a:r>
              <a:rPr kumimoji="0" lang="pl-PL"/>
              <a:t>Kliknij ikonę, aby dodać obraz</a:t>
            </a:r>
            <a:endParaRPr kumimoji="0" lang="en-US" dirty="0"/>
          </a:p>
        </p:txBody>
      </p:sp>
      <p:sp>
        <p:nvSpPr>
          <p:cNvPr id="4" name="Symbol zastępczy tekstu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pl-PL"/>
              <a:t>Kliknij, aby edytować style wzorca tekstu</a:t>
            </a:r>
          </a:p>
        </p:txBody>
      </p:sp>
      <p:sp>
        <p:nvSpPr>
          <p:cNvPr id="22" name="Prostokąt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Symbol zastępczy daty 4"/>
          <p:cNvSpPr>
            <a:spLocks noGrp="1"/>
          </p:cNvSpPr>
          <p:nvPr>
            <p:ph type="dt" sz="half" idx="10"/>
          </p:nvPr>
        </p:nvSpPr>
        <p:spPr>
          <a:xfrm>
            <a:off x="5788152" y="6404984"/>
            <a:ext cx="3044952" cy="365760"/>
          </a:xfrm>
        </p:spPr>
        <p:txBody>
          <a:bodyPr/>
          <a:lstStyle/>
          <a:p>
            <a:fld id="{6FA8F5B0-6EC4-4B90-95DB-C694ADE2A020}" type="datetimeFigureOut">
              <a:rPr lang="pl-PL" smtClean="0"/>
              <a:pPr/>
              <a:t>2025-10-12</a:t>
            </a:fld>
            <a:endParaRPr lang="pl-PL"/>
          </a:p>
        </p:txBody>
      </p:sp>
      <p:sp>
        <p:nvSpPr>
          <p:cNvPr id="6" name="Symbol zastępczy stopki 5"/>
          <p:cNvSpPr>
            <a:spLocks noGrp="1"/>
          </p:cNvSpPr>
          <p:nvPr>
            <p:ph type="ftr" sz="quarter" idx="11"/>
          </p:nvPr>
        </p:nvSpPr>
        <p:spPr>
          <a:xfrm>
            <a:off x="301752" y="6410848"/>
            <a:ext cx="3584448" cy="365760"/>
          </a:xfrm>
        </p:spPr>
        <p:txBody>
          <a:bodyPr/>
          <a:lstStyle/>
          <a:p>
            <a:endParaRPr lang="pl-PL"/>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ytuł i tekst pionowy">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kumimoji="0" lang="pl-PL"/>
              <a:t>Kliknij, aby edytować styl</a:t>
            </a:r>
            <a:endParaRPr kumimoji="0" lang="en-US"/>
          </a:p>
        </p:txBody>
      </p:sp>
      <p:sp>
        <p:nvSpPr>
          <p:cNvPr id="3" name="Symbol zastępczy tytułu pionowego 2"/>
          <p:cNvSpPr>
            <a:spLocks noGrp="1"/>
          </p:cNvSpPr>
          <p:nvPr>
            <p:ph type="body" orient="vert" idx="1"/>
          </p:nvPr>
        </p:nvSpPr>
        <p:spPr/>
        <p:txBody>
          <a:bodyPr vert="eaVert"/>
          <a:lstStyle/>
          <a:p>
            <a:pPr lvl="0" eaLnBrk="1" latinLnBrk="0" hangingPunct="1"/>
            <a:r>
              <a:rPr lang="pl-PL"/>
              <a:t>Kliknij, aby edytować style wzorca tekstu</a:t>
            </a:r>
          </a:p>
          <a:p>
            <a:pPr lvl="1" eaLnBrk="1" latinLnBrk="0" hangingPunct="1"/>
            <a:r>
              <a:rPr lang="pl-PL"/>
              <a:t>Drugi poziom</a:t>
            </a:r>
          </a:p>
          <a:p>
            <a:pPr lvl="2" eaLnBrk="1" latinLnBrk="0" hangingPunct="1"/>
            <a:r>
              <a:rPr lang="pl-PL"/>
              <a:t>Trzeci poziom</a:t>
            </a:r>
          </a:p>
          <a:p>
            <a:pPr lvl="3" eaLnBrk="1" latinLnBrk="0" hangingPunct="1"/>
            <a:r>
              <a:rPr lang="pl-PL"/>
              <a:t>Czwarty poziom</a:t>
            </a:r>
          </a:p>
          <a:p>
            <a:pPr lvl="4" eaLnBrk="1" latinLnBrk="0" hangingPunct="1"/>
            <a:r>
              <a:rPr lang="pl-PL"/>
              <a:t>Piąty poziom</a:t>
            </a:r>
            <a:endParaRPr kumimoji="0" lang="en-US"/>
          </a:p>
        </p:txBody>
      </p:sp>
      <p:sp>
        <p:nvSpPr>
          <p:cNvPr id="4" name="Symbol zastępczy daty 3"/>
          <p:cNvSpPr>
            <a:spLocks noGrp="1"/>
          </p:cNvSpPr>
          <p:nvPr>
            <p:ph type="dt" sz="half" idx="10"/>
          </p:nvPr>
        </p:nvSpPr>
        <p:spPr/>
        <p:txBody>
          <a:bodyPr/>
          <a:lstStyle/>
          <a:p>
            <a:fld id="{6FA8F5B0-6EC4-4B90-95DB-C694ADE2A020}" type="datetimeFigureOut">
              <a:rPr lang="pl-PL" smtClean="0"/>
              <a:pPr/>
              <a:t>2025-10-12</a:t>
            </a:fld>
            <a:endParaRPr lang="pl-PL"/>
          </a:p>
        </p:txBody>
      </p:sp>
      <p:sp>
        <p:nvSpPr>
          <p:cNvPr id="5" name="Symbol zastępczy stopki 4"/>
          <p:cNvSpPr>
            <a:spLocks noGrp="1"/>
          </p:cNvSpPr>
          <p:nvPr>
            <p:ph type="ftr" sz="quarter" idx="11"/>
          </p:nvPr>
        </p:nvSpPr>
        <p:spPr/>
        <p:txBody>
          <a:bodyPr/>
          <a:lstStyle/>
          <a:p>
            <a:endParaRPr lang="pl-PL"/>
          </a:p>
        </p:txBody>
      </p:sp>
      <p:sp>
        <p:nvSpPr>
          <p:cNvPr id="6" name="Symbol zastępczy numeru slajdu 5"/>
          <p:cNvSpPr>
            <a:spLocks noGrp="1"/>
          </p:cNvSpPr>
          <p:nvPr>
            <p:ph type="sldNum" sz="quarter" idx="12"/>
          </p:nvPr>
        </p:nvSpPr>
        <p:spPr/>
        <p:txBody>
          <a:bodyPr/>
          <a:lstStyle/>
          <a:p>
            <a:fld id="{51DC6538-DAC2-4436-80CF-1C1EA190B12E}" type="slidenum">
              <a:rPr lang="pl-PL" smtClean="0"/>
              <a:pPr/>
              <a:t>‹#›</a:t>
            </a:fld>
            <a:endParaRPr lang="pl-PL"/>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ytuł pionowy i tekst">
    <p:spTree>
      <p:nvGrpSpPr>
        <p:cNvPr id="1" name=""/>
        <p:cNvGrpSpPr/>
        <p:nvPr/>
      </p:nvGrpSpPr>
      <p:grpSpPr>
        <a:xfrm>
          <a:off x="0" y="0"/>
          <a:ext cx="0" cy="0"/>
          <a:chOff x="0" y="0"/>
          <a:chExt cx="0" cy="0"/>
        </a:xfrm>
      </p:grpSpPr>
      <p:sp>
        <p:nvSpPr>
          <p:cNvPr id="7" name="Prostokąt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Prostokąt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Prostokąt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Prostokąt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Prostokąt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Prostokąt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Łącznik prosty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Elipsa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Elipsa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ymbol zastępczy numeru slajdu 5"/>
          <p:cNvSpPr>
            <a:spLocks noGrp="1"/>
          </p:cNvSpPr>
          <p:nvPr>
            <p:ph type="sldNum" sz="quarter" idx="12"/>
          </p:nvPr>
        </p:nvSpPr>
        <p:spPr>
          <a:xfrm>
            <a:off x="6915912" y="3009901"/>
            <a:ext cx="457200" cy="441325"/>
          </a:xfrm>
        </p:spPr>
        <p:txBody>
          <a:bodyPr/>
          <a:lstStyle/>
          <a:p>
            <a:fld id="{51DC6538-DAC2-4436-80CF-1C1EA190B12E}" type="slidenum">
              <a:rPr lang="pl-PL" smtClean="0"/>
              <a:pPr/>
              <a:t>‹#›</a:t>
            </a:fld>
            <a:endParaRPr lang="pl-PL"/>
          </a:p>
        </p:txBody>
      </p:sp>
      <p:sp>
        <p:nvSpPr>
          <p:cNvPr id="3" name="Symbol zastępczy tytułu pionowego 2"/>
          <p:cNvSpPr>
            <a:spLocks noGrp="1"/>
          </p:cNvSpPr>
          <p:nvPr>
            <p:ph type="body" orient="vert" idx="1"/>
          </p:nvPr>
        </p:nvSpPr>
        <p:spPr>
          <a:xfrm>
            <a:off x="304800" y="304800"/>
            <a:ext cx="6553200" cy="5821366"/>
          </a:xfrm>
        </p:spPr>
        <p:txBody>
          <a:bodyPr vert="eaVert"/>
          <a:lstStyle/>
          <a:p>
            <a:pPr lvl="0" eaLnBrk="1" latinLnBrk="0" hangingPunct="1"/>
            <a:r>
              <a:rPr lang="pl-PL"/>
              <a:t>Kliknij, aby edytować style wzorca tekstu</a:t>
            </a:r>
          </a:p>
          <a:p>
            <a:pPr lvl="1" eaLnBrk="1" latinLnBrk="0" hangingPunct="1"/>
            <a:r>
              <a:rPr lang="pl-PL"/>
              <a:t>Drugi poziom</a:t>
            </a:r>
          </a:p>
          <a:p>
            <a:pPr lvl="2" eaLnBrk="1" latinLnBrk="0" hangingPunct="1"/>
            <a:r>
              <a:rPr lang="pl-PL"/>
              <a:t>Trzeci poziom</a:t>
            </a:r>
          </a:p>
          <a:p>
            <a:pPr lvl="3" eaLnBrk="1" latinLnBrk="0" hangingPunct="1"/>
            <a:r>
              <a:rPr lang="pl-PL"/>
              <a:t>Czwarty poziom</a:t>
            </a:r>
          </a:p>
          <a:p>
            <a:pPr lvl="4" eaLnBrk="1" latinLnBrk="0" hangingPunct="1"/>
            <a:r>
              <a:rPr lang="pl-PL"/>
              <a:t>Piąty poziom</a:t>
            </a:r>
            <a:endParaRPr kumimoji="0" lang="en-US"/>
          </a:p>
        </p:txBody>
      </p:sp>
      <p:sp>
        <p:nvSpPr>
          <p:cNvPr id="4" name="Symbol zastępczy daty 3"/>
          <p:cNvSpPr>
            <a:spLocks noGrp="1"/>
          </p:cNvSpPr>
          <p:nvPr>
            <p:ph type="dt" sz="half" idx="10"/>
          </p:nvPr>
        </p:nvSpPr>
        <p:spPr/>
        <p:txBody>
          <a:bodyPr/>
          <a:lstStyle/>
          <a:p>
            <a:fld id="{6FA8F5B0-6EC4-4B90-95DB-C694ADE2A020}" type="datetimeFigureOut">
              <a:rPr lang="pl-PL" smtClean="0"/>
              <a:pPr/>
              <a:t>2025-10-12</a:t>
            </a:fld>
            <a:endParaRPr lang="pl-PL"/>
          </a:p>
        </p:txBody>
      </p:sp>
      <p:sp>
        <p:nvSpPr>
          <p:cNvPr id="5" name="Symbol zastępczy stopki 4"/>
          <p:cNvSpPr>
            <a:spLocks noGrp="1"/>
          </p:cNvSpPr>
          <p:nvPr>
            <p:ph type="ftr" sz="quarter" idx="11"/>
          </p:nvPr>
        </p:nvSpPr>
        <p:spPr/>
        <p:txBody>
          <a:bodyPr/>
          <a:lstStyle/>
          <a:p>
            <a:endParaRPr lang="pl-PL"/>
          </a:p>
        </p:txBody>
      </p:sp>
      <p:sp>
        <p:nvSpPr>
          <p:cNvPr id="2" name="Tytuł pionowy 1"/>
          <p:cNvSpPr>
            <a:spLocks noGrp="1"/>
          </p:cNvSpPr>
          <p:nvPr>
            <p:ph type="title" orient="vert"/>
          </p:nvPr>
        </p:nvSpPr>
        <p:spPr>
          <a:xfrm>
            <a:off x="7391400" y="304801"/>
            <a:ext cx="1447800" cy="5851525"/>
          </a:xfrm>
        </p:spPr>
        <p:txBody>
          <a:bodyPr vert="eaVert"/>
          <a:lstStyle/>
          <a:p>
            <a:r>
              <a:rPr kumimoji="0" lang="pl-PL"/>
              <a:t>Kliknij, aby edytować styl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25">
          <a:fgClr>
            <a:schemeClr val="accent1"/>
          </a:fgClr>
          <a:bgClr>
            <a:schemeClr val="bg1"/>
          </a:bgClr>
        </a:pattFill>
        <a:effectLst/>
      </p:bgPr>
    </p:bg>
    <p:spTree>
      <p:nvGrpSpPr>
        <p:cNvPr id="1" name=""/>
        <p:cNvGrpSpPr/>
        <p:nvPr/>
      </p:nvGrpSpPr>
      <p:grpSpPr>
        <a:xfrm>
          <a:off x="0" y="0"/>
          <a:ext cx="0" cy="0"/>
          <a:chOff x="0" y="0"/>
          <a:chExt cx="0" cy="0"/>
        </a:xfrm>
      </p:grpSpPr>
      <p:sp>
        <p:nvSpPr>
          <p:cNvPr id="17" name="Prostokąt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Prostokąt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Prostokąt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Prostokąt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Prostokąt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Symbol zastępczy daty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fld id="{6FA8F5B0-6EC4-4B90-95DB-C694ADE2A020}" type="datetimeFigureOut">
              <a:rPr lang="pl-PL" smtClean="0"/>
              <a:pPr/>
              <a:t>2025-10-12</a:t>
            </a:fld>
            <a:endParaRPr lang="pl-PL"/>
          </a:p>
        </p:txBody>
      </p:sp>
      <p:sp>
        <p:nvSpPr>
          <p:cNvPr id="3" name="Symbol zastępczy stopki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endParaRPr lang="pl-PL"/>
          </a:p>
        </p:txBody>
      </p:sp>
      <p:sp>
        <p:nvSpPr>
          <p:cNvPr id="8" name="Prostokąt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Łącznik prosty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Elipsa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Elipsa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ymbol zastępczy numeru slajdu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51DC6538-DAC2-4436-80CF-1C1EA190B12E}" type="slidenum">
              <a:rPr lang="pl-PL" smtClean="0"/>
              <a:pPr/>
              <a:t>‹#›</a:t>
            </a:fld>
            <a:endParaRPr lang="pl-PL"/>
          </a:p>
        </p:txBody>
      </p:sp>
      <p:sp>
        <p:nvSpPr>
          <p:cNvPr id="22" name="Symbol zastępczy tytułu 21"/>
          <p:cNvSpPr>
            <a:spLocks noGrp="1"/>
          </p:cNvSpPr>
          <p:nvPr>
            <p:ph type="title"/>
          </p:nvPr>
        </p:nvSpPr>
        <p:spPr>
          <a:xfrm>
            <a:off x="301752" y="228600"/>
            <a:ext cx="8534400" cy="758952"/>
          </a:xfrm>
          <a:prstGeom prst="rect">
            <a:avLst/>
          </a:prstGeom>
        </p:spPr>
        <p:txBody>
          <a:bodyPr vert="horz" anchor="b">
            <a:normAutofit/>
          </a:bodyPr>
          <a:lstStyle/>
          <a:p>
            <a:r>
              <a:rPr kumimoji="0" lang="pl-PL"/>
              <a:t>Kliknij, aby edytować styl</a:t>
            </a:r>
            <a:endParaRPr kumimoji="0" lang="en-US"/>
          </a:p>
        </p:txBody>
      </p:sp>
      <p:sp>
        <p:nvSpPr>
          <p:cNvPr id="13" name="Symbol zastępczy tekstu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pl-PL"/>
              <a:t>Kliknij, aby edytować style wzorca tekstu</a:t>
            </a:r>
          </a:p>
          <a:p>
            <a:pPr lvl="1" eaLnBrk="1" latinLnBrk="0" hangingPunct="1"/>
            <a:r>
              <a:rPr kumimoji="0" lang="pl-PL"/>
              <a:t>Drugi poziom</a:t>
            </a:r>
          </a:p>
          <a:p>
            <a:pPr lvl="2" eaLnBrk="1" latinLnBrk="0" hangingPunct="1"/>
            <a:r>
              <a:rPr kumimoji="0" lang="pl-PL"/>
              <a:t>Trzeci poziom</a:t>
            </a:r>
          </a:p>
          <a:p>
            <a:pPr lvl="3" eaLnBrk="1" latinLnBrk="0" hangingPunct="1"/>
            <a:r>
              <a:rPr kumimoji="0" lang="pl-PL"/>
              <a:t>Czwarty poziom</a:t>
            </a:r>
          </a:p>
          <a:p>
            <a:pPr lvl="4" eaLnBrk="1" latinLnBrk="0" hangingPunct="1"/>
            <a:r>
              <a:rPr kumimoji="0" lang="pl-PL"/>
              <a:t>Piąty poziom</a:t>
            </a:r>
            <a:endParaRPr kumimoji="0" lang="en-US"/>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ip.lex.pl/"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hyperlink" Target="http://papi26.uci.umk.pl/lex/index.rpc#hiperlinkText.rpc?hiperlink=type=tresc:nro=Powszechny.21467:part=a156&#167;1p1&amp;full=1#hiperlinkText.rpc?hiperlink=type=tresc:nro=Powszechny.21467:part=a156&#167;1p1&amp;full=1" TargetMode="External"/><Relationship Id="rId2" Type="http://schemas.openxmlformats.org/officeDocument/2006/relationships/hyperlink" Target="http://papi26.uci.umk.pl/lex/index.rpc#hiperlinkText.rpc?hiperlink=type=tresc:nro=Powszechny.21467:part=a156&#167;1&amp;full=1#hiperlinkText.rpc?hiperlink=type=tresc:nro=Powszechny.21467:part=a156&#167;1&amp;full=1" TargetMode="External"/><Relationship Id="rId1" Type="http://schemas.openxmlformats.org/officeDocument/2006/relationships/slideLayout" Target="../slideLayouts/slideLayout2.xml"/><Relationship Id="rId6" Type="http://schemas.openxmlformats.org/officeDocument/2006/relationships/hyperlink" Target="http://papi26.uci.umk.pl/lex/index.rpc#hiperlinkText.rpc?hiperlink=type=tresc:nro=OrzeczSad.103072:ver=0&amp;full=1#hiperlinkText.rpc?hiperlink=type=tresc:nro=OrzeczSad.103072:ver=0&amp;full=1" TargetMode="External"/><Relationship Id="rId5" Type="http://schemas.openxmlformats.org/officeDocument/2006/relationships/hyperlink" Target="http://papi26.uci.umk.pl/lex/index.rpc#hiperlinkText.rpc?hiperlink=type=tresc:nro=OrzeczSad.18385:ver=0&amp;full=1#hiperlinkText.rpc?hiperlink=type=tresc:nro=OrzeczSad.18385:ver=0&amp;full=1" TargetMode="External"/><Relationship Id="rId4" Type="http://schemas.openxmlformats.org/officeDocument/2006/relationships/hyperlink" Target="http://papi26.uci.umk.pl/lex/index.rpc#hiperlinkText.rpc?hiperlink=type=tresc:nro=Powszechny.21467:part=a156&#167;1p2&amp;full=1#hiperlinkText.rpc?hiperlink=type=tresc:nro=Powszechny.21467:part=a156&#167;1p2&amp;full=1"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hyperlink" Target="https://sip.lex.pl/#/search-hypertext/16798685_art(17)_4?pit=2019-10-17" TargetMode="Externa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hyperlink" Target="http://sip.lex.pl/" TargetMode="Externa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hyperlink" Target="http://papi26.uci.umk.pl/lex/index.rpc" TargetMode="Externa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hyperlink" Target="http://papi26.uci.umk.pl/lex/index.rpc" TargetMode="Externa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hyperlink" Target="http://papi26.uci.umk.pl/lex/index.rpc" TargetMode="Externa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hyperlink" Target="http://papi26.uci.umk.pl/lex/index.rpc" TargetMode="Externa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2" Type="http://schemas.openxmlformats.org/officeDocument/2006/relationships/hyperlink" Target="https://sip.lex.pl/#/search-hypertext/16798683_art(288)_1?pit=2024-02-17" TargetMode="External"/><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3" Type="http://schemas.openxmlformats.org/officeDocument/2006/relationships/hyperlink" Target="https://sip.lex.pl/#/document/16915749?unitId=zal(3)&amp;cm=DOCUMENT" TargetMode="External"/><Relationship Id="rId2" Type="http://schemas.openxmlformats.org/officeDocument/2006/relationships/hyperlink" Target="https://sip.lex.pl/#/document/16798613?unitId=art(2)&amp;cm=DOCUMENT" TargetMode="External"/><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2" Type="http://schemas.openxmlformats.org/officeDocument/2006/relationships/hyperlink" Target="http://papi26.uci.umk.pl/lex/index.rpc" TargetMode="External"/><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fontScale="90000"/>
          </a:bodyPr>
          <a:lstStyle/>
          <a:p>
            <a:r>
              <a:rPr lang="pl-PL" b="1" dirty="0">
                <a:solidFill>
                  <a:srgbClr val="FF0000"/>
                </a:solidFill>
              </a:rPr>
              <a:t>Prawo karne i prawo wykroczeń – zagadnienia wybrane </a:t>
            </a:r>
          </a:p>
        </p:txBody>
      </p:sp>
      <p:sp>
        <p:nvSpPr>
          <p:cNvPr id="3" name="Symbol zastępczy zawartości 2"/>
          <p:cNvSpPr>
            <a:spLocks noGrp="1"/>
          </p:cNvSpPr>
          <p:nvPr>
            <p:ph sz="quarter" idx="1"/>
          </p:nvPr>
        </p:nvSpPr>
        <p:spPr>
          <a:xfrm>
            <a:off x="301752" y="1527048"/>
            <a:ext cx="8503920" cy="4926288"/>
          </a:xfrm>
        </p:spPr>
        <p:txBody>
          <a:bodyPr>
            <a:normAutofit fontScale="62500" lnSpcReduction="20000"/>
          </a:bodyPr>
          <a:lstStyle/>
          <a:p>
            <a:r>
              <a:rPr lang="pl-PL" sz="3400" dirty="0"/>
              <a:t>Zabójstwo</a:t>
            </a:r>
          </a:p>
          <a:p>
            <a:r>
              <a:rPr lang="pl-PL" sz="3400" b="1" dirty="0"/>
              <a:t>Art. 148. </a:t>
            </a:r>
          </a:p>
          <a:p>
            <a:r>
              <a:rPr lang="pl-PL" sz="3400" b="1" dirty="0"/>
              <a:t>§ 1. typ podstawowy</a:t>
            </a:r>
          </a:p>
          <a:p>
            <a:r>
              <a:rPr lang="pl-PL" sz="3400" dirty="0"/>
              <a:t>Kto zabija człowieka, podlega karze pozbawienia wolności na czas nie krótszy od lat 10 albo karze dożywotniego pozbawienia wolności.</a:t>
            </a:r>
            <a:endParaRPr lang="pl-PL" sz="3400" b="1" dirty="0"/>
          </a:p>
          <a:p>
            <a:r>
              <a:rPr lang="pl-PL" sz="3400" b="1" dirty="0"/>
              <a:t>§ 2. typy kwalifikowane</a:t>
            </a:r>
          </a:p>
          <a:p>
            <a:r>
              <a:rPr lang="pl-PL" sz="3400" dirty="0"/>
              <a:t>Kto zabija człowieka:</a:t>
            </a:r>
          </a:p>
          <a:p>
            <a:r>
              <a:rPr lang="pl-PL" sz="3400" dirty="0"/>
              <a:t>1)  ze szczególnym okrucieństwem,</a:t>
            </a:r>
          </a:p>
          <a:p>
            <a:r>
              <a:rPr lang="pl-PL" sz="3400" dirty="0"/>
              <a:t>2)  w związku z wzięciem zakładnika, zgwałceniem albo rozbojem,</a:t>
            </a:r>
          </a:p>
          <a:p>
            <a:r>
              <a:rPr lang="pl-PL" sz="3400" dirty="0"/>
              <a:t>3) w wyniku motywacji zasługującej na szczególne potępienie,</a:t>
            </a:r>
          </a:p>
          <a:p>
            <a:r>
              <a:rPr lang="pl-PL" sz="3400" dirty="0"/>
              <a:t>4)  z użyciem materiałów wybuchowych,</a:t>
            </a:r>
          </a:p>
          <a:p>
            <a:r>
              <a:rPr lang="pl-PL" sz="3400" dirty="0"/>
              <a:t>podlega karze pozbawienia wolności na czas nie krótszy od lat 15 albo karze dożywotniego pozbawienia wolności.</a:t>
            </a:r>
            <a:endParaRPr lang="pl-PL" sz="3400" b="1" dirty="0"/>
          </a:p>
          <a:p>
            <a:endParaRPr lang="pl-PL" dirty="0"/>
          </a:p>
        </p:txBody>
      </p:sp>
    </p:spTree>
    <p:extLst>
      <p:ext uri="{BB962C8B-B14F-4D97-AF65-F5344CB8AC3E}">
        <p14:creationId xmlns:p14="http://schemas.microsoft.com/office/powerpoint/2010/main" val="26094476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dirty="0"/>
          </a:p>
        </p:txBody>
      </p:sp>
      <p:sp>
        <p:nvSpPr>
          <p:cNvPr id="3" name="Symbol zastępczy zawartości 2"/>
          <p:cNvSpPr>
            <a:spLocks noGrp="1"/>
          </p:cNvSpPr>
          <p:nvPr>
            <p:ph sz="quarter" idx="1"/>
          </p:nvPr>
        </p:nvSpPr>
        <p:spPr>
          <a:xfrm>
            <a:off x="301752" y="1527048"/>
            <a:ext cx="8503920" cy="4572000"/>
          </a:xfrm>
        </p:spPr>
        <p:txBody>
          <a:bodyPr>
            <a:normAutofit fontScale="77500" lnSpcReduction="20000"/>
          </a:bodyPr>
          <a:lstStyle/>
          <a:p>
            <a:r>
              <a:rPr lang="pl-PL" sz="2800" b="1" dirty="0"/>
              <a:t>§ 3. typy kwalifikowane</a:t>
            </a:r>
          </a:p>
          <a:p>
            <a:r>
              <a:rPr lang="pl-PL" sz="2800" dirty="0"/>
              <a:t>Karze określonej w § 2 podlega, kto jednym czynem zabija więcej niż jedną osobę lub był wcześniej prawomocnie skazany za zabójstwo oraz sprawca zabójstwa funkcjonariusza publicznego popełnionego podczas lub w związku z pełnieniem przez niego obowiązków służbowych związanych z ochroną bezpieczeństwa ludzi lub ochroną bezpieczeństwa lub porządku publicznego.</a:t>
            </a:r>
          </a:p>
          <a:p>
            <a:r>
              <a:rPr lang="pl-PL" sz="2800" b="1" dirty="0"/>
              <a:t>§ 4. – typ uprzywilejowany</a:t>
            </a:r>
          </a:p>
          <a:p>
            <a:r>
              <a:rPr lang="pl-PL" sz="2800" dirty="0"/>
              <a:t>Kto zabija człowieka </a:t>
            </a:r>
            <a:r>
              <a:rPr lang="pl-PL" dirty="0"/>
              <a:t>pod wpływem silnego wzburzenia usprawiedliwionego okolicznościami,</a:t>
            </a:r>
          </a:p>
          <a:p>
            <a:r>
              <a:rPr lang="pl-PL" dirty="0"/>
              <a:t>podlega karze pozbawienia wolności od roku do lat 10.</a:t>
            </a:r>
          </a:p>
          <a:p>
            <a:r>
              <a:rPr lang="pl-PL" b="1" dirty="0"/>
              <a:t>§  5. </a:t>
            </a:r>
            <a:r>
              <a:rPr lang="pl-PL" b="1"/>
              <a:t>Przygotowanie </a:t>
            </a:r>
            <a:endParaRPr lang="pl-PL" b="1" dirty="0"/>
          </a:p>
          <a:p>
            <a:r>
              <a:rPr lang="pl-PL" dirty="0"/>
              <a:t>Kto czyni przygotowania do przestępstwa określonego w § 1, 2 lub 3, podlega karze pozbawienia wolności od lat 2 do 15.</a:t>
            </a:r>
          </a:p>
          <a:p>
            <a:endParaRPr lang="pl-PL" dirty="0"/>
          </a:p>
        </p:txBody>
      </p:sp>
    </p:spTree>
    <p:extLst>
      <p:ext uri="{BB962C8B-B14F-4D97-AF65-F5344CB8AC3E}">
        <p14:creationId xmlns:p14="http://schemas.microsoft.com/office/powerpoint/2010/main" val="34021121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lstStyle/>
          <a:p>
            <a:r>
              <a:rPr lang="pl-PL" dirty="0"/>
              <a:t>Życie każdego człowieka podlega ochronie prawnej, nikt nie może być jej pozbawiony,</a:t>
            </a:r>
          </a:p>
          <a:p>
            <a:endParaRPr lang="pl-PL" dirty="0"/>
          </a:p>
          <a:p>
            <a:r>
              <a:rPr lang="pl-PL" dirty="0"/>
              <a:t>Ochrony życia nie można różnicować </a:t>
            </a:r>
          </a:p>
          <a:p>
            <a:r>
              <a:rPr lang="pl-PL" dirty="0"/>
              <a:t>Czyn o bardzo poważnej społecznej szkodliwości, zagrożony karami </a:t>
            </a:r>
            <a:r>
              <a:rPr lang="pl-PL"/>
              <a:t>pozbawienia wolności do </a:t>
            </a:r>
            <a:r>
              <a:rPr lang="pl-PL" dirty="0"/>
              <a:t>„dożywocia” włącznie – zob. jednak art. 54 par. 2 k.k.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92500" lnSpcReduction="20000"/>
          </a:bodyPr>
          <a:lstStyle/>
          <a:p>
            <a:r>
              <a:rPr lang="pl-PL" b="1" dirty="0"/>
              <a:t>Wyrok </a:t>
            </a:r>
            <a:r>
              <a:rPr lang="pl-PL" dirty="0"/>
              <a:t>Sądu Najwyższego z dnia 17 lutego 1989 r.</a:t>
            </a:r>
          </a:p>
          <a:p>
            <a:r>
              <a:rPr lang="pl-PL" b="1" dirty="0"/>
              <a:t>IV KR 15/89</a:t>
            </a:r>
          </a:p>
          <a:p>
            <a:endParaRPr lang="pl-PL" b="1" dirty="0"/>
          </a:p>
          <a:p>
            <a:r>
              <a:rPr lang="pl-PL" dirty="0"/>
              <a:t>Życie każdego człowieka niezależnie od wieku, stanu zdrowia, reprezentowanego stanu wiedzy, kultury, stanu rodzinnego i realnej społecznej przydatności jest wartością naczelną i podlega jednakowej ochronie prawnej. Jest niedopuszczalne - ze względu na wymienione lub inne przesłanki dotyczące ofiary zbrodni zabójstwa - wartościowanie jej życia i w związku z tym przenoszenie tych wartości na grunt przesłanek dotyczących wymiaru kary, o których mowa w art. 50 § 1-3 k.k.</a:t>
            </a:r>
          </a:p>
          <a:p>
            <a:endParaRPr lang="pl-PL"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77500" lnSpcReduction="20000"/>
          </a:bodyPr>
          <a:lstStyle/>
          <a:p>
            <a:r>
              <a:rPr lang="pl-PL" dirty="0"/>
              <a:t>Moment rozpoczęcia pełnej, </a:t>
            </a:r>
            <a:r>
              <a:rPr lang="pl-PL" dirty="0" err="1"/>
              <a:t>prawnokarnej</a:t>
            </a:r>
            <a:r>
              <a:rPr lang="pl-PL" dirty="0"/>
              <a:t> ochrony życia </a:t>
            </a:r>
          </a:p>
          <a:p>
            <a:r>
              <a:rPr lang="pl-PL" b="1" dirty="0"/>
              <a:t>Postanowienie </a:t>
            </a:r>
            <a:r>
              <a:rPr lang="pl-PL" dirty="0"/>
              <a:t>Sądu Najwyższego z dnia 30 października 2008 r.</a:t>
            </a:r>
          </a:p>
          <a:p>
            <a:r>
              <a:rPr lang="pl-PL" b="1" dirty="0"/>
              <a:t>I KZP 13/08</a:t>
            </a:r>
          </a:p>
          <a:p>
            <a:r>
              <a:rPr lang="pl-PL" dirty="0"/>
              <a:t>Pełna </a:t>
            </a:r>
            <a:r>
              <a:rPr lang="pl-PL" dirty="0" err="1"/>
              <a:t>prawnokarna</a:t>
            </a:r>
            <a:r>
              <a:rPr lang="pl-PL" dirty="0"/>
              <a:t> ochrona zdrowia i życia przysługuje dziecku nienarodzonemu od:</a:t>
            </a:r>
          </a:p>
          <a:p>
            <a:r>
              <a:rPr lang="pl-PL" dirty="0"/>
              <a:t>a) rozpoczęcia porodu (naturalnego),</a:t>
            </a:r>
          </a:p>
          <a:p>
            <a:r>
              <a:rPr lang="pl-PL" dirty="0"/>
              <a:t>b) w wypadku operacyjnego zabiegu cięcia cesarskiego kończącego ciążę na żądanie kobiety ciężarnej - od podjęcia pierwszej czynności medycznej bezpośrednio zmierzającej do przeprowadzenia takiego zabiegu,</a:t>
            </a:r>
          </a:p>
          <a:p>
            <a:r>
              <a:rPr lang="pl-PL" dirty="0"/>
              <a:t>c) w wypadku konieczności medycznej przeprowadzenia zabiegu cięcia cesarskiego lub innego alternatywnego zakończenia ciąży - od zaistnienia medycznych przesłanek takiej konieczności.</a:t>
            </a:r>
          </a:p>
          <a:p>
            <a:endParaRPr lang="pl-PL"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a:bodyPr>
          <a:lstStyle/>
          <a:p>
            <a:r>
              <a:rPr lang="pl-PL" dirty="0"/>
              <a:t>Moment ustania obowiązku ochrony</a:t>
            </a:r>
          </a:p>
          <a:p>
            <a:endParaRPr lang="pl-PL" dirty="0"/>
          </a:p>
          <a:p>
            <a:r>
              <a:rPr lang="pl-PL" dirty="0"/>
              <a:t> Kres ludzkiego życia – trwałe i nieodwracalne ustanie czynności mózgu – śmierć mózgu;  obowiązek  ochrony życia  trwa do momentu, w którym ona nastąpi;  ustaje z chwilą przekroczenia wyznaczonej w taki sposób granicy, niezależnie od tego, czy - np. przy użyciu skomplikowanej aparatury medycznej - dałoby się utrzymywać jeszcze inne funkcje organizmu (np. krążenie).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lnSpcReduction="10000"/>
          </a:bodyPr>
          <a:lstStyle/>
          <a:p>
            <a:r>
              <a:rPr lang="pl-PL" dirty="0"/>
              <a:t>TYP PODSTAWOWY </a:t>
            </a:r>
          </a:p>
          <a:p>
            <a:endParaRPr lang="pl-PL" dirty="0"/>
          </a:p>
          <a:p>
            <a:r>
              <a:rPr lang="pl-PL" dirty="0"/>
              <a:t>Przestępstwo powszechne – KTO – w przypadku działania</a:t>
            </a:r>
          </a:p>
          <a:p>
            <a:r>
              <a:rPr lang="pl-PL" dirty="0"/>
              <a:t>( jeśli przez zaniechanie – indywidualne)</a:t>
            </a:r>
            <a:endParaRPr lang="pl-PL" b="1" dirty="0"/>
          </a:p>
          <a:p>
            <a:endParaRPr lang="pl-PL" dirty="0"/>
          </a:p>
          <a:p>
            <a:r>
              <a:rPr lang="pl-PL" dirty="0"/>
              <a:t>Odpowiedzialności karnej za przestępstwo skutkowe popełnione przez zaniechanie podlega ten tylko, na kim ciążył prawny, szczególny obowiązek zapobiegnięcia skutkowi.</a:t>
            </a:r>
          </a:p>
          <a:p>
            <a:endParaRPr lang="pl-PL" dirty="0"/>
          </a:p>
          <a:p>
            <a:endParaRPr lang="pl-PL"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85000" lnSpcReduction="20000"/>
          </a:bodyPr>
          <a:lstStyle/>
          <a:p>
            <a:r>
              <a:rPr lang="pl-PL" b="1" dirty="0"/>
              <a:t>Wyrok </a:t>
            </a:r>
            <a:r>
              <a:rPr lang="pl-PL" dirty="0"/>
              <a:t>Sądu Najwyższego z dnia 22 listopada 2005 r.</a:t>
            </a:r>
          </a:p>
          <a:p>
            <a:r>
              <a:rPr lang="pl-PL" b="1" dirty="0"/>
              <a:t>V KK 100/05</a:t>
            </a:r>
          </a:p>
          <a:p>
            <a:endParaRPr lang="pl-PL" dirty="0"/>
          </a:p>
          <a:p>
            <a:r>
              <a:rPr lang="pl-PL" dirty="0"/>
              <a:t>Przepis art. 2 k.k. statuuje normatywny warunek odpowiedzialności za przestępstwo skutkowe popełnione przez zaniechanie. </a:t>
            </a:r>
            <a:r>
              <a:rPr lang="pl-PL" dirty="0">
                <a:solidFill>
                  <a:srgbClr val="FF0000"/>
                </a:solidFill>
              </a:rPr>
              <a:t>Dla przypisania takiej odpowiedzialności, a zatem przypisania skutku w przypadku zaniechania, owo zaniechanie musi być bezprawne, oparte wyłącznie na powiązaniu normatywnym ze skutkiem</a:t>
            </a:r>
            <a:r>
              <a:rPr lang="pl-PL" dirty="0"/>
              <a:t>. Osoba odpowiadająca za przestępstwo skutkowe popełnione przez zaniechanie musi się charakteryzować określonymi cechami. </a:t>
            </a:r>
            <a:r>
              <a:rPr lang="pl-PL" dirty="0">
                <a:solidFill>
                  <a:srgbClr val="FF0000"/>
                </a:solidFill>
              </a:rPr>
              <a:t>Innymi słowy mówiąc, z art. 2 k.k. wynika, że sprawca wobec dobra chronionego normą zajmuje pozycję gwaranta zapobiegnięcia skutkowi. Mamy więc do czynienia z tzw. przestępstwem indywidualnym.</a:t>
            </a:r>
          </a:p>
          <a:p>
            <a:endParaRPr lang="pl-PL"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lstStyle/>
          <a:p>
            <a:r>
              <a:rPr lang="pl-PL" dirty="0"/>
              <a:t>Strona przedmiotowa:</a:t>
            </a:r>
          </a:p>
          <a:p>
            <a:endParaRPr lang="pl-PL" dirty="0"/>
          </a:p>
          <a:p>
            <a:r>
              <a:rPr lang="pl-PL" dirty="0"/>
              <a:t>Zabija – działanie/zaniechanie</a:t>
            </a:r>
          </a:p>
          <a:p>
            <a:endParaRPr lang="pl-PL" dirty="0"/>
          </a:p>
          <a:p>
            <a:r>
              <a:rPr lang="pl-PL" dirty="0"/>
              <a:t>Przestępstwo materialne – do jego dokonania konieczne jest zaistnienie skutku w postaci śmierci człowieka</a:t>
            </a:r>
          </a:p>
          <a:p>
            <a:endParaRPr lang="pl-PL"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lstStyle/>
          <a:p>
            <a:r>
              <a:rPr lang="pl-PL" dirty="0"/>
              <a:t>Strona podmiotowa</a:t>
            </a:r>
          </a:p>
          <a:p>
            <a:endParaRPr lang="pl-PL" dirty="0"/>
          </a:p>
          <a:p>
            <a:endParaRPr lang="pl-PL" dirty="0"/>
          </a:p>
          <a:p>
            <a:r>
              <a:rPr lang="pl-PL" dirty="0"/>
              <a:t>Umyślność – zamiar bezpośredni lub zamiar ewentualny </a:t>
            </a:r>
          </a:p>
          <a:p>
            <a:endParaRPr lang="pl-PL" dirty="0"/>
          </a:p>
          <a:p>
            <a:r>
              <a:rPr lang="pl-PL" dirty="0"/>
              <a:t>Ustalenie zamiaru najczęściej największy problem</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92500" lnSpcReduction="20000"/>
          </a:bodyPr>
          <a:lstStyle/>
          <a:p>
            <a:r>
              <a:rPr lang="pl-PL" b="1" dirty="0"/>
              <a:t>Postanowienie </a:t>
            </a:r>
            <a:r>
              <a:rPr lang="pl-PL" dirty="0"/>
              <a:t>Sądu Najwyższego z dnia 20 marca 2015 r.</a:t>
            </a:r>
          </a:p>
          <a:p>
            <a:r>
              <a:rPr lang="pl-PL" b="1" dirty="0"/>
              <a:t>III KK 276/14</a:t>
            </a:r>
          </a:p>
          <a:p>
            <a:endParaRPr lang="pl-PL" b="1" dirty="0"/>
          </a:p>
          <a:p>
            <a:r>
              <a:rPr lang="pl-PL" dirty="0"/>
              <a:t>Wtedy, gdy zamiar towarzyszący sprawcy lokuje się na granicy pomiędzy spowodowaniem ciężkich obrażeń ciała, dokonaniem pobicia ze skutkiem śmiertelnym albo zabójstwa z zamiarem ewentualnym, sądy nie mogą poprzestawać na deklaracjach wynikających z wyjaśnień oskarżonych i na ustaleniu skutku ich zachowań, </a:t>
            </a:r>
            <a:r>
              <a:rPr lang="pl-PL" dirty="0">
                <a:solidFill>
                  <a:srgbClr val="FF0000"/>
                </a:solidFill>
              </a:rPr>
              <a:t>ale muszą poddawać wnikliwej analizie sposób działania sprawców, rodzaj użytych narzędzi, siłę i liczbę zadawanych uderzeń, część ciała, w którą godzą.</a:t>
            </a:r>
          </a:p>
          <a:p>
            <a:endParaRPr lang="pl-PL"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70000" lnSpcReduction="20000"/>
          </a:bodyPr>
          <a:lstStyle/>
          <a:p>
            <a:r>
              <a:rPr lang="pl-PL" b="1" dirty="0"/>
              <a:t>Wyrok </a:t>
            </a:r>
            <a:r>
              <a:rPr lang="pl-PL" dirty="0"/>
              <a:t>Sądu Apelacyjnego w Krakowie z dnia 30 grudnia 2014 r.</a:t>
            </a:r>
          </a:p>
          <a:p>
            <a:r>
              <a:rPr lang="pl-PL" b="1" dirty="0"/>
              <a:t>II </a:t>
            </a:r>
            <a:r>
              <a:rPr lang="pl-PL" b="1" dirty="0" err="1"/>
              <a:t>AKa</a:t>
            </a:r>
            <a:r>
              <a:rPr lang="pl-PL" b="1" dirty="0"/>
              <a:t> 231/14</a:t>
            </a:r>
          </a:p>
          <a:p>
            <a:endParaRPr lang="pl-PL" b="1" dirty="0"/>
          </a:p>
          <a:p>
            <a:r>
              <a:rPr lang="pl-PL" dirty="0">
                <a:solidFill>
                  <a:srgbClr val="FF0000"/>
                </a:solidFill>
              </a:rPr>
              <a:t>Ocena, czy sprawca miał zamiar pozbawienia życia ofiary, musi być dokonana z należytą wnikliwością i oparta na odtworzeniu jego rzeczywistych przeżyć psychicznych</a:t>
            </a:r>
            <a:r>
              <a:rPr lang="pl-PL" dirty="0"/>
              <a:t>. </a:t>
            </a:r>
            <a:r>
              <a:rPr lang="pl-PL" dirty="0">
                <a:solidFill>
                  <a:srgbClr val="00B050"/>
                </a:solidFill>
              </a:rPr>
              <a:t>Treść tych przeżyć należy ustalić na podstawie wszystkich okoliczności sprawy z uwzględnieniem zarówno przesłanek natury przedmiotowej</a:t>
            </a:r>
            <a:r>
              <a:rPr lang="pl-PL" dirty="0"/>
              <a:t> (rodzaj użytego narzędzia, godzenie w ważne dla życia ludzkiego organy ciała, ilość ciosów i ich siła) o</a:t>
            </a:r>
            <a:r>
              <a:rPr lang="pl-PL" dirty="0">
                <a:solidFill>
                  <a:srgbClr val="00B050"/>
                </a:solidFill>
              </a:rPr>
              <a:t>raz natury podmiotowej (osobowość oskarżonego to jest jego charakter, usposobienie, poziom umysłowy, reakcje emocjonalne, zachowanie w stosunku do otoczenia, tło i powody zajścia, zachowanie przed popełnieniem przestępstwa i po jego popełnieniu, stosunek do osoby pokrzywdzonej</a:t>
            </a:r>
            <a:r>
              <a:rPr lang="pl-PL" dirty="0"/>
              <a:t>). </a:t>
            </a:r>
            <a:r>
              <a:rPr lang="pl-PL" dirty="0">
                <a:solidFill>
                  <a:srgbClr val="FF0000"/>
                </a:solidFill>
              </a:rPr>
              <a:t>Użycie narzędzia mogącego spowodować śmierć człowieka i lokalizacja urazu same przez się nie przesądzają, że sprawca działał z zamiarem zabicia człowieka, bowiem za takim przyjęciem powinny przemawiać jeszcze inne przesłanki podmiotowe i przedmiotowe w ich całokształcie.</a:t>
            </a:r>
          </a:p>
          <a:p>
            <a:endParaRPr lang="pl-PL"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70000" lnSpcReduction="20000"/>
          </a:bodyPr>
          <a:lstStyle/>
          <a:p>
            <a:r>
              <a:rPr lang="pl-PL" b="1" dirty="0"/>
              <a:t>Wyrok  Sądu </a:t>
            </a:r>
            <a:r>
              <a:rPr lang="pl-PL" dirty="0"/>
              <a:t>Apelacyjnego w Lublinie z dnia 8 grudnia 2008 r.</a:t>
            </a:r>
          </a:p>
          <a:p>
            <a:r>
              <a:rPr lang="pl-PL" b="1" dirty="0"/>
              <a:t>II </a:t>
            </a:r>
            <a:r>
              <a:rPr lang="pl-PL" b="1" dirty="0" err="1"/>
              <a:t>AKa</a:t>
            </a:r>
            <a:r>
              <a:rPr lang="pl-PL" b="1" dirty="0"/>
              <a:t> 287/08</a:t>
            </a:r>
          </a:p>
          <a:p>
            <a:endParaRPr lang="pl-PL" b="1" dirty="0"/>
          </a:p>
          <a:p>
            <a:r>
              <a:rPr lang="pl-PL" dirty="0"/>
              <a:t>1. Odróżnienie świadomej nieumyślności od zamiaru ewentualnego nie należy do prostych zadań, to jednak jest możliwe. Zasadniczym podobieństwem między świadomą nieumyślnością, a zamiarem ewentualnym jest to, </a:t>
            </a:r>
            <a:r>
              <a:rPr lang="pl-PL" dirty="0">
                <a:solidFill>
                  <a:srgbClr val="FF0000"/>
                </a:solidFill>
              </a:rPr>
              <a:t>że w obu tych wypadkach strona intelektualna strony podmiotowej zachowania sprawcy charakteryzuje się przewidywaniem możliwości popełnienia czynu zabronionego</a:t>
            </a:r>
            <a:r>
              <a:rPr lang="pl-PL" dirty="0"/>
              <a:t>. Różnica między tymi dwoma odniesieniami do znamion podmiotowych czynu zabronionego leży wyłącznie w stronie </a:t>
            </a:r>
            <a:r>
              <a:rPr lang="pl-PL" dirty="0" err="1"/>
              <a:t>woluntatywnej</a:t>
            </a:r>
            <a:r>
              <a:rPr lang="pl-PL" dirty="0"/>
              <a:t>, która w wypadku zamiaru ewentualnego charakteryzuje się tym, że sprawca godzi się na realizację znamion strony podmiotowej czynu zabronionego, zaś w wypadku świadomości nieumyślnej sprawca ani nie chce, ani nie godzi się na realizację tych znamion.</a:t>
            </a:r>
          </a:p>
          <a:p>
            <a:r>
              <a:rPr lang="pl-PL" dirty="0"/>
              <a:t>2. Zdecydowanie się na uderzenie w tak newralgiczną część ciała, jaką jest głowa drewnianą pałką o długości 73 cm i przekroju 6,5 cm na 4 cm, musi łączyć się ze świadomością, że tego rodzaju cios powoduje zgon.</a:t>
            </a:r>
          </a:p>
          <a:p>
            <a:endParaRPr lang="pl-PL"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92500" lnSpcReduction="10000"/>
          </a:bodyPr>
          <a:lstStyle/>
          <a:p>
            <a:r>
              <a:rPr lang="pl-PL" dirty="0"/>
              <a:t>Typy kwalifikowane z art. 148 par. 2 k.k.</a:t>
            </a:r>
          </a:p>
          <a:p>
            <a:endParaRPr lang="pl-PL" dirty="0"/>
          </a:p>
          <a:p>
            <a:r>
              <a:rPr lang="pl-PL" dirty="0"/>
              <a:t>zabójstwo ze </a:t>
            </a:r>
            <a:r>
              <a:rPr lang="pl-PL" b="1" dirty="0"/>
              <a:t>szczególnym okrucieństwem</a:t>
            </a:r>
            <a:r>
              <a:rPr lang="pl-PL" dirty="0"/>
              <a:t> (§ 2 </a:t>
            </a:r>
            <a:r>
              <a:rPr lang="pl-PL" dirty="0" err="1"/>
              <a:t>pkt</a:t>
            </a:r>
            <a:r>
              <a:rPr lang="pl-PL" dirty="0"/>
              <a:t> 1)</a:t>
            </a:r>
          </a:p>
          <a:p>
            <a:endParaRPr lang="pl-PL" dirty="0"/>
          </a:p>
          <a:p>
            <a:r>
              <a:rPr lang="pl-PL" b="1" dirty="0"/>
              <a:t>Wyrok </a:t>
            </a:r>
            <a:r>
              <a:rPr lang="pl-PL" dirty="0"/>
              <a:t>Sądu Apelacyjnego w Katowicach</a:t>
            </a:r>
          </a:p>
          <a:p>
            <a:r>
              <a:rPr lang="pl-PL" dirty="0"/>
              <a:t>z dnia 19 kwietnia 2001 r. </a:t>
            </a:r>
            <a:r>
              <a:rPr lang="pl-PL" b="1" dirty="0"/>
              <a:t>II </a:t>
            </a:r>
            <a:r>
              <a:rPr lang="pl-PL" b="1" dirty="0" err="1"/>
              <a:t>AKa</a:t>
            </a:r>
            <a:r>
              <a:rPr lang="pl-PL" b="1" dirty="0"/>
              <a:t> 80/01</a:t>
            </a:r>
          </a:p>
          <a:p>
            <a:r>
              <a:rPr lang="pl-PL" b="1" dirty="0"/>
              <a:t> </a:t>
            </a:r>
          </a:p>
          <a:p>
            <a:r>
              <a:rPr lang="pl-PL" dirty="0"/>
              <a:t>Każde zabójstwo jest ze swej istoty zachowaniem okrutnym, jednak do przyjęcia szczególnego okrucieństwa wymagane jest zadawanie cierpień zbędnych dla samego pozbawienia życia ofiary.</a:t>
            </a:r>
          </a:p>
          <a:p>
            <a:endParaRPr lang="pl-PL" dirty="0"/>
          </a:p>
          <a:p>
            <a:endParaRPr lang="pl-PL"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a:bodyPr>
          <a:lstStyle/>
          <a:p>
            <a:r>
              <a:rPr lang="pl-PL" b="1" dirty="0"/>
              <a:t>Wyrok </a:t>
            </a:r>
            <a:r>
              <a:rPr lang="pl-PL" dirty="0"/>
              <a:t>Sądu Apelacyjnego w Krakowie z dnia 12 września 2002 r. </a:t>
            </a:r>
            <a:r>
              <a:rPr lang="pl-PL" b="1" dirty="0"/>
              <a:t>II </a:t>
            </a:r>
            <a:r>
              <a:rPr lang="pl-PL" b="1" dirty="0" err="1"/>
              <a:t>AKa</a:t>
            </a:r>
            <a:r>
              <a:rPr lang="pl-PL" b="1" dirty="0"/>
              <a:t> 220/02</a:t>
            </a:r>
          </a:p>
          <a:p>
            <a:endParaRPr lang="pl-PL" b="1" dirty="0"/>
          </a:p>
          <a:p>
            <a:r>
              <a:rPr lang="pl-PL" dirty="0"/>
              <a:t>Szczególnym okrucieństwem zabójstwa jest zadanie ofierze cierpień ponad zakres niezbędny do osiągnięcia celu, torturowanie jej, poniżanie, dręczenie  </a:t>
            </a:r>
          </a:p>
          <a:p>
            <a:endParaRPr lang="pl-PL"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70000" lnSpcReduction="20000"/>
          </a:bodyPr>
          <a:lstStyle/>
          <a:p>
            <a:r>
              <a:rPr lang="pl-PL" b="1" dirty="0"/>
              <a:t>Wyrok </a:t>
            </a:r>
            <a:r>
              <a:rPr lang="pl-PL" dirty="0"/>
              <a:t>Sądu Apelacyjnego w Lublinie z dnia 5 listopada 2008 r.</a:t>
            </a:r>
          </a:p>
          <a:p>
            <a:r>
              <a:rPr lang="pl-PL" b="1" dirty="0"/>
              <a:t>II </a:t>
            </a:r>
            <a:r>
              <a:rPr lang="pl-PL" b="1" dirty="0" err="1"/>
              <a:t>AKa</a:t>
            </a:r>
            <a:r>
              <a:rPr lang="pl-PL" b="1" dirty="0"/>
              <a:t> 156/08</a:t>
            </a:r>
          </a:p>
          <a:p>
            <a:pPr>
              <a:buNone/>
            </a:pPr>
            <a:endParaRPr lang="pl-PL" b="1" dirty="0"/>
          </a:p>
          <a:p>
            <a:r>
              <a:rPr lang="pl-PL" dirty="0"/>
              <a:t>1. Za szczególnie okrutne w rozumieniu art. 148 § 2 </a:t>
            </a:r>
            <a:r>
              <a:rPr lang="pl-PL" dirty="0" err="1"/>
              <a:t>pkt</a:t>
            </a:r>
            <a:r>
              <a:rPr lang="pl-PL" dirty="0"/>
              <a:t> 1 k.k. uznać należy również te zachowania, które są podejmowane w stosunku do osoby jeszcze żyjącej, ale już nieprzytomnej, lub pozostającej w głębokim upojeniu alkoholowym, a więc niezdolnej do odczuwania cierpienia psychicznego wskutek poniżających wypowiedzi sprawcy, a czasem niezdolnej do odczuwania także i cierpienia fizycznego, których to cierpień zadanie ofierze objęte było jednak zamiarem sprawcy.</a:t>
            </a:r>
          </a:p>
          <a:p>
            <a:r>
              <a:rPr lang="pl-PL" dirty="0"/>
              <a:t>2. Objęcie szczególnego okrucieństwa zamiarem (co najmniej ewentualnym) sprawcy jest warunkiem koniecznym zastosowania tej kwalifikacji prawnej do określonego zachowania.</a:t>
            </a:r>
          </a:p>
          <a:p>
            <a:r>
              <a:rPr lang="pl-PL" dirty="0"/>
              <a:t>3. Powzięcie zamiaru zabrania pieniędzy osobie wcześniej bez tego zamiaru pobitej nie wyczerpuje znamion rozboju, a wyczerpuje znamiona przestępstw przeciwko zdrowiu lub życiu i kradzieży pozostających w zbiegu realnym.</a:t>
            </a:r>
          </a:p>
          <a:p>
            <a:endParaRPr lang="pl-PL"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lstStyle/>
          <a:p>
            <a:r>
              <a:rPr lang="pl-PL" sz="2800" dirty="0"/>
              <a:t>2)  w związku z wzięciem zakładnika, zgwałceniem albo rozbojem</a:t>
            </a:r>
          </a:p>
          <a:p>
            <a:endParaRPr lang="pl-PL" sz="2800" dirty="0"/>
          </a:p>
          <a:p>
            <a:r>
              <a:rPr lang="pl-PL" sz="2800" dirty="0"/>
              <a:t>Związek może mieć charakter funkcjonalny lub przyczynowy (może być środkiem do celu, zatarciem śladów)</a:t>
            </a:r>
          </a:p>
          <a:p>
            <a:endParaRPr lang="pl-PL"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a:bodyPr>
          <a:lstStyle/>
          <a:p>
            <a:r>
              <a:rPr lang="pl-PL" dirty="0"/>
              <a:t>Art. 148 </a:t>
            </a:r>
            <a:r>
              <a:rPr lang="pl-PL" dirty="0">
                <a:latin typeface="Times New Roman"/>
                <a:cs typeface="Times New Roman"/>
              </a:rPr>
              <a:t>§ 2 </a:t>
            </a:r>
            <a:r>
              <a:rPr lang="pl-PL" dirty="0" err="1">
                <a:latin typeface="Times New Roman"/>
                <a:cs typeface="Times New Roman"/>
              </a:rPr>
              <a:t>pkt</a:t>
            </a:r>
            <a:r>
              <a:rPr lang="pl-PL" dirty="0">
                <a:latin typeface="Times New Roman"/>
                <a:cs typeface="Times New Roman"/>
              </a:rPr>
              <a:t> 3 – motywacja zasługująca na szczególne potępienie </a:t>
            </a:r>
          </a:p>
          <a:p>
            <a:endParaRPr lang="pl-PL" dirty="0">
              <a:latin typeface="Times New Roman"/>
              <a:cs typeface="Times New Roman"/>
            </a:endParaRPr>
          </a:p>
          <a:p>
            <a:r>
              <a:rPr lang="pl-PL" b="1" dirty="0"/>
              <a:t>Wyrok </a:t>
            </a:r>
            <a:r>
              <a:rPr lang="pl-PL" dirty="0"/>
              <a:t>Sądu Apelacyjnego w Białymstoku  z dnia 5 czerwca 2014 r. </a:t>
            </a:r>
            <a:r>
              <a:rPr lang="pl-PL" b="1" dirty="0"/>
              <a:t>II </a:t>
            </a:r>
            <a:r>
              <a:rPr lang="pl-PL" b="1" dirty="0" err="1"/>
              <a:t>AKa</a:t>
            </a:r>
            <a:r>
              <a:rPr lang="pl-PL" b="1" dirty="0"/>
              <a:t> 97/14</a:t>
            </a:r>
          </a:p>
          <a:p>
            <a:endParaRPr lang="pl-PL" b="1" dirty="0"/>
          </a:p>
          <a:p>
            <a:r>
              <a:rPr lang="pl-PL" dirty="0"/>
              <a:t>Samo stwierdzenie, że sprawca popełnił czyn bez wyraźnego motywu, nie oznacza przyjęcia, iż popełnił go w wyniku motywacji zasługującej na szczególne potępienie.</a:t>
            </a:r>
          </a:p>
          <a:p>
            <a:endParaRPr lang="pl-PL"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92500"/>
          </a:bodyPr>
          <a:lstStyle/>
          <a:p>
            <a:r>
              <a:rPr lang="pl-PL" b="1" dirty="0"/>
              <a:t>Wyrok </a:t>
            </a:r>
            <a:r>
              <a:rPr lang="pl-PL" dirty="0"/>
              <a:t>Sądu Apelacyjnego w Krakowie z dnia 4 grudnia 2012 r. </a:t>
            </a:r>
            <a:r>
              <a:rPr lang="pl-PL" b="1" dirty="0"/>
              <a:t>II </a:t>
            </a:r>
            <a:r>
              <a:rPr lang="pl-PL" b="1" dirty="0" err="1"/>
              <a:t>AKa</a:t>
            </a:r>
            <a:r>
              <a:rPr lang="pl-PL" b="1" dirty="0"/>
              <a:t> 213/12</a:t>
            </a:r>
          </a:p>
          <a:p>
            <a:pPr>
              <a:buNone/>
            </a:pPr>
            <a:endParaRPr lang="pl-PL" b="1" dirty="0"/>
          </a:p>
          <a:p>
            <a:r>
              <a:rPr lang="pl-PL" dirty="0"/>
              <a:t>Szczególne potępienie to takie zachowania, gdzie nacisk położony jest na pierwszy element tego pojęcia. Chodzi bowiem o sytuacje zupełnie wyjątkowe, odbiegające od przeciętnych, standardowych, jakkolwiek bardzo nagannych motywacji, budzące odruch odrazy, wywołujące silne oburzenie społeczne, determinujące potępienie ponad ramy przeciętnych reakcji negatywnych każdego człowieka.</a:t>
            </a:r>
          </a:p>
          <a:p>
            <a:endParaRPr lang="pl-PL"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a:bodyPr>
          <a:lstStyle/>
          <a:p>
            <a:r>
              <a:rPr lang="pl-PL" b="1" dirty="0"/>
              <a:t>Wyrok </a:t>
            </a:r>
            <a:r>
              <a:rPr lang="pl-PL" dirty="0"/>
              <a:t>Sądu Apelacyjnego we Wrocławiu z dnia 29 września 2004 r. </a:t>
            </a:r>
            <a:r>
              <a:rPr lang="pl-PL" b="1" dirty="0"/>
              <a:t>II </a:t>
            </a:r>
            <a:r>
              <a:rPr lang="pl-PL" b="1" dirty="0" err="1"/>
              <a:t>AKa</a:t>
            </a:r>
            <a:r>
              <a:rPr lang="pl-PL" b="1" dirty="0"/>
              <a:t> 275/04</a:t>
            </a:r>
          </a:p>
          <a:p>
            <a:pPr>
              <a:buNone/>
            </a:pPr>
            <a:endParaRPr lang="pl-PL" b="1" dirty="0"/>
          </a:p>
          <a:p>
            <a:r>
              <a:rPr lang="pl-PL" dirty="0"/>
              <a:t>Usprawiedliwianie zabójstwa potrzebą wyeliminowania ze społeczeństwa ludzi należących w ocenie sprawcy do "drugiej kategorii" wyraża motywację zasługującą na szczególne potępienie i kwalifikacja takiego zabójstwa z art. 148 § 2 </a:t>
            </a:r>
            <a:r>
              <a:rPr lang="pl-PL" dirty="0" err="1"/>
              <a:t>pkt</a:t>
            </a:r>
            <a:r>
              <a:rPr lang="pl-PL" dirty="0"/>
              <a:t> 3 </a:t>
            </a:r>
            <a:r>
              <a:rPr lang="pl-PL" dirty="0" err="1"/>
              <a:t>kk</a:t>
            </a:r>
            <a:r>
              <a:rPr lang="pl-PL" dirty="0"/>
              <a:t> przepisu jest trafna.</a:t>
            </a:r>
          </a:p>
          <a:p>
            <a:endParaRPr lang="pl-PL"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85000" lnSpcReduction="20000"/>
          </a:bodyPr>
          <a:lstStyle/>
          <a:p>
            <a:r>
              <a:rPr lang="pl-PL" b="1" dirty="0"/>
              <a:t>Wyrok </a:t>
            </a:r>
            <a:r>
              <a:rPr lang="pl-PL" dirty="0"/>
              <a:t>Sądu Apelacyjnego w Warszawie z dnia 12 października 2012 r. </a:t>
            </a:r>
            <a:r>
              <a:rPr lang="pl-PL" b="1" dirty="0"/>
              <a:t>II </a:t>
            </a:r>
            <a:r>
              <a:rPr lang="pl-PL" b="1" dirty="0" err="1"/>
              <a:t>AKa</a:t>
            </a:r>
            <a:r>
              <a:rPr lang="pl-PL" b="1" dirty="0"/>
              <a:t> 265/12</a:t>
            </a:r>
          </a:p>
          <a:p>
            <a:r>
              <a:rPr lang="pl-PL" b="1" dirty="0"/>
              <a:t> </a:t>
            </a:r>
          </a:p>
          <a:p>
            <a:r>
              <a:rPr lang="pl-PL" dirty="0"/>
              <a:t>1. Zabójstwo kwalifikowane przez sposób działania sprawcy może być uznane za szczególnie okrutne w wypadkach wyjątkowych, zawierających w swym opisie elementy dodatkowe (szczególnie drastyczne, makabryczne, stanowiące przejaw wynaturzenia czy zwyrodnienia).</a:t>
            </a:r>
          </a:p>
          <a:p>
            <a:r>
              <a:rPr lang="pl-PL" dirty="0"/>
              <a:t>2. "</a:t>
            </a:r>
            <a:r>
              <a:rPr lang="pl-PL" dirty="0">
                <a:solidFill>
                  <a:srgbClr val="FF0000"/>
                </a:solidFill>
              </a:rPr>
              <a:t>Szczególne potępienie" </a:t>
            </a:r>
            <a:r>
              <a:rPr lang="pl-PL" dirty="0"/>
              <a:t>motywacji sprawcy może mieć miejsce wtedy, gdy motywy sprawcy w sposób rażący odbiegały od przyjętych wzorców postępowania, z uwzględnieniem już tego, że każde zabójstwo jest takim naruszeniem wzorca postępowania. Musi więc wystąpić jeszcze jakiś dodatkowy element w motywacji sprawcy, który decyzję dokonania zabójstwa czyni szczególnie naganną.</a:t>
            </a:r>
          </a:p>
          <a:p>
            <a:endParaRPr lang="pl-PL"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fontScale="90000"/>
          </a:bodyPr>
          <a:lstStyle/>
          <a:p>
            <a:r>
              <a:rPr lang="pl-PL" dirty="0"/>
              <a:t>art. 148 par. 2 pkt 4 z użyciem materiałów wybuchowych </a:t>
            </a:r>
          </a:p>
        </p:txBody>
      </p:sp>
      <p:sp>
        <p:nvSpPr>
          <p:cNvPr id="3" name="Symbol zastępczy zawartości 2"/>
          <p:cNvSpPr>
            <a:spLocks noGrp="1"/>
          </p:cNvSpPr>
          <p:nvPr>
            <p:ph sz="quarter" idx="1"/>
          </p:nvPr>
        </p:nvSpPr>
        <p:spPr/>
        <p:txBody>
          <a:bodyPr/>
          <a:lstStyle/>
          <a:p>
            <a:r>
              <a:rPr lang="pl-PL" dirty="0"/>
              <a:t>Do użycia materiałów wybuchowych </a:t>
            </a:r>
            <a:r>
              <a:rPr lang="pl-PL" b="1" dirty="0"/>
              <a:t> </a:t>
            </a:r>
            <a:r>
              <a:rPr lang="pl-PL" dirty="0"/>
              <a:t>dochodzi, gdy sprawca posłuży się tymi materiałami jako narzędziami służącymi do zabicia człowieka, z wykorzystaniem ich specyficznych właściwości</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 </a:t>
            </a:r>
          </a:p>
        </p:txBody>
      </p:sp>
      <p:sp>
        <p:nvSpPr>
          <p:cNvPr id="3" name="Symbol zastępczy zawartości 2"/>
          <p:cNvSpPr>
            <a:spLocks noGrp="1"/>
          </p:cNvSpPr>
          <p:nvPr>
            <p:ph sz="quarter" idx="1"/>
          </p:nvPr>
        </p:nvSpPr>
        <p:spPr/>
        <p:txBody>
          <a:bodyPr>
            <a:normAutofit lnSpcReduction="10000"/>
          </a:bodyPr>
          <a:lstStyle/>
          <a:p>
            <a:r>
              <a:rPr lang="pl-PL" dirty="0"/>
              <a:t>Definicja materiału wybuchowego</a:t>
            </a:r>
          </a:p>
          <a:p>
            <a:r>
              <a:rPr lang="pl-PL" dirty="0"/>
              <a:t>Ustawa z dnia 21 czerwca 2002 r. o materiałach wybuchowych przeznaczonych do użytku cywilnego,</a:t>
            </a:r>
          </a:p>
          <a:p>
            <a:r>
              <a:rPr lang="pl-PL" dirty="0"/>
              <a:t>Art. 3 </a:t>
            </a:r>
            <a:r>
              <a:rPr lang="pl-PL" dirty="0" err="1"/>
              <a:t>pkt</a:t>
            </a:r>
            <a:r>
              <a:rPr lang="pl-PL" dirty="0"/>
              <a:t> 9 Ilekroć w ustawie jest mowa o:</a:t>
            </a:r>
          </a:p>
          <a:p>
            <a:r>
              <a:rPr lang="pl-PL" dirty="0"/>
              <a:t>materiałach wybuchowych - należy przez to rozumieć substancje chemiczne stałe lub ciekłe albo mieszaniny substancji zdolne do reakcji chemicznej z wytwarzaniem gazu o takiej temperaturze i ciśnieniu i z taką szybkością, że mogą powodować zniszczenia w otaczającym środowisku, a także wyroby wypełnione materiałem wybuchowym;</a:t>
            </a:r>
          </a:p>
          <a:p>
            <a:endParaRPr lang="pl-PL"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art. 148 </a:t>
            </a:r>
            <a:r>
              <a:rPr lang="pl-PL" dirty="0">
                <a:hlinkClick r:id="rId2"/>
              </a:rPr>
              <a:t>§ 3</a:t>
            </a:r>
            <a:endParaRPr lang="pl-PL" dirty="0"/>
          </a:p>
        </p:txBody>
      </p:sp>
      <p:sp>
        <p:nvSpPr>
          <p:cNvPr id="3" name="Symbol zastępczy zawartości 2"/>
          <p:cNvSpPr>
            <a:spLocks noGrp="1"/>
          </p:cNvSpPr>
          <p:nvPr>
            <p:ph sz="quarter" idx="1"/>
          </p:nvPr>
        </p:nvSpPr>
        <p:spPr/>
        <p:txBody>
          <a:bodyPr>
            <a:normAutofit/>
          </a:bodyPr>
          <a:lstStyle/>
          <a:p>
            <a:r>
              <a:rPr lang="pl-PL" b="1" dirty="0"/>
              <a:t> </a:t>
            </a:r>
            <a:r>
              <a:rPr lang="pl-PL" dirty="0"/>
              <a:t>  typ kwalifikowany</a:t>
            </a:r>
            <a:endParaRPr lang="pl-PL" sz="2800" dirty="0"/>
          </a:p>
          <a:p>
            <a:endParaRPr lang="pl-PL" dirty="0"/>
          </a:p>
          <a:p>
            <a:r>
              <a:rPr lang="pl-PL" dirty="0"/>
              <a:t>ze względu na rozmiary, a w zasadzie - wielość wywołanych zachowaniem sprawcy skutków (zabicie jednym czynem więcej niż jednej osoby)</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62500" lnSpcReduction="20000"/>
          </a:bodyPr>
          <a:lstStyle/>
          <a:p>
            <a:r>
              <a:rPr lang="pl-PL" b="1" dirty="0"/>
              <a:t>Wyrok </a:t>
            </a:r>
            <a:r>
              <a:rPr lang="pl-PL" dirty="0"/>
              <a:t>Sądu Apelacyjnego w Lublinie z dnia 13 maja 2015 r.</a:t>
            </a:r>
          </a:p>
          <a:p>
            <a:r>
              <a:rPr lang="pl-PL" b="1" dirty="0"/>
              <a:t>II </a:t>
            </a:r>
            <a:r>
              <a:rPr lang="pl-PL" b="1" dirty="0" err="1"/>
              <a:t>AKa</a:t>
            </a:r>
            <a:r>
              <a:rPr lang="pl-PL" b="1" dirty="0"/>
              <a:t> 80/15 </a:t>
            </a:r>
          </a:p>
          <a:p>
            <a:endParaRPr lang="pl-PL" b="1" dirty="0"/>
          </a:p>
          <a:p>
            <a:r>
              <a:rPr lang="pl-PL" dirty="0"/>
              <a:t>1. Bez znaczenia dla odpowiedzialności karnej z art. 148 § 3 k.k. w zakresie zabójstwa jednym czynem więcej niż jednej osoby, jest to kiedy nastąpi skutek w postaci śmierci, bowiem decydujące znaczenie dla jedności czynu ma chwila zachowania sprawcy, a nie chwila wystąpienia skutku.</a:t>
            </a:r>
          </a:p>
          <a:p>
            <a:r>
              <a:rPr lang="pl-PL" dirty="0"/>
              <a:t>2. </a:t>
            </a:r>
            <a:r>
              <a:rPr lang="pl-PL" dirty="0">
                <a:solidFill>
                  <a:srgbClr val="FF0000"/>
                </a:solidFill>
              </a:rPr>
              <a:t>Przestępstwo określone w art. 148 § 3 k.k. może być popełnione zarówno w zamiarze bezpośrednim jak i wynikowym, byleby tylko sprawca swoją umyślnością obejmował śmierć więcej niż jednej osoby, co oznacza, że możliwa jest sytuacja, w ramach kwalifikacji z art. 148 § 3 k.k., wystąpienia dwóch zamiarów kiedy sprawca chce zabić konkretną osobę, ale przewiduje jeszcze śmierć innych osób i na to się godzi</a:t>
            </a:r>
            <a:r>
              <a:rPr lang="pl-PL" dirty="0"/>
              <a:t>, co nie oznacza, że w określonych sytuacjach </a:t>
            </a:r>
            <a:r>
              <a:rPr lang="pl-PL" dirty="0" err="1"/>
              <a:t>faktycznoprawnych</a:t>
            </a:r>
            <a:r>
              <a:rPr lang="pl-PL" dirty="0"/>
              <a:t>, gdy sprawca zamiarem obejmuje śmierć tylko jednej osoby, a w wyniku niezachowania reguł ostrożności dojdzie do innych jeszcze skutków, których możliwość zaistnienia przewidywał albo mógł przewidzieć, nie dochodzi do zrealizowania znamion zbrodni określonej w art. 148 § 3 k.k., ale w grę może wchodzić kumulatywna kwalifikacja np. z art. 148 § 1 k.k. w </a:t>
            </a:r>
            <a:r>
              <a:rPr lang="pl-PL" dirty="0" err="1"/>
              <a:t>zb</a:t>
            </a:r>
            <a:r>
              <a:rPr lang="pl-PL" dirty="0"/>
              <a:t>. z art. 155 k.k. w zw. z art. 11 § 2 k.k. W każdym z tych przypadków musi mieć miejsce gdy zaistniałe skutki będą zewnętrznym przejawem jednego impulsu woli sprawcy.</a:t>
            </a:r>
          </a:p>
          <a:p>
            <a:endParaRPr lang="pl-PL"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lstStyle/>
          <a:p>
            <a:endParaRPr lang="pl-PL" dirty="0"/>
          </a:p>
          <a:p>
            <a:endParaRPr lang="pl-PL" dirty="0"/>
          </a:p>
          <a:p>
            <a:r>
              <a:rPr lang="pl-PL" dirty="0"/>
              <a:t>Typ kwalifikowany  ze względu na szczególną właściwość podmiotu fakt uprzedniego skazania za zabójstwo  (przestępstwo indywidualne niewłaściwe)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a:bodyPr>
          <a:lstStyle/>
          <a:p>
            <a:r>
              <a:rPr lang="pl-PL" b="1" dirty="0"/>
              <a:t>Wyrok Sądu Najwyższego z dnia 19 listopada 2008 r. V KK 74/08</a:t>
            </a:r>
          </a:p>
          <a:p>
            <a:endParaRPr lang="pl-PL" b="1" dirty="0"/>
          </a:p>
          <a:p>
            <a:r>
              <a:rPr lang="pl-PL" dirty="0"/>
              <a:t> Przepis art. 148 § 3 k.k. w zakresie dotyczącym uprzedniego skazania za zabójstwo, odnosi się tylko do typu podstawowego i typów kwalifikowanych.</a:t>
            </a:r>
          </a:p>
          <a:p>
            <a:endParaRPr lang="pl-PL"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a:bodyPr>
          <a:lstStyle/>
          <a:p>
            <a:r>
              <a:rPr lang="pl-PL" b="1" dirty="0"/>
              <a:t>Uchwała Sądu Najwyższego z dnia 22 listopada 2002 r. I KZP 41/02</a:t>
            </a:r>
          </a:p>
          <a:p>
            <a:pPr>
              <a:buNone/>
            </a:pPr>
            <a:endParaRPr lang="pl-PL" b="1" dirty="0"/>
          </a:p>
          <a:p>
            <a:r>
              <a:rPr lang="pl-PL" dirty="0"/>
              <a:t>Wcześniejsze, prawomocne skazanie za zabójstwo, stanowiące podstawę obostrzenia odpowiedzialności karnej na podstawie art. 148 § 3 </a:t>
            </a:r>
            <a:r>
              <a:rPr lang="pl-PL" dirty="0" err="1"/>
              <a:t>in</a:t>
            </a:r>
            <a:r>
              <a:rPr lang="pl-PL" dirty="0"/>
              <a:t> </a:t>
            </a:r>
            <a:r>
              <a:rPr lang="pl-PL" dirty="0" err="1"/>
              <a:t>fine</a:t>
            </a:r>
            <a:r>
              <a:rPr lang="pl-PL" dirty="0"/>
              <a:t> k.k., nie obejmuje uprzedniego, prawomocnego skazania za zabójstwo typu uprzywilejowanego.</a:t>
            </a:r>
          </a:p>
          <a:p>
            <a:endParaRPr lang="pl-PL"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Zabójstwo funkcjonariusza publicznego</a:t>
            </a:r>
          </a:p>
        </p:txBody>
      </p:sp>
      <p:sp>
        <p:nvSpPr>
          <p:cNvPr id="3" name="Symbol zastępczy zawartości 2"/>
          <p:cNvSpPr>
            <a:spLocks noGrp="1"/>
          </p:cNvSpPr>
          <p:nvPr>
            <p:ph sz="quarter" idx="1"/>
          </p:nvPr>
        </p:nvSpPr>
        <p:spPr/>
        <p:txBody>
          <a:bodyPr/>
          <a:lstStyle/>
          <a:p>
            <a:endParaRPr lang="pl-PL" dirty="0"/>
          </a:p>
          <a:p>
            <a:r>
              <a:rPr lang="pl-PL" dirty="0"/>
              <a:t>Art. 148 par. 3</a:t>
            </a:r>
          </a:p>
          <a:p>
            <a:endParaRPr lang="pl-PL" dirty="0"/>
          </a:p>
          <a:p>
            <a:r>
              <a:rPr lang="pl-PL" dirty="0"/>
              <a:t> zabójstwo funkcjonariusza publicznego popełnionego podczas lub w związku z pełnieniem przez niego obowiązków służbowych związanych z ochroną bezpieczeństwa ludzi lub ochroną bezpieczeństwa lub porządku publicznego</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92500" lnSpcReduction="10000"/>
          </a:bodyPr>
          <a:lstStyle/>
          <a:p>
            <a:r>
              <a:rPr lang="pl-PL" dirty="0"/>
              <a:t>Okoliczność kwalifikująca – przedmiot czynności wykonawczej </a:t>
            </a:r>
          </a:p>
          <a:p>
            <a:endParaRPr lang="pl-PL" dirty="0"/>
          </a:p>
          <a:p>
            <a:r>
              <a:rPr lang="pl-PL" dirty="0"/>
              <a:t>D</a:t>
            </a:r>
            <a:r>
              <a:rPr lang="pl-PL" dirty="0">
                <a:latin typeface="Times New Roman"/>
                <a:cs typeface="Times New Roman"/>
              </a:rPr>
              <a:t>efinicj</a:t>
            </a:r>
            <a:r>
              <a:rPr lang="pl-PL" dirty="0"/>
              <a:t>a funkcjonariusza publicznego – art. 115 </a:t>
            </a:r>
            <a:r>
              <a:rPr lang="pl-PL" dirty="0">
                <a:latin typeface="Times New Roman"/>
                <a:cs typeface="Times New Roman"/>
              </a:rPr>
              <a:t>§ 13 k.k.</a:t>
            </a:r>
            <a:endParaRPr lang="pl-PL" dirty="0"/>
          </a:p>
          <a:p>
            <a:endParaRPr lang="pl-PL" dirty="0"/>
          </a:p>
          <a:p>
            <a:r>
              <a:rPr lang="pl-PL" dirty="0"/>
              <a:t>Nie każde zabójstwo funkcjonariusza podlega kwalifikacji z tego przepisu ale tylko takie, które ma miejsce podczas lub w związku z wykonywaniem przez niego obowiązków związanych z ochroną bezpieczeństwa ludzi lub ochroną bezpieczeństwa lub porządku publicznego, może być kwalifikowane z komentowanego przepisu.</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Zabójstwo w afekcie</a:t>
            </a:r>
          </a:p>
        </p:txBody>
      </p:sp>
      <p:sp>
        <p:nvSpPr>
          <p:cNvPr id="3" name="Symbol zastępczy zawartości 2"/>
          <p:cNvSpPr>
            <a:spLocks noGrp="1"/>
          </p:cNvSpPr>
          <p:nvPr>
            <p:ph sz="quarter" idx="1"/>
          </p:nvPr>
        </p:nvSpPr>
        <p:spPr/>
        <p:txBody>
          <a:bodyPr/>
          <a:lstStyle/>
          <a:p>
            <a:r>
              <a:rPr lang="pl-PL" dirty="0"/>
              <a:t> art. 148 </a:t>
            </a:r>
            <a:r>
              <a:rPr lang="pl-PL" dirty="0">
                <a:latin typeface="Times New Roman"/>
                <a:cs typeface="Times New Roman"/>
              </a:rPr>
              <a:t>§ 4 k.k.</a:t>
            </a:r>
          </a:p>
          <a:p>
            <a:pPr>
              <a:buNone/>
            </a:pPr>
            <a:endParaRPr lang="pl-PL" b="1" dirty="0"/>
          </a:p>
          <a:p>
            <a:r>
              <a:rPr lang="pl-PL" dirty="0"/>
              <a:t>Kto zabija człowieka pod wpływem silnego wzburzenia usprawiedliwionego okolicznościami,</a:t>
            </a:r>
          </a:p>
          <a:p>
            <a:endParaRPr lang="pl-PL"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92500" lnSpcReduction="10000"/>
          </a:bodyPr>
          <a:lstStyle/>
          <a:p>
            <a:r>
              <a:rPr lang="pl-PL" b="1" dirty="0"/>
              <a:t>Postanowienie </a:t>
            </a:r>
            <a:r>
              <a:rPr lang="pl-PL" dirty="0"/>
              <a:t>Sądu Najwyższego z dnia 4 lutego 2014 r.</a:t>
            </a:r>
          </a:p>
          <a:p>
            <a:r>
              <a:rPr lang="pl-PL" b="1" dirty="0"/>
              <a:t>II KK 290/13</a:t>
            </a:r>
          </a:p>
          <a:p>
            <a:pPr>
              <a:buNone/>
            </a:pPr>
            <a:endParaRPr lang="pl-PL" b="1" dirty="0"/>
          </a:p>
          <a:p>
            <a:r>
              <a:rPr lang="pl-PL" dirty="0"/>
              <a:t>Ustalenie, czy wystąpiły okoliczności usprawiedliwiające stan silnego wzburzenia, to sfera ustaleń faktycznych, które oceniane są przez sąd na podstawie przeprowadzonych dowodów, opierając się na wiedzy prawniczej i życiowym doświadczeniu, a jedynie w szczególnie skomplikowanych wypadkach pomocne mogą być opinie biegłych - socjologów moralności i obyczajowości.</a:t>
            </a:r>
          </a:p>
          <a:p>
            <a:endParaRPr lang="pl-PL"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fontScale="90000"/>
          </a:bodyPr>
          <a:lstStyle/>
          <a:p>
            <a:r>
              <a:rPr lang="pl-PL" b="1" dirty="0"/>
              <a:t>Wyrok </a:t>
            </a:r>
            <a:r>
              <a:rPr lang="pl-PL" dirty="0"/>
              <a:t>Sądu Apelacyjnego w Poznaniu z dnia 19 lutego 2015 </a:t>
            </a:r>
            <a:r>
              <a:rPr lang="pl-PL" dirty="0" err="1"/>
              <a:t>r</a:t>
            </a:r>
            <a:endParaRPr lang="pl-PL" dirty="0"/>
          </a:p>
        </p:txBody>
      </p:sp>
      <p:sp>
        <p:nvSpPr>
          <p:cNvPr id="3" name="Symbol zastępczy zawartości 2"/>
          <p:cNvSpPr>
            <a:spLocks noGrp="1"/>
          </p:cNvSpPr>
          <p:nvPr>
            <p:ph sz="quarter" idx="1"/>
          </p:nvPr>
        </p:nvSpPr>
        <p:spPr/>
        <p:txBody>
          <a:bodyPr>
            <a:normAutofit fontScale="92500" lnSpcReduction="10000"/>
          </a:bodyPr>
          <a:lstStyle/>
          <a:p>
            <a:pPr>
              <a:buNone/>
            </a:pPr>
            <a:endParaRPr lang="pl-PL" dirty="0"/>
          </a:p>
          <a:p>
            <a:r>
              <a:rPr lang="pl-PL" dirty="0"/>
              <a:t> Silne wzburzenie usprawiedliwione okolicznościami to tylko takie, które w ocenach społecznych może zasługiwać na pewne zrozumienie z punktu widzenia zasad moralnych. Jest bowiem współmierne do wywołującej jej przyczyny, pochodzącej od pokrzywdzonego, którego to zachowanie wywołało afektywną reakcję spełniającą znamiona czynu zabronionego określonego w art. 148 § 4 k.k. Musi zatem zaistnieć pewna adekwatność pomiędzy czynem a tą krzywdą, którą odczuł sprawca, "rozsądna" proporcja pomiędzy nią a tym czego on dokonał.</a:t>
            </a:r>
          </a:p>
          <a:p>
            <a:endParaRPr lang="pl-PL"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62500" lnSpcReduction="20000"/>
          </a:bodyPr>
          <a:lstStyle/>
          <a:p>
            <a:r>
              <a:rPr lang="pl-PL" b="1" dirty="0"/>
              <a:t>Wyrok Sądu Apelacyjnego w Krakowie z dnia 10 grudnia 2013 r.</a:t>
            </a:r>
          </a:p>
          <a:p>
            <a:r>
              <a:rPr lang="pl-PL" b="1" dirty="0"/>
              <a:t>II </a:t>
            </a:r>
            <a:r>
              <a:rPr lang="pl-PL" b="1" dirty="0" err="1"/>
              <a:t>AKa</a:t>
            </a:r>
            <a:r>
              <a:rPr lang="pl-PL" b="1" dirty="0"/>
              <a:t> 241/13</a:t>
            </a:r>
          </a:p>
          <a:p>
            <a:pPr>
              <a:buNone/>
            </a:pPr>
            <a:r>
              <a:rPr lang="pl-PL" b="1" dirty="0"/>
              <a:t> </a:t>
            </a:r>
          </a:p>
          <a:p>
            <a:r>
              <a:rPr lang="pl-PL" dirty="0"/>
              <a:t>Do przyjęcia, że sprawca popełnił przestępstwo zabójstwa w typie uprzywilejowanym z art. 148 § 4 k.k. konieczne jest wykazanie, że silne wzburzenie ma swoje usprawiedliwienie z punktu widzenia ocen moralnych w zaistniałych okolicznościach; że przyczyna afektu jest według kryteriów obiektywnych i zaaprobowanych norm moralnych przynajmniej w pewnym zakresie - wybaczalna. Ponadto musi zaistnieć także pewna adekwatność pomiędzy czynem a tą krzywdą, którą odczuł sprawca, "rozsądna" - proporcja pomiędzy nią, a tym czego on dokonał.</a:t>
            </a:r>
          </a:p>
          <a:p>
            <a:pPr>
              <a:buNone/>
            </a:pPr>
            <a:endParaRPr lang="pl-PL" b="1" dirty="0"/>
          </a:p>
          <a:p>
            <a:r>
              <a:rPr lang="pl-PL" dirty="0"/>
              <a:t>Odczuwanie złości nie jest tożsame za stanem wzburzenia, o którym mowa w art. 148 § 4 k.k. Zwykle tak jest, że działaniom zmierzającym do zabicia człowieka towarzyszy silne napięcie emocjonalne, zdenerwowanie czy gniew. W art. 148 § 4 k.k. chodzi jednak o wzburzenie o bardzo wysokim poziomie natężenia, przekraczające przeciętne zdenerwowanie. Silne wzburzenie z art. 148 § 4 k.k. jest zjawiskiem fizjologicznym. Jest to stan psychiczny polegający na znacznej przewadze emocji nad intelektem, prowadzący do ograniczenia kontrolującej funkcji rozumu, którego przyczyną jest gwałtowna reakcja na czynniki znajdujące się poza osobą sprawcy.</a:t>
            </a:r>
          </a:p>
          <a:p>
            <a:endParaRPr lang="pl-PL"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70000" lnSpcReduction="20000"/>
          </a:bodyPr>
          <a:lstStyle/>
          <a:p>
            <a:r>
              <a:rPr lang="pl-PL" sz="2800" b="1" dirty="0">
                <a:effectLst/>
                <a:latin typeface="Times New Roman" panose="02020603050405020304" pitchFamily="18" charset="0"/>
                <a:ea typeface="Times New Roman" panose="02020603050405020304" pitchFamily="18" charset="0"/>
              </a:rPr>
              <a:t>Sąd Okręgowy w B. wyrokiem z dnia 8 października 2019 r. uznał  oskarżonego Leona K. (data urodzenia 5 sierpnia 1998 r.) za winnego tego, że 27 września 2015 r. w B., działając z zamiarem bezpośrednim, w wyniku motywacji zasługującej na potępienie,  dokonał zabójstwa Krzysztofa L. w ten sposób, że ugodził go nożem dwukrotnie w szyję powodując przecięcie tętnicy szyjnej i w konsekwencji wykrwawienie się pokrzywdzonego skutkujące jego zgonem tj. przestępstwa z art. 148 § 2 pkt 3 k.k. i za to przestępstwo wymierzył mu karę dożywotniego pozbawienia wolności i rozstrzygnął o kosztach procesu, obciążając nimi Skarb Państwa. </a:t>
            </a:r>
          </a:p>
          <a:p>
            <a:pPr algn="just"/>
            <a:r>
              <a:rPr lang="pl-PL" sz="2800" b="1" i="1" dirty="0">
                <a:effectLst/>
                <a:latin typeface="Times New Roman" panose="02020603050405020304" pitchFamily="18" charset="0"/>
                <a:ea typeface="Times New Roman" panose="02020603050405020304" pitchFamily="18" charset="0"/>
              </a:rPr>
              <a:t>Oceń jako obrońca oskarżonego prawidłowość wydanego wyroku na płaszczyźnie przepisów prawa karnego materialnego, przy założeniu, że stan faktyczny sprawy został ustalony prawidłowo. W zależności od zajętego stanowiska zaproponuj treść zarzutu (ów) apelacyjnego (</a:t>
            </a:r>
            <a:r>
              <a:rPr lang="pl-PL" sz="2800" b="1" i="1" dirty="0" err="1">
                <a:effectLst/>
                <a:latin typeface="Times New Roman" panose="02020603050405020304" pitchFamily="18" charset="0"/>
                <a:ea typeface="Times New Roman" panose="02020603050405020304" pitchFamily="18" charset="0"/>
              </a:rPr>
              <a:t>ych</a:t>
            </a:r>
            <a:r>
              <a:rPr lang="pl-PL" sz="2800" b="1" i="1" dirty="0">
                <a:effectLst/>
                <a:latin typeface="Times New Roman" panose="02020603050405020304" pitchFamily="18" charset="0"/>
                <a:ea typeface="Times New Roman" panose="02020603050405020304" pitchFamily="18" charset="0"/>
              </a:rPr>
              <a:t>) i wniosków apelacyjnych  lub treść opinii co do braku podstaw do wywiedzenia apelacji. Wskaż wyczerpujące argumenty na poparcie zajętego w przedmiotowej sprawie  stanowiska.</a:t>
            </a:r>
            <a:endParaRPr lang="pl-PL" sz="2800" dirty="0">
              <a:effectLst/>
              <a:latin typeface="Times New Roman" panose="02020603050405020304" pitchFamily="18" charset="0"/>
              <a:ea typeface="Times New Roman" panose="02020603050405020304" pitchFamily="18" charset="0"/>
            </a:endParaRPr>
          </a:p>
          <a:p>
            <a:endParaRPr lang="pl-PL" dirty="0"/>
          </a:p>
        </p:txBody>
      </p:sp>
    </p:spTree>
    <p:extLst>
      <p:ext uri="{BB962C8B-B14F-4D97-AF65-F5344CB8AC3E}">
        <p14:creationId xmlns:p14="http://schemas.microsoft.com/office/powerpoint/2010/main" val="38478309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lnSpcReduction="10000"/>
          </a:bodyPr>
          <a:lstStyle/>
          <a:p>
            <a:r>
              <a:rPr lang="pl-PL" dirty="0"/>
              <a:t>Sąd Rejonowy w K. skazał Jana W.  za popełnienie przestępstwa z art. 148 par. 4 k.k. przyjmując, że działał on pod wpływem silnego wzburzenia usprawiedliwionego okolicznościami, gdyż bezpośrednio przed dokonaniem zabójstwa pokrzywdzony Zenon L. dwukrotnie, publicznie nazwał Jana W. „kretynem”. Za to przestępstwo sąd wymierzył Janowi W. karę 3 lat pozbawienia wolności i orzekł o kosztach procesu. Oceń trafność wyroku na płaszczyźnie prawa karnego materialnego i procesowego jako pełnomocnik żony zmarłego pokrzywdzonego Zenona L. </a:t>
            </a:r>
          </a:p>
          <a:p>
            <a:endParaRPr lang="pl-PL" dirty="0"/>
          </a:p>
        </p:txBody>
      </p:sp>
    </p:spTree>
    <p:extLst>
      <p:ext uri="{BB962C8B-B14F-4D97-AF65-F5344CB8AC3E}">
        <p14:creationId xmlns:p14="http://schemas.microsoft.com/office/powerpoint/2010/main" val="37184213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a:bodyPr>
          <a:lstStyle/>
          <a:p>
            <a:r>
              <a:rPr lang="pl-PL" sz="2800" dirty="0"/>
              <a:t>Wyrok wadliwy, naruszenie art. 25 par. 1 pkt 2 k.p.k. i w konsekwencji stan z art. 439 par. 1 pkt 4 k.p.k.; nie zaktualizował się czyn z art. 148 par. 4 k.k. („usprawiedliwione okoliczności”)</a:t>
            </a:r>
          </a:p>
          <a:p>
            <a:endParaRPr lang="pl-PL" dirty="0"/>
          </a:p>
        </p:txBody>
      </p:sp>
    </p:spTree>
    <p:extLst>
      <p:ext uri="{BB962C8B-B14F-4D97-AF65-F5344CB8AC3E}">
        <p14:creationId xmlns:p14="http://schemas.microsoft.com/office/powerpoint/2010/main" val="16168047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07504" y="404664"/>
            <a:ext cx="8698168" cy="5976664"/>
          </a:xfrm>
        </p:spPr>
        <p:txBody>
          <a:bodyPr>
            <a:normAutofit/>
          </a:bodyPr>
          <a:lstStyle/>
          <a:p>
            <a:r>
              <a:rPr lang="pl-PL" dirty="0"/>
              <a:t>Art.  148a. [Przyjęcie zlecenia zabójstwa]</a:t>
            </a:r>
          </a:p>
          <a:p>
            <a:r>
              <a:rPr lang="pl-PL" dirty="0"/>
              <a:t>§  1.</a:t>
            </a:r>
          </a:p>
          <a:p>
            <a:r>
              <a:rPr lang="pl-PL" dirty="0"/>
              <a:t> Kto przyjmuje zlecenie zabójstwa człowieka w zamian za udzieloną lub obiecaną korzyść majątkową lub </a:t>
            </a:r>
            <a:r>
              <a:rPr lang="pl-PL" dirty="0" err="1"/>
              <a:t>osobistą,podlega</a:t>
            </a:r>
            <a:r>
              <a:rPr lang="pl-PL" dirty="0"/>
              <a:t> karze pozbawienia wolności od lat 2 do 15.</a:t>
            </a:r>
          </a:p>
          <a:p>
            <a:r>
              <a:rPr lang="pl-PL" dirty="0"/>
              <a:t>§  2.</a:t>
            </a:r>
          </a:p>
          <a:p>
            <a:r>
              <a:rPr lang="pl-PL" dirty="0"/>
              <a:t> Nie podlega karze za przestępstwo określone w § 1, kto przed wszczęciem postępowania karnego ujawnił wobec organu powołanego do ścigania przestępstw osobę lub osoby zlecające zabójstwo oraz istotne okoliczności popełnionego czynu.</a:t>
            </a:r>
          </a:p>
          <a:p>
            <a:endParaRPr lang="pl-PL" dirty="0"/>
          </a:p>
        </p:txBody>
      </p:sp>
    </p:spTree>
    <p:extLst>
      <p:ext uri="{BB962C8B-B14F-4D97-AF65-F5344CB8AC3E}">
        <p14:creationId xmlns:p14="http://schemas.microsoft.com/office/powerpoint/2010/main" val="6515072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lstStyle/>
          <a:p>
            <a:r>
              <a:rPr lang="pl-PL" b="1" dirty="0"/>
              <a:t>Art. 155 k.k.</a:t>
            </a:r>
          </a:p>
          <a:p>
            <a:endParaRPr lang="pl-PL" b="1" dirty="0"/>
          </a:p>
          <a:p>
            <a:r>
              <a:rPr lang="pl-PL" dirty="0"/>
              <a:t>Kto nieumyślnie powoduje śmierć człowieka,</a:t>
            </a:r>
          </a:p>
          <a:p>
            <a:r>
              <a:rPr lang="pl-PL" dirty="0"/>
              <a:t>podlega karze pozbawienia wolności od 3 miesięcy do lat 5.</a:t>
            </a:r>
          </a:p>
          <a:p>
            <a:endParaRPr lang="pl-PL"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lstStyle/>
          <a:p>
            <a:r>
              <a:rPr lang="pl-PL" dirty="0"/>
              <a:t>Przedmiot ochrony – życie człowieka</a:t>
            </a:r>
          </a:p>
          <a:p>
            <a:endParaRPr lang="pl-PL" dirty="0"/>
          </a:p>
          <a:p>
            <a:r>
              <a:rPr lang="pl-PL" dirty="0"/>
              <a:t>Przestępstwo powszechne (działanie) – kto</a:t>
            </a:r>
          </a:p>
          <a:p>
            <a:endParaRPr lang="pl-PL" dirty="0"/>
          </a:p>
          <a:p>
            <a:r>
              <a:rPr lang="pl-PL" dirty="0"/>
              <a:t>Przestępstwo indywidualne (zaniechanie) – art. 2 k.k.</a:t>
            </a:r>
          </a:p>
          <a:p>
            <a:endParaRPr lang="pl-PL" dirty="0"/>
          </a:p>
          <a:p>
            <a:r>
              <a:rPr lang="pl-PL" dirty="0"/>
              <a:t>Przestępstwo skutkowe (materialne)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92500" lnSpcReduction="20000"/>
          </a:bodyPr>
          <a:lstStyle/>
          <a:p>
            <a:r>
              <a:rPr lang="pl-PL" dirty="0"/>
              <a:t>Nieumyślne</a:t>
            </a:r>
          </a:p>
          <a:p>
            <a:endParaRPr lang="pl-PL" dirty="0"/>
          </a:p>
          <a:p>
            <a:r>
              <a:rPr lang="pl-PL" dirty="0"/>
              <a:t>Do przyjęcia, że sprawca spowodował śmierć konieczne jest  po pierwsze:</a:t>
            </a:r>
          </a:p>
          <a:p>
            <a:endParaRPr lang="pl-PL" dirty="0"/>
          </a:p>
          <a:p>
            <a:r>
              <a:rPr lang="pl-PL" dirty="0"/>
              <a:t>stwierdzenie istnienia związku przyczynowego między jego zachowaniem a tak określonym skutkiem,</a:t>
            </a:r>
          </a:p>
          <a:p>
            <a:endParaRPr lang="pl-PL" dirty="0"/>
          </a:p>
          <a:p>
            <a:r>
              <a:rPr lang="pl-PL" dirty="0"/>
              <a:t>Stwierdzenie, że sprawca zachował się nieostrożnie oraz że swoim nieostrożnym zachowaniem zwiększył ponad dopuszczalną miarę ryzyko śmierci innej osoby, które następnie zostało  urzeczywistnione.</a:t>
            </a:r>
            <a:br>
              <a:rPr lang="pl-PL" dirty="0"/>
            </a:br>
            <a:endParaRPr lang="pl-PL"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77500" lnSpcReduction="20000"/>
          </a:bodyPr>
          <a:lstStyle/>
          <a:p>
            <a:r>
              <a:rPr lang="pl-PL" b="1" dirty="0"/>
              <a:t>Wyrok</a:t>
            </a:r>
            <a:r>
              <a:rPr lang="pl-PL" dirty="0"/>
              <a:t> Sądu Apelacyjnego w Białymstoku z dnia 3 lutego 2015 r.</a:t>
            </a:r>
          </a:p>
          <a:p>
            <a:pPr marL="0" indent="0">
              <a:buNone/>
            </a:pPr>
            <a:r>
              <a:rPr lang="pl-PL" dirty="0"/>
              <a:t>    </a:t>
            </a:r>
            <a:r>
              <a:rPr lang="pl-PL" b="1" dirty="0"/>
              <a:t>II </a:t>
            </a:r>
            <a:r>
              <a:rPr lang="pl-PL" b="1" dirty="0" err="1"/>
              <a:t>AKa</a:t>
            </a:r>
            <a:r>
              <a:rPr lang="pl-PL" b="1" dirty="0"/>
              <a:t> 1/15</a:t>
            </a:r>
            <a:endParaRPr lang="pl-PL" dirty="0"/>
          </a:p>
          <a:p>
            <a:endParaRPr lang="pl-PL" dirty="0"/>
          </a:p>
          <a:p>
            <a:endParaRPr lang="pl-PL" dirty="0"/>
          </a:p>
          <a:p>
            <a:r>
              <a:rPr lang="pl-PL" dirty="0"/>
              <a:t>Do przyjęcia odpowiedzialności z art. 155 k.k. dochodzi wówczas, gdy śmierć człowieka jest niezamierzonym następstwem (nieumyślnego w rozumieniu art. 9 § 2 k.k.) działania sprawcy, a więc polegającym na </a:t>
            </a:r>
            <a:r>
              <a:rPr lang="pl-PL" dirty="0">
                <a:solidFill>
                  <a:srgbClr val="FF0000"/>
                </a:solidFill>
              </a:rPr>
              <a:t>niezachowaniu obowiązku ostrożności w sytuacji, w której na podstawie normalnej zdolności przewidywania i ogólnego obowiązku dbałości o życie ludzkie lub przewidywanie skutków własnych działań </a:t>
            </a:r>
            <a:r>
              <a:rPr lang="pl-PL" dirty="0">
                <a:solidFill>
                  <a:srgbClr val="00B050"/>
                </a:solidFill>
              </a:rPr>
              <a:t>można wymagać od człowieka, aby nie dopuścił do wystąpienia przestępczego skutku.</a:t>
            </a:r>
          </a:p>
          <a:p>
            <a:r>
              <a:rPr lang="pl-PL" i="1" dirty="0">
                <a:solidFill>
                  <a:srgbClr val="00B050"/>
                </a:solidFill>
              </a:rPr>
              <a:t> </a:t>
            </a:r>
            <a:endParaRPr lang="pl-PL" dirty="0">
              <a:solidFill>
                <a:srgbClr val="00B050"/>
              </a:solidFill>
            </a:endParaRPr>
          </a:p>
          <a:p>
            <a:endParaRPr lang="pl-PL" dirty="0"/>
          </a:p>
          <a:p>
            <a:endParaRPr lang="pl-PL" dirty="0"/>
          </a:p>
        </p:txBody>
      </p:sp>
    </p:spTree>
    <p:extLst>
      <p:ext uri="{BB962C8B-B14F-4D97-AF65-F5344CB8AC3E}">
        <p14:creationId xmlns:p14="http://schemas.microsoft.com/office/powerpoint/2010/main" val="30729190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Ciężki uszczerbek na zdrowiu</a:t>
            </a:r>
          </a:p>
        </p:txBody>
      </p:sp>
      <p:sp>
        <p:nvSpPr>
          <p:cNvPr id="3" name="Symbol zastępczy zawartości 2"/>
          <p:cNvSpPr>
            <a:spLocks noGrp="1"/>
          </p:cNvSpPr>
          <p:nvPr>
            <p:ph sz="quarter" idx="1"/>
          </p:nvPr>
        </p:nvSpPr>
        <p:spPr>
          <a:xfrm>
            <a:off x="301752" y="1527048"/>
            <a:ext cx="8503920" cy="5214320"/>
          </a:xfrm>
        </p:spPr>
        <p:txBody>
          <a:bodyPr>
            <a:normAutofit fontScale="62500" lnSpcReduction="20000"/>
          </a:bodyPr>
          <a:lstStyle/>
          <a:p>
            <a:r>
              <a:rPr lang="pl-PL" dirty="0"/>
              <a:t>Art.  156. </a:t>
            </a:r>
          </a:p>
          <a:p>
            <a:r>
              <a:rPr lang="pl-PL" dirty="0"/>
              <a:t>§  1. </a:t>
            </a:r>
          </a:p>
          <a:p>
            <a:r>
              <a:rPr lang="pl-PL" dirty="0"/>
              <a:t>Kto powoduje ciężki uszczerbek na zdrowiu w postaci:</a:t>
            </a:r>
          </a:p>
          <a:p>
            <a:r>
              <a:rPr lang="pl-PL" dirty="0"/>
              <a:t>1) </a:t>
            </a:r>
          </a:p>
          <a:p>
            <a:r>
              <a:rPr lang="pl-PL" dirty="0"/>
              <a:t>pozbawienia człowieka wzroku, słuchu, mowy, zdolności płodzenia,</a:t>
            </a:r>
          </a:p>
          <a:p>
            <a:r>
              <a:rPr lang="pl-PL" dirty="0"/>
              <a:t>2) </a:t>
            </a:r>
          </a:p>
          <a:p>
            <a:r>
              <a:rPr lang="pl-PL" dirty="0"/>
              <a:t>innego ciężkiego kalectwa, ciężkiej choroby nieuleczalnej lub długotrwałej, choroby realnie zagrażającej życiu, trwałej choroby psychicznej, całkowitej albo znacznej trwałej niezdolności do pracy w zawodzie lub trwałego, istotnego zeszpecenia lub zniekształcenia ciała,</a:t>
            </a:r>
          </a:p>
          <a:p>
            <a:r>
              <a:rPr lang="pl-PL" dirty="0"/>
              <a:t>3) </a:t>
            </a:r>
          </a:p>
          <a:p>
            <a:r>
              <a:rPr lang="pl-PL" dirty="0"/>
              <a:t>wycięcia, infibulacji lub innego trwałego i istotnego okaleczenia żeńskiego narządu płciowego,</a:t>
            </a:r>
          </a:p>
          <a:p>
            <a:r>
              <a:rPr lang="pl-PL" dirty="0"/>
              <a:t>podlega karze pozbawienia wolności od lat 3 do 20. </a:t>
            </a:r>
          </a:p>
          <a:p>
            <a:r>
              <a:rPr lang="pl-PL" dirty="0"/>
              <a:t>§  2. </a:t>
            </a:r>
          </a:p>
          <a:p>
            <a:r>
              <a:rPr lang="pl-PL" dirty="0"/>
              <a:t>Jeżeli sprawca działa </a:t>
            </a:r>
            <a:r>
              <a:rPr lang="pl-PL" dirty="0" err="1"/>
              <a:t>nieumyślnie,podlega</a:t>
            </a:r>
            <a:r>
              <a:rPr lang="pl-PL" dirty="0"/>
              <a:t> karze pozbawienia wolności do lat 3.</a:t>
            </a:r>
          </a:p>
          <a:p>
            <a:r>
              <a:rPr lang="pl-PL" dirty="0"/>
              <a:t>§  3. </a:t>
            </a:r>
          </a:p>
          <a:p>
            <a:r>
              <a:rPr lang="pl-PL" dirty="0"/>
              <a:t>Jeżeli następstwem czynu określonego w § 1 jest śmierć człowieka, sprawca podlega karze pozbawienia wolności na czas nie krótszy od lat 5 albo karze dożywotniego pozbawienia wolności.</a:t>
            </a:r>
          </a:p>
          <a:p>
            <a:endParaRPr lang="pl-PL" dirty="0"/>
          </a:p>
        </p:txBody>
      </p:sp>
    </p:spTree>
    <p:extLst>
      <p:ext uri="{BB962C8B-B14F-4D97-AF65-F5344CB8AC3E}">
        <p14:creationId xmlns:p14="http://schemas.microsoft.com/office/powerpoint/2010/main" val="17779324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lstStyle/>
          <a:p>
            <a:endParaRPr lang="pl-PL" dirty="0"/>
          </a:p>
          <a:p>
            <a:r>
              <a:rPr lang="pl-PL" dirty="0"/>
              <a:t>Par. 1 typ podstawowy</a:t>
            </a:r>
          </a:p>
          <a:p>
            <a:r>
              <a:rPr lang="pl-PL" dirty="0"/>
              <a:t>Par. 2 typ uprzywilejowany</a:t>
            </a:r>
          </a:p>
          <a:p>
            <a:r>
              <a:rPr lang="pl-PL" dirty="0"/>
              <a:t>Par. 3 typ kwalifikowany przez następstwa</a:t>
            </a:r>
          </a:p>
          <a:p>
            <a:endParaRPr lang="pl-PL" dirty="0"/>
          </a:p>
          <a:p>
            <a:r>
              <a:rPr lang="pl-PL" dirty="0"/>
              <a:t>Przestępstwo powszechne, przy zaniechaniu indywidualne</a:t>
            </a:r>
          </a:p>
          <a:p>
            <a:endParaRPr lang="pl-PL" dirty="0"/>
          </a:p>
          <a:p>
            <a:endParaRPr lang="pl-PL" dirty="0"/>
          </a:p>
        </p:txBody>
      </p:sp>
    </p:spTree>
    <p:extLst>
      <p:ext uri="{BB962C8B-B14F-4D97-AF65-F5344CB8AC3E}">
        <p14:creationId xmlns:p14="http://schemas.microsoft.com/office/powerpoint/2010/main" val="380887218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a:xfrm>
            <a:off x="301752" y="1527048"/>
            <a:ext cx="8503920" cy="5102352"/>
          </a:xfrm>
        </p:spPr>
        <p:txBody>
          <a:bodyPr>
            <a:normAutofit fontScale="85000" lnSpcReduction="20000"/>
          </a:bodyPr>
          <a:lstStyle/>
          <a:p>
            <a:endParaRPr lang="pl-PL" dirty="0"/>
          </a:p>
          <a:p>
            <a:r>
              <a:rPr lang="pl-PL" dirty="0"/>
              <a:t>Ciężki uszczerbek na zdrowiu jest zbiorczą nazwą dla wszystkich szczegółowo wskazanych przez ustawodawcę postaci, w jakich dojść może do naruszenia zdrowia, kwalifikowanego w kategoriach uszczerbku ciężkiego. </a:t>
            </a:r>
          </a:p>
          <a:p>
            <a:endParaRPr lang="pl-PL" dirty="0"/>
          </a:p>
          <a:p>
            <a:r>
              <a:rPr lang="pl-PL" dirty="0"/>
              <a:t>Można w nich wyodrębnić co najmniej trzy podstawowe ich grupy </a:t>
            </a:r>
          </a:p>
          <a:p>
            <a:endParaRPr lang="pl-PL" dirty="0"/>
          </a:p>
          <a:p>
            <a:r>
              <a:rPr lang="pl-PL" dirty="0"/>
              <a:t>Grupa pierwsza -  kryterium anatomiczne lub funkcjonalne – stanowią ją rozmaite postacie kalectwa, a mianowicie pozbawienie człowieka wzroku, słuchu, mowy, zdolności płodzenia, a także - co wskazywałoby na to, że mamy tutaj do czynienia z wyliczeniem jedynie przykładowym - inne ciężkie kalectwo.</a:t>
            </a:r>
          </a:p>
          <a:p>
            <a:endParaRPr lang="pl-PL" dirty="0"/>
          </a:p>
          <a:p>
            <a:endParaRPr lang="pl-PL" dirty="0"/>
          </a:p>
        </p:txBody>
      </p:sp>
    </p:spTree>
    <p:extLst>
      <p:ext uri="{BB962C8B-B14F-4D97-AF65-F5344CB8AC3E}">
        <p14:creationId xmlns:p14="http://schemas.microsoft.com/office/powerpoint/2010/main" val="159035901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a:xfrm>
            <a:off x="301752" y="1527048"/>
            <a:ext cx="8503920" cy="5102352"/>
          </a:xfrm>
        </p:spPr>
        <p:txBody>
          <a:bodyPr>
            <a:normAutofit fontScale="77500" lnSpcReduction="20000"/>
          </a:bodyPr>
          <a:lstStyle/>
          <a:p>
            <a:endParaRPr lang="pl-PL" dirty="0"/>
          </a:p>
          <a:p>
            <a:r>
              <a:rPr lang="pl-PL" dirty="0"/>
              <a:t>Grupa druga -  kryterium fizjologiczne -  ciężka choroba nieuleczalna lub długotrwała, choroba realnie zagrażającą życiu, trwała choroba psychiczna. </a:t>
            </a:r>
          </a:p>
          <a:p>
            <a:endParaRPr lang="pl-PL" dirty="0"/>
          </a:p>
          <a:p>
            <a:r>
              <a:rPr lang="pl-PL" dirty="0"/>
              <a:t>Trzecia grupa - wyodrębniona ze względu na kryterium społeczne, a także estetyczne - to trwała niezdolność do pracy w zawodzie lub trwałe, istotne zeszpecenie lub zniekształcenie  </a:t>
            </a:r>
          </a:p>
          <a:p>
            <a:endParaRPr lang="pl-PL" b="1" dirty="0"/>
          </a:p>
          <a:p>
            <a:pPr marL="0" indent="0">
              <a:buNone/>
            </a:pPr>
            <a:r>
              <a:rPr lang="pl-PL" dirty="0"/>
              <a:t>Ze względu na zróżnicowanie skutków należących do znamion przestępstwa z art. 156 § 1 przyjęty w wyroku opis przypisanego sprawcy czynu nie może sprowadzać się do ogólnego stwierdzenia, że wywołał on swym zachowaniem "ciężki uszczerbek na zdrowiu", lecz należy zawsze w opisie czynu ująć konkretne i sprecyzowane w jasny sposób działanie sprawcy [wyrok SA w Rzeszowie z dnia 14 listopada 2002 r., II </a:t>
            </a:r>
            <a:r>
              <a:rPr lang="pl-PL" dirty="0" err="1"/>
              <a:t>AKa</a:t>
            </a:r>
            <a:r>
              <a:rPr lang="pl-PL" dirty="0"/>
              <a:t> 103/02, OSA 2004, z. 1, poz. 2].</a:t>
            </a:r>
          </a:p>
          <a:p>
            <a:endParaRPr lang="pl-PL" dirty="0"/>
          </a:p>
          <a:p>
            <a:endParaRPr lang="pl-PL" dirty="0"/>
          </a:p>
        </p:txBody>
      </p:sp>
    </p:spTree>
    <p:extLst>
      <p:ext uri="{BB962C8B-B14F-4D97-AF65-F5344CB8AC3E}">
        <p14:creationId xmlns:p14="http://schemas.microsoft.com/office/powerpoint/2010/main" val="95929643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lnSpcReduction="10000"/>
          </a:bodyPr>
          <a:lstStyle/>
          <a:p>
            <a:endParaRPr lang="pl-PL" dirty="0"/>
          </a:p>
          <a:p>
            <a:r>
              <a:rPr lang="pl-PL" dirty="0"/>
              <a:t>Kalectwo  - polega na anatomicznej, jak i funkcjonalnej utracie ważnego dla człowieka narządu, a także na znacznym ograniczeniu jego funkcji . </a:t>
            </a:r>
          </a:p>
          <a:p>
            <a:endParaRPr lang="pl-PL" dirty="0"/>
          </a:p>
          <a:p>
            <a:r>
              <a:rPr lang="pl-PL" dirty="0"/>
              <a:t>Spowodowanie </a:t>
            </a:r>
            <a:r>
              <a:rPr lang="pl-PL" b="1" dirty="0"/>
              <a:t>ciężkiego kalectwa</a:t>
            </a:r>
            <a:r>
              <a:rPr lang="pl-PL" dirty="0"/>
              <a:t> ma miejsce wówczas, gdy nastąpiła pełna lub - w niektórych przypadkach - także częściowa utrata funkcji życiowych odpowiednich organów, oznaczająca np. utratę wzroku, słuchu czy zdolności płodzenia.  </a:t>
            </a:r>
          </a:p>
          <a:p>
            <a:endParaRPr lang="pl-PL" dirty="0"/>
          </a:p>
        </p:txBody>
      </p:sp>
    </p:spTree>
    <p:extLst>
      <p:ext uri="{BB962C8B-B14F-4D97-AF65-F5344CB8AC3E}">
        <p14:creationId xmlns:p14="http://schemas.microsoft.com/office/powerpoint/2010/main" val="357970980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a:bodyPr>
          <a:lstStyle/>
          <a:p>
            <a:r>
              <a:rPr lang="pl-PL" b="1" dirty="0"/>
              <a:t>Wyrok</a:t>
            </a:r>
            <a:r>
              <a:rPr lang="pl-PL" dirty="0"/>
              <a:t> Sądu Najwyższego z dnia 14 lutego 2013 r.</a:t>
            </a:r>
          </a:p>
          <a:p>
            <a:endParaRPr lang="pl-PL" dirty="0"/>
          </a:p>
          <a:p>
            <a:r>
              <a:rPr lang="pl-PL" dirty="0"/>
              <a:t>Przepis art. 156 § 1 pkt 2 k.k. jako ciężki uszczerbek na zdrowiu traktuje sprowadzenie "innego ciężkiego kalectwa". Zniesienie czynności jednego z narządów parzystych (jąder, oczu, nerek, płuc, uszu) stanowi "inne ciężkie kalectwo", ponieważ każdy z nich jest ważnym dla życia narzędziem o samodzielnej wysoce wyspecjalizowanej czynności.</a:t>
            </a:r>
          </a:p>
          <a:p>
            <a:endParaRPr lang="pl-PL" dirty="0"/>
          </a:p>
          <a:p>
            <a:endParaRPr lang="pl-PL" dirty="0"/>
          </a:p>
        </p:txBody>
      </p:sp>
    </p:spTree>
    <p:extLst>
      <p:ext uri="{BB962C8B-B14F-4D97-AF65-F5344CB8AC3E}">
        <p14:creationId xmlns:p14="http://schemas.microsoft.com/office/powerpoint/2010/main" val="230546225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62500" lnSpcReduction="20000"/>
          </a:bodyPr>
          <a:lstStyle/>
          <a:p>
            <a:r>
              <a:rPr lang="pl-PL" dirty="0"/>
              <a:t>Choroba, która wedle kryterium fizjologicznego oznaczać może ciężki uszczerbek na zdrowiu, musi być chorobą:</a:t>
            </a:r>
          </a:p>
          <a:p>
            <a:r>
              <a:rPr lang="pl-PL" dirty="0"/>
              <a:t> ciężką i nieuleczalną,</a:t>
            </a:r>
          </a:p>
          <a:p>
            <a:r>
              <a:rPr lang="pl-PL" dirty="0"/>
              <a:t> ciężką i długotrwałą, </a:t>
            </a:r>
          </a:p>
          <a:p>
            <a:r>
              <a:rPr lang="pl-PL" dirty="0"/>
              <a:t>chorobą realnie zagrażającą życiu,</a:t>
            </a:r>
          </a:p>
          <a:p>
            <a:r>
              <a:rPr lang="pl-PL" dirty="0"/>
              <a:t> trwałą chorobą psychiczną. </a:t>
            </a:r>
          </a:p>
          <a:p>
            <a:r>
              <a:rPr lang="pl-PL" dirty="0"/>
              <a:t>Ciężka choroba  - istotne zakłócenie funkcjonowania organizmu, które uniemożliwia lub znacząco ogranicza wykonywanie zwykłych czynności życiowych chorego. </a:t>
            </a:r>
          </a:p>
          <a:p>
            <a:endParaRPr lang="pl-PL" b="1" dirty="0"/>
          </a:p>
          <a:p>
            <a:r>
              <a:rPr lang="pl-PL" b="1" dirty="0"/>
              <a:t>Choroba ciężka</a:t>
            </a:r>
            <a:r>
              <a:rPr lang="pl-PL" dirty="0"/>
              <a:t> może okazać się:</a:t>
            </a:r>
          </a:p>
          <a:p>
            <a:r>
              <a:rPr lang="pl-PL" dirty="0"/>
              <a:t>a)  </a:t>
            </a:r>
            <a:r>
              <a:rPr lang="pl-PL" b="1" dirty="0"/>
              <a:t>nieuleczalna</a:t>
            </a:r>
            <a:r>
              <a:rPr lang="pl-PL" dirty="0"/>
              <a:t>, co oznacza, że nie da się jej "zwalczyć" przy stosowaniu dostępnych procedur leczniczych (według aktualnego stanu wiedzy medycznej nie jest możliwa do uleczenia), lub</a:t>
            </a:r>
          </a:p>
          <a:p>
            <a:r>
              <a:rPr lang="pl-PL" dirty="0"/>
              <a:t>b)  </a:t>
            </a:r>
            <a:r>
              <a:rPr lang="pl-PL" b="1" dirty="0"/>
              <a:t>długotrwała</a:t>
            </a:r>
            <a:r>
              <a:rPr lang="pl-PL" dirty="0"/>
              <a:t>, a więc - przynajmniej co do zasady - nadająca się do wyleczenia, lecz po przeprowadzeniu długo trwającego procesu terapii.</a:t>
            </a:r>
          </a:p>
          <a:p>
            <a:endParaRPr lang="pl-PL" dirty="0"/>
          </a:p>
          <a:p>
            <a:r>
              <a:rPr lang="pl-PL" dirty="0"/>
              <a:t>( w doktrynie powyżej 3 miesięcy, powyżej 6 miesięcy)   </a:t>
            </a:r>
          </a:p>
          <a:p>
            <a:endParaRPr lang="pl-PL" dirty="0"/>
          </a:p>
          <a:p>
            <a:endParaRPr lang="pl-PL" dirty="0"/>
          </a:p>
        </p:txBody>
      </p:sp>
    </p:spTree>
    <p:extLst>
      <p:ext uri="{BB962C8B-B14F-4D97-AF65-F5344CB8AC3E}">
        <p14:creationId xmlns:p14="http://schemas.microsoft.com/office/powerpoint/2010/main" val="352295714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lstStyle/>
          <a:p>
            <a:endParaRPr lang="pl-PL" b="1" dirty="0"/>
          </a:p>
          <a:p>
            <a:r>
              <a:rPr lang="pl-PL" b="1" dirty="0"/>
              <a:t>Choroba realnie zagrażająca życiu</a:t>
            </a:r>
            <a:r>
              <a:rPr lang="pl-PL" dirty="0"/>
              <a:t> -  choroba, która w określonych okolicznościach konkretnego stanu faktycznego stanowi rzeczywiste, a nie jedynie teoretyczne zagrożenie dla życia człowieka, niezależnie od tego, czy jest  kwalifikowana jako ciężka.</a:t>
            </a:r>
          </a:p>
          <a:p>
            <a:endParaRPr lang="pl-PL" dirty="0"/>
          </a:p>
          <a:p>
            <a:endParaRPr lang="pl-PL" dirty="0"/>
          </a:p>
        </p:txBody>
      </p:sp>
    </p:spTree>
    <p:extLst>
      <p:ext uri="{BB962C8B-B14F-4D97-AF65-F5344CB8AC3E}">
        <p14:creationId xmlns:p14="http://schemas.microsoft.com/office/powerpoint/2010/main" val="169051141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62500" lnSpcReduction="20000"/>
          </a:bodyPr>
          <a:lstStyle/>
          <a:p>
            <a:endParaRPr lang="pl-PL" dirty="0"/>
          </a:p>
          <a:p>
            <a:r>
              <a:rPr lang="pl-PL" dirty="0"/>
              <a:t>Trwała  </a:t>
            </a:r>
            <a:r>
              <a:rPr lang="pl-PL" b="1" dirty="0"/>
              <a:t>niezdolność do pracy</a:t>
            </a:r>
            <a:r>
              <a:rPr lang="pl-PL" dirty="0"/>
              <a:t> może być całkowita lub znaczna. W literaturze przyjmuje się jednak, że skutek pozwalający na przyjęcie kwalifikacji z art. 156 § 1 pkt 2 zachodzić będzie już wówczas, gdy zdolność do pracy w zawodzie będzie mogła być przywrócona po przeprowadzeniu zabiegu operacyjnego. </a:t>
            </a:r>
          </a:p>
          <a:p>
            <a:endParaRPr lang="pl-PL" dirty="0"/>
          </a:p>
          <a:p>
            <a:r>
              <a:rPr lang="pl-PL" dirty="0"/>
              <a:t> Nie chodzi w o niezdolność do wykonywania jakiejkolwiek pracy, lecz takiej pracy, jaką człowiek wykonuje w ramach swojego zawodu (chirurg)</a:t>
            </a:r>
          </a:p>
          <a:p>
            <a:endParaRPr lang="pl-PL" b="1" dirty="0"/>
          </a:p>
          <a:p>
            <a:r>
              <a:rPr lang="pl-PL" dirty="0"/>
              <a:t> </a:t>
            </a:r>
            <a:r>
              <a:rPr lang="pl-PL" b="1" dirty="0"/>
              <a:t>Trwałe, istotne zeszpecenie lub zniekształcenie ciała</a:t>
            </a:r>
            <a:r>
              <a:rPr lang="pl-PL" dirty="0"/>
              <a:t> oznacza  zmianę na ciele człowieka, która w sposób zdecydowanie niekorzystny odbiega od przyjętych norm estetycznego wiążących się z jego wyglądem lub kształtem. </a:t>
            </a:r>
          </a:p>
          <a:p>
            <a:endParaRPr lang="pl-PL" dirty="0"/>
          </a:p>
          <a:p>
            <a:r>
              <a:rPr lang="pl-PL" dirty="0"/>
              <a:t>Zeszpecenie należy raczej łączyć z wyglądem ciała, które pod względem anatomicznym nie odbiega od normy, </a:t>
            </a:r>
          </a:p>
          <a:p>
            <a:endParaRPr lang="pl-PL" dirty="0"/>
          </a:p>
          <a:p>
            <a:r>
              <a:rPr lang="pl-PL" dirty="0"/>
              <a:t> o zniekształceniu mówić będziemy wówczas, gdy wywołane zmiany istotnie modyfikować będą normalne kształty anatomiczne ciała człowieka.</a:t>
            </a:r>
          </a:p>
          <a:p>
            <a:endParaRPr lang="pl-PL" dirty="0"/>
          </a:p>
          <a:p>
            <a:endParaRPr lang="pl-PL" dirty="0"/>
          </a:p>
        </p:txBody>
      </p:sp>
    </p:spTree>
    <p:extLst>
      <p:ext uri="{BB962C8B-B14F-4D97-AF65-F5344CB8AC3E}">
        <p14:creationId xmlns:p14="http://schemas.microsoft.com/office/powerpoint/2010/main" val="399408850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a:xfrm>
            <a:off x="301752" y="1340768"/>
            <a:ext cx="8503920" cy="4758280"/>
          </a:xfrm>
        </p:spPr>
        <p:txBody>
          <a:bodyPr>
            <a:normAutofit fontScale="47500" lnSpcReduction="20000"/>
          </a:bodyPr>
          <a:lstStyle/>
          <a:p>
            <a:endParaRPr lang="pl-PL" dirty="0"/>
          </a:p>
          <a:p>
            <a:pPr marL="180340" indent="-180340" algn="just"/>
            <a:r>
              <a:rPr lang="pl-PL" sz="2800" b="1" dirty="0">
                <a:effectLst/>
                <a:latin typeface="Arial" panose="020B0604020202020204" pitchFamily="34" charset="0"/>
                <a:ea typeface="Times New Roman" panose="02020603050405020304" pitchFamily="18" charset="0"/>
                <a:cs typeface="Arial" panose="020B0604020202020204" pitchFamily="34" charset="0"/>
              </a:rPr>
              <a:t>Sąd Okręgowy w O. wyrokiem z dnia 16 października 2020 r. uznał oskarżonego Barnabę T. za winnego tego, że w dniu 31 grudnia 2019 r. w O., w trakcie zabawy sylwestrowej odbywającej się w świetlicy gminnej usytuowanej przy ul. Odjazdowej 6, przewidując i godząc się na spowodowanie u Witalisa D. ciężkiego uszczerbku na zdrowiu, wielokrotnie  uderzał go w głowę „nogą” od krzesła, powodując u niego liczne i rozległe rany tłuczone skroni i czoła oraz wylew krwotoczny wewnątrzczaszkowy skutkujące powstaniem u Witalisa D. ciężkiego uszczerbku na zdrowiu w postaci ciężkiej choroby długotrwałej sprowadzającej się do częściowego paraliżu lewostronnego  ręki i nogi tj. przestępstwa z art. 156 § 1 pkt 2 k.k. i za to na podstawie art. 156 § 1 pkt 2 k.k. skazał go na karę 3 lat pozbawienia wolności oraz rozstrzygnął o kosztach procesu.</a:t>
            </a:r>
            <a:endParaRPr lang="pl-PL" sz="2800" dirty="0">
              <a:effectLst/>
              <a:latin typeface="Arial" panose="020B0604020202020204" pitchFamily="34" charset="0"/>
              <a:ea typeface="Times New Roman" panose="02020603050405020304" pitchFamily="18" charset="0"/>
              <a:cs typeface="Arial" panose="020B0604020202020204" pitchFamily="34" charset="0"/>
            </a:endParaRPr>
          </a:p>
          <a:p>
            <a:pPr marL="0" indent="0" algn="just">
              <a:buNone/>
            </a:pPr>
            <a:endParaRPr lang="pl-PL" sz="2800" dirty="0">
              <a:effectLst/>
              <a:latin typeface="Arial" panose="020B0604020202020204" pitchFamily="34" charset="0"/>
              <a:ea typeface="Times New Roman" panose="02020603050405020304" pitchFamily="18" charset="0"/>
              <a:cs typeface="Arial" panose="020B0604020202020204" pitchFamily="34" charset="0"/>
            </a:endParaRPr>
          </a:p>
          <a:p>
            <a:pPr marL="180340" algn="just"/>
            <a:r>
              <a:rPr lang="pl-PL" sz="2800" i="1" dirty="0">
                <a:effectLst/>
                <a:latin typeface="Arial" panose="020B0604020202020204" pitchFamily="34" charset="0"/>
                <a:ea typeface="Times New Roman" panose="02020603050405020304" pitchFamily="18" charset="0"/>
                <a:cs typeface="Arial" panose="020B0604020202020204" pitchFamily="34" charset="0"/>
              </a:rPr>
              <a:t>[Z bezspornych ustaleń sądu wynikało, że oskarżony nie działał z zamiarem bezpośrednim, lecz wynikowym, zaś świadomością obejmował jedynie możliwość spowodowania swym zachowaniem ciężkiego uszczerbku na zdrowiu, przy czym konkretna postać tego ciężkiego uszczerbku na zdrowiu nie była  w świadomości sprawcy sprecyzowana. Ciężka choroba długotrwała zaistniała u pokrzywdzonego wywołana została w sposób bezpośredni zachowaniem oskarżonego]</a:t>
            </a:r>
            <a:endParaRPr lang="pl-PL" sz="2800" dirty="0">
              <a:effectLst/>
              <a:latin typeface="Arial" panose="020B0604020202020204" pitchFamily="34" charset="0"/>
              <a:ea typeface="Times New Roman" panose="02020603050405020304" pitchFamily="18" charset="0"/>
              <a:cs typeface="Arial" panose="020B0604020202020204" pitchFamily="34" charset="0"/>
            </a:endParaRPr>
          </a:p>
          <a:p>
            <a:pPr marL="180340" algn="just"/>
            <a:r>
              <a:rPr lang="pl-PL" sz="2800" b="1" i="1" dirty="0">
                <a:effectLst/>
                <a:latin typeface="Arial" panose="020B0604020202020204" pitchFamily="34" charset="0"/>
                <a:ea typeface="Times New Roman" panose="02020603050405020304" pitchFamily="18" charset="0"/>
                <a:cs typeface="Arial" panose="020B0604020202020204" pitchFamily="34" charset="0"/>
              </a:rPr>
              <a:t>Apelację od tego wyroku wniósł obrońca oskarżonego podnosząc naruszenie przepisu prawa karnego materialnego, tj. art. 156 § 1 pkt 2 k.k., gdyż:</a:t>
            </a:r>
            <a:endParaRPr lang="pl-PL" sz="2800" dirty="0">
              <a:effectLst/>
              <a:latin typeface="Arial" panose="020B0604020202020204" pitchFamily="34" charset="0"/>
              <a:ea typeface="Times New Roman" panose="02020603050405020304" pitchFamily="18" charset="0"/>
              <a:cs typeface="Arial" panose="020B0604020202020204" pitchFamily="34" charset="0"/>
            </a:endParaRPr>
          </a:p>
          <a:p>
            <a:pPr marL="180340" indent="269240" algn="just"/>
            <a:r>
              <a:rPr lang="pl-PL" sz="2800" b="1" i="1" dirty="0">
                <a:effectLst/>
                <a:latin typeface="Arial" panose="020B0604020202020204" pitchFamily="34" charset="0"/>
                <a:ea typeface="Times New Roman" panose="02020603050405020304" pitchFamily="18" charset="0"/>
                <a:cs typeface="Arial" panose="020B0604020202020204" pitchFamily="34" charset="0"/>
              </a:rPr>
              <a:t>-  „przestępstwo stypizowane w tym przepisie może być popełnione wyłącznie z zamiarem bezpośrednim”, </a:t>
            </a:r>
            <a:endParaRPr lang="pl-PL" sz="2800" dirty="0">
              <a:effectLst/>
              <a:latin typeface="Arial" panose="020B0604020202020204" pitchFamily="34" charset="0"/>
              <a:ea typeface="Times New Roman" panose="02020603050405020304" pitchFamily="18" charset="0"/>
              <a:cs typeface="Arial" panose="020B0604020202020204" pitchFamily="34" charset="0"/>
            </a:endParaRPr>
          </a:p>
          <a:p>
            <a:pPr marL="90170" indent="449580" algn="just"/>
            <a:r>
              <a:rPr lang="pl-PL" sz="2800" b="1" i="1" dirty="0">
                <a:effectLst/>
                <a:latin typeface="Arial" panose="020B0604020202020204" pitchFamily="34" charset="0"/>
                <a:ea typeface="Times New Roman" panose="02020603050405020304" pitchFamily="18" charset="0"/>
                <a:cs typeface="Arial" panose="020B0604020202020204" pitchFamily="34" charset="0"/>
              </a:rPr>
              <a:t>- „w sytuacji, w której w świadomości oskarżonego nie została sprecyzowana konkretna postać ciężkiego uszczerbku na zdrowiu jako skutku jego zachowania, to nie sposób przyjąć wyczerpania przez niego dyspozycji art. 156 § 1 pkt 2 k.k.”</a:t>
            </a:r>
            <a:endParaRPr lang="pl-PL" sz="2800" dirty="0">
              <a:effectLst/>
              <a:latin typeface="Arial" panose="020B0604020202020204" pitchFamily="34" charset="0"/>
              <a:ea typeface="Times New Roman" panose="02020603050405020304" pitchFamily="18" charset="0"/>
              <a:cs typeface="Arial" panose="020B0604020202020204" pitchFamily="34" charset="0"/>
            </a:endParaRPr>
          </a:p>
          <a:p>
            <a:pPr marL="90170" indent="449580" algn="just"/>
            <a:r>
              <a:rPr lang="pl-PL" sz="2800" b="1" i="1" dirty="0">
                <a:effectLst/>
                <a:latin typeface="Arial" panose="020B0604020202020204" pitchFamily="34" charset="0"/>
                <a:ea typeface="Times New Roman" panose="02020603050405020304" pitchFamily="18" charset="0"/>
                <a:cs typeface="Arial" panose="020B0604020202020204" pitchFamily="34" charset="0"/>
              </a:rPr>
              <a:t>W konkluzji obrońca wniósł o zmianę wyroku i uniewinnienie oskarżonego od popełnienia zarzucanego mu przestępstwa z art. 156 § 1 pkt 2 k.k. </a:t>
            </a:r>
            <a:endParaRPr lang="pl-PL" sz="2800" dirty="0">
              <a:effectLst/>
              <a:latin typeface="Arial" panose="020B0604020202020204" pitchFamily="34" charset="0"/>
              <a:ea typeface="Times New Roman" panose="02020603050405020304" pitchFamily="18" charset="0"/>
              <a:cs typeface="Arial" panose="020B0604020202020204" pitchFamily="34" charset="0"/>
            </a:endParaRPr>
          </a:p>
          <a:p>
            <a:pPr algn="just"/>
            <a:r>
              <a:rPr lang="pl-PL" sz="2800" i="1" dirty="0">
                <a:effectLst/>
                <a:latin typeface="Arial" panose="020B0604020202020204" pitchFamily="34" charset="0"/>
                <a:ea typeface="Times New Roman" panose="02020603050405020304" pitchFamily="18" charset="0"/>
                <a:cs typeface="Arial" panose="020B0604020202020204" pitchFamily="34" charset="0"/>
              </a:rPr>
              <a:t>	Oceń trafność apelacji z perspektywy pełnomocnika oskarżyciela posiłkowego Witalisa D. formułującego odpowiedź na ten środek odwoławczy. </a:t>
            </a:r>
            <a:endParaRPr lang="pl-PL" sz="2800" dirty="0">
              <a:effectLst/>
              <a:latin typeface="Arial" panose="020B0604020202020204" pitchFamily="34" charset="0"/>
              <a:ea typeface="Times New Roman" panose="02020603050405020304" pitchFamily="18" charset="0"/>
              <a:cs typeface="Arial" panose="020B0604020202020204" pitchFamily="34" charset="0"/>
            </a:endParaRPr>
          </a:p>
          <a:p>
            <a:endParaRPr lang="pl-PL" sz="2800" dirty="0">
              <a:latin typeface="Arial" panose="020B0604020202020204" pitchFamily="34" charset="0"/>
              <a:cs typeface="Arial" panose="020B0604020202020204" pitchFamily="34" charset="0"/>
            </a:endParaRPr>
          </a:p>
          <a:p>
            <a:endParaRPr lang="pl-PL" dirty="0"/>
          </a:p>
        </p:txBody>
      </p:sp>
    </p:spTree>
    <p:extLst>
      <p:ext uri="{BB962C8B-B14F-4D97-AF65-F5344CB8AC3E}">
        <p14:creationId xmlns:p14="http://schemas.microsoft.com/office/powerpoint/2010/main" val="281664569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a:xfrm>
            <a:off x="301752" y="1340768"/>
            <a:ext cx="8503920" cy="4758280"/>
          </a:xfrm>
        </p:spPr>
        <p:txBody>
          <a:bodyPr>
            <a:normAutofit fontScale="77500" lnSpcReduction="20000"/>
          </a:bodyPr>
          <a:lstStyle/>
          <a:p>
            <a:endParaRPr lang="pl-PL" dirty="0"/>
          </a:p>
          <a:p>
            <a:r>
              <a:rPr lang="pl-PL" sz="2800" dirty="0"/>
              <a:t>Wyrok Sądu Najwyższego z dnia 13 stycznia 2011 r., II KK 188/10, OSNKW 2011/2/17</a:t>
            </a:r>
          </a:p>
          <a:p>
            <a:r>
              <a:rPr lang="pl-PL" sz="2800" dirty="0"/>
              <a:t> </a:t>
            </a:r>
          </a:p>
          <a:p>
            <a:r>
              <a:rPr lang="pl-PL" sz="2800" dirty="0"/>
              <a:t>(...)  Nie budzi wątpliwości, że przyjmowanie tzw. zamiaru ogólnego przy przestępstwach przeciwko życiu i zdrowiu wymaga, gdy chodzi o art. 156 § 1 k.k., aby zamiar sprawcy obejmował nie jakiekolwiek naruszenie czynności narządów ciała lub rozstrój zdrowia, ale w aspekcie choćby ewentualnym ciężki uszczerbek na zdrowiu, w tym wynikający np. ze sposobu działania sprawcy. Ponadto między zachowaniem sprawcy a tym skutkiem musi istnieć związek przyczynowy, choć oczywiście nie jest wymagane uświadomienie sobie przez niego dokładnego przebiegu tego związku.</a:t>
            </a:r>
          </a:p>
          <a:p>
            <a:r>
              <a:rPr lang="pl-PL" sz="2800" dirty="0"/>
              <a:t>	</a:t>
            </a:r>
          </a:p>
          <a:p>
            <a:endParaRPr lang="pl-PL" dirty="0"/>
          </a:p>
        </p:txBody>
      </p:sp>
    </p:spTree>
    <p:extLst>
      <p:ext uri="{BB962C8B-B14F-4D97-AF65-F5344CB8AC3E}">
        <p14:creationId xmlns:p14="http://schemas.microsoft.com/office/powerpoint/2010/main" val="12232819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a:xfrm>
            <a:off x="301752" y="1340768"/>
            <a:ext cx="8503920" cy="4758280"/>
          </a:xfrm>
        </p:spPr>
        <p:txBody>
          <a:bodyPr>
            <a:normAutofit fontScale="55000" lnSpcReduction="20000"/>
          </a:bodyPr>
          <a:lstStyle/>
          <a:p>
            <a:endParaRPr lang="pl-PL" dirty="0"/>
          </a:p>
          <a:p>
            <a:r>
              <a:rPr lang="pl-PL" sz="2800" dirty="0"/>
              <a:t>wyrok SN	 z 2011.01.13,  II KK 188/10 , </a:t>
            </a:r>
            <a:r>
              <a:rPr lang="pl-PL" sz="2800" dirty="0" err="1"/>
              <a:t>Prok.i</a:t>
            </a:r>
            <a:r>
              <a:rPr lang="pl-PL" sz="2800" dirty="0"/>
              <a:t> Pr.-</a:t>
            </a:r>
            <a:r>
              <a:rPr lang="pl-PL" sz="2800" dirty="0" err="1"/>
              <a:t>wkł</a:t>
            </a:r>
            <a:r>
              <a:rPr lang="pl-PL" sz="2800" dirty="0"/>
              <a:t>. 2011/6/6 	</a:t>
            </a:r>
          </a:p>
          <a:p>
            <a:r>
              <a:rPr lang="pl-PL" sz="2800" dirty="0"/>
              <a:t> 	</a:t>
            </a:r>
          </a:p>
          <a:p>
            <a:r>
              <a:rPr lang="pl-PL" sz="2800" dirty="0"/>
              <a:t> 	</a:t>
            </a:r>
          </a:p>
          <a:p>
            <a:r>
              <a:rPr lang="pl-PL" sz="2800" dirty="0"/>
              <a:t>Przestępstwo z art. 156 § 1 k.k. może być popełnione tylko umyślnie, w tym także z zamiarem wynikowym. Sprawca musi zatem obejmować swą świadomością przynajmniej możliwość spowodowania swym zachowaniem ciężkiego uszczerbku na zdrowiu, in concreto w postaci ciężkiej choroby długotrwałej, z tym wszak, że sama postać ciężkiego uszczerbku nie musi już być sprecyzowana w świadomości sprawcy, gdyż, jak wskazuje się w orzecznictwie i doktrynie, zamiar ten może przyjąć postać tzw. zamiaru ogólnego. To nie biegły decyduje o zakwalifikowaniu wywołanego przez działanie oskarżonego skutku z określonego przepisu prawa, a jedynie podany przez niego rodzaj obrażeń i naruszenia przez nie czynności narządów ciała, w tym wywołanie ciężkiego uszczerbku, ma pozwolić sądowi na prawidłowe zakwalifikowanie zachowania sprawcy. Nie budzi (...) wątpliwości, że (...) przyjmowanie tzw. zamiaru ogólnego przy przestępstwach przeciwko życiu i zdrowiu wymaga (...), aby, gdy chodzi o art. 156 § 1 k.k., zamiar sprawcy obejmował nie jakiekolwiek naruszenie czynności narządów ciała lub rozstrój zdrowia, ale w aspekcie choćby ewentualnym, ciężki uszczerbek na zdrowiu, w tym wynikający np. ze sposobu jego działania. Ponadto, między zachowaniem sprawcy a owym skutkiem musi istnieć związek przyczynowy, choć oczywiście nie jest wymagane uświadomienie sobie przez niego dokładnego przebiegu tego związku.</a:t>
            </a:r>
          </a:p>
          <a:p>
            <a:endParaRPr lang="pl-PL" dirty="0"/>
          </a:p>
          <a:p>
            <a:endParaRPr lang="pl-PL" dirty="0"/>
          </a:p>
          <a:p>
            <a:endParaRPr lang="pl-PL" dirty="0"/>
          </a:p>
        </p:txBody>
      </p:sp>
    </p:spTree>
    <p:extLst>
      <p:ext uri="{BB962C8B-B14F-4D97-AF65-F5344CB8AC3E}">
        <p14:creationId xmlns:p14="http://schemas.microsoft.com/office/powerpoint/2010/main" val="99796756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a:xfrm>
            <a:off x="301752" y="1340768"/>
            <a:ext cx="8503920" cy="4758280"/>
          </a:xfrm>
        </p:spPr>
        <p:txBody>
          <a:bodyPr>
            <a:normAutofit fontScale="55000" lnSpcReduction="20000"/>
          </a:bodyPr>
          <a:lstStyle/>
          <a:p>
            <a:endParaRPr lang="pl-PL" dirty="0"/>
          </a:p>
          <a:p>
            <a:pPr algn="just"/>
            <a:r>
              <a:rPr lang="pl-PL" sz="2800" b="1" i="1" dirty="0">
                <a:effectLst/>
                <a:latin typeface="Times New Roman" panose="02020603050405020304" pitchFamily="18" charset="0"/>
                <a:ea typeface="Times New Roman" panose="02020603050405020304" pitchFamily="18" charset="0"/>
              </a:rPr>
              <a:t>A. Zoll, Komentarz, Zakamycze 2006, teza 36 do art. 156 k.k.</a:t>
            </a:r>
            <a:endParaRPr lang="pl-PL" sz="2800" dirty="0">
              <a:effectLst/>
              <a:latin typeface="Times New Roman" panose="02020603050405020304" pitchFamily="18" charset="0"/>
              <a:ea typeface="Times New Roman" panose="02020603050405020304" pitchFamily="18" charset="0"/>
            </a:endParaRPr>
          </a:p>
          <a:p>
            <a:pPr indent="449580" algn="just"/>
            <a:r>
              <a:rPr lang="pl-PL" sz="2800" b="1" i="1" dirty="0">
                <a:effectLst/>
                <a:latin typeface="Times New Roman" panose="02020603050405020304" pitchFamily="18" charset="0"/>
                <a:ea typeface="Times New Roman" panose="02020603050405020304" pitchFamily="18" charset="0"/>
              </a:rPr>
              <a:t> </a:t>
            </a:r>
            <a:endParaRPr lang="pl-PL" sz="2800" dirty="0">
              <a:effectLst/>
              <a:latin typeface="Times New Roman" panose="02020603050405020304" pitchFamily="18" charset="0"/>
              <a:ea typeface="Times New Roman" panose="02020603050405020304" pitchFamily="18" charset="0"/>
            </a:endParaRPr>
          </a:p>
          <a:p>
            <a:pPr algn="just"/>
            <a:r>
              <a:rPr lang="pl-PL" sz="2800" dirty="0">
                <a:effectLst/>
                <a:latin typeface="Times New Roman" panose="02020603050405020304" pitchFamily="18" charset="0"/>
                <a:ea typeface="Times New Roman" panose="02020603050405020304" pitchFamily="18" charset="0"/>
              </a:rPr>
              <a:t>Przestępstwo określone w </a:t>
            </a:r>
            <a:r>
              <a:rPr lang="pl-PL" sz="2800" u="sng" dirty="0">
                <a:solidFill>
                  <a:srgbClr val="0000FF"/>
                </a:solidFill>
                <a:effectLst/>
                <a:latin typeface="Times New Roman" panose="02020603050405020304" pitchFamily="18" charset="0"/>
                <a:ea typeface="Times New Roman" panose="02020603050405020304" pitchFamily="18" charset="0"/>
                <a:hlinkClick r:id="rId2"/>
              </a:rPr>
              <a:t>art. 156 § 1</a:t>
            </a:r>
            <a:r>
              <a:rPr lang="pl-PL" sz="2800" b="1" dirty="0">
                <a:effectLst/>
                <a:latin typeface="Times New Roman" panose="02020603050405020304" pitchFamily="18" charset="0"/>
                <a:ea typeface="Times New Roman" panose="02020603050405020304" pitchFamily="18" charset="0"/>
              </a:rPr>
              <a:t>może być popełnione tylko umyślnie, zarówno z zamiarem bezpośrednim, jak i z zamiarem wynikowym</a:t>
            </a:r>
            <a:r>
              <a:rPr lang="pl-PL" sz="2800" dirty="0">
                <a:effectLst/>
                <a:latin typeface="Times New Roman" panose="02020603050405020304" pitchFamily="18" charset="0"/>
                <a:ea typeface="Times New Roman" panose="02020603050405020304" pitchFamily="18" charset="0"/>
              </a:rPr>
              <a:t>. Sprawca musi obejmować świadomością przynajmniej możliwość spowodowania swoim zachowaniem ciężkiego uszczerbku na zdrowiu innej osoby i chcieć takiego skutku albo na nastąpienie takiego skutku się godzić. Postać ciężkiego uszkodzenia ciała, wymieniona w </a:t>
            </a:r>
            <a:r>
              <a:rPr lang="pl-PL" sz="2800" u="sng" dirty="0">
                <a:solidFill>
                  <a:srgbClr val="0000FF"/>
                </a:solidFill>
                <a:effectLst/>
                <a:latin typeface="Times New Roman" panose="02020603050405020304" pitchFamily="18" charset="0"/>
                <a:ea typeface="Times New Roman" panose="02020603050405020304" pitchFamily="18" charset="0"/>
                <a:hlinkClick r:id="rId3"/>
              </a:rPr>
              <a:t>art. 156 § 1 pkt 1</a:t>
            </a:r>
            <a:r>
              <a:rPr lang="pl-PL" sz="2800" dirty="0">
                <a:effectLst/>
                <a:latin typeface="Times New Roman" panose="02020603050405020304" pitchFamily="18" charset="0"/>
                <a:ea typeface="Times New Roman" panose="02020603050405020304" pitchFamily="18" charset="0"/>
              </a:rPr>
              <a:t> lub </a:t>
            </a:r>
            <a:r>
              <a:rPr lang="pl-PL" sz="2800" u="sng" dirty="0">
                <a:solidFill>
                  <a:srgbClr val="0000FF"/>
                </a:solidFill>
                <a:effectLst/>
                <a:latin typeface="Times New Roman" panose="02020603050405020304" pitchFamily="18" charset="0"/>
                <a:ea typeface="Times New Roman" panose="02020603050405020304" pitchFamily="18" charset="0"/>
                <a:hlinkClick r:id="rId4"/>
              </a:rPr>
              <a:t>2</a:t>
            </a:r>
            <a:r>
              <a:rPr lang="pl-PL" sz="2800" dirty="0">
                <a:effectLst/>
                <a:latin typeface="Times New Roman" panose="02020603050405020304" pitchFamily="18" charset="0"/>
                <a:ea typeface="Times New Roman" panose="02020603050405020304" pitchFamily="18" charset="0"/>
              </a:rPr>
              <a:t>, nie musi już być sprecyzowana w świadomości sprawcy. Objęcie zamiarem spowodowania ciężkiego uszczerbku na zdrowiu przyjąć może więc </a:t>
            </a:r>
            <a:r>
              <a:rPr lang="pl-PL" sz="2800" b="1" dirty="0">
                <a:effectLst/>
                <a:latin typeface="Times New Roman" panose="02020603050405020304" pitchFamily="18" charset="0"/>
                <a:ea typeface="Times New Roman" panose="02020603050405020304" pitchFamily="18" charset="0"/>
              </a:rPr>
              <a:t>postać zamiaru ogólnego</a:t>
            </a:r>
            <a:r>
              <a:rPr lang="pl-PL" sz="2800" dirty="0">
                <a:effectLst/>
                <a:latin typeface="Times New Roman" panose="02020603050405020304" pitchFamily="18" charset="0"/>
                <a:ea typeface="Times New Roman" panose="02020603050405020304" pitchFamily="18" charset="0"/>
              </a:rPr>
              <a:t>. Na wystąpienie takiego zamiaru wskazywać będzie m.in. sposób działania sprawcy, użyte przez niego narzędzie, stosunek do osoby pokrzywdzonej (zob. </a:t>
            </a:r>
            <a:r>
              <a:rPr lang="pl-PL" sz="2800" u="sng" dirty="0">
                <a:solidFill>
                  <a:srgbClr val="0000FF"/>
                </a:solidFill>
                <a:effectLst/>
                <a:latin typeface="Times New Roman" panose="02020603050405020304" pitchFamily="18" charset="0"/>
                <a:ea typeface="Times New Roman" panose="02020603050405020304" pitchFamily="18" charset="0"/>
                <a:hlinkClick r:id="rId5"/>
              </a:rPr>
              <a:t>wyrok</a:t>
            </a:r>
            <a:r>
              <a:rPr lang="pl-PL" sz="2800" dirty="0">
                <a:effectLst/>
                <a:latin typeface="Times New Roman" panose="02020603050405020304" pitchFamily="18" charset="0"/>
                <a:ea typeface="Times New Roman" panose="02020603050405020304" pitchFamily="18" charset="0"/>
              </a:rPr>
              <a:t> SN z 22 listopada 1972 r., </a:t>
            </a:r>
            <a:r>
              <a:rPr lang="pl-PL" sz="2800" dirty="0" err="1">
                <a:effectLst/>
                <a:latin typeface="Times New Roman" panose="02020603050405020304" pitchFamily="18" charset="0"/>
                <a:ea typeface="Times New Roman" panose="02020603050405020304" pitchFamily="18" charset="0"/>
              </a:rPr>
              <a:t>Rw</a:t>
            </a:r>
            <a:r>
              <a:rPr lang="pl-PL" sz="2800" dirty="0">
                <a:effectLst/>
                <a:latin typeface="Times New Roman" panose="02020603050405020304" pitchFamily="18" charset="0"/>
                <a:ea typeface="Times New Roman" panose="02020603050405020304" pitchFamily="18" charset="0"/>
              </a:rPr>
              <a:t> 1202/71, OSNKW 1972, nr 3, poz. 54). Zamiar ogólny, jako charakteryzujący stronę podmiotową czynu zabronionego określonego w </a:t>
            </a:r>
            <a:r>
              <a:rPr lang="pl-PL" sz="2800" u="sng" dirty="0">
                <a:solidFill>
                  <a:srgbClr val="0000FF"/>
                </a:solidFill>
                <a:effectLst/>
                <a:latin typeface="Times New Roman" panose="02020603050405020304" pitchFamily="18" charset="0"/>
                <a:ea typeface="Times New Roman" panose="02020603050405020304" pitchFamily="18" charset="0"/>
                <a:hlinkClick r:id="rId2"/>
              </a:rPr>
              <a:t>art. 156 § 1</a:t>
            </a:r>
            <a:r>
              <a:rPr lang="pl-PL" sz="2800" dirty="0">
                <a:effectLst/>
                <a:latin typeface="Times New Roman" panose="02020603050405020304" pitchFamily="18" charset="0"/>
                <a:ea typeface="Times New Roman" panose="02020603050405020304" pitchFamily="18" charset="0"/>
              </a:rPr>
              <a:t>, przyjął także SA w Łodzi w </a:t>
            </a:r>
            <a:r>
              <a:rPr lang="pl-PL" sz="2800" u="sng" dirty="0">
                <a:solidFill>
                  <a:srgbClr val="0000FF"/>
                </a:solidFill>
                <a:effectLst/>
                <a:latin typeface="Times New Roman" panose="02020603050405020304" pitchFamily="18" charset="0"/>
                <a:ea typeface="Times New Roman" panose="02020603050405020304" pitchFamily="18" charset="0"/>
                <a:hlinkClick r:id="rId6"/>
              </a:rPr>
              <a:t>wyroku</a:t>
            </a:r>
            <a:r>
              <a:rPr lang="pl-PL" sz="2800" dirty="0">
                <a:effectLst/>
                <a:latin typeface="Times New Roman" panose="02020603050405020304" pitchFamily="18" charset="0"/>
                <a:ea typeface="Times New Roman" panose="02020603050405020304" pitchFamily="18" charset="0"/>
              </a:rPr>
              <a:t> z 26 lutego 2002 r. (II </a:t>
            </a:r>
            <a:r>
              <a:rPr lang="pl-PL" sz="2800" dirty="0" err="1">
                <a:effectLst/>
                <a:latin typeface="Times New Roman" panose="02020603050405020304" pitchFamily="18" charset="0"/>
                <a:ea typeface="Times New Roman" panose="02020603050405020304" pitchFamily="18" charset="0"/>
              </a:rPr>
              <a:t>Aka</a:t>
            </a:r>
            <a:r>
              <a:rPr lang="pl-PL" sz="2800" dirty="0">
                <a:effectLst/>
                <a:latin typeface="Times New Roman" panose="02020603050405020304" pitchFamily="18" charset="0"/>
                <a:ea typeface="Times New Roman" panose="02020603050405020304" pitchFamily="18" charset="0"/>
              </a:rPr>
              <a:t> 18/02, Prok. i Pr. 2004, nr 4, poz. 21, dodatek).</a:t>
            </a:r>
          </a:p>
          <a:p>
            <a:pPr algn="just"/>
            <a:r>
              <a:rPr lang="pl-PL" sz="2800" dirty="0">
                <a:effectLst/>
                <a:latin typeface="Times New Roman" panose="02020603050405020304" pitchFamily="18" charset="0"/>
                <a:ea typeface="Times New Roman" panose="02020603050405020304" pitchFamily="18" charset="0"/>
              </a:rPr>
              <a:t> </a:t>
            </a:r>
          </a:p>
          <a:p>
            <a:pPr algn="just"/>
            <a:r>
              <a:rPr lang="pl-PL" sz="2800" b="1" dirty="0">
                <a:effectLst/>
                <a:latin typeface="Times New Roman" panose="02020603050405020304" pitchFamily="18" charset="0"/>
                <a:ea typeface="Times New Roman" panose="02020603050405020304" pitchFamily="18" charset="0"/>
              </a:rPr>
              <a:t>W konsekwencji z w/w powodów, na płaszczyźnie materialnoprawnej, nie było podstaw do wywiedzenia apelacji. Należało wnosić o jej nieuwzględnienie i w konsekwencji utrzymanie wyroku w mocy. Koszty. </a:t>
            </a:r>
            <a:endParaRPr lang="pl-PL" sz="2800" dirty="0">
              <a:effectLst/>
              <a:latin typeface="Times New Roman" panose="02020603050405020304" pitchFamily="18" charset="0"/>
              <a:ea typeface="Times New Roman" panose="02020603050405020304" pitchFamily="18" charset="0"/>
            </a:endParaRPr>
          </a:p>
          <a:p>
            <a:r>
              <a:rPr lang="pl-PL" sz="2800" dirty="0"/>
              <a:t>	</a:t>
            </a:r>
            <a:endParaRPr lang="pl-PL" dirty="0"/>
          </a:p>
        </p:txBody>
      </p:sp>
    </p:spTree>
    <p:extLst>
      <p:ext uri="{BB962C8B-B14F-4D97-AF65-F5344CB8AC3E}">
        <p14:creationId xmlns:p14="http://schemas.microsoft.com/office/powerpoint/2010/main" val="265902964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301752" y="-99392"/>
            <a:ext cx="8503920" cy="6768752"/>
          </a:xfrm>
        </p:spPr>
        <p:txBody>
          <a:bodyPr>
            <a:normAutofit lnSpcReduction="10000"/>
          </a:bodyPr>
          <a:lstStyle/>
          <a:p>
            <a:endParaRPr lang="pl-PL" dirty="0"/>
          </a:p>
          <a:p>
            <a:r>
              <a:rPr lang="pl-PL" sz="3600" dirty="0"/>
              <a:t>Art.  156a.  §  1 k.k. </a:t>
            </a:r>
          </a:p>
          <a:p>
            <a:r>
              <a:rPr lang="pl-PL" sz="3600" dirty="0"/>
              <a:t>Kto nakłania inną osobę do spowodowania u niej ciężkiego uszczerbku na zdrowiu, o którym mowa w art. 156 § 1 pkt 3, podlega karze pozbawienia wolności do lat 3.</a:t>
            </a:r>
          </a:p>
          <a:p>
            <a:r>
              <a:rPr lang="pl-PL" sz="3600" dirty="0"/>
              <a:t>§  2. </a:t>
            </a:r>
          </a:p>
          <a:p>
            <a:r>
              <a:rPr lang="pl-PL" sz="3200" dirty="0"/>
              <a:t>Kto przemocą lub groźbą bezprawną zmusza inną osobę do spowodowania u niej ciężkiego uszczerbku na zdrowiu, o którym mowa w art. 156 § 1 pkt 3 podlega karze pozbawienia wolności od 3 miesięcy do 5 lat.</a:t>
            </a:r>
          </a:p>
          <a:p>
            <a:pPr algn="just"/>
            <a:endParaRPr lang="pl-PL" dirty="0"/>
          </a:p>
        </p:txBody>
      </p:sp>
    </p:spTree>
    <p:extLst>
      <p:ext uri="{BB962C8B-B14F-4D97-AF65-F5344CB8AC3E}">
        <p14:creationId xmlns:p14="http://schemas.microsoft.com/office/powerpoint/2010/main" val="234822282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301752" y="-99392"/>
            <a:ext cx="8503920" cy="6768752"/>
          </a:xfrm>
        </p:spPr>
        <p:txBody>
          <a:bodyPr>
            <a:normAutofit/>
          </a:bodyPr>
          <a:lstStyle/>
          <a:p>
            <a:endParaRPr lang="pl-PL" dirty="0"/>
          </a:p>
          <a:p>
            <a:pPr algn="just"/>
            <a:r>
              <a:rPr lang="pl-PL" dirty="0"/>
              <a:t>Nowelizacją z 13.01.2023 r. dodano art. 156a, zawierający dwa typy czynów zabronionych. W § 1 stypizowane zostało quasi-podżeganie do spowodowania ciężkiego uszczerbku na zdrowiu. W § 2 zaś zmuszanie do spowodowania u innej osoby uszczerbku na zdrowiu z art. 156 § 1 pkt 3. Przepis ten stanowi niejako dopełnienie ochrony kobiet przed okaleczeniem narządów płciowych. Miejsce jego wprowadzenia do Kodeksu karnego budzi wątpliwości. Przepis ten (zwłaszcza typ z § 2) powinien się raczej znaleźć w rozdziale przestępstw przeciwko wolności, ewentualnie wolności seksualnej i obyczajności (M. Mozgawa, Komentarz do </a:t>
            </a:r>
            <a:r>
              <a:rPr lang="pl-PL" dirty="0" err="1"/>
              <a:t>k.k</a:t>
            </a:r>
            <a:r>
              <a:rPr lang="pl-PL" dirty="0"/>
              <a:t>….). </a:t>
            </a:r>
          </a:p>
        </p:txBody>
      </p:sp>
    </p:spTree>
    <p:extLst>
      <p:ext uri="{BB962C8B-B14F-4D97-AF65-F5344CB8AC3E}">
        <p14:creationId xmlns:p14="http://schemas.microsoft.com/office/powerpoint/2010/main" val="410057556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solidFill>
                  <a:srgbClr val="FF0000"/>
                </a:solidFill>
              </a:rPr>
              <a:t>Średni i lekki uszczerbek na zdrowiu</a:t>
            </a:r>
          </a:p>
        </p:txBody>
      </p:sp>
      <p:sp>
        <p:nvSpPr>
          <p:cNvPr id="3" name="Symbol zastępczy zawartości 2"/>
          <p:cNvSpPr>
            <a:spLocks noGrp="1"/>
          </p:cNvSpPr>
          <p:nvPr>
            <p:ph sz="quarter" idx="1"/>
          </p:nvPr>
        </p:nvSpPr>
        <p:spPr/>
        <p:txBody>
          <a:bodyPr>
            <a:normAutofit fontScale="85000" lnSpcReduction="20000"/>
          </a:bodyPr>
          <a:lstStyle/>
          <a:p>
            <a:r>
              <a:rPr lang="pl-PL" dirty="0"/>
              <a:t>Art.  157.  [Średni i lekki uszczerbek na zdrowiu]</a:t>
            </a:r>
          </a:p>
          <a:p>
            <a:r>
              <a:rPr lang="pl-PL" dirty="0"/>
              <a:t>§  1. </a:t>
            </a:r>
          </a:p>
          <a:p>
            <a:r>
              <a:rPr lang="pl-PL" dirty="0"/>
              <a:t>Kto powoduje naruszenie czynności narządu ciała lub rozstrój zdrowia, inny niż określony w art. 156 § 1,podlega karze pozbawienia wolności od 3 miesięcy do lat 5.</a:t>
            </a:r>
          </a:p>
          <a:p>
            <a:r>
              <a:rPr lang="pl-PL" dirty="0"/>
              <a:t>§  2. </a:t>
            </a:r>
          </a:p>
          <a:p>
            <a:r>
              <a:rPr lang="pl-PL" dirty="0"/>
              <a:t>Kto powoduje naruszenie czynności narządu ciała lub rozstrój zdrowia trwający nie dłużej niż 7 </a:t>
            </a:r>
            <a:r>
              <a:rPr lang="pl-PL" dirty="0" err="1"/>
              <a:t>dni,podlega</a:t>
            </a:r>
            <a:r>
              <a:rPr lang="pl-PL" dirty="0"/>
              <a:t> grzywnie, karze ograniczenia wolności albo pozbawienia wolności do lat 2.</a:t>
            </a:r>
          </a:p>
          <a:p>
            <a:r>
              <a:rPr lang="pl-PL" dirty="0"/>
              <a:t>§  3. </a:t>
            </a:r>
          </a:p>
          <a:p>
            <a:r>
              <a:rPr lang="pl-PL" dirty="0"/>
              <a:t>Jeżeli sprawca czynu określonego w § 1 lub 2 działa nieumyślnie, podlega grzywnie, karze ograniczenia wolności albo pozbawienia wolności do roku.</a:t>
            </a:r>
          </a:p>
          <a:p>
            <a:r>
              <a:rPr lang="pl-PL" b="1" dirty="0"/>
              <a:t> </a:t>
            </a:r>
            <a:endParaRPr lang="pl-PL" dirty="0"/>
          </a:p>
          <a:p>
            <a:endParaRPr lang="pl-PL" dirty="0"/>
          </a:p>
        </p:txBody>
      </p:sp>
      <p:sp>
        <p:nvSpPr>
          <p:cNvPr id="4" name="Prostokąt 3"/>
          <p:cNvSpPr/>
          <p:nvPr/>
        </p:nvSpPr>
        <p:spPr>
          <a:xfrm>
            <a:off x="395536" y="1412776"/>
            <a:ext cx="8280920" cy="1107996"/>
          </a:xfrm>
          <a:prstGeom prst="rect">
            <a:avLst/>
          </a:prstGeom>
        </p:spPr>
        <p:txBody>
          <a:bodyPr wrap="square">
            <a:spAutoFit/>
          </a:bodyPr>
          <a:lstStyle/>
          <a:p>
            <a:endParaRPr lang="pl-PL" sz="2400" dirty="0"/>
          </a:p>
          <a:p>
            <a:r>
              <a:rPr lang="pl-PL" sz="2400" dirty="0"/>
              <a:t> </a:t>
            </a:r>
          </a:p>
          <a:p>
            <a:endParaRPr lang="pl-PL" dirty="0"/>
          </a:p>
        </p:txBody>
      </p:sp>
    </p:spTree>
    <p:extLst>
      <p:ext uri="{BB962C8B-B14F-4D97-AF65-F5344CB8AC3E}">
        <p14:creationId xmlns:p14="http://schemas.microsoft.com/office/powerpoint/2010/main" val="145075067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92500"/>
          </a:bodyPr>
          <a:lstStyle/>
          <a:p>
            <a:r>
              <a:rPr lang="pl-PL" dirty="0"/>
              <a:t>§  4. </a:t>
            </a:r>
          </a:p>
          <a:p>
            <a:r>
              <a:rPr lang="pl-PL" dirty="0"/>
              <a:t>Ściganie przestępstwa określonego w § 2 lub 3, jeżeli naruszenie czynności narządu ciała lub rozstrój zdrowia nie trwał dłużej niż 7 dni, odbywa się z oskarżenia prywatnego, chyba że pokrzywdzonym jest osoba najbliższa zamieszkująca wspólnie ze sprawcą.</a:t>
            </a:r>
          </a:p>
          <a:p>
            <a:r>
              <a:rPr lang="pl-PL" dirty="0"/>
              <a:t>§  5. </a:t>
            </a:r>
          </a:p>
          <a:p>
            <a:r>
              <a:rPr lang="pl-PL" dirty="0"/>
              <a:t>Jeżeli pokrzywdzonym jest osoba najbliższa, ściganie przestępstwa określonego w § 3 następuje na jej wniosek.</a:t>
            </a:r>
          </a:p>
          <a:p>
            <a:r>
              <a:rPr lang="pl-PL" b="1" dirty="0"/>
              <a:t> </a:t>
            </a:r>
            <a:endParaRPr lang="pl-PL" dirty="0"/>
          </a:p>
          <a:p>
            <a:endParaRPr lang="pl-PL" dirty="0"/>
          </a:p>
        </p:txBody>
      </p:sp>
    </p:spTree>
    <p:extLst>
      <p:ext uri="{BB962C8B-B14F-4D97-AF65-F5344CB8AC3E}">
        <p14:creationId xmlns:p14="http://schemas.microsoft.com/office/powerpoint/2010/main" val="244090784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a:xfrm>
            <a:off x="301752" y="1527048"/>
            <a:ext cx="8503920" cy="5574360"/>
          </a:xfrm>
        </p:spPr>
        <p:txBody>
          <a:bodyPr>
            <a:normAutofit fontScale="32500" lnSpcReduction="20000"/>
          </a:bodyPr>
          <a:lstStyle/>
          <a:p>
            <a:endParaRPr lang="pl-PL" dirty="0"/>
          </a:p>
          <a:p>
            <a:r>
              <a:rPr lang="pl-PL" sz="5100" dirty="0"/>
              <a:t>Średni i lekki uszczerbek na zdrowiu</a:t>
            </a:r>
          </a:p>
          <a:p>
            <a:endParaRPr lang="pl-PL" sz="5100" dirty="0"/>
          </a:p>
          <a:p>
            <a:r>
              <a:rPr lang="pl-PL" sz="5100" b="1" dirty="0"/>
              <a:t>Wyrok</a:t>
            </a:r>
            <a:r>
              <a:rPr lang="pl-PL" sz="5100" dirty="0"/>
              <a:t>  Sądu Najwyższego z dnia 5 lutego 2013 r.</a:t>
            </a:r>
          </a:p>
          <a:p>
            <a:endParaRPr lang="pl-PL" sz="5100" dirty="0"/>
          </a:p>
          <a:p>
            <a:endParaRPr lang="pl-PL" sz="5100" dirty="0"/>
          </a:p>
          <a:p>
            <a:r>
              <a:rPr lang="pl-PL" sz="5100" dirty="0"/>
              <a:t>Przestępstwo z art. 157 § 1 k.k. jest skutkowym występkiem, który może być popełniony tylko umyślnie, zarówno z zamiarem bezpośrednim, jak i z zamiarem ewentualnym. Oznacza to, że sprawca musi obejmować świadomością możliwość spowodowania swoim zachowaniem skutku określonego w art. 157 § 1 k.k. i chcieć takiego skutku, albo na nastąpienie takiego skutku się godzić. </a:t>
            </a:r>
          </a:p>
          <a:p>
            <a:endParaRPr lang="pl-PL" sz="5100" dirty="0"/>
          </a:p>
          <a:p>
            <a:r>
              <a:rPr lang="pl-PL" sz="5100" dirty="0"/>
              <a:t>Postać naruszenia czynności narządu ciała lub rozstroju zdrowia nie musi być sprecyzowana w świadomości sprawcy, co oznacza, że objęcie zamiarem spowodowania skutku z art. 157 § 1 k.k. przyjąć </a:t>
            </a:r>
            <a:r>
              <a:rPr lang="pl-PL" sz="5100" dirty="0">
                <a:solidFill>
                  <a:srgbClr val="FF0000"/>
                </a:solidFill>
              </a:rPr>
              <a:t>może postać zamiaru ogólnego.</a:t>
            </a:r>
            <a:r>
              <a:rPr lang="pl-PL" sz="5100" dirty="0"/>
              <a:t> Zamiar sprawcy, stanowiący fakt o charakterze psychicznym, podlega dowodzeniu i ustaleniu, tak jak inne znamiona określonego typu przestępstwa, co w przypadku sporządzenia uzasadnienia orzeczenia musi znaleźć odzwierciedlenie w jego treści.</a:t>
            </a:r>
          </a:p>
          <a:p>
            <a:pPr marL="0" indent="0">
              <a:buNone/>
            </a:pPr>
            <a:r>
              <a:rPr lang="pl-PL" sz="5100" b="1" dirty="0"/>
              <a:t> </a:t>
            </a:r>
          </a:p>
          <a:p>
            <a:pPr marL="0" indent="0">
              <a:buNone/>
            </a:pPr>
            <a:endParaRPr lang="pl-PL" dirty="0"/>
          </a:p>
          <a:p>
            <a:endParaRPr lang="pl-PL" dirty="0"/>
          </a:p>
          <a:p>
            <a:endParaRPr lang="pl-PL" dirty="0"/>
          </a:p>
          <a:p>
            <a:pPr marL="0" indent="0">
              <a:buNone/>
            </a:pPr>
            <a:r>
              <a:rPr lang="pl-PL" dirty="0"/>
              <a:t> </a:t>
            </a:r>
          </a:p>
        </p:txBody>
      </p:sp>
    </p:spTree>
    <p:extLst>
      <p:ext uri="{BB962C8B-B14F-4D97-AF65-F5344CB8AC3E}">
        <p14:creationId xmlns:p14="http://schemas.microsoft.com/office/powerpoint/2010/main" val="413486575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a:xfrm>
            <a:off x="301752" y="1124744"/>
            <a:ext cx="8503920" cy="5976664"/>
          </a:xfrm>
        </p:spPr>
        <p:txBody>
          <a:bodyPr>
            <a:normAutofit/>
          </a:bodyPr>
          <a:lstStyle/>
          <a:p>
            <a:endParaRPr lang="pl-PL" dirty="0"/>
          </a:p>
          <a:p>
            <a:r>
              <a:rPr lang="pl-PL" dirty="0"/>
              <a:t>Piotr W. uderzył Jana W. pięścią w twarz powodując u niego umyślnie, z zamiarem bezpośrednim, naruszenie czynności narządu ciała, nosa, na okres do 7 dni. Sąd Rejonowy w </a:t>
            </a:r>
            <a:r>
              <a:rPr lang="pl-PL" dirty="0" err="1"/>
              <a:t>W</a:t>
            </a:r>
            <a:r>
              <a:rPr lang="pl-PL" dirty="0"/>
              <a:t>. wyrokiem z dnia 15 grudnia 2020 r. przypisał oskarżonemu Piotrowi W. popełnienie przestępstwa z art. 157 par. 1 k.k. i za to przestępstwo wymierzył mu karę 6 miesięcy pozbawienia wolności. Oceń jako obrońca oskarżonego trafność tego wyroku na płaszczyźnie przepisów prawa karnego materialnego. Zaproponuj kształt ewentualnej apelacji. </a:t>
            </a:r>
          </a:p>
          <a:p>
            <a:endParaRPr lang="pl-PL" dirty="0"/>
          </a:p>
        </p:txBody>
      </p:sp>
    </p:spTree>
    <p:extLst>
      <p:ext uri="{BB962C8B-B14F-4D97-AF65-F5344CB8AC3E}">
        <p14:creationId xmlns:p14="http://schemas.microsoft.com/office/powerpoint/2010/main" val="225658329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5FA3B1E-1756-4F86-90D6-C5EF7CFE4E6C}"/>
              </a:ext>
            </a:extLst>
          </p:cNvPr>
          <p:cNvSpPr>
            <a:spLocks noGrp="1"/>
          </p:cNvSpPr>
          <p:nvPr>
            <p:ph type="title"/>
          </p:nvPr>
        </p:nvSpPr>
        <p:spPr>
          <a:xfrm>
            <a:off x="710946" y="857250"/>
            <a:ext cx="7886700" cy="650796"/>
          </a:xfrm>
        </p:spPr>
        <p:txBody>
          <a:bodyPr/>
          <a:lstStyle/>
          <a:p>
            <a:pPr algn="ctr"/>
            <a:r>
              <a:rPr lang="pl-PL" dirty="0"/>
              <a:t>art. 12 Ściganie na wniosek – art. 13</a:t>
            </a:r>
          </a:p>
        </p:txBody>
      </p:sp>
      <p:sp>
        <p:nvSpPr>
          <p:cNvPr id="3" name="Symbol zastępczy zawartości 2">
            <a:extLst>
              <a:ext uri="{FF2B5EF4-FFF2-40B4-BE49-F238E27FC236}">
                <a16:creationId xmlns:a16="http://schemas.microsoft.com/office/drawing/2014/main" id="{887FB62A-CFFD-499C-97EA-EA9804EC492A}"/>
              </a:ext>
            </a:extLst>
          </p:cNvPr>
          <p:cNvSpPr>
            <a:spLocks noGrp="1"/>
          </p:cNvSpPr>
          <p:nvPr>
            <p:ph idx="1"/>
          </p:nvPr>
        </p:nvSpPr>
        <p:spPr>
          <a:xfrm>
            <a:off x="109728" y="1443177"/>
            <a:ext cx="8826246" cy="4739521"/>
          </a:xfrm>
        </p:spPr>
        <p:txBody>
          <a:bodyPr>
            <a:normAutofit fontScale="77500" lnSpcReduction="20000"/>
          </a:bodyPr>
          <a:lstStyle/>
          <a:p>
            <a:pPr marL="0" indent="0" algn="just">
              <a:buNone/>
            </a:pPr>
            <a:r>
              <a:rPr lang="pl-PL" sz="3075" dirty="0"/>
              <a:t>§ 1a. Uzyskanie wniosku o ściganie należy do </a:t>
            </a:r>
            <a:r>
              <a:rPr lang="pl-PL" sz="3075" b="1" dirty="0">
                <a:solidFill>
                  <a:srgbClr val="00B050"/>
                </a:solidFill>
              </a:rPr>
              <a:t>oskarżyciela</a:t>
            </a:r>
            <a:r>
              <a:rPr lang="pl-PL" sz="3075" dirty="0"/>
              <a:t>. Jeżeli powodem uzyskania wniosku jest wyłącznie uprzedzenie przez sąd stron o możliwości zakwalifikowania czynu według innego przepisu prawnego, przewidującego ściganie na wniosek, uzyskanie wniosku o ściganie należy do sądu.</a:t>
            </a:r>
          </a:p>
          <a:p>
            <a:pPr marL="0" indent="0" algn="just">
              <a:buNone/>
            </a:pPr>
            <a:r>
              <a:rPr lang="pl-PL" altLang="pl-PL" sz="3075" dirty="0"/>
              <a:t>Jeżeli konieczność uzyskania wniosku wynika wyłączenie z…</a:t>
            </a:r>
          </a:p>
          <a:p>
            <a:pPr marL="0" indent="0" algn="just">
              <a:buNone/>
            </a:pPr>
            <a:r>
              <a:rPr lang="pl-PL" sz="3075" dirty="0"/>
              <a:t>„uzyskanie wniosku należy do organu ścigania, a po wniesieniu aktu oskarżenia do oskarżyciela publicznego”- propozycja; obecny kształt - co z Policją?</a:t>
            </a:r>
            <a:endParaRPr lang="pl-PL" altLang="pl-PL" sz="3075" dirty="0"/>
          </a:p>
          <a:p>
            <a:pPr marL="0" indent="0" algn="just">
              <a:buNone/>
            </a:pPr>
            <a:r>
              <a:rPr lang="pl-PL" sz="3075" dirty="0"/>
              <a:t>Charakter terminu, kto go zakreśla i w jakiej formie?</a:t>
            </a:r>
          </a:p>
          <a:p>
            <a:pPr algn="just"/>
            <a:r>
              <a:rPr lang="pl-PL" sz="3075" dirty="0"/>
              <a:t>oskarżyciel – prokurator i inne podmioty - art. 312, art. 325d; art. 17 par. 2 k.p.k.; </a:t>
            </a:r>
            <a:r>
              <a:rPr lang="pl-PL" sz="3075" b="1" dirty="0">
                <a:solidFill>
                  <a:srgbClr val="FF0000"/>
                </a:solidFill>
              </a:rPr>
              <a:t>brak wniosku stwierdzony na etapie wstępnej kontroli oskarżenia?  Na rozprawie?</a:t>
            </a:r>
          </a:p>
          <a:p>
            <a:pPr marL="0" indent="0" algn="just">
              <a:buNone/>
            </a:pPr>
            <a:endParaRPr lang="pl-PL" dirty="0"/>
          </a:p>
        </p:txBody>
      </p:sp>
    </p:spTree>
    <p:extLst>
      <p:ext uri="{BB962C8B-B14F-4D97-AF65-F5344CB8AC3E}">
        <p14:creationId xmlns:p14="http://schemas.microsoft.com/office/powerpoint/2010/main" val="412206055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5FA3B1E-1756-4F86-90D6-C5EF7CFE4E6C}"/>
              </a:ext>
            </a:extLst>
          </p:cNvPr>
          <p:cNvSpPr>
            <a:spLocks noGrp="1"/>
          </p:cNvSpPr>
          <p:nvPr>
            <p:ph type="title"/>
          </p:nvPr>
        </p:nvSpPr>
        <p:spPr>
          <a:xfrm>
            <a:off x="710946" y="857250"/>
            <a:ext cx="7886700" cy="650796"/>
          </a:xfrm>
        </p:spPr>
        <p:txBody>
          <a:bodyPr/>
          <a:lstStyle/>
          <a:p>
            <a:pPr algn="ctr"/>
            <a:r>
              <a:rPr lang="pl-PL" dirty="0"/>
              <a:t>art. 17 k.p.k. </a:t>
            </a:r>
          </a:p>
        </p:txBody>
      </p:sp>
      <p:sp>
        <p:nvSpPr>
          <p:cNvPr id="3" name="Symbol zastępczy zawartości 2">
            <a:extLst>
              <a:ext uri="{FF2B5EF4-FFF2-40B4-BE49-F238E27FC236}">
                <a16:creationId xmlns:a16="http://schemas.microsoft.com/office/drawing/2014/main" id="{887FB62A-CFFD-499C-97EA-EA9804EC492A}"/>
              </a:ext>
            </a:extLst>
          </p:cNvPr>
          <p:cNvSpPr>
            <a:spLocks noGrp="1"/>
          </p:cNvSpPr>
          <p:nvPr>
            <p:ph idx="1"/>
          </p:nvPr>
        </p:nvSpPr>
        <p:spPr>
          <a:xfrm>
            <a:off x="109728" y="1508046"/>
            <a:ext cx="8826246" cy="4674651"/>
          </a:xfrm>
        </p:spPr>
        <p:txBody>
          <a:bodyPr>
            <a:normAutofit/>
          </a:bodyPr>
          <a:lstStyle/>
          <a:p>
            <a:pPr marL="0" indent="0" algn="just">
              <a:buNone/>
            </a:pPr>
            <a:r>
              <a:rPr lang="pl-PL" sz="3300" dirty="0"/>
              <a:t>§  2.  Do chwili otrzymania wniosku lub zezwolenia władzy, od których </a:t>
            </a:r>
            <a:r>
              <a:rPr lang="pl-PL" sz="3300" dirty="0">
                <a:hlinkClick r:id="rId2"/>
              </a:rPr>
              <a:t>ustawa</a:t>
            </a:r>
            <a:r>
              <a:rPr lang="pl-PL" sz="3300" dirty="0"/>
              <a:t> uzależnia ściganie, organy procesowe dokonują tylko czynności niecierpiących zwłoki w celu zabezpieczenia śladów i dowodów, a także czynności zmierzających do wyjaśnienia, czy wniosek będzie złożony lub zezwolenie będzie wydane.</a:t>
            </a:r>
          </a:p>
        </p:txBody>
      </p:sp>
    </p:spTree>
    <p:extLst>
      <p:ext uri="{BB962C8B-B14F-4D97-AF65-F5344CB8AC3E}">
        <p14:creationId xmlns:p14="http://schemas.microsoft.com/office/powerpoint/2010/main" val="173057276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887FB62A-CFFD-499C-97EA-EA9804EC492A}"/>
              </a:ext>
            </a:extLst>
          </p:cNvPr>
          <p:cNvSpPr>
            <a:spLocks noGrp="1"/>
          </p:cNvSpPr>
          <p:nvPr>
            <p:ph idx="1"/>
          </p:nvPr>
        </p:nvSpPr>
        <p:spPr>
          <a:xfrm>
            <a:off x="109728" y="1283379"/>
            <a:ext cx="8826246" cy="4899319"/>
          </a:xfrm>
        </p:spPr>
        <p:txBody>
          <a:bodyPr>
            <a:normAutofit/>
          </a:bodyPr>
          <a:lstStyle/>
          <a:p>
            <a:pPr marL="0" indent="0" algn="just">
              <a:buNone/>
            </a:pPr>
            <a:r>
              <a:rPr lang="pl-PL" altLang="pl-PL" sz="3600" dirty="0"/>
              <a:t>Sąd Okręgowy  w G. po rozpoznaniu apelacji od wyroku Sądu Rejonowego w G. stwierdził brak wniosku o ściganie. Wobec powyższego, powołując się na treść art. 439 par. 1 pkt 9 k.p.k. w zw. z art. 17 par. 1 pkt 10 k.p.k. uchylił zaskarżony wyrok i umorzył postępowanie. Oceń trafność stanowiska sądu odwoławczego. </a:t>
            </a:r>
          </a:p>
          <a:p>
            <a:pPr marL="0" indent="0" algn="just">
              <a:buNone/>
            </a:pPr>
            <a:endParaRPr lang="pl-PL" dirty="0"/>
          </a:p>
        </p:txBody>
      </p:sp>
    </p:spTree>
    <p:extLst>
      <p:ext uri="{BB962C8B-B14F-4D97-AF65-F5344CB8AC3E}">
        <p14:creationId xmlns:p14="http://schemas.microsoft.com/office/powerpoint/2010/main" val="230882023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887FB62A-CFFD-499C-97EA-EA9804EC492A}"/>
              </a:ext>
            </a:extLst>
          </p:cNvPr>
          <p:cNvSpPr>
            <a:spLocks noGrp="1"/>
          </p:cNvSpPr>
          <p:nvPr>
            <p:ph idx="1"/>
          </p:nvPr>
        </p:nvSpPr>
        <p:spPr>
          <a:xfrm>
            <a:off x="109728" y="941226"/>
            <a:ext cx="8826246" cy="5241472"/>
          </a:xfrm>
        </p:spPr>
        <p:txBody>
          <a:bodyPr>
            <a:normAutofit fontScale="92500" lnSpcReduction="20000"/>
          </a:bodyPr>
          <a:lstStyle/>
          <a:p>
            <a:pPr>
              <a:defRPr/>
            </a:pPr>
            <a:r>
              <a:rPr lang="pl-PL" sz="3000" dirty="0"/>
              <a:t>Wyrok Sądu Najwyższego z dnia 23 listopada 2011 r., II KK 279/11</a:t>
            </a:r>
          </a:p>
          <a:p>
            <a:pPr>
              <a:defRPr/>
            </a:pPr>
            <a:endParaRPr lang="pl-PL" sz="3000" dirty="0"/>
          </a:p>
          <a:p>
            <a:pPr marL="0" indent="0">
              <a:buNone/>
              <a:defRPr/>
            </a:pPr>
            <a:r>
              <a:rPr lang="pl-PL" sz="3000" dirty="0"/>
              <a:t>Charakter ujemnej przesłanki procesowej z art. 17 § 1 pkt 10 k.p.k. - jej względność, wobec możliwości złożenia wniosku o ściganie aż do upływu okresu przedawnienia, </a:t>
            </a:r>
            <a:r>
              <a:rPr lang="pl-PL" sz="3000" b="1" dirty="0"/>
              <a:t>nie implikuje umorzenia postępowania w następstwie rozpoznania kasacji w zakresie czynu z art. 118 ust. 1 </a:t>
            </a:r>
            <a:r>
              <a:rPr lang="pl-PL" sz="3000" b="1" dirty="0" err="1"/>
              <a:t>u.p.a.p.p</a:t>
            </a:r>
            <a:r>
              <a:rPr lang="pl-PL" sz="3000" b="1" dirty="0"/>
              <a:t>., a uzasadnia przekazanie sprawy do ponownego rozpoznania  (obecny art. 437 par. 2 k.p.k. zmienia tę optykę dla układu odwoławczego)</a:t>
            </a:r>
          </a:p>
          <a:p>
            <a:pPr marL="0" indent="0" algn="just">
              <a:buNone/>
            </a:pPr>
            <a:endParaRPr lang="pl-PL" dirty="0"/>
          </a:p>
        </p:txBody>
      </p:sp>
    </p:spTree>
    <p:extLst>
      <p:ext uri="{BB962C8B-B14F-4D97-AF65-F5344CB8AC3E}">
        <p14:creationId xmlns:p14="http://schemas.microsoft.com/office/powerpoint/2010/main" val="353627315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887FB62A-CFFD-499C-97EA-EA9804EC492A}"/>
              </a:ext>
            </a:extLst>
          </p:cNvPr>
          <p:cNvSpPr>
            <a:spLocks noGrp="1"/>
          </p:cNvSpPr>
          <p:nvPr>
            <p:ph idx="1"/>
          </p:nvPr>
        </p:nvSpPr>
        <p:spPr>
          <a:xfrm>
            <a:off x="109728" y="1459075"/>
            <a:ext cx="8826246" cy="4723622"/>
          </a:xfrm>
        </p:spPr>
        <p:txBody>
          <a:bodyPr>
            <a:normAutofit/>
          </a:bodyPr>
          <a:lstStyle/>
          <a:p>
            <a:pPr>
              <a:buNone/>
              <a:defRPr/>
            </a:pPr>
            <a:r>
              <a:rPr lang="pl-PL" sz="2400" dirty="0"/>
              <a:t>Brak wniosku osoby uprawnionej uniemożliwia nie tylko wszczęcie postępowania, ale także jego prowadzenie, aż do prawomocnego zakończenia. Wskazuje na to treść art. 17 § 1 k.p.k., który nakazuje w razie wystąpienia wymienionych w nim przesłanek nie wszczynać postępowania, a wszczęte umorzyć. Pośrednio wskazuje na to również możliwość cofnięcia wniosku w określonych sytuacjach, które to cofnięcie może powodować umorzenie postępowania. Złożenie wniosku dopiero w toku postępowania sądowego, nawet w toku postępowania odwoławczego, umożliwia przy tym dalsze prowadzenie postępowania. </a:t>
            </a:r>
          </a:p>
          <a:p>
            <a:pPr>
              <a:buNone/>
              <a:defRPr/>
            </a:pPr>
            <a:endParaRPr lang="pl-PL" altLang="pl-PL" dirty="0"/>
          </a:p>
          <a:p>
            <a:pPr marL="0" indent="0" algn="just">
              <a:buNone/>
            </a:pPr>
            <a:endParaRPr lang="pl-PL" dirty="0"/>
          </a:p>
        </p:txBody>
      </p:sp>
    </p:spTree>
    <p:extLst>
      <p:ext uri="{BB962C8B-B14F-4D97-AF65-F5344CB8AC3E}">
        <p14:creationId xmlns:p14="http://schemas.microsoft.com/office/powerpoint/2010/main" val="327925873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887FB62A-CFFD-499C-97EA-EA9804EC492A}"/>
              </a:ext>
            </a:extLst>
          </p:cNvPr>
          <p:cNvSpPr>
            <a:spLocks noGrp="1"/>
          </p:cNvSpPr>
          <p:nvPr>
            <p:ph idx="1"/>
          </p:nvPr>
        </p:nvSpPr>
        <p:spPr>
          <a:xfrm>
            <a:off x="109728" y="1361103"/>
            <a:ext cx="8826246" cy="4821595"/>
          </a:xfrm>
        </p:spPr>
        <p:txBody>
          <a:bodyPr>
            <a:normAutofit/>
          </a:bodyPr>
          <a:lstStyle/>
          <a:p>
            <a:pPr>
              <a:buNone/>
              <a:defRPr/>
            </a:pPr>
            <a:r>
              <a:rPr lang="pl-PL" altLang="pl-PL" sz="2400" dirty="0"/>
              <a:t>Sąd Okręgowy w B. stwierdziwszy brak wniosku o ściganie,  powołując się na treść art. 439 par. 1 pkt 9 k.p.k. w zw. z art. 17 par. 1 pkt 10 k.p.k. uchylił zaskarżony wyrok i umorzył postępowanie.  W kasacji od tego wyroku prokurator podnosił rażące i mogące mieć istotny wpływ na treść wyroku naruszenie </a:t>
            </a:r>
            <a:r>
              <a:rPr lang="pl-PL" altLang="pl-PL" sz="2400" dirty="0" err="1"/>
              <a:t>w.w</a:t>
            </a:r>
            <a:r>
              <a:rPr lang="pl-PL" altLang="pl-PL" sz="2400" dirty="0"/>
              <a:t>. przepisów prawa procesowego, gdyż wniosek ten w istocie był, a sprowadzał się do stanowiska oskarżycielki posiłkowej wyrażonego w głosach stron, a sprowadzającego się do zdania „przychylam się do stanowiska prokuratora domagającego się uznania winy oskarżonego i wymierzenia mu kary bezwzględnego pozbawienia wolności”. Oceń zaistniałą sytuację procesową. </a:t>
            </a:r>
          </a:p>
          <a:p>
            <a:pPr>
              <a:buNone/>
              <a:defRPr/>
            </a:pPr>
            <a:endParaRPr lang="pl-PL" altLang="pl-PL" sz="2400" dirty="0"/>
          </a:p>
          <a:p>
            <a:pPr marL="0" indent="0" algn="just">
              <a:buNone/>
            </a:pPr>
            <a:endParaRPr lang="pl-PL" dirty="0"/>
          </a:p>
        </p:txBody>
      </p:sp>
    </p:spTree>
    <p:extLst>
      <p:ext uri="{BB962C8B-B14F-4D97-AF65-F5344CB8AC3E}">
        <p14:creationId xmlns:p14="http://schemas.microsoft.com/office/powerpoint/2010/main" val="14340127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887FB62A-CFFD-499C-97EA-EA9804EC492A}"/>
              </a:ext>
            </a:extLst>
          </p:cNvPr>
          <p:cNvSpPr>
            <a:spLocks noGrp="1"/>
          </p:cNvSpPr>
          <p:nvPr>
            <p:ph idx="1"/>
          </p:nvPr>
        </p:nvSpPr>
        <p:spPr>
          <a:xfrm>
            <a:off x="55984" y="969218"/>
            <a:ext cx="8879990" cy="5213480"/>
          </a:xfrm>
        </p:spPr>
        <p:txBody>
          <a:bodyPr>
            <a:normAutofit/>
          </a:bodyPr>
          <a:lstStyle/>
          <a:p>
            <a:pPr fontAlgn="t">
              <a:defRPr/>
            </a:pPr>
            <a:r>
              <a:rPr lang="pl-PL" dirty="0"/>
              <a:t>Wyrok Sądu Apelacyjnego w Krakowie z 14.07.2005 r. w Krakowie, II </a:t>
            </a:r>
            <a:r>
              <a:rPr lang="pl-PL" dirty="0" err="1"/>
              <a:t>Aka</a:t>
            </a:r>
            <a:r>
              <a:rPr lang="pl-PL" dirty="0"/>
              <a:t> 140/05</a:t>
            </a:r>
          </a:p>
          <a:p>
            <a:pPr fontAlgn="t">
              <a:buFont typeface="Wingdings" panose="05000000000000000000" pitchFamily="2" charset="2"/>
              <a:buNone/>
              <a:defRPr/>
            </a:pPr>
            <a:r>
              <a:rPr lang="pl-PL" dirty="0"/>
              <a:t> </a:t>
            </a:r>
          </a:p>
          <a:p>
            <a:pPr marL="0" indent="0" fontAlgn="t">
              <a:buNone/>
              <a:defRPr/>
            </a:pPr>
            <a:r>
              <a:rPr lang="pl-PL" dirty="0"/>
              <a:t>Wniosek o ściganie przestępstwa stanowiący wyraz woli uprawnionego podmiotu może być wyrażony w dowolnej formie: przy zawiadomieniu o popełnieniu przestępstwa, w zeznaniach świadka, w odrębnym dokumencie bądź piśmie procesowym, byle z treści dokumentu procesowego </a:t>
            </a:r>
            <a:r>
              <a:rPr lang="pl-PL" dirty="0">
                <a:solidFill>
                  <a:srgbClr val="FF0000"/>
                </a:solidFill>
              </a:rPr>
              <a:t>wynikało żądanie pokrzywdzonego ścigania sprawców. </a:t>
            </a:r>
            <a:r>
              <a:rPr lang="pl-PL" dirty="0"/>
              <a:t>Wniosek wywiera skutki prawne niezwłocznie po złożeniu go i odtąd postępowanie toczy się z urzędu. </a:t>
            </a:r>
          </a:p>
          <a:p>
            <a:pPr>
              <a:buNone/>
              <a:defRPr/>
            </a:pPr>
            <a:endParaRPr lang="pl-PL" altLang="pl-PL" dirty="0"/>
          </a:p>
          <a:p>
            <a:pPr marL="0" indent="0" algn="just">
              <a:buNone/>
            </a:pPr>
            <a:endParaRPr lang="pl-PL" dirty="0"/>
          </a:p>
        </p:txBody>
      </p:sp>
    </p:spTree>
    <p:extLst>
      <p:ext uri="{BB962C8B-B14F-4D97-AF65-F5344CB8AC3E}">
        <p14:creationId xmlns:p14="http://schemas.microsoft.com/office/powerpoint/2010/main" val="39678530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887FB62A-CFFD-499C-97EA-EA9804EC492A}"/>
              </a:ext>
            </a:extLst>
          </p:cNvPr>
          <p:cNvSpPr>
            <a:spLocks noGrp="1"/>
          </p:cNvSpPr>
          <p:nvPr>
            <p:ph idx="1"/>
          </p:nvPr>
        </p:nvSpPr>
        <p:spPr>
          <a:xfrm>
            <a:off x="1" y="857250"/>
            <a:ext cx="8935974" cy="5325448"/>
          </a:xfrm>
        </p:spPr>
        <p:txBody>
          <a:bodyPr>
            <a:normAutofit/>
          </a:bodyPr>
          <a:lstStyle/>
          <a:p>
            <a:pPr marL="0" indent="0">
              <a:buNone/>
              <a:defRPr/>
            </a:pPr>
            <a:r>
              <a:rPr lang="pl-PL" sz="3600" dirty="0"/>
              <a:t>Zenon K. został oskarżony o dokonanie nieumyślnie przestępstwa z art. 157 par. 1 k.k. na szkodę Joanny Z. </a:t>
            </a:r>
          </a:p>
          <a:p>
            <a:pPr marL="0" indent="0">
              <a:buNone/>
              <a:defRPr/>
            </a:pPr>
            <a:r>
              <a:rPr lang="pl-PL" sz="3600" dirty="0"/>
              <a:t>W toku postępowania sądowego, po rozpoczęciu przewodu sądowego, Joanna Z. oświadczyła, iż wczoraj wyszła za mąż za Zenona K. i nie chce, by został ukarany – jak powinien postąpić sąd?</a:t>
            </a:r>
          </a:p>
          <a:p>
            <a:pPr marL="0" indent="0" algn="just">
              <a:buNone/>
            </a:pPr>
            <a:endParaRPr lang="pl-PL" dirty="0"/>
          </a:p>
        </p:txBody>
      </p:sp>
    </p:spTree>
    <p:extLst>
      <p:ext uri="{BB962C8B-B14F-4D97-AF65-F5344CB8AC3E}">
        <p14:creationId xmlns:p14="http://schemas.microsoft.com/office/powerpoint/2010/main" val="5018726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887FB62A-CFFD-499C-97EA-EA9804EC492A}"/>
              </a:ext>
            </a:extLst>
          </p:cNvPr>
          <p:cNvSpPr>
            <a:spLocks noGrp="1"/>
          </p:cNvSpPr>
          <p:nvPr>
            <p:ph idx="1"/>
          </p:nvPr>
        </p:nvSpPr>
        <p:spPr>
          <a:xfrm>
            <a:off x="1" y="1242138"/>
            <a:ext cx="8935974" cy="4940560"/>
          </a:xfrm>
        </p:spPr>
        <p:txBody>
          <a:bodyPr>
            <a:normAutofit fontScale="85000" lnSpcReduction="20000"/>
          </a:bodyPr>
          <a:lstStyle/>
          <a:p>
            <a:pPr marL="0" indent="0" algn="just">
              <a:buNone/>
            </a:pPr>
            <a:r>
              <a:rPr lang="pl-PL" b="1" dirty="0"/>
              <a:t>Jeśli wniosek jest instytucją o charakterze przede wszystkim procesowym, </a:t>
            </a:r>
            <a:r>
              <a:rPr lang="pl-PL" dirty="0"/>
              <a:t>związanego z pojęciem osoby najbliższej  </a:t>
            </a:r>
            <a:r>
              <a:rPr lang="pl-PL" b="1" dirty="0">
                <a:solidFill>
                  <a:srgbClr val="FF0000"/>
                </a:solidFill>
              </a:rPr>
              <a:t>to chwilą istotną dla ustalenia, czy sprawca przestępstwa jest dla pokrzywdzonego osobą najbliższą, jest nie tylko chwila popełnienia przestępstwa lub stwierdzenia, kto jest jego sprawcą, ale także chwila ewentualnego powstania stosunku rodzinnego </a:t>
            </a:r>
            <a:r>
              <a:rPr lang="pl-PL" dirty="0"/>
              <a:t>także po popełnieniu przestępstwa, również już w toku postępowania, byleby przed jego prawomocnym zakończeniem </a:t>
            </a:r>
            <a:r>
              <a:rPr lang="pl-PL" b="1" dirty="0">
                <a:solidFill>
                  <a:srgbClr val="00B050"/>
                </a:solidFill>
              </a:rPr>
              <a:t>Organ procesowy, po ustaleniu w przypadku przestępstw względnie wnioskowych, iż sprawca przestępstwa jest lub stał się osobą najbliższą dla pokrzywdzonego, powinien zwrócić się do pokrzywdzonego o oświadczenie, czy składa wniosek o ściganie, a jeśli ten wniosku nie złoży, postępowanie należy umorzyć</a:t>
            </a:r>
            <a:r>
              <a:rPr lang="pl-PL" dirty="0">
                <a:solidFill>
                  <a:srgbClr val="82F87C"/>
                </a:solidFill>
              </a:rPr>
              <a:t> </a:t>
            </a:r>
            <a:r>
              <a:rPr lang="pl-PL" dirty="0"/>
              <a:t>– </a:t>
            </a:r>
            <a:r>
              <a:rPr lang="pl-PL" sz="1800" dirty="0"/>
              <a:t>Wyrok Sądu Najwyższego z dnia 27 sierpnia 2008 r. II KK 56/08 – odmiennie J. Grajewski, Komentarz. </a:t>
            </a:r>
          </a:p>
          <a:p>
            <a:pPr marL="0" indent="0" algn="just">
              <a:buNone/>
            </a:pPr>
            <a:endParaRPr lang="pl-PL" dirty="0"/>
          </a:p>
        </p:txBody>
      </p:sp>
    </p:spTree>
    <p:extLst>
      <p:ext uri="{BB962C8B-B14F-4D97-AF65-F5344CB8AC3E}">
        <p14:creationId xmlns:p14="http://schemas.microsoft.com/office/powerpoint/2010/main" val="4001555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5FA3B1E-1756-4F86-90D6-C5EF7CFE4E6C}"/>
              </a:ext>
            </a:extLst>
          </p:cNvPr>
          <p:cNvSpPr>
            <a:spLocks noGrp="1"/>
          </p:cNvSpPr>
          <p:nvPr>
            <p:ph type="title"/>
          </p:nvPr>
        </p:nvSpPr>
        <p:spPr>
          <a:xfrm>
            <a:off x="710946" y="857250"/>
            <a:ext cx="7886700" cy="650796"/>
          </a:xfrm>
        </p:spPr>
        <p:txBody>
          <a:bodyPr/>
          <a:lstStyle/>
          <a:p>
            <a:pPr algn="ctr"/>
            <a:r>
              <a:rPr lang="pl-PL" dirty="0"/>
              <a:t>art. 12 Ściganie na wniosek</a:t>
            </a:r>
          </a:p>
        </p:txBody>
      </p:sp>
      <p:sp>
        <p:nvSpPr>
          <p:cNvPr id="3" name="Symbol zastępczy zawartości 2">
            <a:extLst>
              <a:ext uri="{FF2B5EF4-FFF2-40B4-BE49-F238E27FC236}">
                <a16:creationId xmlns:a16="http://schemas.microsoft.com/office/drawing/2014/main" id="{887FB62A-CFFD-499C-97EA-EA9804EC492A}"/>
              </a:ext>
            </a:extLst>
          </p:cNvPr>
          <p:cNvSpPr>
            <a:spLocks noGrp="1"/>
          </p:cNvSpPr>
          <p:nvPr>
            <p:ph idx="1"/>
          </p:nvPr>
        </p:nvSpPr>
        <p:spPr>
          <a:xfrm>
            <a:off x="109728" y="1749456"/>
            <a:ext cx="8826246" cy="4189572"/>
          </a:xfrm>
        </p:spPr>
        <p:txBody>
          <a:bodyPr>
            <a:normAutofit lnSpcReduction="10000"/>
          </a:bodyPr>
          <a:lstStyle/>
          <a:p>
            <a:pPr marL="0" indent="0" algn="just">
              <a:buNone/>
            </a:pPr>
            <a:r>
              <a:rPr lang="pl-PL" dirty="0"/>
              <a:t>§ 3. Wniosek może być cofnięty w postępowaniu przygotowawczym za zgodą prokuratora, a w postępowaniu sądowym za zgodą sądu </a:t>
            </a:r>
            <a:r>
              <a:rPr lang="pl-PL" b="1" dirty="0">
                <a:solidFill>
                  <a:srgbClr val="00B050"/>
                </a:solidFill>
              </a:rPr>
              <a:t>- aż do zamknięcia przewodu sądowego </a:t>
            </a:r>
            <a:r>
              <a:rPr lang="pl-PL" dirty="0"/>
              <a:t>na </a:t>
            </a:r>
            <a:r>
              <a:rPr lang="pl-PL" dirty="0">
                <a:solidFill>
                  <a:srgbClr val="FF0000"/>
                </a:solidFill>
              </a:rPr>
              <a:t>pierwszej </a:t>
            </a:r>
            <a:r>
              <a:rPr lang="pl-PL" dirty="0"/>
              <a:t>rozprawie głównej. </a:t>
            </a:r>
            <a:r>
              <a:rPr lang="pl-PL" b="1" dirty="0">
                <a:solidFill>
                  <a:srgbClr val="00B050"/>
                </a:solidFill>
              </a:rPr>
              <a:t>W sprawach, w których akt oskarżenia wniósł oskarżyciel publiczny, cofnięcie wniosku </a:t>
            </a:r>
            <a:r>
              <a:rPr lang="pl-PL" b="1" dirty="0">
                <a:solidFill>
                  <a:srgbClr val="FF0000"/>
                </a:solidFill>
              </a:rPr>
              <a:t>po rozpoczęciu przewodu sądowego </a:t>
            </a:r>
            <a:r>
              <a:rPr lang="pl-PL" b="1" dirty="0">
                <a:solidFill>
                  <a:srgbClr val="00B050"/>
                </a:solidFill>
              </a:rPr>
              <a:t>jest skuteczne, jeżeli nie sprzeciwi się temu </a:t>
            </a:r>
            <a:r>
              <a:rPr lang="pl-PL" b="1" dirty="0">
                <a:solidFill>
                  <a:srgbClr val="7030A0"/>
                </a:solidFill>
              </a:rPr>
              <a:t>oskarżyciel publiczny</a:t>
            </a:r>
            <a:r>
              <a:rPr lang="pl-PL" b="1" dirty="0">
                <a:solidFill>
                  <a:srgbClr val="00B050"/>
                </a:solidFill>
              </a:rPr>
              <a:t> </a:t>
            </a:r>
            <a:r>
              <a:rPr lang="pl-PL" b="1" dirty="0">
                <a:solidFill>
                  <a:srgbClr val="FF0000"/>
                </a:solidFill>
              </a:rPr>
              <a:t>obecny na rozprawie lub posiedzeniu</a:t>
            </a:r>
            <a:r>
              <a:rPr lang="pl-PL" b="1" dirty="0">
                <a:solidFill>
                  <a:srgbClr val="00B050"/>
                </a:solidFill>
              </a:rPr>
              <a:t>. </a:t>
            </a:r>
            <a:r>
              <a:rPr lang="pl-PL" dirty="0"/>
              <a:t>Ponowne złożenie wniosku jest niedopuszczalne.</a:t>
            </a:r>
          </a:p>
          <a:p>
            <a:pPr marL="0" indent="0" algn="just">
              <a:buNone/>
            </a:pPr>
            <a:endParaRPr lang="pl-PL" dirty="0"/>
          </a:p>
        </p:txBody>
      </p:sp>
    </p:spTree>
    <p:extLst>
      <p:ext uri="{BB962C8B-B14F-4D97-AF65-F5344CB8AC3E}">
        <p14:creationId xmlns:p14="http://schemas.microsoft.com/office/powerpoint/2010/main" val="162927203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5FA3B1E-1756-4F86-90D6-C5EF7CFE4E6C}"/>
              </a:ext>
            </a:extLst>
          </p:cNvPr>
          <p:cNvSpPr>
            <a:spLocks noGrp="1"/>
          </p:cNvSpPr>
          <p:nvPr>
            <p:ph type="title"/>
          </p:nvPr>
        </p:nvSpPr>
        <p:spPr>
          <a:xfrm>
            <a:off x="710946" y="857250"/>
            <a:ext cx="7886700" cy="650796"/>
          </a:xfrm>
        </p:spPr>
        <p:txBody>
          <a:bodyPr/>
          <a:lstStyle/>
          <a:p>
            <a:pPr algn="ctr"/>
            <a:r>
              <a:rPr lang="pl-PL" dirty="0"/>
              <a:t>art. 12 Ściganie na wniosek</a:t>
            </a:r>
          </a:p>
        </p:txBody>
      </p:sp>
      <p:sp>
        <p:nvSpPr>
          <p:cNvPr id="3" name="Symbol zastępczy zawartości 2">
            <a:extLst>
              <a:ext uri="{FF2B5EF4-FFF2-40B4-BE49-F238E27FC236}">
                <a16:creationId xmlns:a16="http://schemas.microsoft.com/office/drawing/2014/main" id="{887FB62A-CFFD-499C-97EA-EA9804EC492A}"/>
              </a:ext>
            </a:extLst>
          </p:cNvPr>
          <p:cNvSpPr>
            <a:spLocks noGrp="1"/>
          </p:cNvSpPr>
          <p:nvPr>
            <p:ph idx="1"/>
          </p:nvPr>
        </p:nvSpPr>
        <p:spPr>
          <a:xfrm>
            <a:off x="109728" y="1749456"/>
            <a:ext cx="8826246" cy="4189572"/>
          </a:xfrm>
        </p:spPr>
        <p:txBody>
          <a:bodyPr>
            <a:normAutofit/>
          </a:bodyPr>
          <a:lstStyle/>
          <a:p>
            <a:pPr marL="0" indent="0" algn="just">
              <a:buNone/>
            </a:pPr>
            <a:r>
              <a:rPr lang="pl-PL" sz="3000" dirty="0"/>
              <a:t>Wydłużenie terminu generalnie nie budzi wątpliwości (pozwala bowiem pokrzywdzonemu na dokonanie oceny, czy jest zainteresowany ściganiem danej osoby, biorąc pod uwagę np. jej zachowanie podczas rozprawy, wyrażenie skruchy, przeproszenie, zobowiązanie się do naprawienia szkody, itp.). </a:t>
            </a:r>
          </a:p>
          <a:p>
            <a:pPr marL="0" indent="0" algn="just">
              <a:buNone/>
            </a:pPr>
            <a:endParaRPr lang="pl-PL" dirty="0"/>
          </a:p>
          <a:p>
            <a:pPr marL="0" indent="0" algn="just">
              <a:buNone/>
            </a:pPr>
            <a:endParaRPr lang="pl-PL" dirty="0"/>
          </a:p>
        </p:txBody>
      </p:sp>
    </p:spTree>
    <p:extLst>
      <p:ext uri="{BB962C8B-B14F-4D97-AF65-F5344CB8AC3E}">
        <p14:creationId xmlns:p14="http://schemas.microsoft.com/office/powerpoint/2010/main" val="143005109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5FA3B1E-1756-4F86-90D6-C5EF7CFE4E6C}"/>
              </a:ext>
            </a:extLst>
          </p:cNvPr>
          <p:cNvSpPr>
            <a:spLocks noGrp="1"/>
          </p:cNvSpPr>
          <p:nvPr>
            <p:ph type="title"/>
          </p:nvPr>
        </p:nvSpPr>
        <p:spPr>
          <a:xfrm>
            <a:off x="710946" y="857250"/>
            <a:ext cx="7886700" cy="650796"/>
          </a:xfrm>
        </p:spPr>
        <p:txBody>
          <a:bodyPr/>
          <a:lstStyle/>
          <a:p>
            <a:pPr algn="ctr"/>
            <a:r>
              <a:rPr lang="pl-PL" dirty="0"/>
              <a:t>art. 12 Ściganie na wniosek</a:t>
            </a:r>
          </a:p>
        </p:txBody>
      </p:sp>
      <p:sp>
        <p:nvSpPr>
          <p:cNvPr id="3" name="Symbol zastępczy zawartości 2">
            <a:extLst>
              <a:ext uri="{FF2B5EF4-FFF2-40B4-BE49-F238E27FC236}">
                <a16:creationId xmlns:a16="http://schemas.microsoft.com/office/drawing/2014/main" id="{887FB62A-CFFD-499C-97EA-EA9804EC492A}"/>
              </a:ext>
            </a:extLst>
          </p:cNvPr>
          <p:cNvSpPr>
            <a:spLocks noGrp="1"/>
          </p:cNvSpPr>
          <p:nvPr>
            <p:ph idx="1"/>
          </p:nvPr>
        </p:nvSpPr>
        <p:spPr>
          <a:xfrm>
            <a:off x="109728" y="1676215"/>
            <a:ext cx="8826246" cy="4374472"/>
          </a:xfrm>
        </p:spPr>
        <p:txBody>
          <a:bodyPr>
            <a:normAutofit/>
          </a:bodyPr>
          <a:lstStyle/>
          <a:p>
            <a:pPr marL="0" indent="0" algn="just">
              <a:buNone/>
            </a:pPr>
            <a:r>
              <a:rPr lang="pl-PL" sz="2400" dirty="0"/>
              <a:t>Wychodzi ona naprzeciw postulatowi zwiększenia dyspozytywności stron w zakresie rozporządzania skargą, w tych sprawach w których zdaniem ustawodawcy interes społeczny nie jest na tyle przeważający na interesem pokrzywdzonego aby wymuszać wbrew jego woli bieg postępowania karnego. Mają rację projektodawcy wskazując, że często do zawarcia ugody między oskarżonym a pokrzywdzonym dochodzi dopiero w toku postępowania sądowego, co powoduje że dalsze ściganie przestępstwa tzw. wnioskowego staje się z punktu widzenia celów wymiaru sprawiedliwości mało efektywne (D. </a:t>
            </a:r>
            <a:r>
              <a:rPr lang="pl-PL" sz="2400" dirty="0" err="1"/>
              <a:t>Szumiło</a:t>
            </a:r>
            <a:r>
              <a:rPr lang="pl-PL" sz="2400" dirty="0"/>
              <a:t> – Kulczycka).</a:t>
            </a:r>
          </a:p>
        </p:txBody>
      </p:sp>
    </p:spTree>
    <p:extLst>
      <p:ext uri="{BB962C8B-B14F-4D97-AF65-F5344CB8AC3E}">
        <p14:creationId xmlns:p14="http://schemas.microsoft.com/office/powerpoint/2010/main" val="37187600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5FA3B1E-1756-4F86-90D6-C5EF7CFE4E6C}"/>
              </a:ext>
            </a:extLst>
          </p:cNvPr>
          <p:cNvSpPr>
            <a:spLocks noGrp="1"/>
          </p:cNvSpPr>
          <p:nvPr>
            <p:ph type="title"/>
          </p:nvPr>
        </p:nvSpPr>
        <p:spPr>
          <a:xfrm>
            <a:off x="710946" y="857250"/>
            <a:ext cx="7886700" cy="650796"/>
          </a:xfrm>
        </p:spPr>
        <p:txBody>
          <a:bodyPr/>
          <a:lstStyle/>
          <a:p>
            <a:pPr algn="ctr"/>
            <a:r>
              <a:rPr lang="pl-PL" dirty="0"/>
              <a:t>art. 12 Ściganie na wniosek</a:t>
            </a:r>
          </a:p>
        </p:txBody>
      </p:sp>
      <p:sp>
        <p:nvSpPr>
          <p:cNvPr id="3" name="Symbol zastępczy zawartości 2">
            <a:extLst>
              <a:ext uri="{FF2B5EF4-FFF2-40B4-BE49-F238E27FC236}">
                <a16:creationId xmlns:a16="http://schemas.microsoft.com/office/drawing/2014/main" id="{887FB62A-CFFD-499C-97EA-EA9804EC492A}"/>
              </a:ext>
            </a:extLst>
          </p:cNvPr>
          <p:cNvSpPr>
            <a:spLocks noGrp="1"/>
          </p:cNvSpPr>
          <p:nvPr>
            <p:ph idx="1"/>
          </p:nvPr>
        </p:nvSpPr>
        <p:spPr>
          <a:xfrm>
            <a:off x="109728" y="1716164"/>
            <a:ext cx="8826246" cy="4222864"/>
          </a:xfrm>
        </p:spPr>
        <p:txBody>
          <a:bodyPr>
            <a:normAutofit/>
          </a:bodyPr>
          <a:lstStyle/>
          <a:p>
            <a:pPr marL="0" indent="0" algn="just">
              <a:buNone/>
            </a:pPr>
            <a:r>
              <a:rPr lang="pl-PL" sz="3600" dirty="0"/>
              <a:t>Drugie zdanie w części dotyczącej posiedzenia nie konweniuje ze zwrotem „przewód sądowy”. </a:t>
            </a:r>
          </a:p>
          <a:p>
            <a:pPr marL="0" indent="0" algn="just">
              <a:buNone/>
            </a:pPr>
            <a:r>
              <a:rPr lang="pl-PL" sz="3600" dirty="0"/>
              <a:t>Kryteria uznania cofnięcia za zasadne: „</a:t>
            </a:r>
            <a:r>
              <a:rPr lang="pl-PL" sz="3600" i="1" dirty="0"/>
              <a:t>jeżeli przemawia za tym interes pokrzywdzonego i nie sprzeciwia się temu interes społeczny</a:t>
            </a:r>
            <a:r>
              <a:rPr lang="pl-PL" sz="3600" dirty="0"/>
              <a:t>”. </a:t>
            </a:r>
          </a:p>
          <a:p>
            <a:pPr marL="0" indent="0" algn="just">
              <a:buNone/>
            </a:pPr>
            <a:endParaRPr lang="pl-PL" dirty="0"/>
          </a:p>
        </p:txBody>
      </p:sp>
    </p:spTree>
    <p:extLst>
      <p:ext uri="{BB962C8B-B14F-4D97-AF65-F5344CB8AC3E}">
        <p14:creationId xmlns:p14="http://schemas.microsoft.com/office/powerpoint/2010/main" val="368846674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5FA3B1E-1756-4F86-90D6-C5EF7CFE4E6C}"/>
              </a:ext>
            </a:extLst>
          </p:cNvPr>
          <p:cNvSpPr>
            <a:spLocks noGrp="1"/>
          </p:cNvSpPr>
          <p:nvPr>
            <p:ph type="title"/>
          </p:nvPr>
        </p:nvSpPr>
        <p:spPr>
          <a:xfrm>
            <a:off x="710946" y="857250"/>
            <a:ext cx="7886700" cy="650796"/>
          </a:xfrm>
        </p:spPr>
        <p:txBody>
          <a:bodyPr/>
          <a:lstStyle/>
          <a:p>
            <a:pPr algn="ctr"/>
            <a:r>
              <a:rPr lang="pl-PL" dirty="0"/>
              <a:t>art. 12 Ściganie na wniosek</a:t>
            </a:r>
          </a:p>
        </p:txBody>
      </p:sp>
      <p:sp>
        <p:nvSpPr>
          <p:cNvPr id="3" name="Symbol zastępczy zawartości 2">
            <a:extLst>
              <a:ext uri="{FF2B5EF4-FFF2-40B4-BE49-F238E27FC236}">
                <a16:creationId xmlns:a16="http://schemas.microsoft.com/office/drawing/2014/main" id="{887FB62A-CFFD-499C-97EA-EA9804EC492A}"/>
              </a:ext>
            </a:extLst>
          </p:cNvPr>
          <p:cNvSpPr>
            <a:spLocks noGrp="1"/>
          </p:cNvSpPr>
          <p:nvPr>
            <p:ph idx="1"/>
          </p:nvPr>
        </p:nvSpPr>
        <p:spPr>
          <a:xfrm>
            <a:off x="109728" y="1508046"/>
            <a:ext cx="8826246" cy="4430982"/>
          </a:xfrm>
        </p:spPr>
        <p:txBody>
          <a:bodyPr>
            <a:normAutofit fontScale="92500" lnSpcReduction="20000"/>
          </a:bodyPr>
          <a:lstStyle/>
          <a:p>
            <a:pPr marL="0" indent="0" algn="just">
              <a:buNone/>
            </a:pPr>
            <a:r>
              <a:rPr lang="pl-PL" b="1" dirty="0">
                <a:solidFill>
                  <a:srgbClr val="7030A0"/>
                </a:solidFill>
              </a:rPr>
              <a:t>Prokurator jako dorozumiany decydent</a:t>
            </a:r>
          </a:p>
          <a:p>
            <a:pPr algn="just"/>
            <a:r>
              <a:rPr lang="pl-PL" dirty="0"/>
              <a:t>art. 8 k.p.k. zasada samodzielności jurysdykcyjnej sądu karnego - niezależność przysługującą sądowi karnemu od decyzji podjętych przez inne podmioty, w zakresie kwestii należących do kognicji tego sądu (P. Hofmański)</a:t>
            </a:r>
          </a:p>
          <a:p>
            <a:pPr algn="just"/>
            <a:r>
              <a:rPr lang="pl-PL" dirty="0"/>
              <a:t>zasada równości stron? – złamanie art. 6 ust. 1 </a:t>
            </a:r>
            <a:r>
              <a:rPr lang="pl-PL" dirty="0" err="1"/>
              <a:t>EKPCz</a:t>
            </a:r>
            <a:endParaRPr lang="pl-PL" dirty="0"/>
          </a:p>
          <a:p>
            <a:pPr algn="just"/>
            <a:r>
              <a:rPr lang="pl-PL" dirty="0"/>
              <a:t>Oskarżony nie może się sprzeciwić, pokrzywdzony nie jest w pełni dysponentem swego wniosku</a:t>
            </a:r>
          </a:p>
          <a:p>
            <a:pPr algn="just"/>
            <a:r>
              <a:rPr lang="pl-PL" dirty="0"/>
              <a:t>Iluzoryczność zgody sądu</a:t>
            </a:r>
          </a:p>
          <a:p>
            <a:pPr algn="just"/>
            <a:r>
              <a:rPr lang="pl-PL" dirty="0"/>
              <a:t>Złamanie zasady, że to sąd jako organ prowadzący postępowanie w tym stadium jest jego gospodarzem.  Kontrola sądu byłaby wystarczająca. </a:t>
            </a:r>
          </a:p>
          <a:p>
            <a:pPr marL="0" indent="0" algn="just">
              <a:buNone/>
            </a:pPr>
            <a:endParaRPr lang="pl-PL" dirty="0"/>
          </a:p>
        </p:txBody>
      </p:sp>
    </p:spTree>
    <p:extLst>
      <p:ext uri="{BB962C8B-B14F-4D97-AF65-F5344CB8AC3E}">
        <p14:creationId xmlns:p14="http://schemas.microsoft.com/office/powerpoint/2010/main" val="351321840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887FB62A-CFFD-499C-97EA-EA9804EC492A}"/>
              </a:ext>
            </a:extLst>
          </p:cNvPr>
          <p:cNvSpPr>
            <a:spLocks noGrp="1"/>
          </p:cNvSpPr>
          <p:nvPr>
            <p:ph idx="1"/>
          </p:nvPr>
        </p:nvSpPr>
        <p:spPr>
          <a:xfrm>
            <a:off x="109728" y="1158162"/>
            <a:ext cx="8826246" cy="4780866"/>
          </a:xfrm>
        </p:spPr>
        <p:txBody>
          <a:bodyPr>
            <a:normAutofit/>
          </a:bodyPr>
          <a:lstStyle/>
          <a:p>
            <a:pPr>
              <a:defRPr/>
            </a:pPr>
            <a:r>
              <a:rPr lang="pl-PL" sz="3600" dirty="0"/>
              <a:t>art. 632a § 3 k.p.k.</a:t>
            </a:r>
          </a:p>
          <a:p>
            <a:pPr>
              <a:defRPr/>
            </a:pPr>
            <a:r>
              <a:rPr lang="pl-PL" sz="3600" dirty="0"/>
              <a:t> W razie umorzenia postępowania ze względu na cofnięcie wniosku o ściganie po rozpoczęciu przewodu sądowego sąd może orzec, że koszty procesu ponosi w całości lub w części oskarżony. </a:t>
            </a:r>
            <a:endParaRPr lang="pl-PL" sz="3600" b="1" dirty="0">
              <a:solidFill>
                <a:srgbClr val="FF0000"/>
              </a:solidFill>
            </a:endParaRPr>
          </a:p>
          <a:p>
            <a:pPr marL="0" indent="0" algn="just">
              <a:buNone/>
            </a:pPr>
            <a:endParaRPr lang="pl-PL" dirty="0"/>
          </a:p>
        </p:txBody>
      </p:sp>
    </p:spTree>
    <p:extLst>
      <p:ext uri="{BB962C8B-B14F-4D97-AF65-F5344CB8AC3E}">
        <p14:creationId xmlns:p14="http://schemas.microsoft.com/office/powerpoint/2010/main" val="420124607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a:xfrm>
            <a:off x="301752" y="1124744"/>
            <a:ext cx="8503920" cy="5976664"/>
          </a:xfrm>
        </p:spPr>
        <p:txBody>
          <a:bodyPr>
            <a:normAutofit/>
          </a:bodyPr>
          <a:lstStyle/>
          <a:p>
            <a:endParaRPr lang="pl-PL" dirty="0"/>
          </a:p>
          <a:p>
            <a:r>
              <a:rPr lang="pl-PL" sz="5400" dirty="0"/>
              <a:t>Art. 157 par. 2 k.k., problem objęcia przez prokuratora ścigania przestępstwa prywatnoskargowego. </a:t>
            </a:r>
          </a:p>
          <a:p>
            <a:endParaRPr lang="pl-PL" dirty="0"/>
          </a:p>
        </p:txBody>
      </p:sp>
    </p:spTree>
    <p:extLst>
      <p:ext uri="{BB962C8B-B14F-4D97-AF65-F5344CB8AC3E}">
        <p14:creationId xmlns:p14="http://schemas.microsoft.com/office/powerpoint/2010/main" val="329600992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Bójka i pobicie</a:t>
            </a:r>
          </a:p>
        </p:txBody>
      </p:sp>
      <p:sp>
        <p:nvSpPr>
          <p:cNvPr id="3" name="Symbol zastępczy zawartości 2"/>
          <p:cNvSpPr>
            <a:spLocks noGrp="1"/>
          </p:cNvSpPr>
          <p:nvPr>
            <p:ph sz="quarter" idx="1"/>
          </p:nvPr>
        </p:nvSpPr>
        <p:spPr/>
        <p:txBody>
          <a:bodyPr>
            <a:normAutofit fontScale="85000" lnSpcReduction="20000"/>
          </a:bodyPr>
          <a:lstStyle/>
          <a:p>
            <a:r>
              <a:rPr lang="pl-PL" dirty="0"/>
              <a:t>Art.  158.  [Bójka i pobicie]</a:t>
            </a:r>
          </a:p>
          <a:p>
            <a:r>
              <a:rPr lang="pl-PL" dirty="0"/>
              <a:t>§  1. </a:t>
            </a:r>
          </a:p>
          <a:p>
            <a:r>
              <a:rPr lang="pl-PL" dirty="0"/>
              <a:t>Kto bierze udział w bójce lub pobiciu, w którym naraża się człowieka na bezpośrednie niebezpieczeństwo utraty życia albo nastąpienie skutku określonego w art. 156 § 1 lub w art. 157 § 1,podlega karze pozbawienia wolności od 3 miesięcy do lat 5.</a:t>
            </a:r>
          </a:p>
          <a:p>
            <a:r>
              <a:rPr lang="pl-PL" dirty="0"/>
              <a:t>§  2. </a:t>
            </a:r>
          </a:p>
          <a:p>
            <a:r>
              <a:rPr lang="pl-PL" dirty="0"/>
              <a:t>Jeżeli następstwem bójki lub pobicia jest ciężki uszczerbek na zdrowiu człowieka, sprawca podlega karze pozbawienia wolności od roku do lat 10.</a:t>
            </a:r>
          </a:p>
          <a:p>
            <a:r>
              <a:rPr lang="pl-PL" dirty="0"/>
              <a:t>§  3. </a:t>
            </a:r>
          </a:p>
          <a:p>
            <a:r>
              <a:rPr lang="pl-PL" dirty="0"/>
              <a:t>Jeżeli następstwem bójki lub pobicia jest śmierć człowieka, </a:t>
            </a:r>
            <a:r>
              <a:rPr lang="pl-PL" dirty="0" err="1"/>
              <a:t>sprawcapodlega</a:t>
            </a:r>
            <a:r>
              <a:rPr lang="pl-PL" dirty="0"/>
              <a:t> karze pozbawienia wolności od lat 2 do 15.</a:t>
            </a:r>
          </a:p>
          <a:p>
            <a:endParaRPr lang="pl-PL" dirty="0"/>
          </a:p>
          <a:p>
            <a:endParaRPr lang="pl-PL" dirty="0"/>
          </a:p>
        </p:txBody>
      </p:sp>
    </p:spTree>
    <p:extLst>
      <p:ext uri="{BB962C8B-B14F-4D97-AF65-F5344CB8AC3E}">
        <p14:creationId xmlns:p14="http://schemas.microsoft.com/office/powerpoint/2010/main" val="362845182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lstStyle/>
          <a:p>
            <a:endParaRPr lang="pl-PL" dirty="0"/>
          </a:p>
          <a:p>
            <a:endParaRPr lang="pl-PL" dirty="0"/>
          </a:p>
          <a:p>
            <a:r>
              <a:rPr lang="pl-PL" dirty="0"/>
              <a:t>par. 1 – typ podstawowy</a:t>
            </a:r>
          </a:p>
          <a:p>
            <a:endParaRPr lang="pl-PL" dirty="0"/>
          </a:p>
          <a:p>
            <a:endParaRPr lang="pl-PL" dirty="0"/>
          </a:p>
          <a:p>
            <a:r>
              <a:rPr lang="pl-PL" dirty="0"/>
              <a:t>Par. 2 i 3 – dwa typy kwalifikowane przez następstwa</a:t>
            </a:r>
          </a:p>
        </p:txBody>
      </p:sp>
    </p:spTree>
    <p:extLst>
      <p:ext uri="{BB962C8B-B14F-4D97-AF65-F5344CB8AC3E}">
        <p14:creationId xmlns:p14="http://schemas.microsoft.com/office/powerpoint/2010/main" val="286378924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lstStyle/>
          <a:p>
            <a:r>
              <a:rPr lang="pl-PL" dirty="0"/>
              <a:t> </a:t>
            </a:r>
            <a:r>
              <a:rPr lang="pl-PL" b="1" dirty="0"/>
              <a:t>Bójka </a:t>
            </a:r>
            <a:r>
              <a:rPr lang="pl-PL" dirty="0"/>
              <a:t> starcie pomiędzy co najmniej trzema osobami, które atakują się wzajemnie, występując zarazem w roli napastników i napadniętych.</a:t>
            </a:r>
          </a:p>
          <a:p>
            <a:endParaRPr lang="pl-PL" dirty="0"/>
          </a:p>
          <a:p>
            <a:r>
              <a:rPr lang="pl-PL" dirty="0"/>
              <a:t> </a:t>
            </a:r>
            <a:r>
              <a:rPr lang="pl-PL" b="1" dirty="0"/>
              <a:t>Pobicie </a:t>
            </a:r>
            <a:r>
              <a:rPr lang="pl-PL" dirty="0"/>
              <a:t>czynna napaść dwóch lub więcej osób na inną osobę lub osoby, przy czym w zdarzeniu tym występuje wyraźny podział ról na napastników i napadniętych (broniących się).</a:t>
            </a:r>
          </a:p>
          <a:p>
            <a:endParaRPr lang="pl-PL" dirty="0"/>
          </a:p>
          <a:p>
            <a:endParaRPr lang="pl-PL" dirty="0"/>
          </a:p>
        </p:txBody>
      </p:sp>
    </p:spTree>
    <p:extLst>
      <p:ext uri="{BB962C8B-B14F-4D97-AF65-F5344CB8AC3E}">
        <p14:creationId xmlns:p14="http://schemas.microsoft.com/office/powerpoint/2010/main" val="174984485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62500" lnSpcReduction="20000"/>
          </a:bodyPr>
          <a:lstStyle/>
          <a:p>
            <a:r>
              <a:rPr lang="pl-PL" dirty="0"/>
              <a:t>Przestępstwo </a:t>
            </a:r>
            <a:r>
              <a:rPr lang="pl-PL" b="1" dirty="0"/>
              <a:t>materialne</a:t>
            </a:r>
          </a:p>
          <a:p>
            <a:endParaRPr lang="pl-PL" dirty="0"/>
          </a:p>
          <a:p>
            <a:r>
              <a:rPr lang="pl-PL" b="1" dirty="0"/>
              <a:t>Wyrok</a:t>
            </a:r>
            <a:r>
              <a:rPr lang="pl-PL" dirty="0"/>
              <a:t> Sądu Apelacyjnego w Lublinie z dnia 4 lutego 2003 r. </a:t>
            </a:r>
            <a:r>
              <a:rPr lang="pl-PL" b="1" dirty="0"/>
              <a:t>II </a:t>
            </a:r>
            <a:r>
              <a:rPr lang="pl-PL" b="1" dirty="0" err="1"/>
              <a:t>AKa</a:t>
            </a:r>
            <a:r>
              <a:rPr lang="pl-PL" b="1" dirty="0"/>
              <a:t> 178/02</a:t>
            </a:r>
            <a:endParaRPr lang="pl-PL" dirty="0"/>
          </a:p>
          <a:p>
            <a:endParaRPr lang="pl-PL" dirty="0"/>
          </a:p>
          <a:p>
            <a:r>
              <a:rPr lang="pl-PL" dirty="0"/>
              <a:t>  Stypizowany w art. 158 § 1 k.k. występek nie należy do przestępstw skutkowych, co oznacza, że nie musi zaistnieć ani śmierć, ani skutek określony w art. 156 § 1 lub art. 157 § 1 k.k.</a:t>
            </a:r>
          </a:p>
          <a:p>
            <a:r>
              <a:rPr lang="pl-PL" dirty="0"/>
              <a:t> Zaistnienie takich skutków (będących wynikiem bójki lub pobicia) powodowałoby odpowiedzialność za kwalifikowany typ przestępstwa określony w § 2 lub § 3 art. 158 k.k. Strona podmiotowa przestępstwa z art. 158 § 1 k.k. (przestępstwa z narażenia) polega więc co najmniej na przewidywaniu i godzeniu się na to, że bierze się udział w bójce lub pobiciu, które stwarzają narażenie człowieka na zaistnienie jednego ze wskazanych w tym przepisie skutków, do których nie musi dojść.  </a:t>
            </a:r>
          </a:p>
          <a:p>
            <a:r>
              <a:rPr lang="pl-PL" dirty="0"/>
              <a:t>  O tym zaś, czy owo narażenie w rzeczywistości miało miejsce, decyduje całokształt okoliczności zdarzenia, będących wynikiem analizy, czynności wykonawczych i pozostających z nimi w ścisłym związku z ewentualnymi skutkami, pozwalającymi na uznanie, że charakter zdarzenia stwarzał realne narażenie na zaistnienie jednego ze skutków wskazanych w art. 158 § 1 k.k.  </a:t>
            </a:r>
          </a:p>
          <a:p>
            <a:endParaRPr lang="pl-PL" dirty="0"/>
          </a:p>
          <a:p>
            <a:endParaRPr lang="pl-PL" dirty="0"/>
          </a:p>
        </p:txBody>
      </p:sp>
    </p:spTree>
    <p:extLst>
      <p:ext uri="{BB962C8B-B14F-4D97-AF65-F5344CB8AC3E}">
        <p14:creationId xmlns:p14="http://schemas.microsoft.com/office/powerpoint/2010/main" val="10953039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lstStyle/>
          <a:p>
            <a:endParaRPr lang="pl-PL" dirty="0"/>
          </a:p>
          <a:p>
            <a:r>
              <a:rPr lang="pl-PL" dirty="0"/>
              <a:t>Za biorącego </a:t>
            </a:r>
            <a:r>
              <a:rPr lang="pl-PL" b="1" dirty="0"/>
              <a:t>udział</a:t>
            </a:r>
            <a:r>
              <a:rPr lang="pl-PL" dirty="0"/>
              <a:t> w bójce lub pobiciu należy uznać nie tylko tego, kto  zadaje ciosy, lecz także tego, którego  zachowanie w zbiorowym działaniu przyczynia się do niebezpiecznego charakteru zajścia, jak np. podawanie niebezpiecznych przedmiotów (narzędzi), przytrzymywanie ofiary, blokowanie drogi ucieczki itp.  </a:t>
            </a:r>
          </a:p>
          <a:p>
            <a:endParaRPr lang="pl-PL" dirty="0"/>
          </a:p>
          <a:p>
            <a:endParaRPr lang="pl-PL" dirty="0"/>
          </a:p>
        </p:txBody>
      </p:sp>
    </p:spTree>
    <p:extLst>
      <p:ext uri="{BB962C8B-B14F-4D97-AF65-F5344CB8AC3E}">
        <p14:creationId xmlns:p14="http://schemas.microsoft.com/office/powerpoint/2010/main" val="418710315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92500" lnSpcReduction="20000"/>
          </a:bodyPr>
          <a:lstStyle/>
          <a:p>
            <a:r>
              <a:rPr lang="pl-PL" b="1" dirty="0"/>
              <a:t>Wyrok</a:t>
            </a:r>
            <a:r>
              <a:rPr lang="pl-PL" dirty="0"/>
              <a:t> Sądu Apelacyjnego w Krakowie z dnia 12 października 2000 r. </a:t>
            </a:r>
            <a:r>
              <a:rPr lang="pl-PL" b="1" dirty="0"/>
              <a:t>II </a:t>
            </a:r>
            <a:r>
              <a:rPr lang="pl-PL" b="1" dirty="0" err="1"/>
              <a:t>AKa</a:t>
            </a:r>
            <a:r>
              <a:rPr lang="pl-PL" b="1" dirty="0"/>
              <a:t> 169/00</a:t>
            </a:r>
            <a:endParaRPr lang="pl-PL" dirty="0"/>
          </a:p>
          <a:p>
            <a:endParaRPr lang="pl-PL" dirty="0"/>
          </a:p>
          <a:p>
            <a:r>
              <a:rPr lang="pl-PL" dirty="0"/>
              <a:t>Udziałem w pobiciu jest nie tylko zadawanie razów innym osobom, ale jest nim każda forma kierowanego wolą udziału w grupie napastniczej, bowiem obecność każdego jej uczestnika zwiększa przewagę napastników i przez to ułatwia im dokonanie pobicia, zadawanie razów, a wzmaga niebezpieczeństwo nastąpienia skutków w zdrowiu ofiar. Rozmaitość form zachowania, aktywność każdego z uczestników, zadawane razy, ich ilość i skutki mają znaczenie dla oznaczenia stopnia winy każdego z nich, więc i kary, ale nie są one znamienne dla bytu tego przestępstwa.</a:t>
            </a:r>
          </a:p>
          <a:p>
            <a:endParaRPr lang="pl-PL" dirty="0"/>
          </a:p>
        </p:txBody>
      </p:sp>
    </p:spTree>
    <p:extLst>
      <p:ext uri="{BB962C8B-B14F-4D97-AF65-F5344CB8AC3E}">
        <p14:creationId xmlns:p14="http://schemas.microsoft.com/office/powerpoint/2010/main" val="236277601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70000" lnSpcReduction="20000"/>
          </a:bodyPr>
          <a:lstStyle/>
          <a:p>
            <a:endParaRPr lang="pl-PL" dirty="0"/>
          </a:p>
          <a:p>
            <a:r>
              <a:rPr lang="pl-PL" b="1" dirty="0"/>
              <a:t>Wyrok</a:t>
            </a:r>
            <a:r>
              <a:rPr lang="pl-PL" dirty="0"/>
              <a:t> Sądu Apelacyjnego w Łodzi z dnia 21 września 2000 r. </a:t>
            </a:r>
            <a:r>
              <a:rPr lang="pl-PL" b="1" dirty="0"/>
              <a:t>II </a:t>
            </a:r>
            <a:r>
              <a:rPr lang="pl-PL" b="1" dirty="0" err="1"/>
              <a:t>AKa</a:t>
            </a:r>
            <a:r>
              <a:rPr lang="pl-PL" b="1" dirty="0"/>
              <a:t> 135/00</a:t>
            </a:r>
            <a:endParaRPr lang="pl-PL" dirty="0"/>
          </a:p>
          <a:p>
            <a:endParaRPr lang="pl-PL" dirty="0"/>
          </a:p>
          <a:p>
            <a:r>
              <a:rPr lang="pl-PL" dirty="0"/>
              <a:t>"Przestępstwo udziału w bójce lub pobiciu" polega na umyślnym wzięciu udziału w zdarzeniu o takim charakterze, że jego uczestnicy atakują się wzajemnie i z takim natężeniem, iż stwarza to dla nich niebezpieczeństwo utraty życia, ciężkiego uszkodzenia ciała lub ciężkiego rozstroju zdrowia.</a:t>
            </a:r>
          </a:p>
          <a:p>
            <a:endParaRPr lang="pl-PL" dirty="0"/>
          </a:p>
          <a:p>
            <a:r>
              <a:rPr lang="pl-PL" dirty="0"/>
              <a:t>W wypadku czynu przewidzianego w art. 158 § 3 k.k., kwalifikowanego przez skutek, między zachowaniem się indywidualnego sprawcy a śmiercią człowieka może nawet nie istnieć związek przyczynowy, a mimo to zachodzi odpowiedzialność na gruncie tego przepisu, o ile tylko sprawca mógł przewidzieć, że taki będzie efekt zbiorowego działania. </a:t>
            </a:r>
            <a:r>
              <a:rPr lang="pl-PL" dirty="0">
                <a:solidFill>
                  <a:srgbClr val="FF0000"/>
                </a:solidFill>
              </a:rPr>
              <a:t>Odpowiedzialność na gruncie art. 158 § 3 k.k. ponosi również sprawca, który nie zadał ofierze żadnego ciosu, ale okrzykami zagrzewał uczestników bójki do agresji i zadawania ciosów.</a:t>
            </a:r>
          </a:p>
          <a:p>
            <a:pPr marL="0" indent="0">
              <a:buNone/>
            </a:pPr>
            <a:endParaRPr lang="pl-PL" dirty="0">
              <a:solidFill>
                <a:srgbClr val="FF0000"/>
              </a:solidFill>
            </a:endParaRPr>
          </a:p>
          <a:p>
            <a:endParaRPr lang="pl-PL" dirty="0"/>
          </a:p>
          <a:p>
            <a:endParaRPr lang="pl-PL" dirty="0"/>
          </a:p>
        </p:txBody>
      </p:sp>
    </p:spTree>
    <p:extLst>
      <p:ext uri="{BB962C8B-B14F-4D97-AF65-F5344CB8AC3E}">
        <p14:creationId xmlns:p14="http://schemas.microsoft.com/office/powerpoint/2010/main" val="131456110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Odpowiedzialność za typy kwalifikowane</a:t>
            </a:r>
          </a:p>
        </p:txBody>
      </p:sp>
      <p:sp>
        <p:nvSpPr>
          <p:cNvPr id="3" name="Symbol zastępczy zawartości 2"/>
          <p:cNvSpPr>
            <a:spLocks noGrp="1"/>
          </p:cNvSpPr>
          <p:nvPr>
            <p:ph sz="quarter" idx="1"/>
          </p:nvPr>
        </p:nvSpPr>
        <p:spPr/>
        <p:txBody>
          <a:bodyPr>
            <a:normAutofit fontScale="77500" lnSpcReduction="20000"/>
          </a:bodyPr>
          <a:lstStyle/>
          <a:p>
            <a:r>
              <a:rPr lang="pl-PL" b="1" dirty="0"/>
              <a:t>Wyrok</a:t>
            </a:r>
            <a:r>
              <a:rPr lang="pl-PL" dirty="0"/>
              <a:t> Sądu Apelacyjnego w Lublinie z dnia 25 marca 2003 r.</a:t>
            </a:r>
          </a:p>
          <a:p>
            <a:pPr marL="0" indent="0">
              <a:buNone/>
            </a:pPr>
            <a:r>
              <a:rPr lang="pl-PL" dirty="0"/>
              <a:t>     </a:t>
            </a:r>
            <a:r>
              <a:rPr lang="pl-PL" b="1" dirty="0"/>
              <a:t>II </a:t>
            </a:r>
            <a:r>
              <a:rPr lang="pl-PL" b="1" dirty="0" err="1"/>
              <a:t>AKa</a:t>
            </a:r>
            <a:r>
              <a:rPr lang="pl-PL" b="1" dirty="0"/>
              <a:t> 20/03</a:t>
            </a:r>
            <a:endParaRPr lang="pl-PL" dirty="0"/>
          </a:p>
          <a:p>
            <a:endParaRPr lang="pl-PL" dirty="0"/>
          </a:p>
          <a:p>
            <a:r>
              <a:rPr lang="pl-PL" dirty="0"/>
              <a:t>Odpowiedzialność z art. 158 § 2 k.k., jak to powszechnie przyjmuje się w nauce i orzecznictwie, nie może być oparta na samym tylko obiektywnym fakcie, iż sprawca wziął udział w starciu, które zakończyło się ciężkim uszczerbkiem na zdrowiu jednego z uczestników. Sprawca ponosi odpowiedzialność z tego artykułu dopiero wówczas, gdy skutek ten powinien był i mógł przewidzieć.</a:t>
            </a:r>
          </a:p>
          <a:p>
            <a:endParaRPr lang="pl-PL" dirty="0"/>
          </a:p>
          <a:p>
            <a:r>
              <a:rPr lang="pl-PL" dirty="0"/>
              <a:t>Obowiązujący Kodeks karny nie zna bowiem tzw. obiektywnych warunków karalności, lecz głosi zasadę iż odpowiedzialność za następstwa czynu nie może sięgać dalej, jak wina sprawcy.</a:t>
            </a:r>
          </a:p>
          <a:p>
            <a:endParaRPr lang="pl-PL" dirty="0"/>
          </a:p>
          <a:p>
            <a:endParaRPr lang="pl-PL" dirty="0"/>
          </a:p>
        </p:txBody>
      </p:sp>
    </p:spTree>
    <p:extLst>
      <p:ext uri="{BB962C8B-B14F-4D97-AF65-F5344CB8AC3E}">
        <p14:creationId xmlns:p14="http://schemas.microsoft.com/office/powerpoint/2010/main" val="14542494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lnSpcReduction="10000"/>
          </a:bodyPr>
          <a:lstStyle/>
          <a:p>
            <a:r>
              <a:rPr lang="pl-PL" b="1" dirty="0"/>
              <a:t>Wyrok</a:t>
            </a:r>
            <a:r>
              <a:rPr lang="pl-PL" dirty="0"/>
              <a:t> Sądu Apelacyjnego w Warszawie z dnia 24 września 2014 r. </a:t>
            </a:r>
            <a:r>
              <a:rPr lang="pl-PL" b="1" dirty="0"/>
              <a:t>II </a:t>
            </a:r>
            <a:r>
              <a:rPr lang="pl-PL" b="1" dirty="0" err="1"/>
              <a:t>AKa</a:t>
            </a:r>
            <a:r>
              <a:rPr lang="pl-PL" b="1" dirty="0"/>
              <a:t> 95/14</a:t>
            </a:r>
            <a:endParaRPr lang="pl-PL" dirty="0"/>
          </a:p>
          <a:p>
            <a:pPr marL="0" indent="0">
              <a:buNone/>
            </a:pPr>
            <a:endParaRPr lang="pl-PL" dirty="0"/>
          </a:p>
          <a:p>
            <a:r>
              <a:rPr lang="pl-PL" dirty="0"/>
              <a:t>Udziałem w pobiciu będzie każda forma świadomego współdziałania sprawców niezależnie od wykonywanych przez nich ról, jest to wspólna odpowiedzialność pod warunkiem, iż powstały skutek przewidywali bądź mogli i powinni przewidzieć. Podzielić należy pogląd, iż dla bytu przestępstwa z art. 158 § 3 k.k. obojętny jest stopień aktywności poszczególnych uczestników.</a:t>
            </a:r>
          </a:p>
          <a:p>
            <a:endParaRPr lang="pl-PL" dirty="0"/>
          </a:p>
          <a:p>
            <a:endParaRPr lang="pl-PL" dirty="0"/>
          </a:p>
        </p:txBody>
      </p:sp>
    </p:spTree>
    <p:extLst>
      <p:ext uri="{BB962C8B-B14F-4D97-AF65-F5344CB8AC3E}">
        <p14:creationId xmlns:p14="http://schemas.microsoft.com/office/powerpoint/2010/main" val="338397677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85000" lnSpcReduction="20000"/>
          </a:bodyPr>
          <a:lstStyle/>
          <a:p>
            <a:r>
              <a:rPr lang="pl-PL" dirty="0"/>
              <a:t>Art.  158.  </a:t>
            </a:r>
          </a:p>
          <a:p>
            <a:r>
              <a:rPr lang="pl-PL" dirty="0"/>
              <a:t>§  1. </a:t>
            </a:r>
          </a:p>
          <a:p>
            <a:r>
              <a:rPr lang="pl-PL" dirty="0"/>
              <a:t>Kto bierze udział w bójce lub pobiciu, w którym naraża się człowieka na bezpośrednie niebezpieczeństwo utraty życia albo nastąpienie skutku określonego w art. 156 § 1 lub w art. 157 § 1,podlega karze pozbawienia wolności od 3 miesięcy do lat 5.</a:t>
            </a:r>
          </a:p>
          <a:p>
            <a:r>
              <a:rPr lang="pl-PL" dirty="0"/>
              <a:t>§  2. </a:t>
            </a:r>
          </a:p>
          <a:p>
            <a:r>
              <a:rPr lang="pl-PL" dirty="0"/>
              <a:t>Jeżeli następstwem bójki lub pobicia jest ciężki uszczerbek na zdrowiu człowieka, </a:t>
            </a:r>
            <a:r>
              <a:rPr lang="pl-PL" dirty="0" err="1"/>
              <a:t>sprawcapodlega</a:t>
            </a:r>
            <a:r>
              <a:rPr lang="pl-PL" dirty="0"/>
              <a:t> karze pozbawienia wolności od roku do lat 10.</a:t>
            </a:r>
          </a:p>
          <a:p>
            <a:r>
              <a:rPr lang="pl-PL" dirty="0"/>
              <a:t>§  3. </a:t>
            </a:r>
          </a:p>
          <a:p>
            <a:r>
              <a:rPr lang="pl-PL" dirty="0"/>
              <a:t>Jeżeli następstwem bójki lub pobicia jest śmierć człowieka, </a:t>
            </a:r>
            <a:r>
              <a:rPr lang="pl-PL" dirty="0" err="1"/>
              <a:t>sprawcapodlega</a:t>
            </a:r>
            <a:r>
              <a:rPr lang="pl-PL" dirty="0"/>
              <a:t> karze pozbawienia wolności od lat 2 do 15.</a:t>
            </a:r>
          </a:p>
          <a:p>
            <a:endParaRPr lang="pl-PL" dirty="0"/>
          </a:p>
        </p:txBody>
      </p:sp>
    </p:spTree>
    <p:extLst>
      <p:ext uri="{BB962C8B-B14F-4D97-AF65-F5344CB8AC3E}">
        <p14:creationId xmlns:p14="http://schemas.microsoft.com/office/powerpoint/2010/main" val="143606127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dirty="0"/>
          </a:p>
        </p:txBody>
      </p:sp>
      <p:sp>
        <p:nvSpPr>
          <p:cNvPr id="3" name="Symbol zastępczy zawartości 2"/>
          <p:cNvSpPr>
            <a:spLocks noGrp="1"/>
          </p:cNvSpPr>
          <p:nvPr>
            <p:ph sz="quarter" idx="1"/>
          </p:nvPr>
        </p:nvSpPr>
        <p:spPr/>
        <p:txBody>
          <a:bodyPr/>
          <a:lstStyle/>
          <a:p>
            <a:r>
              <a:rPr lang="pl-PL" dirty="0"/>
              <a:t> </a:t>
            </a:r>
            <a:r>
              <a:rPr lang="pl-PL" b="1" dirty="0"/>
              <a:t>Używanie</a:t>
            </a:r>
            <a:r>
              <a:rPr lang="pl-PL" dirty="0"/>
              <a:t> - posłużenie się wymienionym niebezpiecznym przedmiotem zgodnie z jego właściwościami, chociażby było ono nieskuteczne (np. chybiony cios nożem). </a:t>
            </a:r>
          </a:p>
          <a:p>
            <a:r>
              <a:rPr lang="pl-PL" dirty="0"/>
              <a:t>Nie jest użyciem samo posiadanie czy demonstrowanie niebezpiecznego przedmiotu dla wywołania efektu zastraszającego (inaczej w wypadku rozboju, gdzie użyto określenia „posługuje się”)</a:t>
            </a:r>
          </a:p>
          <a:p>
            <a:endParaRPr lang="pl-PL" dirty="0"/>
          </a:p>
          <a:p>
            <a:endParaRPr lang="pl-PL" dirty="0"/>
          </a:p>
        </p:txBody>
      </p:sp>
    </p:spTree>
    <p:extLst>
      <p:ext uri="{BB962C8B-B14F-4D97-AF65-F5344CB8AC3E}">
        <p14:creationId xmlns:p14="http://schemas.microsoft.com/office/powerpoint/2010/main" val="399810588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92500" lnSpcReduction="20000"/>
          </a:bodyPr>
          <a:lstStyle/>
          <a:p>
            <a:r>
              <a:rPr lang="pl-PL" b="1" dirty="0"/>
              <a:t>Wyrok</a:t>
            </a:r>
            <a:r>
              <a:rPr lang="pl-PL" dirty="0"/>
              <a:t> Sądu Apelacyjnego we Wrocławiu z dnia 15 stycznia 2015 r. </a:t>
            </a:r>
            <a:r>
              <a:rPr lang="pl-PL" b="1" dirty="0"/>
              <a:t>II </a:t>
            </a:r>
            <a:r>
              <a:rPr lang="pl-PL" b="1" dirty="0" err="1"/>
              <a:t>AKa</a:t>
            </a:r>
            <a:r>
              <a:rPr lang="pl-PL" b="1" dirty="0"/>
              <a:t> 414/14</a:t>
            </a:r>
            <a:endParaRPr lang="pl-PL" dirty="0"/>
          </a:p>
          <a:p>
            <a:endParaRPr lang="pl-PL" dirty="0"/>
          </a:p>
          <a:p>
            <a:endParaRPr lang="pl-PL" dirty="0"/>
          </a:p>
          <a:p>
            <a:r>
              <a:rPr lang="pl-PL" dirty="0"/>
              <a:t>Użyte w art. 280 § 2 k.k. sformułowanie "posługuje się" należy interpretować szerzej niż występujące w art. 159 k.k. określenie "używa". Za "używanie" można by uznać faktyczne zastosowanie przedmiotu (np. zadanie nim ciosu), natomiast "posługiwaniem się" może być zarówno użycie, jak i inne wykorzystanie np. straszenie tym przedmiotem albo zademonstrowanie gotowości jego użycia (w tym wypadku noża) w celu pokonania oporu pokrzywdzonego.</a:t>
            </a:r>
          </a:p>
          <a:p>
            <a:endParaRPr lang="pl-PL" dirty="0"/>
          </a:p>
          <a:p>
            <a:endParaRPr lang="pl-PL" dirty="0"/>
          </a:p>
        </p:txBody>
      </p:sp>
    </p:spTree>
    <p:extLst>
      <p:ext uri="{BB962C8B-B14F-4D97-AF65-F5344CB8AC3E}">
        <p14:creationId xmlns:p14="http://schemas.microsoft.com/office/powerpoint/2010/main" val="222386137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fontScale="90000"/>
          </a:bodyPr>
          <a:lstStyle/>
          <a:p>
            <a:r>
              <a:rPr lang="pl-PL" baseline="30000" dirty="0"/>
              <a:t>)</a:t>
            </a:r>
            <a:br>
              <a:rPr lang="pl-PL" dirty="0"/>
            </a:br>
            <a:br>
              <a:rPr lang="pl-PL" dirty="0"/>
            </a:br>
            <a:br>
              <a:rPr lang="pl-PL" dirty="0"/>
            </a:br>
            <a:r>
              <a:rPr lang="pl-PL" sz="2200" b="1" dirty="0"/>
              <a:t>USTAWA</a:t>
            </a:r>
            <a:br>
              <a:rPr lang="pl-PL" sz="2200" dirty="0"/>
            </a:br>
            <a:r>
              <a:rPr lang="pl-PL" sz="2200" dirty="0"/>
              <a:t>z dnia 21 maja 1999 r.</a:t>
            </a:r>
            <a:br>
              <a:rPr lang="pl-PL" sz="2200" dirty="0"/>
            </a:br>
            <a:r>
              <a:rPr lang="pl-PL" sz="2200" b="1" dirty="0"/>
              <a:t>o broni i amunicji</a:t>
            </a:r>
            <a:endParaRPr lang="pl-PL" sz="2200" dirty="0"/>
          </a:p>
        </p:txBody>
      </p:sp>
      <p:sp>
        <p:nvSpPr>
          <p:cNvPr id="3" name="Symbol zastępczy zawartości 2"/>
          <p:cNvSpPr>
            <a:spLocks noGrp="1"/>
          </p:cNvSpPr>
          <p:nvPr>
            <p:ph sz="quarter" idx="1"/>
          </p:nvPr>
        </p:nvSpPr>
        <p:spPr/>
        <p:txBody>
          <a:bodyPr>
            <a:normAutofit fontScale="92500" lnSpcReduction="20000"/>
          </a:bodyPr>
          <a:lstStyle/>
          <a:p>
            <a:r>
              <a:rPr lang="pl-PL" dirty="0"/>
              <a:t>Art.  4.  [Definicje]</a:t>
            </a:r>
          </a:p>
          <a:p>
            <a:r>
              <a:rPr lang="pl-PL" dirty="0"/>
              <a:t>1. </a:t>
            </a:r>
          </a:p>
          <a:p>
            <a:r>
              <a:rPr lang="pl-PL" dirty="0"/>
              <a:t>Ilekroć w ustawie jest mowa o broni, należy przez to rozumieć:</a:t>
            </a:r>
          </a:p>
          <a:p>
            <a:r>
              <a:rPr lang="pl-PL" dirty="0"/>
              <a:t>1) </a:t>
            </a:r>
          </a:p>
          <a:p>
            <a:r>
              <a:rPr lang="pl-PL" dirty="0"/>
              <a:t>broń palną, w tym broń bojową, myśliwską, sportową, </a:t>
            </a:r>
            <a:r>
              <a:rPr lang="pl-PL" b="1" dirty="0"/>
              <a:t>gazową, </a:t>
            </a:r>
            <a:r>
              <a:rPr lang="pl-PL" dirty="0"/>
              <a:t>alarmową i sygnałową;</a:t>
            </a:r>
          </a:p>
          <a:p>
            <a:endParaRPr lang="pl-PL" b="1" dirty="0"/>
          </a:p>
          <a:p>
            <a:r>
              <a:rPr lang="pl-PL" b="1" dirty="0"/>
              <a:t>Art. 7.</a:t>
            </a:r>
            <a:r>
              <a:rPr lang="pl-PL" dirty="0"/>
              <a:t> 1. W rozumieniu ustawy bronią palną jest każda przenośna broń lufowa, która miota, jest przeznaczona do miotania lub może być przystosowana do miotania jednego lub większej liczby pocisków lub substancji w wyniku działania materiału miotającego.</a:t>
            </a:r>
          </a:p>
          <a:p>
            <a:endParaRPr lang="pl-PL" dirty="0"/>
          </a:p>
          <a:p>
            <a:endParaRPr lang="pl-PL" dirty="0"/>
          </a:p>
        </p:txBody>
      </p:sp>
    </p:spTree>
    <p:extLst>
      <p:ext uri="{BB962C8B-B14F-4D97-AF65-F5344CB8AC3E}">
        <p14:creationId xmlns:p14="http://schemas.microsoft.com/office/powerpoint/2010/main" val="408237107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lstStyle/>
          <a:p>
            <a:endParaRPr lang="pl-PL" dirty="0"/>
          </a:p>
          <a:p>
            <a:endParaRPr lang="pl-PL" dirty="0"/>
          </a:p>
          <a:p>
            <a:r>
              <a:rPr lang="pl-PL" dirty="0"/>
              <a:t>Inny podobnie niebezpieczny tylko przedmiot, który przy użyciu zgodnym z jego fizycznymi cechami lub konstrukcją może spowodować skutki podobne do użycia broni palnej lub noża. </a:t>
            </a:r>
          </a:p>
          <a:p>
            <a:endParaRPr lang="pl-PL" dirty="0"/>
          </a:p>
          <a:p>
            <a:endParaRPr lang="pl-PL" dirty="0"/>
          </a:p>
        </p:txBody>
      </p:sp>
    </p:spTree>
    <p:extLst>
      <p:ext uri="{BB962C8B-B14F-4D97-AF65-F5344CB8AC3E}">
        <p14:creationId xmlns:p14="http://schemas.microsoft.com/office/powerpoint/2010/main" val="183025490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77500" lnSpcReduction="20000"/>
          </a:bodyPr>
          <a:lstStyle/>
          <a:p>
            <a:endParaRPr lang="pl-PL" dirty="0"/>
          </a:p>
          <a:p>
            <a:r>
              <a:rPr lang="pl-PL" dirty="0"/>
              <a:t>Wyrok Sądu Apelacyjnego we Wrocławiu z dnia 21 marca 2012 r.</a:t>
            </a:r>
          </a:p>
          <a:p>
            <a:pPr marL="0" indent="0">
              <a:buNone/>
            </a:pPr>
            <a:r>
              <a:rPr lang="pl-PL" dirty="0"/>
              <a:t>    </a:t>
            </a:r>
            <a:r>
              <a:rPr lang="pl-PL" b="1" dirty="0"/>
              <a:t>II </a:t>
            </a:r>
            <a:r>
              <a:rPr lang="pl-PL" b="1" dirty="0" err="1"/>
              <a:t>AKa</a:t>
            </a:r>
            <a:r>
              <a:rPr lang="pl-PL" b="1" dirty="0"/>
              <a:t> 33/12</a:t>
            </a:r>
            <a:endParaRPr lang="pl-PL" dirty="0"/>
          </a:p>
          <a:p>
            <a:endParaRPr lang="pl-PL" dirty="0"/>
          </a:p>
          <a:p>
            <a:pPr marL="0" indent="0">
              <a:buNone/>
            </a:pPr>
            <a:endParaRPr lang="pl-PL" dirty="0"/>
          </a:p>
          <a:p>
            <a:endParaRPr lang="pl-PL" dirty="0"/>
          </a:p>
          <a:p>
            <a:pPr>
              <a:buNone/>
            </a:pPr>
            <a:r>
              <a:rPr lang="pl-PL" dirty="0"/>
              <a:t>     Za niebezpieczny można uznać tylko przedmiot, który przy użyciu zgodnym z jego fizycznymi cechami lub konstrukcją może spowodować skutki podobne do użycia broni palnej lub noża. Będą to więc z pewnością przedmioty tnące (siekiera, tasak, stłuczona butelka itp.), a także przedmioty o fizycznych właściwościach zdatnych do spowodowania uszczerbku na zdrowiu przy "zwykłym" ich użyciu (zwłaszcza zadaniu ciosu), np. łom, kastet, kolczasty drut, łańcuch.</a:t>
            </a:r>
          </a:p>
          <a:p>
            <a:endParaRPr lang="pl-PL" dirty="0"/>
          </a:p>
          <a:p>
            <a:endParaRPr lang="pl-PL" dirty="0"/>
          </a:p>
        </p:txBody>
      </p:sp>
    </p:spTree>
    <p:extLst>
      <p:ext uri="{BB962C8B-B14F-4D97-AF65-F5344CB8AC3E}">
        <p14:creationId xmlns:p14="http://schemas.microsoft.com/office/powerpoint/2010/main" val="342675536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a:bodyPr>
          <a:lstStyle/>
          <a:p>
            <a:r>
              <a:rPr lang="pl-PL" b="1" dirty="0"/>
              <a:t>Wyrok</a:t>
            </a:r>
            <a:r>
              <a:rPr lang="pl-PL" dirty="0"/>
              <a:t> Sądu Apelacyjnego w Katowicach z dnia 2 kwietnia 2015 r.  </a:t>
            </a:r>
            <a:r>
              <a:rPr lang="pl-PL" b="1" dirty="0"/>
              <a:t>II </a:t>
            </a:r>
            <a:r>
              <a:rPr lang="pl-PL" b="1" dirty="0" err="1"/>
              <a:t>AKa</a:t>
            </a:r>
            <a:r>
              <a:rPr lang="pl-PL" b="1" dirty="0"/>
              <a:t> 446/14</a:t>
            </a:r>
            <a:endParaRPr lang="pl-PL" dirty="0"/>
          </a:p>
          <a:p>
            <a:endParaRPr lang="pl-PL" dirty="0"/>
          </a:p>
          <a:p>
            <a:r>
              <a:rPr lang="pl-PL" b="1" dirty="0"/>
              <a:t> </a:t>
            </a:r>
            <a:r>
              <a:rPr lang="pl-PL" dirty="0"/>
              <a:t>Przy ocenie, czy narzędzie, którym posługuje się sprawca, jest narzędziem niebezpiecznym, istotnym pozostają jego parametry techniczne, jak długość, czy specyficzny kształt powodujący, że użycie go może spowodować poważne skutki dla życia i zdrowia człowieka.</a:t>
            </a:r>
          </a:p>
          <a:p>
            <a:pPr marL="0" indent="0">
              <a:buNone/>
            </a:pPr>
            <a:endParaRPr lang="pl-PL" dirty="0"/>
          </a:p>
        </p:txBody>
      </p:sp>
    </p:spTree>
    <p:extLst>
      <p:ext uri="{BB962C8B-B14F-4D97-AF65-F5344CB8AC3E}">
        <p14:creationId xmlns:p14="http://schemas.microsoft.com/office/powerpoint/2010/main" val="308545169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92500" lnSpcReduction="10000"/>
          </a:bodyPr>
          <a:lstStyle/>
          <a:p>
            <a:r>
              <a:rPr lang="pl-PL" b="1" dirty="0"/>
              <a:t>Wyrok</a:t>
            </a:r>
            <a:r>
              <a:rPr lang="pl-PL" dirty="0"/>
              <a:t> Sądu Apelacyjnego w Katowicach z dnia 1 sierpnia 2013 r. </a:t>
            </a:r>
            <a:r>
              <a:rPr lang="pl-PL" b="1" dirty="0"/>
              <a:t>II </a:t>
            </a:r>
            <a:r>
              <a:rPr lang="pl-PL" b="1" dirty="0" err="1"/>
              <a:t>AKa</a:t>
            </a:r>
            <a:r>
              <a:rPr lang="pl-PL" b="1" dirty="0"/>
              <a:t> 236/13</a:t>
            </a:r>
            <a:endParaRPr lang="pl-PL" dirty="0"/>
          </a:p>
          <a:p>
            <a:endParaRPr lang="pl-PL" dirty="0"/>
          </a:p>
          <a:p>
            <a:pPr marL="0" indent="0">
              <a:buNone/>
            </a:pPr>
            <a:r>
              <a:rPr lang="pl-PL" b="1" dirty="0"/>
              <a:t> </a:t>
            </a:r>
            <a:r>
              <a:rPr lang="pl-PL" dirty="0"/>
              <a:t>O ile można byłoby się pokusić o uznanie za inny niebezpieczny przedmiot żelazka podłączonego do prądu i rozgrzanego do odpowiednio wysokiej temperatury, mogącej wywołać poważne i rozległe oparzenia ciała, to z całą pewnością nie posiada takich właściwości żelazko niepodłączone do źródła energii elektrycznej. Zwykłe jego użycie, wyłącznie jako narzędzia do zadawania uderzeń, nigdy nie spowoduje takich obrażeń, jak broń palna czy nóż.</a:t>
            </a:r>
          </a:p>
          <a:p>
            <a:endParaRPr lang="pl-PL" dirty="0"/>
          </a:p>
          <a:p>
            <a:endParaRPr lang="pl-PL" dirty="0"/>
          </a:p>
        </p:txBody>
      </p:sp>
    </p:spTree>
    <p:extLst>
      <p:ext uri="{BB962C8B-B14F-4D97-AF65-F5344CB8AC3E}">
        <p14:creationId xmlns:p14="http://schemas.microsoft.com/office/powerpoint/2010/main" val="92513463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62500" lnSpcReduction="20000"/>
          </a:bodyPr>
          <a:lstStyle/>
          <a:p>
            <a:r>
              <a:rPr lang="pl-PL" b="1" dirty="0"/>
              <a:t>Wyrok</a:t>
            </a:r>
            <a:r>
              <a:rPr lang="pl-PL" dirty="0"/>
              <a:t> Sądu Apelacyjnego w Łodzi z dnia 9 sierpnia 2005 r. </a:t>
            </a:r>
            <a:r>
              <a:rPr lang="pl-PL" b="1" dirty="0"/>
              <a:t>II </a:t>
            </a:r>
            <a:r>
              <a:rPr lang="pl-PL" b="1" dirty="0" err="1"/>
              <a:t>AKa</a:t>
            </a:r>
            <a:r>
              <a:rPr lang="pl-PL" b="1" dirty="0"/>
              <a:t> 135/05</a:t>
            </a:r>
            <a:endParaRPr lang="pl-PL" dirty="0"/>
          </a:p>
          <a:p>
            <a:endParaRPr lang="pl-PL" dirty="0"/>
          </a:p>
          <a:p>
            <a:r>
              <a:rPr lang="pl-PL" dirty="0"/>
              <a:t>  </a:t>
            </a:r>
            <a:r>
              <a:rPr lang="pl-PL" b="1" dirty="0"/>
              <a:t>Pies rasy </a:t>
            </a:r>
            <a:r>
              <a:rPr lang="pl-PL" b="1" dirty="0" err="1"/>
              <a:t>Amstaf</a:t>
            </a:r>
            <a:r>
              <a:rPr lang="pl-PL" dirty="0"/>
              <a:t>, którym oskarżony szczuł pokrzywdzonych, jest "innym podobnie niebezpiecznym przedmiotem", co broń palna lub nóż, choć fizycznie nie ma identycznych właściwości jak te przedmioty. Już z analizy językowej przepisu widać, że do kręgu desygnatów cytowanego pojęcia ustawodawca zalicza nie tylko przedmioty identyczne z nożem czy bronią palną, a tylko dla sposobu ich określenia nakazuje zbadanie ich relacji do broni palnej lub noża, które stwarzają jakby "wzorcową" możliwość spowodowania u człowieka ran albo i groźniejszych skutków. W dokonywanej ocenie należy więc pominąć rozważania, czy pies jest przedmiotem, czy też nie jest rzeczą w rozumieniu przepisów odpowiedniej ustawy o zwierzętach - a zbadać, czy jego właściwości </a:t>
            </a:r>
            <a:r>
              <a:rPr lang="pl-PL" dirty="0" err="1"/>
              <a:t>eksterierowe</a:t>
            </a:r>
            <a:r>
              <a:rPr lang="pl-PL" dirty="0"/>
              <a:t> i </a:t>
            </a:r>
            <a:r>
              <a:rPr lang="pl-PL" dirty="0" err="1"/>
              <a:t>interietowe</a:t>
            </a:r>
            <a:r>
              <a:rPr lang="pl-PL" dirty="0"/>
              <a:t> </a:t>
            </a:r>
            <a:r>
              <a:rPr lang="pl-PL" dirty="0" err="1"/>
              <a:t>predystynują</a:t>
            </a:r>
            <a:r>
              <a:rPr lang="pl-PL" dirty="0"/>
              <a:t> go do ataku na człowieka. Takie właściwości psa jak silna budowa, a także agresja, zajadłość i nieustępliwość - upoważniają do zaliczenia go do kategorii przedmiotów podobnie niebezpiecznych, co nóż lub broń palna. Szczucie psem ofiary jest bez wątpienia doprowadzeniem jej do takiego stanu, że nie jest ona w stanie podjąć obrony, a przez to może być środkiem służącym realizacji celu przestępczego.  </a:t>
            </a:r>
          </a:p>
          <a:p>
            <a:endParaRPr lang="pl-PL" dirty="0"/>
          </a:p>
          <a:p>
            <a:endParaRPr lang="pl-PL" dirty="0"/>
          </a:p>
        </p:txBody>
      </p:sp>
    </p:spTree>
    <p:extLst>
      <p:ext uri="{BB962C8B-B14F-4D97-AF65-F5344CB8AC3E}">
        <p14:creationId xmlns:p14="http://schemas.microsoft.com/office/powerpoint/2010/main" val="25508837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Podmiot</a:t>
            </a:r>
          </a:p>
        </p:txBody>
      </p:sp>
      <p:sp>
        <p:nvSpPr>
          <p:cNvPr id="3" name="Symbol zastępczy zawartości 2"/>
          <p:cNvSpPr>
            <a:spLocks noGrp="1"/>
          </p:cNvSpPr>
          <p:nvPr>
            <p:ph sz="quarter" idx="1"/>
          </p:nvPr>
        </p:nvSpPr>
        <p:spPr/>
        <p:txBody>
          <a:bodyPr>
            <a:normAutofit fontScale="85000" lnSpcReduction="20000"/>
          </a:bodyPr>
          <a:lstStyle/>
          <a:p>
            <a:r>
              <a:rPr lang="pl-PL" b="1" dirty="0"/>
              <a:t>Wyrok</a:t>
            </a:r>
            <a:r>
              <a:rPr lang="pl-PL" dirty="0"/>
              <a:t> Sądu Apelacyjnego w Katowicach z dnia 19 grudnia 2007 r. </a:t>
            </a:r>
            <a:r>
              <a:rPr lang="pl-PL" b="1" dirty="0"/>
              <a:t>II </a:t>
            </a:r>
            <a:r>
              <a:rPr lang="pl-PL" b="1" dirty="0" err="1"/>
              <a:t>AKa</a:t>
            </a:r>
            <a:r>
              <a:rPr lang="pl-PL" b="1" dirty="0"/>
              <a:t> 429/07</a:t>
            </a:r>
            <a:endParaRPr lang="pl-PL" dirty="0"/>
          </a:p>
          <a:p>
            <a:pPr marL="0" indent="0">
              <a:buNone/>
            </a:pPr>
            <a:endParaRPr lang="pl-PL" dirty="0"/>
          </a:p>
          <a:p>
            <a:endParaRPr lang="pl-PL" dirty="0"/>
          </a:p>
          <a:p>
            <a:pPr marL="0" indent="0">
              <a:buNone/>
            </a:pPr>
            <a:r>
              <a:rPr lang="pl-PL" dirty="0"/>
              <a:t>Podmiotem przestępstwa z art. 159 k.k. może być - w odróżnieniu od kwalifikowanych przestępstw określonych w art. 158 § 2 k.k. i 158 § 3 k.k. - nie każdy uczestnik bójki lub pobicia, ale tylko taki, który używa broni palnej, noża lub innego niebezpiecznego przedmiotu (...). Za podstawę do analizy, czy mamy do czynienia z "innym podobnie niebezpiecznym przedmiotem", należy brać zawsze pod uwagę tylko i wyłącznie skutki wiążące się z normalnym, zwykłym użyciem przedmiotu, a nie jego użyciem w sposób niebezpieczny. Chodzi więc wyłącznie o przedmioty, których każde normalne użycie wobec innej osoby zawsze stwarza realne zagrożenie dla życia.</a:t>
            </a:r>
          </a:p>
          <a:p>
            <a:endParaRPr lang="pl-PL" dirty="0"/>
          </a:p>
        </p:txBody>
      </p:sp>
    </p:spTree>
    <p:extLst>
      <p:ext uri="{BB962C8B-B14F-4D97-AF65-F5344CB8AC3E}">
        <p14:creationId xmlns:p14="http://schemas.microsoft.com/office/powerpoint/2010/main" val="346577664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Kazus</a:t>
            </a:r>
          </a:p>
        </p:txBody>
      </p:sp>
      <p:sp>
        <p:nvSpPr>
          <p:cNvPr id="3" name="Symbol zastępczy zawartości 2"/>
          <p:cNvSpPr>
            <a:spLocks noGrp="1"/>
          </p:cNvSpPr>
          <p:nvPr>
            <p:ph sz="quarter" idx="1"/>
          </p:nvPr>
        </p:nvSpPr>
        <p:spPr>
          <a:xfrm>
            <a:off x="301752" y="1556792"/>
            <a:ext cx="8503920" cy="5072608"/>
          </a:xfrm>
        </p:spPr>
        <p:txBody>
          <a:bodyPr>
            <a:normAutofit fontScale="77500" lnSpcReduction="20000"/>
          </a:bodyPr>
          <a:lstStyle/>
          <a:p>
            <a:r>
              <a:rPr lang="pl-PL" sz="2800" i="1" dirty="0"/>
              <a:t>Sąd Rejonowy w B. wyrokiem z dnia 7 maja 2020 r. uznał oskarżonego Barnabę S. za winnego tego, że w dniu 30 sierpnia 2018 r.  w B., w barze piwnym „Jak mi dobrze”,  przy ul. Chmielnej 6, działając wspólnie i w porozumieniu z dwoma innymi nieustalonymi mężczyznami, wziął udział w pobiciu  Błażeja B. w ten sposób, że okazując pokrzywdzonemu trzymaną w dłoni broń palną załadowaną ostrą amunicją oświadczył mu: „kładź się na ziemię”, po czym, kiedy pokrzywdzony wykonał to polecenie,  dwaj nieustaleni mężczyźni kilkakrotnie kopnęli Błażeja B. w głowę i w klatkę piersiową, narażając go na bezpośrednie niebezpieczeństwo nastąpienia skutku z art. 156 § 1 k.k. tj. przestępstwa z art. 159 k.k. w zw. z art. 158 § 1 k.k. w zw. z art. 11 § 2 k.k. i za to na podstawie art. 159 k.k. w zw. z art. 11 § 3 k.k. wymierzył mu karę 2 lat pozbawienia wolności i obciążył go kosztami sądowymi. </a:t>
            </a:r>
            <a:r>
              <a:rPr lang="pl-PL" sz="2800" b="1" dirty="0"/>
              <a:t>Oceń trafność wyroku z perspektywy prawa karnego materialnego, wcielając się w rolę obrońcy oskarżonego. </a:t>
            </a:r>
            <a:endParaRPr lang="pl-PL" sz="2800" dirty="0"/>
          </a:p>
          <a:p>
            <a:endParaRPr lang="pl-PL" sz="2800" dirty="0"/>
          </a:p>
          <a:p>
            <a:endParaRPr lang="pl-PL" dirty="0"/>
          </a:p>
        </p:txBody>
      </p:sp>
    </p:spTree>
    <p:extLst>
      <p:ext uri="{BB962C8B-B14F-4D97-AF65-F5344CB8AC3E}">
        <p14:creationId xmlns:p14="http://schemas.microsoft.com/office/powerpoint/2010/main" val="8589659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Kazus c.d.</a:t>
            </a:r>
          </a:p>
        </p:txBody>
      </p:sp>
      <p:sp>
        <p:nvSpPr>
          <p:cNvPr id="3" name="Symbol zastępczy zawartości 2"/>
          <p:cNvSpPr>
            <a:spLocks noGrp="1"/>
          </p:cNvSpPr>
          <p:nvPr>
            <p:ph sz="quarter" idx="1"/>
          </p:nvPr>
        </p:nvSpPr>
        <p:spPr>
          <a:xfrm>
            <a:off x="301752" y="1556792"/>
            <a:ext cx="8503920" cy="5072608"/>
          </a:xfrm>
        </p:spPr>
        <p:txBody>
          <a:bodyPr>
            <a:normAutofit fontScale="77500" lnSpcReduction="20000"/>
          </a:bodyPr>
          <a:lstStyle/>
          <a:p>
            <a:pPr marL="342900" lvl="0" indent="-342900" algn="just">
              <a:buFont typeface="+mj-lt"/>
              <a:buAutoNum type="arabicPeriod"/>
            </a:pPr>
            <a:r>
              <a:rPr lang="pl-PL" sz="2800" dirty="0">
                <a:effectLst/>
                <a:latin typeface="Times New Roman" panose="02020603050405020304" pitchFamily="18" charset="0"/>
                <a:ea typeface="Times New Roman" panose="02020603050405020304" pitchFamily="18" charset="0"/>
              </a:rPr>
              <a:t>Oskarżony nie „użył broni palnej” w rozumieniu art. 159 k.k. (nie wykorzystał jej zgodnie z przeznaczeniem i właściwościami, stwarzając w ten sposób realne niebezpieczeństwo dla życia lub zdrowia pokrzywdzonego) a jedynie „posłużył się bronią palną”. Zwroty „posługuje się bronią palną” (art. 280 § 2 k.k.) i „używa broni palnej” (art. 159 k.k.) nie mogą być rozumiane jako tożsame w treści (zakaz wykładni synonimicznej). Wobec tego nie było w realiach tej sprawy podstaw do kwalifikowania zachowania oskarżonego z art. 159  k.k. w zw. z art. 11 § 2 k.k. W podstawie wymiaru kary nie było podstaw do powołania art. 11 § 3 k.k. w zw. z art. 159 k.k. Prawidłowa kwalifikacja prawna  -  art. 158 § 1 k.k. </a:t>
            </a:r>
          </a:p>
          <a:p>
            <a:pPr marL="685800" algn="just"/>
            <a:r>
              <a:rPr lang="pl-PL" sz="2800" dirty="0">
                <a:effectLst/>
                <a:latin typeface="Times New Roman" panose="02020603050405020304" pitchFamily="18" charset="0"/>
                <a:ea typeface="Times New Roman" panose="02020603050405020304" pitchFamily="18" charset="0"/>
              </a:rPr>
              <a:t>Należało wywieść apelację podnosząc powyższe zarzuty naruszenia przepisów prawa karnego materialnego i żądać: wyeliminowania z kwalifikacji prawnej art. 159 k.k. w zw. z art. 11 § 2 k.k., wyeliminowania z podstawy wymiaru kary art. 159 k.k. w zw. z art. 11 § 3 k.k., wymierzenia łagodniejszej kary pozbawienia wolności na podstawie art. 158 § 1 k.k. </a:t>
            </a:r>
          </a:p>
          <a:p>
            <a:pPr algn="just"/>
            <a:endParaRPr lang="pl-PL" dirty="0"/>
          </a:p>
        </p:txBody>
      </p:sp>
    </p:spTree>
    <p:extLst>
      <p:ext uri="{BB962C8B-B14F-4D97-AF65-F5344CB8AC3E}">
        <p14:creationId xmlns:p14="http://schemas.microsoft.com/office/powerpoint/2010/main" val="296171638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fontScale="90000"/>
          </a:bodyPr>
          <a:lstStyle/>
          <a:p>
            <a:r>
              <a:rPr lang="pl-PL" dirty="0"/>
              <a:t>Przestępstwa przeciwko bezpieczeństwu w komunikacji</a:t>
            </a:r>
          </a:p>
        </p:txBody>
      </p:sp>
      <p:sp>
        <p:nvSpPr>
          <p:cNvPr id="3" name="Symbol zastępczy zawartości 2"/>
          <p:cNvSpPr>
            <a:spLocks noGrp="1"/>
          </p:cNvSpPr>
          <p:nvPr>
            <p:ph sz="quarter" idx="1"/>
          </p:nvPr>
        </p:nvSpPr>
        <p:spPr>
          <a:xfrm>
            <a:off x="271272" y="1484784"/>
            <a:ext cx="8534400" cy="4614264"/>
          </a:xfrm>
        </p:spPr>
        <p:txBody>
          <a:bodyPr>
            <a:normAutofit fontScale="85000" lnSpcReduction="10000"/>
          </a:bodyPr>
          <a:lstStyle/>
          <a:p>
            <a:pPr marL="0" indent="0">
              <a:buNone/>
            </a:pPr>
            <a:r>
              <a:rPr lang="pl-PL" b="1" dirty="0"/>
              <a:t>Przestępstwo spowodowania wypadku komunikacyjnego </a:t>
            </a:r>
          </a:p>
          <a:p>
            <a:pPr marL="0" indent="0">
              <a:buNone/>
            </a:pPr>
            <a:r>
              <a:rPr lang="pl-PL" b="1" dirty="0"/>
              <a:t>Art. 177.</a:t>
            </a:r>
            <a:r>
              <a:rPr lang="pl-PL" dirty="0"/>
              <a:t> § 1. Kto, naruszając, </a:t>
            </a:r>
            <a:r>
              <a:rPr lang="pl-PL" dirty="0">
                <a:solidFill>
                  <a:srgbClr val="FF0000"/>
                </a:solidFill>
              </a:rPr>
              <a:t>chociażby nieumyślnie</a:t>
            </a:r>
            <a:r>
              <a:rPr lang="pl-PL" dirty="0"/>
              <a:t>, zasady bezpieczeństwa w ruchu lądowym, wodnym lub powietrznym, powoduje nieumyślnie wypadek, w którym </a:t>
            </a:r>
            <a:r>
              <a:rPr lang="pl-PL" dirty="0">
                <a:solidFill>
                  <a:srgbClr val="FF0000"/>
                </a:solidFill>
              </a:rPr>
              <a:t>inna osoba odniosła obrażenia ciała określone w art. 157 § 1,</a:t>
            </a:r>
          </a:p>
          <a:p>
            <a:pPr marL="0" indent="0">
              <a:buNone/>
            </a:pPr>
            <a:r>
              <a:rPr lang="pl-PL" dirty="0"/>
              <a:t>podlega karze pozbawienia wolności do lat 3.</a:t>
            </a:r>
          </a:p>
          <a:p>
            <a:r>
              <a:rPr lang="pl-PL" dirty="0"/>
              <a:t>§ 2. Jeżeli następstwem wypadku jest śmierć innej osoby albo ciężki uszczerbek na jej zdrowiu, sprawca</a:t>
            </a:r>
          </a:p>
          <a:p>
            <a:r>
              <a:rPr lang="pl-PL" dirty="0"/>
              <a:t>podlega karze pozbawienia wolności od 6 miesięcy do lat 8.</a:t>
            </a:r>
          </a:p>
          <a:p>
            <a:r>
              <a:rPr lang="pl-PL" dirty="0"/>
              <a:t>§ 3. Jeżeli pokrzywdzonym jest wyłącznie osoba najbliższa, ściganie przestępstwa określonego w § 1 następuje na jej wniosek.</a:t>
            </a:r>
          </a:p>
          <a:p>
            <a:endParaRPr lang="pl-PL" dirty="0"/>
          </a:p>
          <a:p>
            <a:endParaRPr lang="pl-PL" dirty="0"/>
          </a:p>
        </p:txBody>
      </p:sp>
    </p:spTree>
    <p:extLst>
      <p:ext uri="{BB962C8B-B14F-4D97-AF65-F5344CB8AC3E}">
        <p14:creationId xmlns:p14="http://schemas.microsoft.com/office/powerpoint/2010/main" val="285207586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fontScale="90000"/>
          </a:bodyPr>
          <a:lstStyle/>
          <a:p>
            <a:r>
              <a:rPr lang="pl-PL" dirty="0"/>
              <a:t>Przestępstwa przeciwko bezpieczeństwu w komunikacji</a:t>
            </a:r>
          </a:p>
        </p:txBody>
      </p:sp>
      <p:sp>
        <p:nvSpPr>
          <p:cNvPr id="3" name="Symbol zastępczy zawartości 2"/>
          <p:cNvSpPr>
            <a:spLocks noGrp="1"/>
          </p:cNvSpPr>
          <p:nvPr>
            <p:ph sz="quarter" idx="1"/>
          </p:nvPr>
        </p:nvSpPr>
        <p:spPr>
          <a:xfrm>
            <a:off x="271272" y="1484784"/>
            <a:ext cx="8534400" cy="4614264"/>
          </a:xfrm>
        </p:spPr>
        <p:txBody>
          <a:bodyPr>
            <a:normAutofit/>
          </a:bodyPr>
          <a:lstStyle/>
          <a:p>
            <a:r>
              <a:rPr lang="pl-PL" dirty="0"/>
              <a:t>Oskarżonemu Piotrowi Z. zarzucono, iż prowadząc po drodze publicznej pojazd mechaniczny z nadmierną prędkością (100 km/h; dozwolona 50 km/h) spowodował wypadek komunikacyjny, w którym pasażerka pojazdu Zenobia U. odniosła obrażenia z art. 157 par. 2 k.k. tj. popełnienie przestępstwa z art. 177 par. 1 k.k. Jakie stanowisko zajmiesz w tej kwestii na pierwszej rozprawie głównej będąc obrońcą oskarżonego?</a:t>
            </a:r>
          </a:p>
        </p:txBody>
      </p:sp>
    </p:spTree>
    <p:extLst>
      <p:ext uri="{BB962C8B-B14F-4D97-AF65-F5344CB8AC3E}">
        <p14:creationId xmlns:p14="http://schemas.microsoft.com/office/powerpoint/2010/main" val="276765148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a:bodyPr>
          <a:lstStyle/>
          <a:p>
            <a:r>
              <a:rPr lang="pl-PL" sz="6600" dirty="0"/>
              <a:t>Jeśli obrażenia z art. 157 </a:t>
            </a:r>
            <a:r>
              <a:rPr lang="pl-PL" sz="6600" dirty="0">
                <a:latin typeface="Times New Roman"/>
                <a:cs typeface="Times New Roman"/>
              </a:rPr>
              <a:t>§ 2 </a:t>
            </a:r>
            <a:r>
              <a:rPr lang="pl-PL" sz="6600" dirty="0" err="1">
                <a:latin typeface="Times New Roman"/>
                <a:cs typeface="Times New Roman"/>
              </a:rPr>
              <a:t>k.k</a:t>
            </a:r>
            <a:r>
              <a:rPr lang="pl-PL" sz="6600" dirty="0">
                <a:latin typeface="Times New Roman"/>
                <a:cs typeface="Times New Roman"/>
              </a:rPr>
              <a:t> - wykroczenie z art. 86 § 1a </a:t>
            </a:r>
            <a:r>
              <a:rPr lang="pl-PL" sz="6600" dirty="0" err="1">
                <a:latin typeface="Times New Roman"/>
                <a:cs typeface="Times New Roman"/>
              </a:rPr>
              <a:t>k.w</a:t>
            </a:r>
            <a:r>
              <a:rPr lang="pl-PL" sz="6600" dirty="0">
                <a:latin typeface="Times New Roman"/>
                <a:cs typeface="Times New Roman"/>
              </a:rPr>
              <a:t>.  </a:t>
            </a:r>
            <a:endParaRPr lang="pl-PL" sz="6600" dirty="0"/>
          </a:p>
          <a:p>
            <a:endParaRPr lang="pl-PL" dirty="0">
              <a:latin typeface="Times New Roman"/>
              <a:cs typeface="Times New Roman"/>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301752" y="260648"/>
            <a:ext cx="8503920" cy="6408712"/>
          </a:xfrm>
        </p:spPr>
        <p:txBody>
          <a:bodyPr>
            <a:normAutofit fontScale="85000" lnSpcReduction="20000"/>
          </a:bodyPr>
          <a:lstStyle/>
          <a:p>
            <a:pPr marL="0" indent="0">
              <a:buNone/>
            </a:pPr>
            <a:r>
              <a:rPr lang="pl-PL" dirty="0">
                <a:latin typeface="Times New Roman"/>
                <a:cs typeface="Times New Roman"/>
              </a:rPr>
              <a:t> </a:t>
            </a:r>
            <a:endParaRPr lang="pl-PL" dirty="0"/>
          </a:p>
          <a:p>
            <a:r>
              <a:rPr lang="pl-PL" dirty="0"/>
              <a:t>Art.  86 §  1. </a:t>
            </a:r>
          </a:p>
          <a:p>
            <a:r>
              <a:rPr lang="pl-PL" dirty="0"/>
              <a:t>Kto na drodze publicznej, w strefie zamieszkania lub strefie ruchu, nie zachowując należytej ostrożności, powoduje zagrożenie bezpieczeństwa w ruchu drogowym, podlega karze grzywny.</a:t>
            </a:r>
          </a:p>
          <a:p>
            <a:r>
              <a:rPr lang="pl-PL" dirty="0"/>
              <a:t>§  1a. </a:t>
            </a:r>
          </a:p>
          <a:p>
            <a:r>
              <a:rPr lang="pl-PL" dirty="0"/>
              <a:t>Jeżeli następstwem wykroczenia, o którym mowa w § 1, jest spowodowanie naruszenia czynności narządu ciała lub rozstrój zdrowia innej osoby, sprawca podlega karze grzywny w wysokości nie niższej niż 1500 złotych.</a:t>
            </a:r>
          </a:p>
          <a:p>
            <a:r>
              <a:rPr lang="pl-PL" dirty="0"/>
              <a:t>§  2. </a:t>
            </a:r>
          </a:p>
          <a:p>
            <a:r>
              <a:rPr lang="pl-PL" dirty="0"/>
              <a:t>Kto dopuszcza się wykroczenia określonego w § 1, znajdując się w stanie po użyciu alkoholu lub podobnie działającego </a:t>
            </a:r>
            <a:r>
              <a:rPr lang="pl-PL" dirty="0" err="1"/>
              <a:t>środka,podlega</a:t>
            </a:r>
            <a:r>
              <a:rPr lang="pl-PL" dirty="0"/>
              <a:t> karze aresztu, ograniczenia wolności albo grzywny w wysokości nie niższej niż 2500 złotych.</a:t>
            </a:r>
          </a:p>
          <a:p>
            <a:r>
              <a:rPr lang="pl-PL" dirty="0"/>
              <a:t>§  3. </a:t>
            </a:r>
          </a:p>
          <a:p>
            <a:r>
              <a:rPr lang="pl-PL" dirty="0"/>
              <a:t>W razie popełnienia wykroczenia określonego w § 1 przez osobę prowadzącą pojazd można orzec zakaz prowadzenia pojazdów.</a:t>
            </a:r>
          </a:p>
          <a:p>
            <a:endParaRPr lang="pl-PL" dirty="0">
              <a:latin typeface="Times New Roman"/>
              <a:cs typeface="Times New Roman"/>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a:bodyPr>
          <a:lstStyle/>
          <a:p>
            <a:r>
              <a:rPr lang="pl-PL" b="1" dirty="0"/>
              <a:t> Uchwała </a:t>
            </a:r>
            <a:r>
              <a:rPr lang="pl-PL" dirty="0"/>
              <a:t>Sądu Najwyższego z dnia 18 listopada 1998 r. </a:t>
            </a:r>
            <a:r>
              <a:rPr lang="pl-PL" b="1" dirty="0"/>
              <a:t>I KZP 16/98</a:t>
            </a:r>
          </a:p>
          <a:p>
            <a:r>
              <a:rPr lang="pl-PL" dirty="0"/>
              <a:t>Nie popełnia przestępstwa, kto naruszając, chociażby nieumyślnie, zasady bezpieczeństwa w ruchu lądowym, wodnym lub powietrznym powoduje nieumyślnie wypadek, w którym inna osoba odniosła obrażenia ciała lub rozstrój zdrowia trwające nie dłużej niż siedem dni.</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dirty="0"/>
          </a:p>
        </p:txBody>
      </p:sp>
      <p:sp>
        <p:nvSpPr>
          <p:cNvPr id="3" name="Symbol zastępczy zawartości 2"/>
          <p:cNvSpPr>
            <a:spLocks noGrp="1"/>
          </p:cNvSpPr>
          <p:nvPr>
            <p:ph sz="quarter" idx="1"/>
          </p:nvPr>
        </p:nvSpPr>
        <p:spPr/>
        <p:txBody>
          <a:bodyPr>
            <a:normAutofit lnSpcReduction="10000"/>
          </a:bodyPr>
          <a:lstStyle/>
          <a:p>
            <a:r>
              <a:rPr lang="pl-PL" dirty="0"/>
              <a:t>Wszystkie powyżej przedstawione rozważania prowadzą do wniosku, że nie popełnia przestępstwa określonego w </a:t>
            </a:r>
            <a:r>
              <a:rPr lang="pl-PL" dirty="0">
                <a:hlinkClick r:id="rId2"/>
              </a:rPr>
              <a:t>art. 157</a:t>
            </a:r>
            <a:r>
              <a:rPr lang="pl-PL" dirty="0"/>
              <a:t> § 2 w zw. z § 3 k.k. ten, kto naruszając, chociażby nieumyślnie, zasady bezpieczeństwa w ruchu lądowym (w tym: drogowym), wodnym lub powietrznym powoduje nieumyślnie wypadek, w którym inna osoba odniosła obrażenia ciała lub rozstrój zdrowia trwające nie dłużej niż siedem dni, natomiast uczestnik ruchu drogowego może odpowiadać na podstawie </a:t>
            </a:r>
            <a:r>
              <a:rPr lang="pl-PL" dirty="0">
                <a:hlinkClick r:id="rId2"/>
              </a:rPr>
              <a:t>art. 86</a:t>
            </a:r>
            <a:r>
              <a:rPr lang="pl-PL" dirty="0"/>
              <a:t> i nast. </a:t>
            </a:r>
            <a:r>
              <a:rPr lang="pl-PL" dirty="0" err="1"/>
              <a:t>k.w</a:t>
            </a:r>
            <a:r>
              <a:rPr lang="pl-PL" dirty="0"/>
              <a:t>.</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lstStyle/>
          <a:p>
            <a:r>
              <a:rPr lang="pl-PL" dirty="0"/>
              <a:t>Przestępstwo ma charakter powszechny</a:t>
            </a:r>
          </a:p>
          <a:p>
            <a:endParaRPr lang="pl-PL" dirty="0"/>
          </a:p>
          <a:p>
            <a:r>
              <a:rPr lang="pl-PL" dirty="0"/>
              <a:t>Czynność sprawcza „powoduje” - wszelkie sytuacje naruszenia zasady (zasad) bezpieczeństwa w ruchu, skutkujące spowodowaniem u pokrzywdzonego średnich lub ciężkich obrażeń ciała bądź skutkujące jego zgonem.</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a:xfrm>
            <a:off x="301752" y="1844824"/>
            <a:ext cx="8503920" cy="4254224"/>
          </a:xfrm>
        </p:spPr>
        <p:txBody>
          <a:bodyPr/>
          <a:lstStyle/>
          <a:p>
            <a:r>
              <a:rPr lang="pl-PL" dirty="0"/>
              <a:t>Zenobiusz K. został oskarżony o popełnienie przestępstwa z art. 177 par. 1 k.k., w którym obrażeń ciała z art. 157 par. 1 k.k. doznali siostra jego żony oraz mąż siostry jego żony. Na posiedzeniu przed rozprawą obrońca domagał się umorzenia postępowania z uwagi na brak wniosków o ściganie, przy uwzględnieniu treści art. 177 par. 3 k.k. Oceń zasadność stanowiska obrońcy. </a:t>
            </a:r>
          </a:p>
        </p:txBody>
      </p:sp>
    </p:spTree>
    <p:extLst>
      <p:ext uri="{BB962C8B-B14F-4D97-AF65-F5344CB8AC3E}">
        <p14:creationId xmlns:p14="http://schemas.microsoft.com/office/powerpoint/2010/main" val="41976224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a:xfrm>
            <a:off x="301752" y="1844824"/>
            <a:ext cx="8503920" cy="4254224"/>
          </a:xfrm>
        </p:spPr>
        <p:txBody>
          <a:bodyPr/>
          <a:lstStyle/>
          <a:p>
            <a:r>
              <a:rPr lang="pl-PL" sz="5400" dirty="0"/>
              <a:t>Zob. art. 177 k.k., art. 115 par. 11 k.k., art. 17 par. 1 pkt 10 k.p.k.; uchwała SN z 15.12.2005 r., I KZP 45/05</a:t>
            </a:r>
          </a:p>
          <a:p>
            <a:endParaRPr lang="pl-PL" dirty="0"/>
          </a:p>
        </p:txBody>
      </p:sp>
    </p:spTree>
    <p:extLst>
      <p:ext uri="{BB962C8B-B14F-4D97-AF65-F5344CB8AC3E}">
        <p14:creationId xmlns:p14="http://schemas.microsoft.com/office/powerpoint/2010/main" val="336312108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fontScale="90000"/>
          </a:bodyPr>
          <a:lstStyle/>
          <a:p>
            <a:br>
              <a:rPr lang="pl-PL" sz="1400" b="1" dirty="0"/>
            </a:br>
            <a:br>
              <a:rPr lang="pl-PL" sz="1400" b="1" dirty="0"/>
            </a:br>
            <a:br>
              <a:rPr lang="pl-PL" sz="1400" dirty="0"/>
            </a:br>
            <a:r>
              <a:rPr lang="pl-PL" sz="1400" dirty="0"/>
              <a:t> </a:t>
            </a:r>
            <a:br>
              <a:rPr lang="pl-PL" sz="1400" dirty="0"/>
            </a:br>
            <a:br>
              <a:rPr lang="pl-PL" sz="1400" dirty="0"/>
            </a:br>
            <a:r>
              <a:rPr lang="pl-PL" sz="1400" dirty="0"/>
              <a:t>Uchwała SN z 28 lutego 1975 r.</a:t>
            </a:r>
            <a:br>
              <a:rPr lang="pl-PL" sz="1400" dirty="0"/>
            </a:br>
            <a:r>
              <a:rPr lang="pl-PL" sz="1400" b="1" dirty="0"/>
              <a:t>V KZP 2/74</a:t>
            </a:r>
            <a:br>
              <a:rPr lang="pl-PL" sz="1400" b="1" dirty="0"/>
            </a:br>
            <a:endParaRPr lang="pl-PL" sz="1400" dirty="0"/>
          </a:p>
        </p:txBody>
      </p:sp>
      <p:sp>
        <p:nvSpPr>
          <p:cNvPr id="3" name="Symbol zastępczy zawartości 2"/>
          <p:cNvSpPr>
            <a:spLocks noGrp="1"/>
          </p:cNvSpPr>
          <p:nvPr>
            <p:ph sz="quarter" idx="1"/>
          </p:nvPr>
        </p:nvSpPr>
        <p:spPr/>
        <p:txBody>
          <a:bodyPr>
            <a:normAutofit fontScale="92500" lnSpcReduction="10000"/>
          </a:bodyPr>
          <a:lstStyle/>
          <a:p>
            <a:r>
              <a:rPr lang="pl-PL" dirty="0"/>
              <a:t> Przez zasady bezpieczeństwa w ruchu lądowym rozumieć należy:</a:t>
            </a:r>
          </a:p>
          <a:p>
            <a:r>
              <a:rPr lang="pl-PL" dirty="0"/>
              <a:t>1) reguły zawarte w przepisach określających porządek poruszania się na szlakach komunikacyjnych i zachowanie się w typowych dla ruchu sytuacjach lub wyrażone przez przyjęte oznakowanie, oświetlenie i sygnalizację,</a:t>
            </a:r>
          </a:p>
          <a:p>
            <a:r>
              <a:rPr lang="pl-PL" dirty="0"/>
              <a:t>2) reguły nie skodyfikowane w sposób szczegółowy, a wynikające z wyżej wymienionych przepisów oraz istoty bezpieczeństwa w ruchu, które muszą znaleźć zastosowanie wszędzie tam, gdzie nie ma sprecyzowanego przepisu.</a:t>
            </a:r>
          </a:p>
          <a:p>
            <a:endParaRPr lang="pl-PL"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Związek przyczynowy</a:t>
            </a:r>
          </a:p>
        </p:txBody>
      </p:sp>
      <p:sp>
        <p:nvSpPr>
          <p:cNvPr id="3" name="Symbol zastępczy zawartości 2"/>
          <p:cNvSpPr>
            <a:spLocks noGrp="1"/>
          </p:cNvSpPr>
          <p:nvPr>
            <p:ph sz="quarter" idx="1"/>
          </p:nvPr>
        </p:nvSpPr>
        <p:spPr/>
        <p:txBody>
          <a:bodyPr>
            <a:normAutofit/>
          </a:bodyPr>
          <a:lstStyle/>
          <a:p>
            <a:r>
              <a:rPr lang="pl-PL" b="1" dirty="0"/>
              <a:t>Wyrok </a:t>
            </a:r>
            <a:r>
              <a:rPr lang="pl-PL" dirty="0"/>
              <a:t>Sądu Najwyższego z dnia 8 marca 2000 r.</a:t>
            </a:r>
          </a:p>
          <a:p>
            <a:pPr>
              <a:buNone/>
            </a:pPr>
            <a:r>
              <a:rPr lang="pl-PL" dirty="0"/>
              <a:t>  </a:t>
            </a:r>
            <a:r>
              <a:rPr lang="pl-PL" b="1" dirty="0"/>
              <a:t>III KKN 231/98</a:t>
            </a:r>
            <a:r>
              <a:rPr lang="pl-PL" dirty="0"/>
              <a:t> </a:t>
            </a:r>
          </a:p>
          <a:p>
            <a:r>
              <a:rPr lang="pl-PL" dirty="0"/>
              <a:t>Spowodowanie skutku może być tylko wtedy obiektywnie przypisane sprawcy (co stwarza podstawę wyjściową do ustalenia realizacji ustawowych znamion czynu zabronionego, określonego w art. 145 § 2 </a:t>
            </a:r>
            <a:r>
              <a:rPr lang="pl-PL" dirty="0" err="1"/>
              <a:t>d.k.k</a:t>
            </a:r>
            <a:r>
              <a:rPr lang="pl-PL" dirty="0"/>
              <a:t>.), gdy urzeczywistnia się w nim niebezpieczeństwo, któremu zapobiec miałoby przestrzeganie naruszonego obowiązku ostrożności.</a:t>
            </a:r>
          </a:p>
          <a:p>
            <a:endParaRPr lang="pl-PL"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92500" lnSpcReduction="10000"/>
          </a:bodyPr>
          <a:lstStyle/>
          <a:p>
            <a:r>
              <a:rPr lang="pl-PL" b="1" dirty="0"/>
              <a:t>Wyrok </a:t>
            </a:r>
            <a:r>
              <a:rPr lang="pl-PL" dirty="0"/>
              <a:t>Sądu Najwyższego z dnia 4 listopada 1998 r.</a:t>
            </a:r>
          </a:p>
          <a:p>
            <a:r>
              <a:rPr lang="pl-PL" b="1" dirty="0"/>
              <a:t>V KKN 303/97</a:t>
            </a:r>
          </a:p>
          <a:p>
            <a:r>
              <a:rPr lang="pl-PL" dirty="0"/>
              <a:t> </a:t>
            </a:r>
          </a:p>
          <a:p>
            <a:r>
              <a:rPr lang="pl-PL" dirty="0"/>
              <a:t>W każdej sprawie dotyczącej występku określonego w art. 145 k.k. z 1969 r. (obecnym art. 177 k.k.) sąd powinien bacznie rozważyć, czy istnieje związek przyczynowy pomiędzy stwierdzonym naruszeniem przepisów, a zaistniałą kolizją drogową. Związek ten nie może być rozumiany jako jedynie czasowe lub miejscowe następstwo wydarzeń, ale jako powiązanie wypadku drogowego, z poprzedzającym go naruszeniem przez oskarżonego przepisów o ruchu drogowym).</a:t>
            </a:r>
          </a:p>
          <a:p>
            <a:endParaRPr lang="pl-PL"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Zasada ograniczonego zaufania</a:t>
            </a:r>
          </a:p>
        </p:txBody>
      </p:sp>
      <p:sp>
        <p:nvSpPr>
          <p:cNvPr id="3" name="Symbol zastępczy zawartości 2"/>
          <p:cNvSpPr>
            <a:spLocks noGrp="1"/>
          </p:cNvSpPr>
          <p:nvPr>
            <p:ph sz="quarter" idx="1"/>
          </p:nvPr>
        </p:nvSpPr>
        <p:spPr/>
        <p:txBody>
          <a:bodyPr/>
          <a:lstStyle/>
          <a:p>
            <a:endParaRPr lang="pl-PL" b="1" dirty="0"/>
          </a:p>
          <a:p>
            <a:r>
              <a:rPr lang="pl-PL" b="1" dirty="0"/>
              <a:t>Art. 4.</a:t>
            </a:r>
            <a:r>
              <a:rPr lang="pl-PL" dirty="0"/>
              <a:t> Uczestnik ruchu i inna osoba znajdująca się na drodze mają prawo liczyć, że inni uczestnicy tego ruchu przestrzegają przepisów ruchu drogowego, chyba że okoliczności wskazują na możliwość odmiennego ich zachowania.</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 </a:t>
            </a:r>
          </a:p>
        </p:txBody>
      </p:sp>
      <p:sp>
        <p:nvSpPr>
          <p:cNvPr id="3" name="Symbol zastępczy zawartości 2"/>
          <p:cNvSpPr>
            <a:spLocks noGrp="1"/>
          </p:cNvSpPr>
          <p:nvPr>
            <p:ph sz="quarter" idx="1"/>
          </p:nvPr>
        </p:nvSpPr>
        <p:spPr/>
        <p:txBody>
          <a:bodyPr>
            <a:normAutofit fontScale="77500" lnSpcReduction="20000"/>
          </a:bodyPr>
          <a:lstStyle/>
          <a:p>
            <a:r>
              <a:rPr lang="pl-PL" b="1" dirty="0"/>
              <a:t>Wyrok SN z dnia 8 marca 2000 r., III KKN 231/98</a:t>
            </a:r>
          </a:p>
          <a:p>
            <a:endParaRPr lang="pl-PL" dirty="0"/>
          </a:p>
          <a:p>
            <a:r>
              <a:rPr lang="pl-PL" dirty="0"/>
              <a:t>Zarówno w orzecznictwie Sądu Najwyższego, jak i w doktrynie niejednokrotnie wypowiedziano trafny pogląd, że </a:t>
            </a:r>
            <a:r>
              <a:rPr lang="pl-PL" dirty="0">
                <a:solidFill>
                  <a:srgbClr val="FF0000"/>
                </a:solidFill>
              </a:rPr>
              <a:t>zasady ograniczonego zaufania nie należy pojmować w sposób rozszerzający, jako że stanowi ona właśnie wyjątek od podstawowej zasady zaufania do uczestników ruchu drogowego, statuowanej w </a:t>
            </a:r>
            <a:r>
              <a:rPr lang="pl-PL" dirty="0" err="1"/>
              <a:t>zd</a:t>
            </a:r>
            <a:r>
              <a:rPr lang="pl-PL" dirty="0"/>
              <a:t>. 1 art. 3 cyt. ustawy - prawo o ruchu drogowym. W wyroku z dnia 16 lipca 1975 r. (I KRN 79/75, </a:t>
            </a:r>
            <a:r>
              <a:rPr lang="pl-PL" dirty="0" err="1"/>
              <a:t>niepubl</a:t>
            </a:r>
            <a:r>
              <a:rPr lang="pl-PL" dirty="0"/>
              <a:t>.) Sąd Najwyższy uznał, że "zasady ograniczonego zaufania nie można interpretować tak rozszerzająco, aby kierowców obarczać odpowiedzialnością za każdą sytuację wytworzoną na drodze. (...) Prowadzący pojazd ma prawo liczyć na respektowanie zasad bezpieczeństwa ruchu dopóty, dopóki cechy osobiste lub określone zachowanie się innych uczestników ruchu nie każą oczekiwać, że mogą się oni nie dostosować do tych zasad".</a:t>
            </a:r>
          </a:p>
          <a:p>
            <a:endParaRPr lang="pl-PL"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a:bodyPr>
          <a:lstStyle/>
          <a:p>
            <a:pPr>
              <a:buNone/>
            </a:pPr>
            <a:endParaRPr lang="pl-PL" dirty="0"/>
          </a:p>
          <a:p>
            <a:r>
              <a:rPr lang="pl-PL" b="1" dirty="0"/>
              <a:t>Wyrok </a:t>
            </a:r>
            <a:r>
              <a:rPr lang="pl-PL" dirty="0"/>
              <a:t>Sądu Najwyższego z dnia 7 listopada 1996 r.</a:t>
            </a:r>
          </a:p>
          <a:p>
            <a:r>
              <a:rPr lang="pl-PL" dirty="0"/>
              <a:t> </a:t>
            </a:r>
            <a:r>
              <a:rPr lang="pl-PL" b="1" dirty="0"/>
              <a:t>II KKN 90/96</a:t>
            </a:r>
          </a:p>
          <a:p>
            <a:endParaRPr lang="pl-PL" dirty="0"/>
          </a:p>
          <a:p>
            <a:r>
              <a:rPr lang="pl-PL" dirty="0"/>
              <a:t>Sam fakt przebywania pieszego przy krawędzi jezdni, zwłaszcza w warunkach ruchu miejskiego, nie stanowi okoliczności nakazującej kierującemu utratę zaufania do tegoż współuczestnika ruchu.</a:t>
            </a:r>
          </a:p>
          <a:p>
            <a:endParaRPr lang="pl-PL" dirty="0"/>
          </a:p>
          <a:p>
            <a:pPr>
              <a:buNone/>
            </a:pPr>
            <a:endParaRPr lang="pl-PL" dirty="0"/>
          </a:p>
          <a:p>
            <a:endParaRPr lang="pl-PL"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dirty="0"/>
          </a:p>
        </p:txBody>
      </p:sp>
      <p:sp>
        <p:nvSpPr>
          <p:cNvPr id="3" name="Symbol zastępczy zawartości 2"/>
          <p:cNvSpPr>
            <a:spLocks noGrp="1"/>
          </p:cNvSpPr>
          <p:nvPr>
            <p:ph sz="quarter" idx="1"/>
          </p:nvPr>
        </p:nvSpPr>
        <p:spPr/>
        <p:txBody>
          <a:bodyPr>
            <a:normAutofit/>
          </a:bodyPr>
          <a:lstStyle/>
          <a:p>
            <a:r>
              <a:rPr lang="pl-PL" b="1" dirty="0"/>
              <a:t>Wyrok </a:t>
            </a:r>
            <a:r>
              <a:rPr lang="pl-PL" dirty="0"/>
              <a:t>Sądu Najwyższego  z dnia 29 września 1993 r. </a:t>
            </a:r>
            <a:r>
              <a:rPr lang="pl-PL" b="1" dirty="0"/>
              <a:t>KRN 127/93</a:t>
            </a:r>
          </a:p>
          <a:p>
            <a:r>
              <a:rPr lang="pl-PL" dirty="0"/>
              <a:t> </a:t>
            </a:r>
          </a:p>
          <a:p>
            <a:r>
              <a:rPr lang="pl-PL" dirty="0"/>
              <a:t>Nałożenie na kierujących bezwzględnego obowiązku przewidywania powszechnej obecności nie oświetlonych przeszkód na drodze zmieniłoby zasadę ograniczonego zaufania w zasadę braku zaufania, a obowiązek zachowania ostrożności rozciągałoby do granic sparaliżowania ruchu pojazdów samochodowych w nocy.</a:t>
            </a:r>
          </a:p>
          <a:p>
            <a:endParaRPr lang="pl-PL"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Zasada prędkości bezpiecznej </a:t>
            </a:r>
          </a:p>
        </p:txBody>
      </p:sp>
      <p:sp>
        <p:nvSpPr>
          <p:cNvPr id="3" name="Symbol zastępczy zawartości 2"/>
          <p:cNvSpPr>
            <a:spLocks noGrp="1"/>
          </p:cNvSpPr>
          <p:nvPr>
            <p:ph sz="quarter" idx="1"/>
          </p:nvPr>
        </p:nvSpPr>
        <p:spPr/>
        <p:txBody>
          <a:bodyPr>
            <a:normAutofit fontScale="85000" lnSpcReduction="20000"/>
          </a:bodyPr>
          <a:lstStyle/>
          <a:p>
            <a:r>
              <a:rPr lang="pl-PL" b="1" dirty="0"/>
              <a:t>Wyrok </a:t>
            </a:r>
            <a:r>
              <a:rPr lang="pl-PL" dirty="0"/>
              <a:t>Sądu Apelacyjnego w Katowicach z dnia 7 kwietnia 2005 r. </a:t>
            </a:r>
            <a:r>
              <a:rPr lang="pl-PL" b="1" dirty="0"/>
              <a:t>II </a:t>
            </a:r>
            <a:r>
              <a:rPr lang="pl-PL" b="1" dirty="0" err="1"/>
              <a:t>AKa</a:t>
            </a:r>
            <a:r>
              <a:rPr lang="pl-PL" b="1" dirty="0"/>
              <a:t> 92/05</a:t>
            </a:r>
          </a:p>
          <a:p>
            <a:endParaRPr lang="pl-PL" dirty="0"/>
          </a:p>
          <a:p>
            <a:r>
              <a:rPr lang="pl-PL" dirty="0"/>
              <a:t>Ustalając prędkość pojazdu kierujący nim musi mieć na uwadze nie tylko swe umiejętności i doświadczenie w prowadzeniu pojazdu, ale także aktualny stan, w jakim się znajduje. Zły stan fizyczny lub psychiczny jest przeciwwskazaniem do prowadzenia samochodu. Wtedy bowiem kierowca musi liczyć się z tym, że jego reakcje psychiczne mogą być znacznie opóźnione i przykładowo droga zatrzymania pojazdu znacznie się wydłuży. Osoba znajdująca się w bardzo złej kondycji, np. po nieprzespanej nocy powinna zastanowić się, czy stan, w jakim się znajduje nie dyskwalifikuje jej w danym czasie jako kierującego.</a:t>
            </a:r>
          </a:p>
          <a:p>
            <a:endParaRPr lang="pl-PL"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dirty="0"/>
          </a:p>
        </p:txBody>
      </p:sp>
      <p:sp>
        <p:nvSpPr>
          <p:cNvPr id="3" name="Symbol zastępczy zawartości 2"/>
          <p:cNvSpPr>
            <a:spLocks noGrp="1"/>
          </p:cNvSpPr>
          <p:nvPr>
            <p:ph sz="quarter" idx="1"/>
          </p:nvPr>
        </p:nvSpPr>
        <p:spPr/>
        <p:txBody>
          <a:bodyPr>
            <a:normAutofit fontScale="92500" lnSpcReduction="10000"/>
          </a:bodyPr>
          <a:lstStyle/>
          <a:p>
            <a:r>
              <a:rPr lang="pl-PL" b="1" dirty="0"/>
              <a:t>Wyrok </a:t>
            </a:r>
            <a:r>
              <a:rPr lang="pl-PL" dirty="0"/>
              <a:t>Sądu Najwyższego z dnia 25 maja 1995 r.</a:t>
            </a:r>
          </a:p>
          <a:p>
            <a:pPr>
              <a:buNone/>
            </a:pPr>
            <a:r>
              <a:rPr lang="pl-PL" b="1" dirty="0"/>
              <a:t>II KRN 52/95</a:t>
            </a:r>
          </a:p>
          <a:p>
            <a:pPr>
              <a:buNone/>
            </a:pPr>
            <a:r>
              <a:rPr lang="pl-PL" dirty="0"/>
              <a:t> </a:t>
            </a:r>
          </a:p>
          <a:p>
            <a:r>
              <a:rPr lang="pl-PL" dirty="0"/>
              <a:t>Zachowanie tzw. prędkości administracyjnie dozwolonej nie może samo przez się świadczyć o tym, że kierowca zachował prędkość bezpieczną w rozumieniu art. 17 ust. 1 Prawa o ruchu drogowym. Jednakże nie można podzielić kategorycznej tezy o naruszeniu dyspozycji art. 17 ust. 1 Prawa o ruchu drogowym w każdym przypadku niedostosowania w warunkach nocnych prędkości prowadzonego pojazdu do tzw. czynnej widoczności drogi (zasięg aktualnie włączonych świateł).</a:t>
            </a:r>
          </a:p>
          <a:p>
            <a:endParaRPr lang="pl-PL"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70000" lnSpcReduction="20000"/>
          </a:bodyPr>
          <a:lstStyle/>
          <a:p>
            <a:r>
              <a:rPr lang="pl-PL" dirty="0"/>
              <a:t>Abstrahując już od tego, że akceptacja zapatrywań wyrażonych w - cytowanych tak przez Sąd Rejonowy, jak i przez Sąd Wojewódzki - niektórych wcześniejszych wyrokach Sądu Najwyższego (a w szczególności w </a:t>
            </a:r>
            <a:r>
              <a:rPr lang="pl-PL" u="sng" dirty="0">
                <a:hlinkClick r:id="rId2"/>
              </a:rPr>
              <a:t>wyroku</a:t>
            </a:r>
            <a:r>
              <a:rPr lang="pl-PL" dirty="0"/>
              <a:t> z dnia 16 marca 1976 r., VI KRN 22/76, OSNKW 1976, z. 7-8, poz. 92) </a:t>
            </a:r>
            <a:r>
              <a:rPr lang="pl-PL" dirty="0">
                <a:solidFill>
                  <a:srgbClr val="FF0000"/>
                </a:solidFill>
              </a:rPr>
              <a:t>musiałyby praktycznie sparaliżować ruch pojazdów samochodowych w warunkach nocnych, wyrażone powyżej poglądy nie korespondują z innymi zasadami bezpieczeństwa ruchu</a:t>
            </a:r>
            <a:r>
              <a:rPr lang="pl-PL" dirty="0"/>
              <a:t>. Tak np., gdyby w warunkach jazdy nocą wymagać opisanego wyżej zachowania, to kierowca, który olśniony został światłami pojazdu nadjeżdżającego z naprzeciwka musiałby każdorazowo gwałtownie hamować, co samo przez się stwarzałoby stan zagrożenia i sprzeczne byłoby z dyrektywą, o której mowa z kolei w </a:t>
            </a:r>
            <a:r>
              <a:rPr lang="pl-PL" u="sng" dirty="0">
                <a:hlinkClick r:id="rId2"/>
              </a:rPr>
              <a:t>art. 17</a:t>
            </a:r>
            <a:r>
              <a:rPr lang="pl-PL" dirty="0"/>
              <a:t> ust. 2 </a:t>
            </a:r>
            <a:r>
              <a:rPr lang="pl-PL" dirty="0" err="1"/>
              <a:t>pkt</a:t>
            </a:r>
            <a:r>
              <a:rPr lang="pl-PL" dirty="0"/>
              <a:t> 2 Prawa o ruchu drogowym. Co więcej - takie właśnie określenie prędkości bezpiecznej w warunkach nocnych zakłada, że kierujący pojazdem w nocy powinien przewidywać możliwość istnienia na drodze przeszkód o charakterze losowym, których obecność nie jest sygnalizowana przez ich prawidłowe oświetlenie, lub przez takie, dostępne kierującemu przesłanki, które pozwolą mu obecność nie oświetlonej przeszkody przewidzieć. Wprowadzałby zatem - w warunkach nocnych - całkowity brak zaufania względem zachowania współużytkowników drogi. </a:t>
            </a:r>
          </a:p>
          <a:p>
            <a:endParaRPr lang="pl-PL"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dirty="0"/>
          </a:p>
        </p:txBody>
      </p:sp>
      <p:sp>
        <p:nvSpPr>
          <p:cNvPr id="3" name="Symbol zastępczy zawartości 2"/>
          <p:cNvSpPr>
            <a:spLocks noGrp="1"/>
          </p:cNvSpPr>
          <p:nvPr>
            <p:ph sz="quarter" idx="1"/>
          </p:nvPr>
        </p:nvSpPr>
        <p:spPr/>
        <p:txBody>
          <a:bodyPr>
            <a:normAutofit fontScale="92500" lnSpcReduction="20000"/>
          </a:bodyPr>
          <a:lstStyle/>
          <a:p>
            <a:r>
              <a:rPr lang="pl-PL" dirty="0"/>
              <a:t>Art. 178 k.k. – charakter przepisu</a:t>
            </a:r>
          </a:p>
          <a:p>
            <a:r>
              <a:rPr lang="pl-PL" dirty="0"/>
              <a:t>Twierdzić należy, że brzmienie </a:t>
            </a:r>
            <a:r>
              <a:rPr lang="pl-PL" u="sng" dirty="0">
                <a:hlinkClick r:id="rId2"/>
              </a:rPr>
              <a:t>art. 178 § 1</a:t>
            </a:r>
            <a:r>
              <a:rPr lang="pl-PL" dirty="0"/>
              <a:t> k.k. jednoznacznie przemawia za tym, że przepis ten </a:t>
            </a:r>
            <a:r>
              <a:rPr lang="pl-PL" dirty="0">
                <a:solidFill>
                  <a:srgbClr val="FF0000"/>
                </a:solidFill>
              </a:rPr>
              <a:t>przewiduje nadzwyczajne obostrzenie kary wobec sprawcy jednego z przestępstw wymienionych w jego dyspozycji.</a:t>
            </a:r>
            <a:r>
              <a:rPr lang="pl-PL" dirty="0"/>
              <a:t> Wszak wskazywany w tym przepisie stan nietrzeźwości powiązany jest z osobą sprawcy, nie zaś ze znamionami popełnianego przestępstwa, które zostały opisane w </a:t>
            </a:r>
            <a:r>
              <a:rPr lang="pl-PL" u="sng" dirty="0">
                <a:hlinkClick r:id="rId2"/>
              </a:rPr>
              <a:t>art. 173</a:t>
            </a:r>
            <a:r>
              <a:rPr lang="pl-PL" dirty="0"/>
              <a:t>, </a:t>
            </a:r>
            <a:r>
              <a:rPr lang="pl-PL" u="sng" dirty="0">
                <a:hlinkClick r:id="rId2"/>
              </a:rPr>
              <a:t>174</a:t>
            </a:r>
            <a:r>
              <a:rPr lang="pl-PL" dirty="0"/>
              <a:t> i </a:t>
            </a:r>
            <a:r>
              <a:rPr lang="pl-PL" u="sng" dirty="0">
                <a:hlinkClick r:id="rId2"/>
              </a:rPr>
              <a:t>177</a:t>
            </a:r>
            <a:r>
              <a:rPr lang="pl-PL" dirty="0"/>
              <a:t> k.k. (i nie należy do nich stan odurzenia, nietrzeźwości lub ucieczka z miejsca wypadku).</a:t>
            </a:r>
          </a:p>
          <a:p>
            <a:endParaRPr lang="pl-PL" dirty="0"/>
          </a:p>
          <a:p>
            <a:r>
              <a:rPr lang="pl-PL" dirty="0"/>
              <a:t>Inna koncepcja – typ kwalifikowany (nietrafna) </a:t>
            </a:r>
          </a:p>
          <a:p>
            <a:endParaRPr lang="pl-PL"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70000" lnSpcReduction="20000"/>
          </a:bodyPr>
          <a:lstStyle/>
          <a:p>
            <a:r>
              <a:rPr lang="pl-PL" dirty="0"/>
              <a:t>Przyczynienie się do wypadku nie </a:t>
            </a:r>
            <a:r>
              <a:rPr lang="pl-PL" dirty="0" err="1"/>
              <a:t>ekskulpuje</a:t>
            </a:r>
            <a:r>
              <a:rPr lang="pl-PL" dirty="0"/>
              <a:t> jego sprawcy</a:t>
            </a:r>
          </a:p>
          <a:p>
            <a:endParaRPr lang="pl-PL" b="1" dirty="0"/>
          </a:p>
          <a:p>
            <a:r>
              <a:rPr lang="pl-PL" b="1" dirty="0"/>
              <a:t>Wyrok </a:t>
            </a:r>
            <a:r>
              <a:rPr lang="pl-PL" dirty="0"/>
              <a:t>Sądu Najwyższego z dnia 24 stycznia 1997 r. </a:t>
            </a:r>
            <a:r>
              <a:rPr lang="pl-PL" b="1" dirty="0"/>
              <a:t>II KKN 133/96</a:t>
            </a:r>
          </a:p>
          <a:p>
            <a:r>
              <a:rPr lang="pl-PL" dirty="0"/>
              <a:t> </a:t>
            </a:r>
          </a:p>
          <a:p>
            <a:r>
              <a:rPr lang="pl-PL" dirty="0"/>
              <a:t>Prowadzenie po zapadnięciu zmroku nieoświetlonego pojazdu mechanicznego po drodze publicznej, a nadto niesprawnego technicznie pod wieloma względami (m.in. brak sprawnie działających kierunków) stanowi nie tylko rażące naruszenie zasad bezpieczeństwa, ale i realne jego zagrożenie. W ruchu drogowym właśnie dlatego obowiązuje zasada tzw. ograniczonego zaufania wobec innych uczestników tego ruchu, że nawet ewentualne przyczynienie się innego uczestnika do spowodowania wypadku drogowego, nie zwalnia od odpowiedzialności tego, kto swoim działaniem także się do niego przyczynił.</a:t>
            </a:r>
          </a:p>
          <a:p>
            <a:endParaRPr lang="pl-PL" dirty="0"/>
          </a:p>
          <a:p>
            <a:pPr>
              <a:buNone/>
            </a:pPr>
            <a:r>
              <a:rPr lang="pl-PL" dirty="0"/>
              <a:t> </a:t>
            </a:r>
          </a:p>
          <a:p>
            <a:endParaRPr lang="pl-PL"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251520" y="332656"/>
            <a:ext cx="8554152" cy="6048672"/>
          </a:xfrm>
        </p:spPr>
        <p:txBody>
          <a:bodyPr>
            <a:normAutofit fontScale="70000" lnSpcReduction="20000"/>
          </a:bodyPr>
          <a:lstStyle/>
          <a:p>
            <a:r>
              <a:rPr lang="pl-PL" dirty="0"/>
              <a:t>Art.  178. [Zaostrzenie karalności wobec sprawcy katastrofy lub wypadku]</a:t>
            </a:r>
          </a:p>
          <a:p>
            <a:r>
              <a:rPr lang="pl-PL" dirty="0"/>
              <a:t>§  1.</a:t>
            </a:r>
          </a:p>
          <a:p>
            <a:r>
              <a:rPr lang="pl-PL" dirty="0"/>
              <a:t> Skazując sprawcę, który popełnił przestępstwo określone w art. 173 § 1 lub 2, art. 174 lub art. 177 § 1 znajdując się w stanie nietrzeźwości lub pod wpływem środka odurzającego lub zbiegł z miejsca zdarzenia lub spożywał alkohol lub zażywał środek odurzający po popełnieniu czynu określonego w art. 173 § 1 lub 2, art. 174 lub art. 177 § 1, a przed poddaniem go przez uprawniony organ badaniu w celu ustalenia w organizmie zawartości alkoholu lub obecności środka odurzającego, sąd orzeka karę pozbawienia wolności przewidzianą za przypisane sprawcy przestępstwo w wysokości od dolnej granicy ustawowego zagrożenia zwiększonego o połowę do górnej granicy tego zagrożenia zwiększonego o połowę.</a:t>
            </a:r>
          </a:p>
          <a:p>
            <a:r>
              <a:rPr lang="pl-PL" dirty="0"/>
              <a:t>§  1a.</a:t>
            </a:r>
          </a:p>
          <a:p>
            <a:r>
              <a:rPr lang="pl-PL" dirty="0"/>
              <a:t> Skazując sprawcę, który popełnił przestępstwo określone w art. 173 § 3 lub 4 lub art. 177 § 2, w warunkach określonych w § 1 lub którego dotyczy wskazana w tym przepisie okoliczność, sąd orzeka karę pozbawienia wolności w wysokości:</a:t>
            </a:r>
          </a:p>
          <a:p>
            <a:r>
              <a:rPr lang="pl-PL" dirty="0"/>
              <a:t>1)</a:t>
            </a:r>
          </a:p>
          <a:p>
            <a:r>
              <a:rPr lang="pl-PL" dirty="0"/>
              <a:t>nie niższej niż 3 lata, jeżeli następstwem wypadku jest ciężki uszczerbek na zdrowiu innej osoby albo następstwem katastrofy jest ciężki uszczerbek na zdrowiu wielu osób, do dwukrotności górnej granicy ustawowego zagrożenia,</a:t>
            </a:r>
          </a:p>
          <a:p>
            <a:endParaRPr lang="pl-PL" dirty="0"/>
          </a:p>
        </p:txBody>
      </p:sp>
    </p:spTree>
    <p:extLst>
      <p:ext uri="{BB962C8B-B14F-4D97-AF65-F5344CB8AC3E}">
        <p14:creationId xmlns:p14="http://schemas.microsoft.com/office/powerpoint/2010/main" val="79556739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ytuł 1">
            <a:extLst>
              <a:ext uri="{FF2B5EF4-FFF2-40B4-BE49-F238E27FC236}">
                <a16:creationId xmlns:a16="http://schemas.microsoft.com/office/drawing/2014/main" id="{376D87E3-FEE9-839E-BA38-AA94AB83FCE6}"/>
              </a:ext>
            </a:extLst>
          </p:cNvPr>
          <p:cNvSpPr>
            <a:spLocks noGrp="1"/>
          </p:cNvSpPr>
          <p:nvPr>
            <p:ph sz="quarter" idx="1"/>
          </p:nvPr>
        </p:nvSpPr>
        <p:spPr>
          <a:xfrm>
            <a:off x="250825" y="333375"/>
            <a:ext cx="8555038" cy="6048375"/>
          </a:xfrm>
        </p:spPr>
        <p:txBody>
          <a:bodyPr>
            <a:normAutofit lnSpcReduction="10000"/>
          </a:bodyPr>
          <a:lstStyle/>
          <a:p>
            <a:r>
              <a:rPr lang="pl-PL" dirty="0"/>
              <a:t>2)</a:t>
            </a:r>
          </a:p>
          <a:p>
            <a:r>
              <a:rPr lang="pl-PL" dirty="0"/>
              <a:t>nie niższej niż 5 lat, jeżeli następstwem czynu jest śmierć człowieka, do dwukrotności górnej granicy ustawowego zagrożenia w przypadku katastrofy, a 20 lat pozbawienia wolności w przypadku wypadku.</a:t>
            </a:r>
          </a:p>
          <a:p>
            <a:r>
              <a:rPr lang="pl-PL" dirty="0"/>
              <a:t>§  2.</a:t>
            </a:r>
          </a:p>
          <a:p>
            <a:r>
              <a:rPr lang="pl-PL" dirty="0"/>
              <a:t> (uchylony).</a:t>
            </a:r>
          </a:p>
          <a:p>
            <a:r>
              <a:rPr lang="pl-PL" dirty="0"/>
              <a:t>§  3.</a:t>
            </a:r>
          </a:p>
          <a:p>
            <a:r>
              <a:rPr lang="pl-PL" dirty="0"/>
              <a:t> W razie skazania, o którym mowa w § 1 lub 1a, sąd może orzec przepadek, o którym mowa w art. 44b, a orzeka go, jeżeli zawartość alkoholu w organizmie sprawcy była wyższa niż 1 promil we krwi lub 0,5 mg/dm</a:t>
            </a:r>
            <a:r>
              <a:rPr lang="pl-PL" baseline="30000" dirty="0"/>
              <a:t>3</a:t>
            </a:r>
            <a:r>
              <a:rPr lang="pl-PL" dirty="0"/>
              <a:t> w wydychanym powietrzu albo prowadziła do takiego stężenia.</a:t>
            </a:r>
          </a:p>
          <a:p>
            <a:endParaRPr lang="pl-PL" dirty="0"/>
          </a:p>
        </p:txBody>
      </p:sp>
    </p:spTree>
    <p:extLst>
      <p:ext uri="{BB962C8B-B14F-4D97-AF65-F5344CB8AC3E}">
        <p14:creationId xmlns:p14="http://schemas.microsoft.com/office/powerpoint/2010/main" val="2562641222"/>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dirty="0"/>
          </a:p>
        </p:txBody>
      </p:sp>
      <p:sp>
        <p:nvSpPr>
          <p:cNvPr id="3" name="Symbol zastępczy zawartości 2"/>
          <p:cNvSpPr>
            <a:spLocks noGrp="1"/>
          </p:cNvSpPr>
          <p:nvPr>
            <p:ph sz="quarter" idx="1"/>
          </p:nvPr>
        </p:nvSpPr>
        <p:spPr/>
        <p:txBody>
          <a:bodyPr>
            <a:normAutofit fontScale="77500" lnSpcReduction="20000"/>
          </a:bodyPr>
          <a:lstStyle/>
          <a:p>
            <a:r>
              <a:rPr lang="pl-PL" dirty="0"/>
              <a:t>Zbiegnięcie z miejsca zdarzenia </a:t>
            </a:r>
          </a:p>
          <a:p>
            <a:endParaRPr lang="pl-PL" dirty="0"/>
          </a:p>
          <a:p>
            <a:r>
              <a:rPr lang="pl-PL" b="1" dirty="0"/>
              <a:t>Wyrok </a:t>
            </a:r>
            <a:r>
              <a:rPr lang="pl-PL" dirty="0"/>
              <a:t>Sądu Najwyższego z dnia 17 stycznia 2012 r. </a:t>
            </a:r>
            <a:r>
              <a:rPr lang="pl-PL" b="1" dirty="0"/>
              <a:t>V KK 389/11</a:t>
            </a:r>
          </a:p>
          <a:p>
            <a:r>
              <a:rPr lang="pl-PL" dirty="0"/>
              <a:t> </a:t>
            </a:r>
          </a:p>
          <a:p>
            <a:r>
              <a:rPr lang="pl-PL" dirty="0"/>
              <a:t>"Zbiegnięcie z miejsca zdarzenia" (art. 178 § 1 k.k.) to oddalenie się sprawcy z miejsca zdarzeń określonych w art. 173, 174 i 177 k.k., podjęte w celu uniknięcia odpowiedzialności za tego rodzaju przestępstwa.</a:t>
            </a:r>
          </a:p>
          <a:p>
            <a:pPr>
              <a:buNone/>
            </a:pPr>
            <a:r>
              <a:rPr lang="pl-PL" dirty="0"/>
              <a:t> </a:t>
            </a:r>
          </a:p>
          <a:p>
            <a:r>
              <a:rPr lang="pl-PL" dirty="0"/>
              <a:t>Dla przyjęcia kwalifikacji prawnej obejmującej przepis art. 178 § 1 k.k. z powodu zbiegnięcia z miejsca zdarzenia, niezbędne jest przypisanie sprawcy umyślności co do tego, iż przez zbiegnięcie zmierzał on do uniknięcia odpowiedzialności za zachowanie, które wyczerpało znamiona ustawowe przestępstw stypizowanych w art. 177 k.k.</a:t>
            </a:r>
          </a:p>
          <a:p>
            <a:endParaRPr lang="pl-PL"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dirty="0"/>
          </a:p>
        </p:txBody>
      </p:sp>
      <p:sp>
        <p:nvSpPr>
          <p:cNvPr id="3" name="Symbol zastępczy zawartości 2"/>
          <p:cNvSpPr>
            <a:spLocks noGrp="1"/>
          </p:cNvSpPr>
          <p:nvPr>
            <p:ph sz="quarter" idx="1"/>
          </p:nvPr>
        </p:nvSpPr>
        <p:spPr/>
        <p:txBody>
          <a:bodyPr/>
          <a:lstStyle/>
          <a:p>
            <a:r>
              <a:rPr lang="pl-PL" dirty="0"/>
              <a:t>Stan nietrzeźwości</a:t>
            </a:r>
          </a:p>
          <a:p>
            <a:endParaRPr lang="pl-PL" dirty="0"/>
          </a:p>
          <a:p>
            <a:r>
              <a:rPr lang="pl-PL" dirty="0"/>
              <a:t> Art. 115 </a:t>
            </a:r>
            <a:r>
              <a:rPr lang="pl-PL" dirty="0">
                <a:latin typeface="Times New Roman"/>
                <a:cs typeface="Times New Roman"/>
              </a:rPr>
              <a:t>§ </a:t>
            </a:r>
            <a:r>
              <a:rPr lang="pl-PL" dirty="0"/>
              <a:t>16. Stan nietrzeźwości w rozumieniu tego kodeksu zachodzi, gdy:</a:t>
            </a:r>
          </a:p>
          <a:p>
            <a:r>
              <a:rPr lang="pl-PL" dirty="0"/>
              <a:t>1)   zawartość alkoholu we krwi przekracza 0,5 promila albo prowadzi do stężenia przekraczającego tę wartość lub</a:t>
            </a:r>
          </a:p>
          <a:p>
            <a:r>
              <a:rPr lang="pl-PL" dirty="0"/>
              <a:t>2)   zawartość alkoholu w 1 dm</a:t>
            </a:r>
            <a:r>
              <a:rPr lang="pl-PL" baseline="30000" dirty="0"/>
              <a:t>3</a:t>
            </a:r>
            <a:r>
              <a:rPr lang="pl-PL" dirty="0"/>
              <a:t> wydychanego powietrza przekracza 0,25 mg albo prowadzi do stężenia przekraczającego tę wartość.</a:t>
            </a:r>
          </a:p>
          <a:p>
            <a:endParaRPr lang="pl-PL"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Stan pod wpływem środka odurzającego </a:t>
            </a:r>
          </a:p>
        </p:txBody>
      </p:sp>
      <p:sp>
        <p:nvSpPr>
          <p:cNvPr id="3" name="Symbol zastępczy zawartości 2"/>
          <p:cNvSpPr>
            <a:spLocks noGrp="1"/>
          </p:cNvSpPr>
          <p:nvPr>
            <p:ph sz="quarter" idx="1"/>
          </p:nvPr>
        </p:nvSpPr>
        <p:spPr/>
        <p:txBody>
          <a:bodyPr>
            <a:normAutofit fontScale="85000" lnSpcReduction="20000"/>
          </a:bodyPr>
          <a:lstStyle/>
          <a:p>
            <a:r>
              <a:rPr lang="pl-PL" dirty="0"/>
              <a:t>Za </a:t>
            </a:r>
            <a:r>
              <a:rPr lang="pl-PL" b="1" dirty="0"/>
              <a:t>środki odurzające</a:t>
            </a:r>
            <a:r>
              <a:rPr lang="pl-PL" dirty="0"/>
              <a:t> należy przede wszystkim  uznać:</a:t>
            </a:r>
          </a:p>
          <a:p>
            <a:r>
              <a:rPr lang="pl-PL" dirty="0"/>
              <a:t>środki określone jako odurzające w </a:t>
            </a:r>
            <a:r>
              <a:rPr lang="pl-PL" u="sng" dirty="0">
                <a:hlinkClick r:id="rId2"/>
              </a:rPr>
              <a:t>art. 4 </a:t>
            </a:r>
            <a:r>
              <a:rPr lang="pl-PL" u="sng" dirty="0" err="1">
                <a:hlinkClick r:id="rId2"/>
              </a:rPr>
              <a:t>pkt</a:t>
            </a:r>
            <a:r>
              <a:rPr lang="pl-PL" u="sng" dirty="0">
                <a:hlinkClick r:id="rId2"/>
              </a:rPr>
              <a:t> 26</a:t>
            </a:r>
            <a:r>
              <a:rPr lang="pl-PL" dirty="0"/>
              <a:t> ustawy z dnia 29 lipca 2005 r. o przeciwdziałaniu narkomanii (tekst jedn.: Dz. U. z 2012 r. poz. 124), tj. każdą substancję pochodzenia naturalnego lub syntetycznego, działającą na ośrodkowy układ nerwowy, określoną w wykazie środków odurzających stanowiących załącznik do ustawy;</a:t>
            </a:r>
          </a:p>
          <a:p>
            <a:r>
              <a:rPr lang="pl-PL" dirty="0"/>
              <a:t>środków niewymienione w ustawie, które wskutek określonego sposobu użycia mają takie same właściwości odurzające jak te w niej wymienione </a:t>
            </a:r>
          </a:p>
          <a:p>
            <a:r>
              <a:rPr lang="pl-PL" dirty="0"/>
              <a:t>stan "pod wpływem środka odurzającego" to nie tylko stan odurzenia, ale każdy stan, w którym podejmowane przez sprawcę decyzje w sposób istotny są powiązane z jego użyciem </a:t>
            </a:r>
          </a:p>
          <a:p>
            <a:endParaRPr lang="pl-PL"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fontScale="90000"/>
          </a:bodyPr>
          <a:lstStyle/>
          <a:p>
            <a:r>
              <a:rPr lang="pl-PL" b="1" dirty="0"/>
              <a:t> </a:t>
            </a:r>
            <a:br>
              <a:rPr lang="pl-PL" b="1" dirty="0"/>
            </a:br>
            <a:r>
              <a:rPr lang="pl-PL" b="1" dirty="0"/>
              <a:t>Wyrok Sądu Najwyższego z dnia 4.10.2013 r., IV KK 136/13</a:t>
            </a:r>
            <a:endParaRPr lang="pl-PL" dirty="0"/>
          </a:p>
        </p:txBody>
      </p:sp>
      <p:sp>
        <p:nvSpPr>
          <p:cNvPr id="3" name="Symbol zastępczy zawartości 2"/>
          <p:cNvSpPr>
            <a:spLocks noGrp="1"/>
          </p:cNvSpPr>
          <p:nvPr>
            <p:ph sz="quarter" idx="1"/>
          </p:nvPr>
        </p:nvSpPr>
        <p:spPr/>
        <p:txBody>
          <a:bodyPr>
            <a:normAutofit fontScale="62500" lnSpcReduction="20000"/>
          </a:bodyPr>
          <a:lstStyle/>
          <a:p>
            <a:r>
              <a:rPr lang="pl-PL" dirty="0"/>
              <a:t>Dostrzegając faktyczne trudności, przed jakimi może stanąć praktyka sądowa w zakresie prawidłowego i sprawnego orzekania, stwierdzić należy, że </a:t>
            </a:r>
            <a:r>
              <a:rPr lang="pl-PL" dirty="0">
                <a:solidFill>
                  <a:srgbClr val="FF0000"/>
                </a:solidFill>
              </a:rPr>
              <a:t>w aktualnym stanie prawnym, sąd rozpoznający sprawę o przestępstwo przeciwko bezpieczeństwu w komunikacji popełnione pod wpływem środka odurzającego, każdorazowo musi ustalić, czy środek ten miał realny wpływ na sprawność psychomotoryczną kierującego pojazdem w stopniu podobnym, jak w sytuacji znajdowania się pod wpływem alkoholu. </a:t>
            </a:r>
            <a:r>
              <a:rPr lang="pl-PL" dirty="0">
                <a:solidFill>
                  <a:srgbClr val="00B050"/>
                </a:solidFill>
              </a:rPr>
              <a:t>Praktycznie zatem w każdym przypadku stwierdzenia tego środka w organizmie, będzie więc konieczne dokonywanie ustaleń dowodowych w zakresie zachowania się osoby badanej w chwili zdarzenia, często połączone z ekspertyzą biegłych. Trudności te nie mogą bowiem usprawiedliwiać odstępstwa od podstawowej, gwarancyjnej zasady prawa karnego </a:t>
            </a:r>
            <a:r>
              <a:rPr lang="pl-PL" dirty="0" err="1">
                <a:solidFill>
                  <a:srgbClr val="00B050"/>
                </a:solidFill>
              </a:rPr>
              <a:t>nullum</a:t>
            </a:r>
            <a:r>
              <a:rPr lang="pl-PL" dirty="0">
                <a:solidFill>
                  <a:srgbClr val="00B050"/>
                </a:solidFill>
              </a:rPr>
              <a:t> </a:t>
            </a:r>
            <a:r>
              <a:rPr lang="pl-PL" dirty="0" err="1">
                <a:solidFill>
                  <a:srgbClr val="00B050"/>
                </a:solidFill>
              </a:rPr>
              <a:t>crimen</a:t>
            </a:r>
            <a:r>
              <a:rPr lang="pl-PL" dirty="0">
                <a:solidFill>
                  <a:srgbClr val="00B050"/>
                </a:solidFill>
              </a:rPr>
              <a:t> sine </a:t>
            </a:r>
            <a:r>
              <a:rPr lang="pl-PL" dirty="0" err="1">
                <a:solidFill>
                  <a:srgbClr val="00B050"/>
                </a:solidFill>
              </a:rPr>
              <a:t>lege</a:t>
            </a:r>
            <a:r>
              <a:rPr lang="pl-PL" dirty="0">
                <a:solidFill>
                  <a:srgbClr val="00B050"/>
                </a:solidFill>
              </a:rPr>
              <a:t> </a:t>
            </a:r>
            <a:r>
              <a:rPr lang="pl-PL" dirty="0" err="1">
                <a:solidFill>
                  <a:srgbClr val="00B050"/>
                </a:solidFill>
              </a:rPr>
              <a:t>scripta</a:t>
            </a:r>
            <a:r>
              <a:rPr lang="pl-PL" dirty="0">
                <a:solidFill>
                  <a:srgbClr val="00B050"/>
                </a:solidFill>
              </a:rPr>
              <a:t>. </a:t>
            </a:r>
            <a:r>
              <a:rPr lang="pl-PL" dirty="0"/>
              <a:t>Dopóty zatem, dopóki ustawodawca nie określi-jak ma to miejsce w przypadku alkoholu-jakie stężenia progowe środków odurzających uznaje za równoznaczne ze stanem znajdowania się pod ich "wpływem", trudności tych nie będzie można uniknąć i sąd orzekający w każdej takiej sprawie będzie musiał ustalić, czy środek ten </a:t>
            </a:r>
            <a:r>
              <a:rPr lang="pl-PL" dirty="0" err="1"/>
              <a:t>in</a:t>
            </a:r>
            <a:r>
              <a:rPr lang="pl-PL" dirty="0"/>
              <a:t> </a:t>
            </a:r>
            <a:r>
              <a:rPr lang="pl-PL" dirty="0" err="1"/>
              <a:t>concreto</a:t>
            </a:r>
            <a:r>
              <a:rPr lang="pl-PL" dirty="0"/>
              <a:t> oddziaływał na kierującego pojazdem w stopniu, który zakłócał jego czynności psychomotoryczne w sposób analogiczny, jak w przypadku znajdowania się w stanie nietrzeźwości. Jeśli ustalenie to będzie miało charakter negatywny, wówczas będzie to równoznaczne z możliwością przypisania sprawcy jedynie działania w stanie "po użyciu" tego środka, w rozumieniu </a:t>
            </a:r>
            <a:r>
              <a:rPr lang="pl-PL" u="sng" dirty="0">
                <a:hlinkClick r:id="rId2"/>
              </a:rPr>
              <a:t>art. 87 § 1</a:t>
            </a:r>
            <a:r>
              <a:rPr lang="pl-PL" dirty="0"/>
              <a:t> </a:t>
            </a:r>
            <a:r>
              <a:rPr lang="pl-PL" dirty="0" err="1"/>
              <a:t>k.w</a:t>
            </a:r>
            <a:r>
              <a:rPr lang="pl-PL" dirty="0"/>
              <a:t>.</a:t>
            </a: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07504" y="116632"/>
            <a:ext cx="8698168" cy="6408712"/>
          </a:xfrm>
        </p:spPr>
        <p:txBody>
          <a:bodyPr>
            <a:normAutofit fontScale="62500" lnSpcReduction="20000"/>
          </a:bodyPr>
          <a:lstStyle/>
          <a:p>
            <a:r>
              <a:rPr lang="pl-PL" dirty="0"/>
              <a:t>Art.  178a. [Prowadzenie pojazdu w stanie nietrzeźwości lub pod wpływem środka odurzającego]</a:t>
            </a:r>
          </a:p>
          <a:p>
            <a:r>
              <a:rPr lang="pl-PL" dirty="0"/>
              <a:t>§  1.</a:t>
            </a:r>
          </a:p>
          <a:p>
            <a:r>
              <a:rPr lang="pl-PL" dirty="0"/>
              <a:t> Kto, znajdując się w stanie nietrzeźwości lub pod wpływem środka odurzającego, prowadzi pojazd mechaniczny w ruchu lądowym, wodnym lub powietrznym, podlega karze pozbawienia wolności do lat 3.</a:t>
            </a:r>
          </a:p>
          <a:p>
            <a:r>
              <a:rPr lang="pl-PL" dirty="0"/>
              <a:t>§  2.</a:t>
            </a:r>
          </a:p>
          <a:p>
            <a:r>
              <a:rPr lang="pl-PL" dirty="0"/>
              <a:t> (uchylony).</a:t>
            </a:r>
          </a:p>
          <a:p>
            <a:r>
              <a:rPr lang="pl-PL" dirty="0"/>
              <a:t>§  3.</a:t>
            </a:r>
          </a:p>
          <a:p>
            <a:r>
              <a:rPr lang="pl-PL" dirty="0"/>
              <a:t> (uchylony).</a:t>
            </a:r>
          </a:p>
          <a:p>
            <a:r>
              <a:rPr lang="pl-PL" dirty="0"/>
              <a:t>§  4.</a:t>
            </a:r>
          </a:p>
          <a:p>
            <a:r>
              <a:rPr lang="pl-PL" dirty="0"/>
              <a:t> Jeżeli sprawca czynu określonego w § 1 był wcześniej prawomocnie skazany za prowadzenie pojazdu mechanicznego w stanie nietrzeźwości lub pod wpływem środka odurzającego albo za przestępstwo określone w art. 173, art. 174, art. 177 lub art. 355 § 2 popełnione w stanie nietrzeźwości lub pod wpływem środka odurzającego lub dopuścił się czynu określonego w § 1 w okresie obowiązywania zakazu prowadzenia pojazdów mechanicznych orzeczonego w związku ze skazaniem za </a:t>
            </a:r>
            <a:r>
              <a:rPr lang="pl-PL" dirty="0" err="1"/>
              <a:t>przestępstwo,podlega</a:t>
            </a:r>
            <a:r>
              <a:rPr lang="pl-PL" dirty="0"/>
              <a:t> karze pozbawienia wolności od 3 miesięcy do lat 5.</a:t>
            </a:r>
          </a:p>
          <a:p>
            <a:r>
              <a:rPr lang="pl-PL" dirty="0"/>
              <a:t>§  5.</a:t>
            </a:r>
          </a:p>
          <a:p>
            <a:r>
              <a:rPr lang="pl-PL" dirty="0"/>
              <a:t> Sąd orzeka przepadek, o którym mowa w art. 44b, w razie popełnienia przestępstwa określonego w § 1 lub 4, chyba że zawartość alkoholu w organizmie sprawcy przestępstwa określonego w § 1 była niższa niż 1,5 promila we krwi lub 0,75 mg/dm</a:t>
            </a:r>
            <a:r>
              <a:rPr lang="pl-PL" baseline="30000" dirty="0"/>
              <a:t>3</a:t>
            </a:r>
            <a:r>
              <a:rPr lang="pl-PL" dirty="0"/>
              <a:t> w wydychanym powietrzu albo nie prowadziła do takiego stężenia. Sąd może odstąpić od orzeczenia przepadku, jeżeli zachodzi wyjątkowy wypadek, uzasadniony szczególnymi okolicznościami.</a:t>
            </a:r>
          </a:p>
          <a:p>
            <a:endParaRPr lang="pl-PL"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dirty="0"/>
          </a:p>
        </p:txBody>
      </p:sp>
      <p:sp>
        <p:nvSpPr>
          <p:cNvPr id="3" name="Symbol zastępczy zawartości 2"/>
          <p:cNvSpPr>
            <a:spLocks noGrp="1"/>
          </p:cNvSpPr>
          <p:nvPr>
            <p:ph sz="quarter" idx="1"/>
          </p:nvPr>
        </p:nvSpPr>
        <p:spPr/>
        <p:txBody>
          <a:bodyPr/>
          <a:lstStyle/>
          <a:p>
            <a:pPr>
              <a:buNone/>
            </a:pPr>
            <a:r>
              <a:rPr lang="pl-PL" dirty="0"/>
              <a:t>   Art. 178a par. 1 – typ podstawowy </a:t>
            </a:r>
          </a:p>
          <a:p>
            <a:endParaRPr lang="pl-PL" dirty="0"/>
          </a:p>
          <a:p>
            <a:pPr>
              <a:buNone/>
            </a:pPr>
            <a:r>
              <a:rPr lang="pl-PL" dirty="0"/>
              <a:t>    Pojazdy mechaniczne rozumie się pojazdy zaopatrzone w poruszający je silnik (pojazdy samochodowe, maszyny rolnicze, motocykle, lokomotywy kolejowe, samoloty, helikoptery, statki wodne i inne), również pojazdy szynowe zasilane z trakcji elektrycznej (pojazdy kolei elektrycznej, tramwaje, trolejbusy).  </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a:bodyPr>
          <a:lstStyle/>
          <a:p>
            <a:r>
              <a:rPr lang="pl-PL" b="1" dirty="0"/>
              <a:t>Uchwała </a:t>
            </a:r>
            <a:r>
              <a:rPr lang="pl-PL" dirty="0"/>
              <a:t>Sądu Najwyższego 7 sędziów z dnia 12 maja 1993 r. </a:t>
            </a:r>
            <a:r>
              <a:rPr lang="pl-PL" b="1" dirty="0"/>
              <a:t>I KZP 9/93</a:t>
            </a:r>
          </a:p>
          <a:p>
            <a:endParaRPr lang="pl-PL" dirty="0"/>
          </a:p>
          <a:p>
            <a:pPr>
              <a:buNone/>
            </a:pPr>
            <a:r>
              <a:rPr lang="pl-PL" dirty="0"/>
              <a:t>   Motorower, przeznaczony do poruszania się w ruchu drogowym wyłącznie przy pomocy silnika, jest pojazdem mechanicznym w rozumieniu przepisów kodeksu karnego i kodeksu wykroczeń, niezależnie od posiadanych parametrów technicznych.</a:t>
            </a:r>
          </a:p>
          <a:p>
            <a:endParaRPr lang="pl-PL"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a:bodyPr>
          <a:lstStyle/>
          <a:p>
            <a:pPr>
              <a:buNone/>
            </a:pPr>
            <a:endParaRPr lang="pl-PL" dirty="0"/>
          </a:p>
          <a:p>
            <a:endParaRPr lang="pl-PL" dirty="0"/>
          </a:p>
          <a:p>
            <a:pPr>
              <a:buNone/>
            </a:pPr>
            <a:r>
              <a:rPr lang="pl-PL" dirty="0"/>
              <a:t>   Prowadzenie pojazdu -  wprawienie pojazdu w ruch, kierowanie nim, nadawanie prędkości i hamowanie w sposób zgodny z konstrukcją pojazdu. </a:t>
            </a:r>
          </a:p>
          <a:p>
            <a:endParaRPr lang="pl-PL" dirty="0"/>
          </a:p>
          <a:p>
            <a:pPr>
              <a:buNone/>
            </a:pPr>
            <a:r>
              <a:rPr lang="pl-PL" dirty="0"/>
              <a:t>   Nie jest prowadzeniem pojazdu prowadzenie go obok siebie (np. motocykla) albo pchanie siłą mięśni ludzkich</a:t>
            </a: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a:xfrm>
            <a:off x="301752" y="1700808"/>
            <a:ext cx="8503920" cy="5688632"/>
          </a:xfrm>
        </p:spPr>
        <p:txBody>
          <a:bodyPr>
            <a:normAutofit fontScale="92500" lnSpcReduction="20000"/>
          </a:bodyPr>
          <a:lstStyle/>
          <a:p>
            <a:pPr>
              <a:buNone/>
            </a:pPr>
            <a:r>
              <a:rPr lang="pl-PL" sz="35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Jana Z. oskarżono o to, że kierując holowanym pojazdem Audi A4 mającym niesprawny silnik, naruszył nieumyślnie zasady bezpieczeństwa w ruchu drogowym w ten sposób, że nie zachowując należytej uwagi w trakcie tej czynności, najechał na pojazd holujący i uderzył silnie w ten pojazd, powodując u jego kierowcy obrażenia ciała z art. 157 par. 1 k.k. tj. o popełnienie przestępstwa z art. 177 par. 1 k.k. Jakie orzeczenie wydać powinien w tej sprawie sąd? </a:t>
            </a:r>
            <a:endParaRPr lang="pl-PL" sz="3500" dirty="0">
              <a:effectLst/>
              <a:latin typeface="Calibri" panose="020F0502020204030204" pitchFamily="34" charset="0"/>
              <a:ea typeface="Calibri" panose="020F0502020204030204" pitchFamily="34" charset="0"/>
              <a:cs typeface="Times New Roman" panose="02020603050405020304" pitchFamily="18" charset="0"/>
            </a:endParaRPr>
          </a:p>
          <a:p>
            <a:pPr>
              <a:buNone/>
            </a:pPr>
            <a:endParaRPr lang="pl-PL" dirty="0"/>
          </a:p>
          <a:p>
            <a:endParaRPr lang="pl-PL" dirty="0"/>
          </a:p>
          <a:p>
            <a:pPr>
              <a:buNone/>
            </a:pPr>
            <a:r>
              <a:rPr lang="pl-PL" dirty="0"/>
              <a:t>   </a:t>
            </a:r>
          </a:p>
        </p:txBody>
      </p:sp>
    </p:spTree>
    <p:extLst>
      <p:ext uri="{BB962C8B-B14F-4D97-AF65-F5344CB8AC3E}">
        <p14:creationId xmlns:p14="http://schemas.microsoft.com/office/powerpoint/2010/main" val="1386461605"/>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a:xfrm>
            <a:off x="301752" y="1700808"/>
            <a:ext cx="8503920" cy="4398240"/>
          </a:xfrm>
        </p:spPr>
        <p:txBody>
          <a:bodyPr>
            <a:normAutofit fontScale="92500" lnSpcReduction="10000"/>
          </a:bodyPr>
          <a:lstStyle/>
          <a:p>
            <a:pPr>
              <a:buNone/>
            </a:pPr>
            <a:r>
              <a:rPr lang="pl-PL" sz="3200" dirty="0"/>
              <a:t>   </a:t>
            </a:r>
            <a:r>
              <a:rPr lang="pl-PL" sz="3200" dirty="0">
                <a:effectLst/>
                <a:latin typeface="Times New Roman" panose="02020603050405020304" pitchFamily="18" charset="0"/>
                <a:ea typeface="Calibri" panose="020F0502020204030204" pitchFamily="34" charset="0"/>
                <a:cs typeface="Times New Roman" panose="02020603050405020304" pitchFamily="18" charset="0"/>
              </a:rPr>
              <a:t>Niewątpliwym jest także stwierdzenie zgodnie z którym Jan Z. poruszając się pojazdem holowanym kontrolował jego zachowanie poprzez manewrowanie kierownicą nadając mu odpowiedni kierunek jazdy (uwarunkowany długością holu), mógł przyhamowywać a nawet hamować </a:t>
            </a:r>
            <a:br>
              <a:rPr lang="pl-PL" sz="3200" dirty="0">
                <a:effectLst/>
                <a:latin typeface="Times New Roman" panose="02020603050405020304" pitchFamily="18" charset="0"/>
                <a:ea typeface="Calibri" panose="020F0502020204030204" pitchFamily="34" charset="0"/>
                <a:cs typeface="Times New Roman" panose="02020603050405020304" pitchFamily="18" charset="0"/>
              </a:rPr>
            </a:br>
            <a:r>
              <a:rPr lang="pl-PL" sz="3200" dirty="0">
                <a:effectLst/>
                <a:latin typeface="Times New Roman" panose="02020603050405020304" pitchFamily="18" charset="0"/>
                <a:ea typeface="Calibri" panose="020F0502020204030204" pitchFamily="34" charset="0"/>
                <a:cs typeface="Times New Roman" panose="02020603050405020304" pitchFamily="18" charset="0"/>
              </a:rPr>
              <a:t>w określonych sytuacjach, a także dbać o to aby nie doszło do zerwania holu i najechania </a:t>
            </a:r>
            <a:br>
              <a:rPr lang="pl-PL" sz="3200" dirty="0">
                <a:effectLst/>
                <a:latin typeface="Times New Roman" panose="02020603050405020304" pitchFamily="18" charset="0"/>
                <a:ea typeface="Calibri" panose="020F0502020204030204" pitchFamily="34" charset="0"/>
                <a:cs typeface="Times New Roman" panose="02020603050405020304" pitchFamily="18" charset="0"/>
              </a:rPr>
            </a:br>
            <a:r>
              <a:rPr lang="pl-PL" sz="3200" dirty="0">
                <a:effectLst/>
                <a:latin typeface="Times New Roman" panose="02020603050405020304" pitchFamily="18" charset="0"/>
                <a:ea typeface="Calibri" panose="020F0502020204030204" pitchFamily="34" charset="0"/>
                <a:cs typeface="Times New Roman" panose="02020603050405020304" pitchFamily="18" charset="0"/>
              </a:rPr>
              <a:t>na tył pojazdu poprzedzającego (wyrok SN z 18 marca 2003 r., sygn. III KKN 390/01). </a:t>
            </a:r>
            <a:endParaRPr lang="pl-PL" sz="3200" dirty="0">
              <a:effectLst/>
              <a:latin typeface="Calibri" panose="020F0502020204030204" pitchFamily="34" charset="0"/>
              <a:ea typeface="Calibri" panose="020F0502020204030204" pitchFamily="34" charset="0"/>
              <a:cs typeface="Times New Roman" panose="02020603050405020304" pitchFamily="18" charset="0"/>
            </a:endParaRPr>
          </a:p>
          <a:p>
            <a:pPr>
              <a:buNone/>
            </a:pPr>
            <a:endParaRPr lang="pl-PL" dirty="0"/>
          </a:p>
        </p:txBody>
      </p:sp>
    </p:spTree>
    <p:extLst>
      <p:ext uri="{BB962C8B-B14F-4D97-AF65-F5344CB8AC3E}">
        <p14:creationId xmlns:p14="http://schemas.microsoft.com/office/powerpoint/2010/main" val="271499979"/>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a:bodyPr>
          <a:lstStyle/>
          <a:p>
            <a:pPr>
              <a:buNone/>
            </a:pPr>
            <a:endParaRPr lang="pl-PL" dirty="0"/>
          </a:p>
          <a:p>
            <a:pPr>
              <a:buNone/>
            </a:pPr>
            <a:r>
              <a:rPr lang="pl-PL" b="1" dirty="0"/>
              <a:t>   Wyrok </a:t>
            </a:r>
            <a:r>
              <a:rPr lang="pl-PL" dirty="0"/>
              <a:t>Sądu Najwyższego z dnia 18 marca 2003 r.</a:t>
            </a:r>
          </a:p>
          <a:p>
            <a:pPr>
              <a:buNone/>
            </a:pPr>
            <a:r>
              <a:rPr lang="pl-PL" dirty="0"/>
              <a:t>   </a:t>
            </a:r>
            <a:r>
              <a:rPr lang="pl-PL" b="1" dirty="0"/>
              <a:t>III KKN 390/01</a:t>
            </a:r>
          </a:p>
          <a:p>
            <a:endParaRPr lang="pl-PL" dirty="0"/>
          </a:p>
          <a:p>
            <a:pPr>
              <a:buNone/>
            </a:pPr>
            <a:r>
              <a:rPr lang="pl-PL" dirty="0"/>
              <a:t>  Podmiotem przestępstwa określonego w art. 178a § 1 k.k. jest także osoba prowadząca holowany pojazd mechaniczny.</a:t>
            </a:r>
          </a:p>
          <a:p>
            <a:endParaRPr lang="pl-PL"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a:xfrm>
            <a:off x="271272" y="1484784"/>
            <a:ext cx="8534400" cy="4614264"/>
          </a:xfrm>
        </p:spPr>
        <p:txBody>
          <a:bodyPr>
            <a:normAutofit fontScale="92500" lnSpcReduction="20000"/>
          </a:bodyPr>
          <a:lstStyle/>
          <a:p>
            <a:pPr>
              <a:buNone/>
            </a:pPr>
            <a:r>
              <a:rPr lang="pl-PL" sz="3200" dirty="0">
                <a:effectLst/>
                <a:latin typeface="Times New Roman" panose="02020603050405020304" pitchFamily="18" charset="0"/>
                <a:ea typeface="Calibri" panose="020F0502020204030204" pitchFamily="34" charset="0"/>
                <a:cs typeface="Times New Roman" panose="02020603050405020304" pitchFamily="18" charset="0"/>
              </a:rPr>
              <a:t>Zgodnie z postanowieniami ustawy z dnia 22 maja 2003 r. o ubezpieczeniach obowiązkowych, Ubezpieczeniowym Funduszu Gwarancyjnym i Polskim Biurze Ubezpieczycieli Komunikacyjnych pojazd holujący i holowany traktowane są jako zespół pojazdów (art. 37 ust. 3 ustawy) przy czym ubezpieczeniem OC nie będą objęte szkody wyrządzone na pojeździe holującym przez pojazd holowany (art. 37 ust. 4 pkt 1).  </a:t>
            </a:r>
            <a:endParaRPr lang="pl-PL" sz="3200" dirty="0">
              <a:effectLst/>
              <a:latin typeface="Calibri" panose="020F0502020204030204" pitchFamily="34" charset="0"/>
              <a:ea typeface="Calibri" panose="020F0502020204030204" pitchFamily="34" charset="0"/>
              <a:cs typeface="Times New Roman" panose="02020603050405020304" pitchFamily="18" charset="0"/>
            </a:endParaRPr>
          </a:p>
          <a:p>
            <a:pPr>
              <a:buNone/>
            </a:pPr>
            <a:endParaRPr lang="pl-PL" dirty="0"/>
          </a:p>
          <a:p>
            <a:pPr>
              <a:buNone/>
            </a:pPr>
            <a:r>
              <a:rPr lang="pl-PL" b="1" dirty="0"/>
              <a:t>   </a:t>
            </a:r>
            <a:endParaRPr lang="pl-PL" dirty="0"/>
          </a:p>
        </p:txBody>
      </p:sp>
    </p:spTree>
    <p:extLst>
      <p:ext uri="{BB962C8B-B14F-4D97-AF65-F5344CB8AC3E}">
        <p14:creationId xmlns:p14="http://schemas.microsoft.com/office/powerpoint/2010/main" val="2158359117"/>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a:xfrm>
            <a:off x="271272" y="2348880"/>
            <a:ext cx="8534400" cy="3750168"/>
          </a:xfrm>
        </p:spPr>
        <p:txBody>
          <a:bodyPr>
            <a:normAutofit fontScale="85000" lnSpcReduction="20000"/>
          </a:bodyPr>
          <a:lstStyle/>
          <a:p>
            <a:pPr>
              <a:buNone/>
            </a:pPr>
            <a:r>
              <a:rPr lang="pl-PL" sz="4400" i="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Zygfryd D. kierował w stanie nietrzeźwości swoim traktorem na gruncie ornym należącym do niego. Oceń czy są podstawy do przypisania mu odpowiedzialności karnej z art. 178a par. 1 k.k.?</a:t>
            </a:r>
            <a:endParaRPr lang="pl-PL" sz="4400" dirty="0">
              <a:effectLst/>
              <a:latin typeface="Calibri" panose="020F0502020204030204" pitchFamily="34" charset="0"/>
              <a:ea typeface="Calibri" panose="020F0502020204030204" pitchFamily="34" charset="0"/>
              <a:cs typeface="Times New Roman" panose="02020603050405020304" pitchFamily="18" charset="0"/>
            </a:endParaRPr>
          </a:p>
          <a:p>
            <a:pPr>
              <a:buNone/>
            </a:pPr>
            <a:endParaRPr lang="pl-PL" dirty="0"/>
          </a:p>
          <a:p>
            <a:pPr>
              <a:buNone/>
            </a:pPr>
            <a:r>
              <a:rPr lang="pl-PL" b="1" dirty="0"/>
              <a:t>   </a:t>
            </a:r>
            <a:endParaRPr lang="pl-PL" dirty="0"/>
          </a:p>
        </p:txBody>
      </p:sp>
    </p:spTree>
    <p:extLst>
      <p:ext uri="{BB962C8B-B14F-4D97-AF65-F5344CB8AC3E}">
        <p14:creationId xmlns:p14="http://schemas.microsoft.com/office/powerpoint/2010/main" val="3571944173"/>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a:xfrm>
            <a:off x="271272" y="1556792"/>
            <a:ext cx="8534400" cy="4542256"/>
          </a:xfrm>
        </p:spPr>
        <p:txBody>
          <a:bodyPr>
            <a:noAutofit/>
          </a:bodyPr>
          <a:lstStyle/>
          <a:p>
            <a:pPr>
              <a:buNone/>
            </a:pPr>
            <a:r>
              <a:rPr lang="pl-PL" sz="2800" dirty="0">
                <a:effectLst/>
                <a:latin typeface="Times New Roman" panose="02020603050405020304" pitchFamily="18" charset="0"/>
                <a:ea typeface="Times New Roman" panose="02020603050405020304" pitchFamily="18" charset="0"/>
              </a:rPr>
              <a:t>Ruch lądowy to głównie ruch odbywający się na drogach publicznych, ale także ruch w miejscach powszechnego użytku. Postanowienie Sądu Najwyższego z 28 marca 2017 roku (III KK 472/16) „Przewidziane w art. 178a par. 1 kk kryterium «ruchu lądowego» </a:t>
            </a:r>
            <a:r>
              <a:rPr lang="pl-PL" sz="2800" dirty="0">
                <a:effectLst/>
                <a:latin typeface="Times New Roman" panose="02020603050405020304" pitchFamily="18" charset="0"/>
                <a:ea typeface="Calibri" panose="020F0502020204030204" pitchFamily="34" charset="0"/>
              </a:rPr>
              <a:t>należy wiązać nie tyle z formalnym statusem konkretnej drogi, czy też określonego miejsca, lecz z faktyczną dostępnością i rzeczywistym jego wykorzystaniem dla ruchu pojazdów i innych uczestników.” </a:t>
            </a:r>
            <a:endParaRPr lang="pl-PL" sz="2800" dirty="0"/>
          </a:p>
          <a:p>
            <a:pPr>
              <a:buNone/>
            </a:pPr>
            <a:r>
              <a:rPr lang="pl-PL" sz="2800" b="1" dirty="0"/>
              <a:t>   </a:t>
            </a:r>
            <a:endParaRPr lang="pl-PL" sz="2800" dirty="0"/>
          </a:p>
        </p:txBody>
      </p:sp>
    </p:spTree>
    <p:extLst>
      <p:ext uri="{BB962C8B-B14F-4D97-AF65-F5344CB8AC3E}">
        <p14:creationId xmlns:p14="http://schemas.microsoft.com/office/powerpoint/2010/main" val="1336079471"/>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92500" lnSpcReduction="10000"/>
          </a:bodyPr>
          <a:lstStyle/>
          <a:p>
            <a:r>
              <a:rPr lang="pl-PL" dirty="0"/>
              <a:t>Miejsce popełnienia czynu</a:t>
            </a:r>
          </a:p>
          <a:p>
            <a:endParaRPr lang="pl-PL" dirty="0"/>
          </a:p>
          <a:p>
            <a:r>
              <a:rPr lang="pl-PL" b="1" dirty="0"/>
              <a:t>Postanowienie </a:t>
            </a:r>
            <a:r>
              <a:rPr lang="pl-PL" dirty="0"/>
              <a:t>Sądu Najwyższego z dnia 30 lipca 2015 r. </a:t>
            </a:r>
            <a:r>
              <a:rPr lang="pl-PL" b="1" dirty="0"/>
              <a:t>IV KK 201/15</a:t>
            </a:r>
          </a:p>
          <a:p>
            <a:pPr>
              <a:buNone/>
            </a:pPr>
            <a:r>
              <a:rPr lang="pl-PL" dirty="0"/>
              <a:t> </a:t>
            </a:r>
          </a:p>
          <a:p>
            <a:r>
              <a:rPr lang="pl-PL" dirty="0"/>
              <a:t>Przewidziane w art. 178a § 1 k.k. kryterium "ruchu lądowego" należy wiązać nie tyle z formalnym statusem konkretnej drogi, czy też określonego miejsca, lecz z faktyczną dostępnością i rzeczywistym jego wykorzystywaniem dla ruchu pojazdów i innych uczestników.</a:t>
            </a:r>
          </a:p>
          <a:p>
            <a:endParaRPr lang="pl-PL"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lstStyle/>
          <a:p>
            <a:r>
              <a:rPr lang="pl-PL" dirty="0"/>
              <a:t>Art. 178a par. 4 - typ kwalifikowany – choć może powstać wątpliwość, czy nie przepis przewidujący nadzwyczajne obostrzenie kary </a:t>
            </a:r>
          </a:p>
          <a:p>
            <a:endParaRPr lang="pl-PL"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lstStyle/>
          <a:p>
            <a:endParaRPr lang="pl-PL" dirty="0"/>
          </a:p>
          <a:p>
            <a:endParaRPr lang="pl-PL" dirty="0"/>
          </a:p>
          <a:p>
            <a:r>
              <a:rPr lang="pl-PL" dirty="0"/>
              <a:t>Postępowanie dowodowe  (wyniki badania alkomatem, wyniki badań krwi – biegli, osmologia)</a:t>
            </a: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lnSpcReduction="10000"/>
          </a:bodyPr>
          <a:lstStyle/>
          <a:p>
            <a:pPr marL="0" indent="0">
              <a:buNone/>
            </a:pPr>
            <a:r>
              <a:rPr lang="pl-PL" sz="3600" dirty="0"/>
              <a:t>Sprawca prowadząc po drodze publicznej pojazd mechaniczny w stanie nietrzeźwości powoduje wypadek  komunikacyjny - jak kwalifikować ów czyn?</a:t>
            </a:r>
          </a:p>
          <a:p>
            <a:endParaRPr lang="pl-PL" sz="3600" dirty="0"/>
          </a:p>
          <a:p>
            <a:r>
              <a:rPr lang="pl-PL" sz="3600" dirty="0"/>
              <a:t>Realny zbieg przestępstw czy zbieg przepisów ustawy (art. 11 par. 2 k.k.)</a:t>
            </a:r>
          </a:p>
          <a:p>
            <a:endParaRPr lang="pl-PL" dirty="0"/>
          </a:p>
        </p:txBody>
      </p:sp>
    </p:spTree>
    <p:extLst>
      <p:ext uri="{BB962C8B-B14F-4D97-AF65-F5344CB8AC3E}">
        <p14:creationId xmlns:p14="http://schemas.microsoft.com/office/powerpoint/2010/main" val="3817208979"/>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a:xfrm>
            <a:off x="301752" y="1527048"/>
            <a:ext cx="8503920" cy="4926288"/>
          </a:xfrm>
        </p:spPr>
        <p:txBody>
          <a:bodyPr>
            <a:normAutofit fontScale="62500" lnSpcReduction="20000"/>
          </a:bodyPr>
          <a:lstStyle/>
          <a:p>
            <a:endParaRPr lang="pl-PL" dirty="0"/>
          </a:p>
          <a:p>
            <a:r>
              <a:rPr lang="pl-PL" sz="2900" b="1" dirty="0"/>
              <a:t>Postanowienie </a:t>
            </a:r>
            <a:r>
              <a:rPr lang="pl-PL" sz="2900" dirty="0"/>
              <a:t>Sądu Najwyższego z dnia 18 czerwca 2008 r. </a:t>
            </a:r>
            <a:r>
              <a:rPr lang="pl-PL" sz="2900" b="1" dirty="0"/>
              <a:t>III KK 41/08</a:t>
            </a:r>
          </a:p>
          <a:p>
            <a:pPr>
              <a:buNone/>
            </a:pPr>
            <a:r>
              <a:rPr lang="pl-PL" sz="2900" dirty="0"/>
              <a:t> </a:t>
            </a:r>
          </a:p>
          <a:p>
            <a:r>
              <a:rPr lang="pl-PL" sz="2900" dirty="0"/>
              <a:t>Zachowanie sprawcy kierującego pojazdem w stanie nietrzeźwości lub po użyciu środka odurzającego, który w następstwie naruszenia zasad bezpieczeństwa w ruchu powoduje wypadek komunikacyjny, </a:t>
            </a:r>
            <a:r>
              <a:rPr lang="pl-PL" sz="2900" dirty="0">
                <a:solidFill>
                  <a:srgbClr val="FF0000"/>
                </a:solidFill>
              </a:rPr>
              <a:t>stanowi dwa odrębne czyny zabronione</a:t>
            </a:r>
            <a:r>
              <a:rPr lang="pl-PL" sz="2900" dirty="0"/>
              <a:t>, </a:t>
            </a:r>
            <a:r>
              <a:rPr lang="pl-PL" sz="2900" dirty="0">
                <a:solidFill>
                  <a:srgbClr val="00B050"/>
                </a:solidFill>
              </a:rPr>
              <a:t>jeden określony w art. 178a § 1 lub 2 k.k., drugi zaś w art. 177 § 1 lub 2 k.k. w zw. z art. 178 § 1 k.k</a:t>
            </a:r>
            <a:r>
              <a:rPr lang="pl-PL" sz="2900" dirty="0"/>
              <a:t>. Tego rodzaju </a:t>
            </a:r>
            <a:r>
              <a:rPr lang="pl-PL" sz="2900" dirty="0" err="1"/>
              <a:t>subsumpcja</a:t>
            </a:r>
            <a:r>
              <a:rPr lang="pl-PL" sz="2900" dirty="0"/>
              <a:t> ustaleń faktycznych pod powołane wyżej przepisy ustawy karnej stanowi więc zasadę, zaś </a:t>
            </a:r>
            <a:r>
              <a:rPr lang="pl-PL" sz="2900" dirty="0">
                <a:solidFill>
                  <a:srgbClr val="FF0000"/>
                </a:solidFill>
              </a:rPr>
              <a:t>ewentualna redukcja ocen </a:t>
            </a:r>
            <a:r>
              <a:rPr lang="pl-PL" sz="2900" dirty="0" err="1">
                <a:solidFill>
                  <a:srgbClr val="FF0000"/>
                </a:solidFill>
              </a:rPr>
              <a:t>prawnokarnych</a:t>
            </a:r>
            <a:r>
              <a:rPr lang="pl-PL" sz="2900" dirty="0">
                <a:solidFill>
                  <a:srgbClr val="FF0000"/>
                </a:solidFill>
              </a:rPr>
              <a:t>, polegająca na przyjęciu, że występek zakwalifikowany z art. 178a § 1 lub 2 k.k. stanowi </a:t>
            </a:r>
            <a:r>
              <a:rPr lang="pl-PL" sz="2900" dirty="0" err="1">
                <a:solidFill>
                  <a:srgbClr val="FF0000"/>
                </a:solidFill>
              </a:rPr>
              <a:t>współukarane</a:t>
            </a:r>
            <a:r>
              <a:rPr lang="pl-PL" sz="2900" dirty="0">
                <a:solidFill>
                  <a:srgbClr val="FF0000"/>
                </a:solidFill>
              </a:rPr>
              <a:t> przestępstwo uprzednie, może być dokonana jedynie wyjątkowo, z uwzględnieniem okoliczności konkretnego przypadku</a:t>
            </a:r>
            <a:r>
              <a:rPr lang="pl-PL" sz="2900" dirty="0"/>
              <a:t>. W sytuacji, gdy w sprawie nie ustalono wprawdzie, ile wcześniej przed wypadkiem przejechał sprawca, nie było to jednak bezpośrednio po uruchomieniu pojazdu i rozpoczęciu jazdy, to tym samym stan abstrakcyjnego zagrożenia, spowodowanego prowadzeniem pojazdu w stanie nietrzeźwości, nie trwał na tyle krótko, aby po porównaniu stopnia społecznej szkodliwości obu czynów dojść do konkluzji, że czyn zakwalifikowany z art. 177 § 2 k.k. w zw. z art. 178 § 1 k.k., który stanowiłby podstawę skazania, w pełni pozwalałby na oddanie stopnia bezprawia kryminalnego zachowania sprawcy.</a:t>
            </a:r>
          </a:p>
          <a:p>
            <a:endParaRPr lang="pl-PL"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lstStyle/>
          <a:p>
            <a:endParaRPr lang="pl-PL" dirty="0"/>
          </a:p>
          <a:p>
            <a:r>
              <a:rPr lang="pl-PL" dirty="0"/>
              <a:t>W doktrynie:</a:t>
            </a:r>
          </a:p>
          <a:p>
            <a:endParaRPr lang="pl-PL" dirty="0"/>
          </a:p>
          <a:p>
            <a:r>
              <a:rPr lang="pl-PL" dirty="0"/>
              <a:t>Rzeczywisty zbieg przepisów – art. 177 par. 1 k.k. w zw. z art. 178 k.k. i art. 178a par. 1 k.k. w zw. z art. 11 par. 2</a:t>
            </a: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a:xfrm>
            <a:off x="107504" y="188640"/>
            <a:ext cx="8698168" cy="6480720"/>
          </a:xfrm>
        </p:spPr>
        <p:txBody>
          <a:bodyPr/>
          <a:lstStyle/>
          <a:p>
            <a:endParaRPr lang="pl-PL" dirty="0"/>
          </a:p>
          <a:p>
            <a:r>
              <a:rPr lang="pl-PL" dirty="0"/>
              <a:t>W doktrynie:</a:t>
            </a:r>
          </a:p>
          <a:p>
            <a:endParaRPr lang="pl-PL" dirty="0"/>
          </a:p>
          <a:p>
            <a:r>
              <a:rPr lang="pl-PL" dirty="0"/>
              <a:t>Rzeczywisty zbieg przepisów – art. 177 par. 1 k.k. w zw. z art. 178 k.k. i art. 178a par. 1 k.k. w zw. z art. 11 par. 2</a:t>
            </a:r>
          </a:p>
        </p:txBody>
      </p:sp>
    </p:spTree>
    <p:extLst>
      <p:ext uri="{BB962C8B-B14F-4D97-AF65-F5344CB8AC3E}">
        <p14:creationId xmlns:p14="http://schemas.microsoft.com/office/powerpoint/2010/main" val="4078951951"/>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4AEF7CE-4F9A-3070-ACC6-F9E23C51730A}"/>
              </a:ext>
            </a:extLst>
          </p:cNvPr>
          <p:cNvSpPr>
            <a:spLocks noGrp="1"/>
          </p:cNvSpPr>
          <p:nvPr>
            <p:ph sz="quarter" idx="1"/>
          </p:nvPr>
        </p:nvSpPr>
        <p:spPr>
          <a:xfrm>
            <a:off x="107950" y="188913"/>
            <a:ext cx="8856538" cy="6480175"/>
          </a:xfrm>
        </p:spPr>
        <p:txBody>
          <a:bodyPr>
            <a:noAutofit/>
          </a:bodyPr>
          <a:lstStyle/>
          <a:p>
            <a:r>
              <a:rPr lang="pl-PL" sz="3600" dirty="0"/>
              <a:t>Skazując za przestępstwo z art. 177 k.k. w zw. z art. 178 k.k. oraz z art. 178a k.k. należy pamiętać o sferze środków karnych i nawiązce z kodeksu karnego, a jeśli złożony został w tym zakresie wniosek w związku z przestępstwem spowodowania wypadku komunikacyjnego (zob. art. 49a k.p.k.) lub sąd uzna, że należy działać z urzędu – o środku kompensacyjnym – vide m.in. art. 42, 43, 43a, 44b, 46, 47, 48  k.k.</a:t>
            </a:r>
          </a:p>
        </p:txBody>
      </p:sp>
    </p:spTree>
    <p:extLst>
      <p:ext uri="{BB962C8B-B14F-4D97-AF65-F5344CB8AC3E}">
        <p14:creationId xmlns:p14="http://schemas.microsoft.com/office/powerpoint/2010/main" val="1776098616"/>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Przestępstwa przeciwko mieniu</a:t>
            </a:r>
          </a:p>
        </p:txBody>
      </p:sp>
      <p:sp>
        <p:nvSpPr>
          <p:cNvPr id="3" name="Symbol zastępczy zawartości 2"/>
          <p:cNvSpPr>
            <a:spLocks noGrp="1"/>
          </p:cNvSpPr>
          <p:nvPr>
            <p:ph sz="quarter" idx="1"/>
          </p:nvPr>
        </p:nvSpPr>
        <p:spPr/>
        <p:txBody>
          <a:bodyPr>
            <a:normAutofit fontScale="55000" lnSpcReduction="20000"/>
          </a:bodyPr>
          <a:lstStyle/>
          <a:p>
            <a:r>
              <a:rPr lang="pl-PL" b="1" dirty="0">
                <a:solidFill>
                  <a:srgbClr val="FF0000"/>
                </a:solidFill>
              </a:rPr>
              <a:t>Kradzież i kradzież z włamaniem </a:t>
            </a:r>
          </a:p>
          <a:p>
            <a:r>
              <a:rPr lang="pl-PL" dirty="0"/>
              <a:t>Art.  278§  1. </a:t>
            </a:r>
          </a:p>
          <a:p>
            <a:r>
              <a:rPr lang="pl-PL" dirty="0"/>
              <a:t>Kto zabiera w celu przywłaszczenia cudzą rzecz </a:t>
            </a:r>
            <a:r>
              <a:rPr lang="pl-PL" dirty="0" err="1"/>
              <a:t>ruchomą,podlega</a:t>
            </a:r>
            <a:r>
              <a:rPr lang="pl-PL" dirty="0"/>
              <a:t> karze pozbawienia wolności od 3 miesięcy do lat 5.</a:t>
            </a:r>
          </a:p>
          <a:p>
            <a:r>
              <a:rPr lang="pl-PL" dirty="0"/>
              <a:t>§  1a. </a:t>
            </a:r>
          </a:p>
          <a:p>
            <a:r>
              <a:rPr lang="pl-PL" dirty="0"/>
              <a:t>Tej samej karze podlega, kto zabiera w celu przywłaszczenia cudzą kartę uprawniającą do podjęcia pieniędzy z automatu bankowego.</a:t>
            </a:r>
          </a:p>
          <a:p>
            <a:r>
              <a:rPr lang="pl-PL" dirty="0"/>
              <a:t>§  2. </a:t>
            </a:r>
          </a:p>
          <a:p>
            <a:r>
              <a:rPr lang="pl-PL" dirty="0"/>
              <a:t>Tej samej karze podlega, kto bez zgody osoby uprawnionej uzyskuje cudzy program komputerowy w celu osiągnięcia korzyści majątkowej.</a:t>
            </a:r>
          </a:p>
          <a:p>
            <a:r>
              <a:rPr lang="pl-PL" dirty="0"/>
              <a:t>§  3. </a:t>
            </a:r>
          </a:p>
          <a:p>
            <a:r>
              <a:rPr lang="pl-PL" dirty="0"/>
              <a:t>W wypadku mniejszej wagi, sprawca czynu określonego w § 1, 1a lub 2podlega grzywnie, karze ograniczenia wolności albo pozbawienia wolności do roku.</a:t>
            </a:r>
          </a:p>
          <a:p>
            <a:r>
              <a:rPr lang="pl-PL" dirty="0"/>
              <a:t>§  3a. </a:t>
            </a:r>
          </a:p>
          <a:p>
            <a:r>
              <a:rPr lang="pl-PL" dirty="0"/>
              <a:t>Kto dopuszcza się kradzieży szczególnie </a:t>
            </a:r>
            <a:r>
              <a:rPr lang="pl-PL" dirty="0" err="1"/>
              <a:t>zuchwałej,podlega</a:t>
            </a:r>
            <a:r>
              <a:rPr lang="pl-PL" dirty="0"/>
              <a:t> karze pozbawienia wolności od 6 miesięcy do lat 8.</a:t>
            </a:r>
          </a:p>
          <a:p>
            <a:r>
              <a:rPr lang="pl-PL" dirty="0"/>
              <a:t>§  4. </a:t>
            </a:r>
          </a:p>
          <a:p>
            <a:r>
              <a:rPr lang="pl-PL" dirty="0"/>
              <a:t>Jeżeli kradzież popełniono na szkodę osoby najbliższej, ściganie następuje na wniosek pokrzywdzonego.</a:t>
            </a:r>
          </a:p>
          <a:p>
            <a:r>
              <a:rPr lang="pl-PL" dirty="0"/>
              <a:t>§  5. </a:t>
            </a:r>
          </a:p>
          <a:p>
            <a:r>
              <a:rPr lang="pl-PL" dirty="0"/>
              <a:t>Przepisy § 1, 3, 3a i 4 stosuje się odpowiednio do kradzieży energii.</a:t>
            </a:r>
          </a:p>
          <a:p>
            <a:endParaRPr lang="pl-PL"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77500" lnSpcReduction="20000"/>
          </a:bodyPr>
          <a:lstStyle/>
          <a:p>
            <a:r>
              <a:rPr lang="pl-PL" dirty="0"/>
              <a:t>Art.  119. </a:t>
            </a:r>
          </a:p>
          <a:p>
            <a:r>
              <a:rPr lang="pl-PL" dirty="0"/>
              <a:t>§  1. </a:t>
            </a:r>
          </a:p>
          <a:p>
            <a:r>
              <a:rPr lang="pl-PL" dirty="0"/>
              <a:t>Kto kradnie lub przywłaszcza sobie cudzą rzecz ruchomą, jeżeli jej wartość nie przekracza 800 złotych, podlega karze aresztu, ograniczenia wolności albo grzywny.</a:t>
            </a:r>
          </a:p>
          <a:p>
            <a:r>
              <a:rPr lang="pl-PL" dirty="0"/>
              <a:t>§  2. </a:t>
            </a:r>
          </a:p>
          <a:p>
            <a:r>
              <a:rPr lang="pl-PL" dirty="0"/>
              <a:t>Usiłowanie, podżeganie i pomocnictwo są karalne.</a:t>
            </a:r>
          </a:p>
          <a:p>
            <a:r>
              <a:rPr lang="pl-PL" dirty="0"/>
              <a:t>§  3. </a:t>
            </a:r>
          </a:p>
          <a:p>
            <a:r>
              <a:rPr lang="pl-PL" dirty="0"/>
              <a:t>Jeżeli sprawca czynu określonego w § 1 dopuścił się go na szkodę osoby najbliższej, ściganie następuje na żądanie pokrzywdzonego.</a:t>
            </a:r>
          </a:p>
          <a:p>
            <a:r>
              <a:rPr lang="pl-PL" dirty="0"/>
              <a:t>§  4. </a:t>
            </a:r>
          </a:p>
          <a:p>
            <a:r>
              <a:rPr lang="pl-PL" dirty="0"/>
              <a:t>W razie popełnienia wykroczenia określonego w § 1, można orzec obowiązek zapłaty równowartości ukradzionego lub przywłaszczonego mienia, jeżeli szkoda nie została naprawiona.</a:t>
            </a:r>
          </a:p>
          <a:p>
            <a:endParaRPr lang="pl-PL"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85000" lnSpcReduction="10000"/>
          </a:bodyPr>
          <a:lstStyle/>
          <a:p>
            <a:r>
              <a:rPr lang="pl-PL" b="1" dirty="0"/>
              <a:t>Wyrok </a:t>
            </a:r>
            <a:r>
              <a:rPr lang="pl-PL" dirty="0"/>
              <a:t>Sądu Apelacyjnego w Katowicach z dnia 27 stycznia 2015 r. </a:t>
            </a:r>
            <a:r>
              <a:rPr lang="pl-PL" b="1" dirty="0"/>
              <a:t>II </a:t>
            </a:r>
            <a:r>
              <a:rPr lang="pl-PL" b="1" dirty="0" err="1"/>
              <a:t>AKa</a:t>
            </a:r>
            <a:r>
              <a:rPr lang="pl-PL" b="1" dirty="0"/>
              <a:t> 182/14</a:t>
            </a:r>
          </a:p>
          <a:p>
            <a:pPr>
              <a:buNone/>
            </a:pPr>
            <a:r>
              <a:rPr lang="pl-PL" dirty="0"/>
              <a:t> </a:t>
            </a:r>
          </a:p>
          <a:p>
            <a:r>
              <a:rPr lang="pl-PL" dirty="0"/>
              <a:t>Zachowanie sprawcy polegające na wypłaceniu pieniędzy w bankomacie przy użyciu karty kredytowej ponad przyznany limit z uwagi na to, że po stronie banku nie uczestniczy w takiej operacji żadna osoba trudno rozpatrywać jako przestępstwo oszustwa z art. 286 § 1 k.k. Natomiast można je analizować pod kątem przestępstwa kradzieży z art. 278 § 1 k.k., albowiem sprawca wypłacający w takiej sytuacji pieniądze i nie zwracając ich, zabiera niewątpliwie cudze, należące do banku, mienie.</a:t>
            </a:r>
          </a:p>
          <a:p>
            <a:r>
              <a:rPr lang="pl-PL" dirty="0"/>
              <a:t>Anglia</a:t>
            </a:r>
          </a:p>
          <a:p>
            <a:endParaRPr lang="pl-PL"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lstStyle/>
          <a:p>
            <a:r>
              <a:rPr lang="pl-PL" b="1" dirty="0">
                <a:solidFill>
                  <a:srgbClr val="FF0000"/>
                </a:solidFill>
              </a:rPr>
              <a:t>Kradzież z włamaniem</a:t>
            </a:r>
          </a:p>
          <a:p>
            <a:r>
              <a:rPr lang="pl-PL" b="1" dirty="0"/>
              <a:t>Art. 279.</a:t>
            </a:r>
            <a:r>
              <a:rPr lang="pl-PL" dirty="0"/>
              <a:t> § 1. Kto kradnie z włamaniem,</a:t>
            </a:r>
          </a:p>
          <a:p>
            <a:r>
              <a:rPr lang="pl-PL" dirty="0"/>
              <a:t>podlega karze pozbawienia wolności od roku do lat 10.</a:t>
            </a:r>
          </a:p>
          <a:p>
            <a:r>
              <a:rPr lang="pl-PL" dirty="0"/>
              <a:t>§ 2. Jeżeli kradzież z włamaniem popełniono na szkodę osoby najbliższej, ściganie następuje na wniosek pokrzywdzonego.</a:t>
            </a:r>
          </a:p>
          <a:p>
            <a:endParaRPr lang="pl-PL"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lstStyle/>
          <a:p>
            <a:pPr>
              <a:buNone/>
            </a:pPr>
            <a:r>
              <a:rPr lang="pl-PL" dirty="0"/>
              <a:t>Telesfor K. wszedł do wnętrza mieszkania swego kolegi Jana U. otwierając zamek tego mieszkania przy użyciu skradzionego koledze klucza, po czym zabrał w celu przywłaszczenia 6 butelek piwa wartości 24 zł na szkodę Jana U. Czy mamy tutaj do czynienia z przestępstwem i jakim, czy jedynie z wykroczeniem i jakim?</a:t>
            </a:r>
          </a:p>
          <a:p>
            <a:pPr>
              <a:buNone/>
            </a:pPr>
            <a:r>
              <a:rPr lang="pl-PL" dirty="0"/>
              <a:t>Art. 278, art. 279 k.k., art. 119 </a:t>
            </a:r>
            <a:r>
              <a:rPr lang="pl-PL" dirty="0" err="1"/>
              <a:t>k.w</a:t>
            </a:r>
            <a:r>
              <a:rPr lang="pl-PL" dirty="0"/>
              <a:t>.; problem czynu przepołowionego. </a:t>
            </a:r>
          </a:p>
        </p:txBody>
      </p:sp>
    </p:spTree>
    <p:extLst>
      <p:ext uri="{BB962C8B-B14F-4D97-AF65-F5344CB8AC3E}">
        <p14:creationId xmlns:p14="http://schemas.microsoft.com/office/powerpoint/2010/main" val="3901923189"/>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70000" lnSpcReduction="20000"/>
          </a:bodyPr>
          <a:lstStyle/>
          <a:p>
            <a:r>
              <a:rPr lang="pl-PL" b="1" dirty="0"/>
              <a:t>Wyrok </a:t>
            </a:r>
            <a:r>
              <a:rPr lang="pl-PL" dirty="0"/>
              <a:t>Sądu Apelacyjnego we Wrocławiu z dnia 9 lipca 2014 r.</a:t>
            </a:r>
          </a:p>
          <a:p>
            <a:r>
              <a:rPr lang="pl-PL" dirty="0"/>
              <a:t> </a:t>
            </a:r>
          </a:p>
          <a:p>
            <a:r>
              <a:rPr lang="pl-PL" dirty="0"/>
              <a:t>1. Kod jako swoisty i niepowtarzalny klucz elektroniczny zabezpieczający dostęp do konta bankowego danej osoby za pośrednictwem bankomatu wraz z kartą bankomatową stanowią przeszkodę do zawładnięcia mieniem innej osoby. Pokonanie takiej przeszkody przez posłużenie się przez sprawcę skradzioną kartą bankomatową wraz z kodem (kluczem elektronicznym) w celu pobrania wbrew jej woli pieniędzy z bankomatu, wyczerpuje znamiona kradzieży z włamaniem w rozumieniu art. 279 § 1 k.k.</a:t>
            </a:r>
          </a:p>
          <a:p>
            <a:r>
              <a:rPr lang="pl-PL" dirty="0"/>
              <a:t>2. Usiłowanie wypłaty pieniędzy na podstawie karty bankomatowej skradzionej podczas napadu rabunkowego, a także przy wykorzystaniu kodu, którego ujawnienia domagał się sprawca w trakcie rozboju, stanowi czyn </a:t>
            </a:r>
            <a:r>
              <a:rPr lang="pl-PL" dirty="0" err="1"/>
              <a:t>współukarany</a:t>
            </a:r>
            <a:r>
              <a:rPr lang="pl-PL" dirty="0"/>
              <a:t> następczy przestępstwa z art. 280 § 2 k.k., a nie odrębne przestępstwo z art. 13 § 1 k.k. w zw. z art. 279 § 1 k.k.</a:t>
            </a:r>
          </a:p>
          <a:p>
            <a:r>
              <a:rPr lang="pl-PL" i="1" dirty="0"/>
              <a:t>LEX nr 1506771</a:t>
            </a:r>
            <a:endParaRPr lang="pl-PL" dirty="0"/>
          </a:p>
          <a:p>
            <a:endParaRPr lang="pl-PL"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92500" lnSpcReduction="10000"/>
          </a:bodyPr>
          <a:lstStyle/>
          <a:p>
            <a:pPr>
              <a:buNone/>
            </a:pPr>
            <a:r>
              <a:rPr lang="pl-PL" dirty="0"/>
              <a:t>     </a:t>
            </a:r>
            <a:r>
              <a:rPr lang="pl-PL" b="1" dirty="0"/>
              <a:t>Postanowienie </a:t>
            </a:r>
            <a:r>
              <a:rPr lang="pl-PL" dirty="0"/>
              <a:t>Sądu Najwyższego z dnia 29 października 2012 r. </a:t>
            </a:r>
            <a:r>
              <a:rPr lang="pl-PL" b="1" dirty="0"/>
              <a:t>I KZP 11/12</a:t>
            </a:r>
          </a:p>
          <a:p>
            <a:pPr>
              <a:buNone/>
            </a:pPr>
            <a:endParaRPr lang="pl-PL" b="1" dirty="0"/>
          </a:p>
          <a:p>
            <a:pPr>
              <a:buNone/>
            </a:pPr>
            <a:r>
              <a:rPr lang="pl-PL" b="1" dirty="0"/>
              <a:t>   </a:t>
            </a:r>
            <a:r>
              <a:rPr lang="pl-PL" dirty="0"/>
              <a:t>Rozszerzenie interpretacji pojęcia "włamanie" przez przyjęcie, że włamanie to także niedopuszczenie do załączenia się zabezpieczenia przed nieuprawnionym otwarciem pojazdu mechanicznego, jest z punktu widzenia wykładni zabiegiem noszącym w sobie cechy analogii na niekorzyść sprawcy.</a:t>
            </a:r>
          </a:p>
          <a:p>
            <a:r>
              <a:rPr lang="pl-PL" dirty="0"/>
              <a:t>Użycie skanera, który pozwolił ominąć alarm samochodowy i zabrać rzecz z wnętrza auta, może być zakwalifikowane jako kradzież z włamaniem.</a:t>
            </a:r>
          </a:p>
          <a:p>
            <a:endParaRPr lang="pl-PL"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a:bodyPr>
          <a:lstStyle/>
          <a:p>
            <a:pPr>
              <a:buNone/>
            </a:pPr>
            <a:br>
              <a:rPr lang="pl-PL" dirty="0"/>
            </a:br>
            <a:r>
              <a:rPr lang="pl-PL" dirty="0"/>
              <a:t> </a:t>
            </a:r>
          </a:p>
          <a:p>
            <a:r>
              <a:rPr lang="pl-PL" b="1" dirty="0"/>
              <a:t>Wyrok </a:t>
            </a:r>
            <a:r>
              <a:rPr lang="pl-PL" dirty="0"/>
              <a:t>Sądu Apelacyjnego we Wrocławiu z dnia 1 marca 2013 r. </a:t>
            </a:r>
            <a:r>
              <a:rPr lang="pl-PL" b="1" dirty="0"/>
              <a:t>II </a:t>
            </a:r>
            <a:r>
              <a:rPr lang="pl-PL" b="1" dirty="0" err="1"/>
              <a:t>AKa</a:t>
            </a:r>
            <a:r>
              <a:rPr lang="pl-PL" b="1" dirty="0"/>
              <a:t> 39/13</a:t>
            </a:r>
          </a:p>
          <a:p>
            <a:pPr>
              <a:buNone/>
            </a:pPr>
            <a:r>
              <a:rPr lang="pl-PL" dirty="0"/>
              <a:t> </a:t>
            </a:r>
          </a:p>
          <a:p>
            <a:pPr>
              <a:buNone/>
            </a:pPr>
            <a:r>
              <a:rPr lang="pl-PL" dirty="0"/>
              <a:t>    Należy traktować jako kradzież z włamaniem zachowanie polegające na otwarciu drzwi oryginalnym kluczem wbrew woli osoby uprawnionej do dysponowania pomieszczeniem z zamiarem dokonania w ten sposób kradzieży.</a:t>
            </a:r>
          </a:p>
          <a:p>
            <a:endParaRPr lang="pl-PL" dirty="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77500" lnSpcReduction="20000"/>
          </a:bodyPr>
          <a:lstStyle/>
          <a:p>
            <a:r>
              <a:rPr lang="pl-PL" b="1" dirty="0">
                <a:solidFill>
                  <a:srgbClr val="FF0000"/>
                </a:solidFill>
              </a:rPr>
              <a:t>Przywłaszczenie mienia</a:t>
            </a:r>
          </a:p>
          <a:p>
            <a:r>
              <a:rPr lang="pl-PL" dirty="0"/>
              <a:t>Art.  284.  </a:t>
            </a:r>
          </a:p>
          <a:p>
            <a:r>
              <a:rPr lang="pl-PL" dirty="0"/>
              <a:t>§  1. </a:t>
            </a:r>
          </a:p>
          <a:p>
            <a:r>
              <a:rPr lang="pl-PL" dirty="0"/>
              <a:t>Kto przywłaszcza sobie cudzą rzecz ruchomą lub prawo majątkowe, podlega karze pozbawienia wolności do lat 3.</a:t>
            </a:r>
          </a:p>
          <a:p>
            <a:r>
              <a:rPr lang="pl-PL" dirty="0"/>
              <a:t>§  2. </a:t>
            </a:r>
          </a:p>
          <a:p>
            <a:r>
              <a:rPr lang="pl-PL" dirty="0"/>
              <a:t>Kto przywłaszcza sobie powierzoną mu rzecz </a:t>
            </a:r>
            <a:r>
              <a:rPr lang="pl-PL" dirty="0" err="1"/>
              <a:t>ruchomą,podlega</a:t>
            </a:r>
            <a:r>
              <a:rPr lang="pl-PL" dirty="0"/>
              <a:t> karze pozbawienia wolności od 3 miesięcy do lat 5.</a:t>
            </a:r>
          </a:p>
          <a:p>
            <a:r>
              <a:rPr lang="pl-PL" dirty="0"/>
              <a:t>§  3. </a:t>
            </a:r>
          </a:p>
          <a:p>
            <a:r>
              <a:rPr lang="pl-PL" dirty="0"/>
              <a:t>W wypadku mniejszej wagi lub przywłaszczenia rzeczy znalezionej, </a:t>
            </a:r>
            <a:r>
              <a:rPr lang="pl-PL" dirty="0" err="1"/>
              <a:t>sprawcapodlega</a:t>
            </a:r>
            <a:r>
              <a:rPr lang="pl-PL" dirty="0"/>
              <a:t> grzywnie, karze ograniczenia wolności albo pozbawienia wolności do roku.</a:t>
            </a:r>
          </a:p>
          <a:p>
            <a:r>
              <a:rPr lang="pl-PL" dirty="0"/>
              <a:t>§  4. </a:t>
            </a:r>
          </a:p>
          <a:p>
            <a:r>
              <a:rPr lang="pl-PL" dirty="0"/>
              <a:t>Jeżeli przywłaszczenie nastąpiło na szkodę osoby najbliższej, ściganie następuje na wniosek pokrzywdzonego.</a:t>
            </a:r>
          </a:p>
          <a:p>
            <a:endParaRPr lang="pl-PL"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dirty="0"/>
          </a:p>
        </p:txBody>
      </p:sp>
      <p:sp>
        <p:nvSpPr>
          <p:cNvPr id="3" name="Symbol zastępczy zawartości 2"/>
          <p:cNvSpPr>
            <a:spLocks noGrp="1"/>
          </p:cNvSpPr>
          <p:nvPr>
            <p:ph sz="quarter" idx="1"/>
          </p:nvPr>
        </p:nvSpPr>
        <p:spPr/>
        <p:txBody>
          <a:bodyPr>
            <a:normAutofit fontScale="92500" lnSpcReduction="10000"/>
          </a:bodyPr>
          <a:lstStyle/>
          <a:p>
            <a:pPr>
              <a:buNone/>
            </a:pPr>
            <a:endParaRPr lang="pl-PL" dirty="0"/>
          </a:p>
          <a:p>
            <a:r>
              <a:rPr lang="pl-PL" b="1" dirty="0"/>
              <a:t>Wyrok </a:t>
            </a:r>
            <a:r>
              <a:rPr lang="pl-PL" dirty="0"/>
              <a:t>Sądu Najwyższego z dnia 7 listopada 2014 r. </a:t>
            </a:r>
            <a:r>
              <a:rPr lang="pl-PL" b="1" dirty="0"/>
              <a:t>V KK 236/14</a:t>
            </a:r>
          </a:p>
          <a:p>
            <a:pPr>
              <a:buNone/>
            </a:pPr>
            <a:endParaRPr lang="pl-PL" dirty="0"/>
          </a:p>
          <a:p>
            <a:pPr>
              <a:buNone/>
            </a:pPr>
            <a:r>
              <a:rPr lang="pl-PL" dirty="0"/>
              <a:t>    Bezprawne zadysponowanie pieniędzmi omyłkowo wpłaconymi na konto nie stanowi tzw. wyjęcia ich spod władztwa osoby uprawnionej, a tym samym nie wypełnia znamienia zaboru cudzego mienia (art. 278 § 1 k.k.), gdyż osoba ta utraciła owo władztwo, wpłacając omyłkowo pieniądze na konto bankowe, którym nie dysponuje. Czyn realizujący się przez wypłatę określonej kwoty wypełnia natomiast znamię przywłaszczenia cudzego mienia.</a:t>
            </a:r>
          </a:p>
          <a:p>
            <a:endParaRPr lang="pl-PL"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ymbol zastępczy zawartości 2"/>
          <p:cNvSpPr>
            <a:spLocks noGrp="1"/>
          </p:cNvSpPr>
          <p:nvPr>
            <p:ph sz="quarter" idx="1"/>
          </p:nvPr>
        </p:nvSpPr>
        <p:spPr/>
        <p:txBody>
          <a:bodyPr>
            <a:normAutofit fontScale="77500" lnSpcReduction="20000"/>
          </a:bodyPr>
          <a:lstStyle/>
          <a:p>
            <a:r>
              <a:rPr lang="pl-PL" b="1" dirty="0">
                <a:solidFill>
                  <a:srgbClr val="FF0000"/>
                </a:solidFill>
              </a:rPr>
              <a:t>Rozbój </a:t>
            </a:r>
            <a:endParaRPr lang="pl-PL" b="1" dirty="0"/>
          </a:p>
          <a:p>
            <a:pPr>
              <a:buNone/>
            </a:pPr>
            <a:r>
              <a:rPr lang="pl-PL" dirty="0"/>
              <a:t>Art.  280 §  1 k.k. </a:t>
            </a:r>
          </a:p>
          <a:p>
            <a:pPr>
              <a:buNone/>
            </a:pPr>
            <a:r>
              <a:rPr lang="pl-PL" dirty="0"/>
              <a:t>Kto kradnie, używając przemocy wobec osoby lub grożąc natychmiastowym jej użyciem albo doprowadzając człowieka do stanu nieprzytomności lub bezbronności,</a:t>
            </a:r>
          </a:p>
          <a:p>
            <a:pPr>
              <a:buNone/>
            </a:pPr>
            <a:endParaRPr lang="pl-PL" dirty="0"/>
          </a:p>
          <a:p>
            <a:pPr>
              <a:buNone/>
            </a:pPr>
            <a:r>
              <a:rPr lang="pl-PL" dirty="0"/>
              <a:t>podlega karze pozbawienia wolności od lat 2 do 15.</a:t>
            </a:r>
          </a:p>
          <a:p>
            <a:pPr>
              <a:buNone/>
            </a:pPr>
            <a:r>
              <a:rPr lang="pl-PL" dirty="0"/>
              <a:t>§  2. </a:t>
            </a:r>
          </a:p>
          <a:p>
            <a:pPr>
              <a:buNone/>
            </a:pPr>
            <a:r>
              <a:rPr lang="pl-PL" dirty="0"/>
              <a:t>Jeżeli sprawca rozboju posługuje się bronią palną, nożem lub innym podobnie niebezpiecznym przedmiotem lub środkiem obezwładniającym albo działa w inny sposób bezpośrednio zagrażający życiu lub wspólnie z inną osobą, która posługuje się taką bronią, przedmiotem, środkiem lub sposobem,</a:t>
            </a:r>
          </a:p>
          <a:p>
            <a:pPr>
              <a:buNone/>
            </a:pPr>
            <a:endParaRPr lang="pl-PL" dirty="0"/>
          </a:p>
          <a:p>
            <a:pPr>
              <a:buNone/>
            </a:pPr>
            <a:r>
              <a:rPr lang="pl-PL" dirty="0"/>
              <a:t>podlega karze pozbawienia wolności od lat 3 do 20.</a:t>
            </a: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lstStyle/>
          <a:p>
            <a:r>
              <a:rPr lang="pl-PL" b="1" dirty="0"/>
              <a:t>przemoc wobec osoby</a:t>
            </a:r>
            <a:r>
              <a:rPr lang="pl-PL" dirty="0"/>
              <a:t> należy rozumieć zastosowanie bezpośredniej przemocy fizycznej skierowanej na ciało człowieka w celu uniemożliwienia lub pokonania oporu, aby następnie dokonać kradzieży (np. bicie, kopanie, duszenie, obezwładnienie i związanie itp.)</a:t>
            </a:r>
          </a:p>
          <a:p>
            <a:endParaRPr lang="pl-PL" dirty="0"/>
          </a:p>
          <a:p>
            <a:r>
              <a:rPr lang="pl-PL" dirty="0"/>
              <a:t>Nie wchodzi w grę przemoc pośrednia</a:t>
            </a:r>
          </a:p>
          <a:p>
            <a:r>
              <a:rPr lang="pl-PL" dirty="0"/>
              <a:t>Nie jest przemocą wyrwanie torebki z rąk pokrzywdzonego </a:t>
            </a: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lstStyle/>
          <a:p>
            <a:endParaRPr lang="pl-PL" b="1" dirty="0"/>
          </a:p>
          <a:p>
            <a:r>
              <a:rPr lang="pl-PL" b="1" dirty="0"/>
              <a:t>Przemoc - przeważająca czyjąś siłę, fizyczna przewaga wykorzystywana do czynów bezprawnych dokonywanych na kimś, narzucenie bezprawnie władzy, czyny bezprawne, dokonane z użyciem fizycznego przymusu, gwałt,</a:t>
            </a:r>
          </a:p>
          <a:p>
            <a:endParaRPr lang="pl-PL" b="1" dirty="0"/>
          </a:p>
          <a:p>
            <a:r>
              <a:rPr lang="pl-PL" dirty="0"/>
              <a:t>Problem z definicją przemocy</a:t>
            </a: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lstStyle/>
          <a:p>
            <a:endParaRPr lang="pl-PL" dirty="0"/>
          </a:p>
          <a:p>
            <a:endParaRPr lang="pl-PL" dirty="0"/>
          </a:p>
          <a:p>
            <a:r>
              <a:rPr lang="pl-PL" dirty="0"/>
              <a:t>znamiona rozboju wypełnia również przemoc fizyczna o niewielkim natężeniu; </a:t>
            </a:r>
          </a:p>
          <a:p>
            <a:endParaRPr lang="pl-PL" dirty="0"/>
          </a:p>
          <a:p>
            <a:r>
              <a:rPr lang="pl-PL" dirty="0"/>
              <a:t>musi ona jednak stanowić co najmniej naruszenie nietykalności cielesnej i zmierzać do uniemożliwienia lub przełamania oporu pokrzywdzonego </a:t>
            </a: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a:xfrm>
            <a:off x="301752" y="1412776"/>
            <a:ext cx="8503920" cy="4968552"/>
          </a:xfrm>
        </p:spPr>
        <p:txBody>
          <a:bodyPr>
            <a:normAutofit fontScale="70000" lnSpcReduction="20000"/>
          </a:bodyPr>
          <a:lstStyle/>
          <a:p>
            <a:r>
              <a:rPr lang="pl-PL" dirty="0"/>
              <a:t>Art.  130. </a:t>
            </a:r>
          </a:p>
          <a:p>
            <a:r>
              <a:rPr lang="pl-PL" dirty="0"/>
              <a:t>§  1. </a:t>
            </a:r>
          </a:p>
          <a:p>
            <a:r>
              <a:rPr lang="pl-PL" dirty="0"/>
              <a:t>Przepisów art. 119, art. 122 i art. 124 nie stosuje się:1) </a:t>
            </a:r>
          </a:p>
          <a:p>
            <a:r>
              <a:rPr lang="pl-PL" dirty="0"/>
              <a:t>(uchylony),</a:t>
            </a:r>
          </a:p>
          <a:p>
            <a:r>
              <a:rPr lang="pl-PL" dirty="0"/>
              <a:t>2) </a:t>
            </a:r>
          </a:p>
          <a:p>
            <a:r>
              <a:rPr lang="pl-PL" dirty="0"/>
              <a:t>jeżeli przedmiotem czynu jest broń, amunicja, materiały lub przyrządy wybuchowe.</a:t>
            </a:r>
          </a:p>
          <a:p>
            <a:r>
              <a:rPr lang="pl-PL" dirty="0"/>
              <a:t>§  2. </a:t>
            </a:r>
          </a:p>
          <a:p>
            <a:r>
              <a:rPr lang="pl-PL" dirty="0"/>
              <a:t>Przepisu art. 119 nie stosuje się, jeżeli sprawca popełnia kradzież w sposób szczególnie zuchwały lub z włamaniem.</a:t>
            </a:r>
          </a:p>
          <a:p>
            <a:r>
              <a:rPr lang="pl-PL" dirty="0"/>
              <a:t>§  3. </a:t>
            </a:r>
          </a:p>
          <a:p>
            <a:r>
              <a:rPr lang="pl-PL" dirty="0"/>
              <a:t>Przepisów art. 119 i 120 nie stosuje się, jeżeli sprawca używa gwałtu na osobie albo grozi jego natychmiastowym użyciem, aby utrzymać się w posiadaniu zabranego mienia, a gdy chodzi o zabranie innej osobie mienia w celu przywłaszczenia, także wtedy, gdy sprawca doprowadza człowieka do stanu nieprzytomności lub bezbronności.</a:t>
            </a:r>
          </a:p>
          <a:p>
            <a:r>
              <a:rPr lang="pl-PL" dirty="0"/>
              <a:t>§  4. </a:t>
            </a:r>
          </a:p>
          <a:p>
            <a:r>
              <a:rPr lang="pl-PL" dirty="0"/>
              <a:t>(uchylony).</a:t>
            </a:r>
          </a:p>
          <a:p>
            <a:endParaRPr lang="pl-PL" dirty="0"/>
          </a:p>
          <a:p>
            <a:endParaRPr lang="pl-PL" dirty="0"/>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a:bodyPr>
          <a:lstStyle/>
          <a:p>
            <a:r>
              <a:rPr lang="pl-PL" b="1" dirty="0"/>
              <a:t>Uchwała </a:t>
            </a:r>
            <a:r>
              <a:rPr lang="pl-PL" dirty="0"/>
              <a:t>Sądu Najwyższego 7 sędziów - zasada prawna z dnia 17 grudnia 2008 r. </a:t>
            </a:r>
            <a:r>
              <a:rPr lang="pl-PL" b="1" dirty="0"/>
              <a:t>I KZP 27/08</a:t>
            </a:r>
          </a:p>
          <a:p>
            <a:endParaRPr lang="pl-PL" dirty="0"/>
          </a:p>
          <a:p>
            <a:r>
              <a:rPr lang="pl-PL" dirty="0"/>
              <a:t>1. Znaczenie normatywne określeń "przemoc wobec osoby", użytego w art. 280 § 1 k.k., oraz "gwałt na osobie", użytego w art. 130 § 3 </a:t>
            </a:r>
            <a:r>
              <a:rPr lang="pl-PL" dirty="0" err="1"/>
              <a:t>k.w</a:t>
            </a:r>
            <a:r>
              <a:rPr lang="pl-PL" dirty="0"/>
              <a:t>., jest tożsame.</a:t>
            </a:r>
          </a:p>
          <a:p>
            <a:r>
              <a:rPr lang="pl-PL" dirty="0"/>
              <a:t>2. Nadać powyższej uchwale moc zasady prawnej.</a:t>
            </a:r>
          </a:p>
          <a:p>
            <a:endParaRPr lang="pl-PL" dirty="0"/>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lstStyle/>
          <a:p>
            <a:r>
              <a:rPr lang="pl-PL" b="1" dirty="0"/>
              <a:t>Groźba</a:t>
            </a:r>
          </a:p>
          <a:p>
            <a:r>
              <a:rPr lang="pl-PL" dirty="0"/>
              <a:t> musi mieć cechy groźby karalnej z </a:t>
            </a:r>
            <a:r>
              <a:rPr lang="pl-PL" u="sng" dirty="0"/>
              <a:t>art. 190 § 1</a:t>
            </a:r>
            <a:r>
              <a:rPr lang="pl-PL" dirty="0"/>
              <a:t> k.k.;</a:t>
            </a:r>
          </a:p>
          <a:p>
            <a:r>
              <a:rPr lang="pl-PL" dirty="0"/>
              <a:t>musi zapowiadać przemoc skierowaną wyłącznie przeciw osobie; </a:t>
            </a:r>
          </a:p>
          <a:p>
            <a:r>
              <a:rPr lang="pl-PL" dirty="0"/>
              <a:t>musi budzić uzasadnioną obawę spełnienia. </a:t>
            </a:r>
          </a:p>
          <a:p>
            <a:r>
              <a:rPr lang="pl-PL" dirty="0"/>
              <a:t>Oceny groźby jako znamienia przestępstwa rozboju dokonuje sąd uwzględniając okoliczności zdarzenia i właściwości osobiste zagrożonego, z których wynikał (subiektywnie) jego lęk przed groźbą. </a:t>
            </a:r>
            <a:r>
              <a:rPr lang="pl-PL" b="1" dirty="0"/>
              <a:t> </a:t>
            </a:r>
            <a:endParaRPr lang="pl-PL" dirty="0"/>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lnSpcReduction="10000"/>
          </a:bodyPr>
          <a:lstStyle/>
          <a:p>
            <a:r>
              <a:rPr lang="pl-PL" b="1" dirty="0"/>
              <a:t>Wyrok </a:t>
            </a:r>
            <a:r>
              <a:rPr lang="pl-PL" dirty="0"/>
              <a:t>Sądu Apelacyjnego w Krakowie z dnia 15 listopada 2002 r. </a:t>
            </a:r>
            <a:r>
              <a:rPr lang="pl-PL" b="1" dirty="0"/>
              <a:t>II </a:t>
            </a:r>
            <a:r>
              <a:rPr lang="pl-PL" b="1" dirty="0" err="1"/>
              <a:t>AKa</a:t>
            </a:r>
            <a:r>
              <a:rPr lang="pl-PL" b="1" dirty="0"/>
              <a:t> 303/02</a:t>
            </a:r>
          </a:p>
          <a:p>
            <a:r>
              <a:rPr lang="pl-PL" dirty="0"/>
              <a:t> </a:t>
            </a:r>
          </a:p>
          <a:p>
            <a:r>
              <a:rPr lang="pl-PL" dirty="0"/>
              <a:t>Groźba z art. 280 § 1-2 k.k. musi mieć cechy groźby karalnej z art. 190 § 1 k.k. i zapowiadać przemoc skierowaną wyłącznie przeciw osobie, ma to więc być groźba budząca uzasadnioną obawę spełnienia. Oceny tej groźby dokonuje (obiektywnie) sąd, uwzględniając okoliczności zdarzenia i właściwości osobiste zagrożonego, z których wynikał (subiektywnie) jego lęk przed groźbą.</a:t>
            </a:r>
          </a:p>
          <a:p>
            <a:endParaRPr lang="pl-PL" dirty="0"/>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lstStyle/>
          <a:p>
            <a:r>
              <a:rPr lang="pl-PL" dirty="0"/>
              <a:t>Art.  190.  </a:t>
            </a:r>
          </a:p>
          <a:p>
            <a:r>
              <a:rPr lang="pl-PL" dirty="0"/>
              <a:t>§  1. </a:t>
            </a:r>
          </a:p>
          <a:p>
            <a:r>
              <a:rPr lang="pl-PL" dirty="0"/>
              <a:t>Kto grozi innej osobie popełnieniem przestępstwa na jej szkodę lub na szkodę osoby dla niej najbliższej, jeżeli groźba wzbudza w osobie, do której została skierowana lub której dotyczy, uzasadnioną obawę, że będzie spełniona, podlega karze pozbawienia wolności do lat 3.</a:t>
            </a:r>
          </a:p>
          <a:p>
            <a:r>
              <a:rPr lang="pl-PL" dirty="0"/>
              <a:t>§  2. </a:t>
            </a:r>
          </a:p>
          <a:p>
            <a:r>
              <a:rPr lang="pl-PL" dirty="0"/>
              <a:t>Ściganie następuje na wniosek pokrzywdzonego.</a:t>
            </a:r>
          </a:p>
          <a:p>
            <a:endParaRPr lang="pl-PL" b="1" dirty="0"/>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a:bodyPr>
          <a:lstStyle/>
          <a:p>
            <a:r>
              <a:rPr lang="pl-PL" dirty="0"/>
              <a:t> Dopuszczalna groźba wyrażona przez zachowania </a:t>
            </a:r>
            <a:r>
              <a:rPr lang="pl-PL" dirty="0" err="1"/>
              <a:t>konkludentne</a:t>
            </a:r>
            <a:r>
              <a:rPr lang="pl-PL" dirty="0"/>
              <a:t>, </a:t>
            </a:r>
          </a:p>
          <a:p>
            <a:r>
              <a:rPr lang="pl-PL" dirty="0"/>
              <a:t>Ale dla przyjęcia </a:t>
            </a:r>
            <a:r>
              <a:rPr lang="pl-PL" b="1" dirty="0"/>
              <a:t>groźby </a:t>
            </a:r>
            <a:r>
              <a:rPr lang="pl-PL" b="1" dirty="0" err="1"/>
              <a:t>konkludentnej</a:t>
            </a:r>
            <a:r>
              <a:rPr lang="pl-PL" b="1" dirty="0"/>
              <a:t> konieczna jest szczegółowa analiza zachowania sprawcy na tle konkretnych okoliczności całego zdarzenia, która prowadzić musi do niewątpliwego wniosku, że sprawca zdecydowany był użyć przemocy wobec osoby na wypadek niepodporządkowania się jego żądaniu.</a:t>
            </a:r>
            <a:endParaRPr lang="pl-PL" dirty="0"/>
          </a:p>
          <a:p>
            <a:endParaRPr lang="pl-PL" dirty="0"/>
          </a:p>
          <a:p>
            <a:pPr>
              <a:buNone/>
            </a:pPr>
            <a:endParaRPr lang="pl-PL" dirty="0"/>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lstStyle/>
          <a:p>
            <a:r>
              <a:rPr lang="pl-PL" b="1" dirty="0"/>
              <a:t>Doprowadzenie do stanu nieprzytomności -  wywołanie zakłóceń czynności psychicznych w całkowitym lub znacznym stopniu, na których skutek osoba władająca rzeczą </a:t>
            </a:r>
            <a:r>
              <a:rPr lang="pl-PL" dirty="0"/>
              <a:t> </a:t>
            </a:r>
            <a:r>
              <a:rPr lang="pl-PL" b="1" dirty="0"/>
              <a:t>nie może rozpoznać znaczenia swego postępowania ani nim pokierować</a:t>
            </a:r>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lstStyle/>
          <a:p>
            <a:r>
              <a:rPr lang="pl-PL" b="1" dirty="0"/>
              <a:t>Doprowadzenie do stanu bezbronności oznacza sytuację, w której osoba, posiadając zdolność jej prawidłowego rozpoznania i zachowując sprawność fizyczną i psychiczną, nie ma możliwości przeciwdziałania czynnościom podejmowanym przez sprawcę;</a:t>
            </a:r>
          </a:p>
          <a:p>
            <a:r>
              <a:rPr lang="pl-PL" b="1" dirty="0"/>
              <a:t>Doprowadzenie do stanu bezbronności musi być następstwem działań innych niż stosowanie przemocy lub groźby</a:t>
            </a:r>
            <a:endParaRPr lang="pl-PL" dirty="0"/>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85000" lnSpcReduction="20000"/>
          </a:bodyPr>
          <a:lstStyle/>
          <a:p>
            <a:r>
              <a:rPr lang="pl-PL" b="1" dirty="0"/>
              <a:t>Wyrok </a:t>
            </a:r>
            <a:r>
              <a:rPr lang="pl-PL" dirty="0"/>
              <a:t>Sądu Apelacyjnego w Katowicach z dnia 28 listopada 2002 r.  </a:t>
            </a:r>
            <a:r>
              <a:rPr lang="pl-PL" b="1" dirty="0"/>
              <a:t>II </a:t>
            </a:r>
            <a:r>
              <a:rPr lang="pl-PL" b="1" dirty="0" err="1"/>
              <a:t>AKa</a:t>
            </a:r>
            <a:r>
              <a:rPr lang="pl-PL" b="1" dirty="0"/>
              <a:t> 420/02</a:t>
            </a:r>
          </a:p>
          <a:p>
            <a:pPr>
              <a:buNone/>
            </a:pPr>
            <a:endParaRPr lang="pl-PL" dirty="0"/>
          </a:p>
          <a:p>
            <a:r>
              <a:rPr lang="pl-PL" dirty="0"/>
              <a:t>Dla bytu przestępstwa z art. 280 k.k. konieczne jest doprowadzenie pokrzywdzonego do "stanu bezbronności" w innym niż potoczne znaczeniu. Chodzi tu o użycie przez sprawcę takich środków, które nie będąc aktem bezpośrednim przemocy fizycznej lub psychicznej wpływają na zachowanie człowieka pozbawiając go możliwości przeciwdziałania zaborowi rzeczy, przykładowo możliwości wykonywania ruchów. Zatem bezbronność ofiar po zastosowaniu przemocy i będąca wynikiem zastosowanej przemocy nie jest bezbronnością w rozumieniu art. 280 k.k., bowiem przy zastosowaniu przemocy właśnie przemoc na osobie jest środkiem do celu, jakim jest zabór mienia.</a:t>
            </a:r>
          </a:p>
          <a:p>
            <a:endParaRPr lang="pl-PL" dirty="0"/>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85000" lnSpcReduction="20000"/>
          </a:bodyPr>
          <a:lstStyle/>
          <a:p>
            <a:r>
              <a:rPr lang="pl-PL" dirty="0"/>
              <a:t>Typ kwalifikowany – art. 280 par. </a:t>
            </a:r>
            <a:r>
              <a:rPr lang="pl-PL"/>
              <a:t>2 k.k. </a:t>
            </a:r>
            <a:endParaRPr lang="pl-PL" dirty="0"/>
          </a:p>
          <a:p>
            <a:endParaRPr lang="pl-PL" dirty="0"/>
          </a:p>
          <a:p>
            <a:r>
              <a:rPr lang="pl-PL" dirty="0"/>
              <a:t>Posługuje się </a:t>
            </a:r>
          </a:p>
          <a:p>
            <a:endParaRPr lang="pl-PL" dirty="0"/>
          </a:p>
          <a:p>
            <a:r>
              <a:rPr lang="pl-PL" b="1" dirty="0"/>
              <a:t>Wyrok </a:t>
            </a:r>
            <a:r>
              <a:rPr lang="pl-PL" dirty="0"/>
              <a:t>Sądu Najwyższego z dnia 3 maja 1984 r. </a:t>
            </a:r>
            <a:r>
              <a:rPr lang="pl-PL" b="1" dirty="0"/>
              <a:t>II KR 81/85</a:t>
            </a:r>
          </a:p>
          <a:p>
            <a:endParaRPr lang="pl-PL" dirty="0"/>
          </a:p>
          <a:p>
            <a:pPr>
              <a:buNone/>
            </a:pPr>
            <a:r>
              <a:rPr lang="pl-PL" dirty="0"/>
              <a:t>    Użyte w art. 210 § 2 k.k. określenie "posługuje się" jest pojęciem szerszym od określenia "używa". Każda zatem forma demonstrowania noża czy innego niebezpiecznego narzędzia (przystawiania lub groźby natychmiastowego zastosowania go) w celu dokonania zaboru mienia, zmierzające do spotęgowania gwałtu względnie jego groźby dla wywołania większej obawy i poczucia zagrożenia może być posługiwaniem się niebezpiecznym narzędziem.</a:t>
            </a:r>
          </a:p>
          <a:p>
            <a:endParaRPr lang="pl-PL" dirty="0"/>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62500" lnSpcReduction="20000"/>
          </a:bodyPr>
          <a:lstStyle/>
          <a:p>
            <a:pPr algn="just"/>
            <a:r>
              <a:rPr lang="pl-PL" sz="2800" b="1" i="1" dirty="0">
                <a:effectLst/>
                <a:latin typeface="Times New Roman" panose="02020603050405020304" pitchFamily="18" charset="0"/>
                <a:ea typeface="Times New Roman" panose="02020603050405020304" pitchFamily="18" charset="0"/>
              </a:rPr>
              <a:t>Sąd Okręgowy w T. wyrokiem z dnia 20 sierpnia 2020 r.  uznał oskarżonego Alberta W.  za winnego tego, że w dniu 12 lutego 2020 r., posługując się bronią palną w postaci zdatnego do oddania strzału, naładowanego pistoletu gazowego, którego lufę przystawił do skroni pokrzywdzonego  Jana L., zażądał od niego pieniędzy w kwocie 1000 zł, które to pieniądze pokrzywdzony oskarżonemu niezwłocznie wydał, zaś ten zabrał je w celu przywłaszczenia tj. popełnienia przestępstwa z art. 280 § 2 k.k. i za to przestępstwo na podstawie art. 280 § 2 k.k. wymierzył mu karę 4 lat pozbawienia wolności, na poczet której na podstawie art. 63 § 1 k.k. zaliczył okres rzeczywistego pozbawienia wolności oskarżonego od 12 lutego 2020 r. do 20 sierpnia 2020 r. oraz rozstrzygnął o kosztach procesu obciążając nimi Skarb Państwa.  </a:t>
            </a:r>
            <a:r>
              <a:rPr lang="pl-PL" sz="2800" dirty="0">
                <a:effectLst/>
                <a:latin typeface="Times New Roman" panose="02020603050405020304" pitchFamily="18" charset="0"/>
                <a:ea typeface="Times New Roman" panose="02020603050405020304" pitchFamily="18" charset="0"/>
              </a:rPr>
              <a:t> </a:t>
            </a:r>
          </a:p>
          <a:p>
            <a:pPr algn="just"/>
            <a:r>
              <a:rPr lang="pl-PL" sz="2800" i="1" dirty="0">
                <a:effectLst/>
                <a:latin typeface="Times New Roman" panose="02020603050405020304" pitchFamily="18" charset="0"/>
                <a:ea typeface="Times New Roman" panose="02020603050405020304" pitchFamily="18" charset="0"/>
              </a:rPr>
              <a:t>Apelację od tego wyroku wniósł obrońca oskarżonego podnosząc zarzuty naruszenia przepisu prawa karnego materialnego tj. art. 280 § 2 k.k.  „przez to, że:</a:t>
            </a:r>
            <a:endParaRPr lang="pl-PL" sz="2800" dirty="0">
              <a:effectLst/>
              <a:latin typeface="Times New Roman" panose="02020603050405020304" pitchFamily="18" charset="0"/>
              <a:ea typeface="Times New Roman" panose="02020603050405020304" pitchFamily="18" charset="0"/>
            </a:endParaRPr>
          </a:p>
          <a:p>
            <a:pPr algn="just"/>
            <a:r>
              <a:rPr lang="pl-PL" sz="2800" i="1" dirty="0">
                <a:effectLst/>
                <a:latin typeface="Times New Roman" panose="02020603050405020304" pitchFamily="18" charset="0"/>
                <a:ea typeface="Times New Roman" panose="02020603050405020304" pitchFamily="18" charset="0"/>
              </a:rPr>
              <a:t>- nie może być mowy o rozboju, skoro pokrzywdzony sam wydał pieniądze oskarżonemu, zaś  dla realizacji znamion tego przestępstwa konieczne jest, aby sprawca czynu osobiście wyjął przedmiot zaboru spod władztwa pokrzywdzonego. Jeśli zaś dojdzie, jak w niniejszej sprawie, do samodzielnego wydania  tego przedmiotu przez pokrzywdzonego, to powyższy stan rzeczy może być rozpatrywany jedynie na płaszczyźnie art. 282 k.k., </a:t>
            </a:r>
            <a:endParaRPr lang="pl-PL" sz="2800" dirty="0">
              <a:effectLst/>
              <a:latin typeface="Times New Roman" panose="02020603050405020304" pitchFamily="18" charset="0"/>
              <a:ea typeface="Times New Roman" panose="02020603050405020304" pitchFamily="18" charset="0"/>
            </a:endParaRPr>
          </a:p>
          <a:p>
            <a:endParaRPr lang="pl-PL" dirty="0"/>
          </a:p>
        </p:txBody>
      </p:sp>
    </p:spTree>
    <p:extLst>
      <p:ext uri="{BB962C8B-B14F-4D97-AF65-F5344CB8AC3E}">
        <p14:creationId xmlns:p14="http://schemas.microsoft.com/office/powerpoint/2010/main" val="1264540170"/>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92500" lnSpcReduction="10000"/>
          </a:bodyPr>
          <a:lstStyle/>
          <a:p>
            <a:pPr algn="just"/>
            <a:r>
              <a:rPr lang="pl-PL" sz="2400" i="1" dirty="0">
                <a:effectLst/>
                <a:latin typeface="Times New Roman" panose="02020603050405020304" pitchFamily="18" charset="0"/>
                <a:ea typeface="Times New Roman" panose="02020603050405020304" pitchFamily="18" charset="0"/>
              </a:rPr>
              <a:t>- nie sposób uznać, że zaistniał w tej sprawie rozbój kwalifikowany, gdyż zdatny do oddania strzału, naładowany pistolet gazowy, nie może być uznany za broń palną na gruncie art. 280 § 2 k.k.”. </a:t>
            </a:r>
            <a:endParaRPr lang="pl-PL" sz="2400" dirty="0">
              <a:effectLst/>
              <a:latin typeface="Times New Roman" panose="02020603050405020304" pitchFamily="18" charset="0"/>
              <a:ea typeface="Times New Roman" panose="02020603050405020304" pitchFamily="18" charset="0"/>
            </a:endParaRPr>
          </a:p>
          <a:p>
            <a:pPr algn="just"/>
            <a:r>
              <a:rPr lang="pl-PL" sz="2400" i="1" dirty="0">
                <a:effectLst/>
                <a:latin typeface="Times New Roman" panose="02020603050405020304" pitchFamily="18" charset="0"/>
                <a:ea typeface="Times New Roman" panose="02020603050405020304" pitchFamily="18" charset="0"/>
              </a:rPr>
              <a:t>	Odwołując się do powyższych zarzutów obrońca domagał się uchylenia wyroku i przekazania sprawy Sądowi Rejonowemu, jako właściwemu, do jej ponownego rozpoznania. </a:t>
            </a:r>
            <a:endParaRPr lang="pl-PL" sz="2400" dirty="0">
              <a:effectLst/>
              <a:latin typeface="Times New Roman" panose="02020603050405020304" pitchFamily="18" charset="0"/>
              <a:ea typeface="Times New Roman" panose="02020603050405020304" pitchFamily="18" charset="0"/>
            </a:endParaRPr>
          </a:p>
          <a:p>
            <a:pPr algn="just"/>
            <a:r>
              <a:rPr lang="pl-PL" sz="2400" b="1" i="1" dirty="0">
                <a:effectLst/>
                <a:latin typeface="Times New Roman" panose="02020603050405020304" pitchFamily="18" charset="0"/>
                <a:ea typeface="Times New Roman" panose="02020603050405020304" pitchFamily="18" charset="0"/>
              </a:rPr>
              <a:t> </a:t>
            </a:r>
            <a:endParaRPr lang="pl-PL" sz="2400" dirty="0">
              <a:effectLst/>
              <a:latin typeface="Times New Roman" panose="02020603050405020304" pitchFamily="18" charset="0"/>
              <a:ea typeface="Times New Roman" panose="02020603050405020304" pitchFamily="18" charset="0"/>
            </a:endParaRPr>
          </a:p>
          <a:p>
            <a:pPr algn="just"/>
            <a:r>
              <a:rPr lang="pl-PL" sz="2400" b="1" i="1" dirty="0">
                <a:effectLst/>
                <a:latin typeface="Times New Roman" panose="02020603050405020304" pitchFamily="18" charset="0"/>
                <a:ea typeface="Times New Roman" panose="02020603050405020304" pitchFamily="18" charset="0"/>
              </a:rPr>
              <a:t>Oceń jako pełnomocnik oskarżyciela posiłkowego, w odpowiedzi na apelację, zasadność zarzutów i wniosków odwoławczych obrońcy, przyjmując, że stan faktyczny sprawy został ustalony prawidłowo? Wskaż wyczerpujące argumenty na poparcie zajętego w przedmiotowej sprawie  stanowiska.</a:t>
            </a:r>
          </a:p>
          <a:p>
            <a:pPr algn="just"/>
            <a:r>
              <a:rPr lang="pl-PL" sz="2400" b="1" i="1" dirty="0">
                <a:latin typeface="Times New Roman" panose="02020603050405020304" pitchFamily="18" charset="0"/>
                <a:ea typeface="Times New Roman" panose="02020603050405020304" pitchFamily="18" charset="0"/>
              </a:rPr>
              <a:t>Art. 280 k.k., art. 282 k.k. </a:t>
            </a:r>
            <a:endParaRPr lang="pl-PL" sz="2400" dirty="0">
              <a:effectLst/>
              <a:latin typeface="Times New Roman" panose="02020603050405020304" pitchFamily="18" charset="0"/>
              <a:ea typeface="Times New Roman" panose="02020603050405020304" pitchFamily="18" charset="0"/>
            </a:endParaRPr>
          </a:p>
          <a:p>
            <a:endParaRPr lang="pl-PL" dirty="0"/>
          </a:p>
        </p:txBody>
      </p:sp>
    </p:spTree>
    <p:extLst>
      <p:ext uri="{BB962C8B-B14F-4D97-AF65-F5344CB8AC3E}">
        <p14:creationId xmlns:p14="http://schemas.microsoft.com/office/powerpoint/2010/main" val="1834247040"/>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a:bodyPr>
          <a:lstStyle/>
          <a:p>
            <a:pPr algn="just">
              <a:lnSpc>
                <a:spcPct val="150000"/>
              </a:lnSpc>
              <a:spcAft>
                <a:spcPts val="1000"/>
              </a:spcAft>
            </a:pPr>
            <a:r>
              <a:rPr lang="pl-PL" sz="1800" dirty="0">
                <a:effectLst/>
                <a:latin typeface="Arial" panose="020B0604020202020204" pitchFamily="34" charset="0"/>
                <a:ea typeface="Calibri" panose="020F0502020204030204" pitchFamily="34" charset="0"/>
                <a:cs typeface="Times New Roman" panose="02020603050405020304" pitchFamily="18" charset="0"/>
              </a:rPr>
              <a:t>Kluczowym dla odróżnienia od siebie dwóch karalnych stanów opisanych w art. 280 (rozbój) i art. 282 (wymuszenie rozbójnicze) jest moment zawładnięcia przez sprawcę czynu cudzym mieniem. W przypadku wymuszenia rozbójniczego chodzi doprowadzenie do takiego zachowania, które ma być zrealizowane w przyszłości np. zaprzestanie prowadzenia działalności gospodarczej. </a:t>
            </a:r>
            <a:endParaRPr lang="pl-PL"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1000"/>
              </a:spcAft>
            </a:pPr>
            <a:r>
              <a:rPr lang="pl-PL" sz="1800" dirty="0">
                <a:effectLst/>
                <a:latin typeface="Arial" panose="020B0604020202020204" pitchFamily="34" charset="0"/>
                <a:ea typeface="Calibri" panose="020F0502020204030204" pitchFamily="34" charset="0"/>
                <a:cs typeface="Times New Roman" panose="02020603050405020304" pitchFamily="18" charset="0"/>
              </a:rPr>
              <a:t>Natomiast w przypadku rozboju sprawca stosując przemoc lub groźba natychmiastowego jej użycia ma doprowadzić do zawładnięcia rzeczą niezwłocznie.</a:t>
            </a:r>
            <a:endParaRPr lang="pl-PL"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pl-PL" dirty="0"/>
          </a:p>
        </p:txBody>
      </p:sp>
    </p:spTree>
    <p:extLst>
      <p:ext uri="{BB962C8B-B14F-4D97-AF65-F5344CB8AC3E}">
        <p14:creationId xmlns:p14="http://schemas.microsoft.com/office/powerpoint/2010/main" val="2356254185"/>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70000" lnSpcReduction="20000"/>
          </a:bodyPr>
          <a:lstStyle/>
          <a:p>
            <a:pPr algn="just">
              <a:lnSpc>
                <a:spcPct val="150000"/>
              </a:lnSpc>
              <a:spcAft>
                <a:spcPts val="1000"/>
              </a:spcAft>
            </a:pPr>
            <a:r>
              <a:rPr lang="pl-PL" sz="2800" dirty="0">
                <a:effectLst/>
                <a:latin typeface="Arial" panose="020B0604020202020204" pitchFamily="34" charset="0"/>
                <a:ea typeface="Calibri" panose="020F0502020204030204" pitchFamily="34" charset="0"/>
                <a:cs typeface="Times New Roman" panose="02020603050405020304" pitchFamily="18" charset="0"/>
              </a:rPr>
              <a:t>Rozbój zachodzi wtedy gdy nastąpiło natychmiastowe przejście rzeczy w posiadanie sprawcy zarówno wtedy gdy sprawca sam dokonał zaboru rzeczy jaki i wtedy gdy zmusił pokrzywdzonego do natychmiastowego jej wydania. (A. Zoll (red.), Kodeks karny. Część szczególna. Tom III. Komentarz, Warszawa 2016). </a:t>
            </a:r>
            <a:endParaRPr lang="pl-PL" sz="2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1000"/>
              </a:spcAft>
            </a:pPr>
            <a:r>
              <a:rPr lang="pl-PL" sz="2800" dirty="0">
                <a:effectLst/>
                <a:latin typeface="Arial" panose="020B0604020202020204" pitchFamily="34" charset="0"/>
                <a:ea typeface="Calibri" panose="020F0502020204030204" pitchFamily="34" charset="0"/>
                <a:cs typeface="Times New Roman" panose="02020603050405020304" pitchFamily="18" charset="0"/>
              </a:rPr>
              <a:t>Stanowisko to znajduje potwierdzenie w orzecznictwie min. wyrok SA w Łodzi z dnia 23 maja 2001r. II </a:t>
            </a:r>
            <a:r>
              <a:rPr lang="pl-PL" sz="2800" dirty="0" err="1">
                <a:effectLst/>
                <a:latin typeface="Arial" panose="020B0604020202020204" pitchFamily="34" charset="0"/>
                <a:ea typeface="Calibri" panose="020F0502020204030204" pitchFamily="34" charset="0"/>
                <a:cs typeface="Times New Roman" panose="02020603050405020304" pitchFamily="18" charset="0"/>
              </a:rPr>
              <a:t>AKa</a:t>
            </a:r>
            <a:r>
              <a:rPr lang="pl-PL" sz="2800" dirty="0">
                <a:effectLst/>
                <a:latin typeface="Arial" panose="020B0604020202020204" pitchFamily="34" charset="0"/>
                <a:ea typeface="Calibri" panose="020F0502020204030204" pitchFamily="34" charset="0"/>
                <a:cs typeface="Times New Roman" panose="02020603050405020304" pitchFamily="18" charset="0"/>
              </a:rPr>
              <a:t> 83/01 (lex nr 54984)</a:t>
            </a:r>
            <a:endParaRPr lang="pl-PL" sz="2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1000"/>
              </a:spcAft>
            </a:pPr>
            <a:r>
              <a:rPr lang="pl-PL" sz="28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Zgodnie z uchwałą składu 7 sędziów SN z dnia 29 stycznia 2004 r. I KZP39/03 OSNKW 2004, nr 2, poz. 13. broń gazowa jest bronią palną zarówno w rozumieniu 263 § 2 k.k. jak i art. 280§2.</a:t>
            </a:r>
            <a:endParaRPr lang="pl-PL" sz="2800" dirty="0">
              <a:effectLst/>
              <a:latin typeface="Calibri" panose="020F0502020204030204" pitchFamily="34" charset="0"/>
              <a:ea typeface="Calibri" panose="020F0502020204030204" pitchFamily="34" charset="0"/>
              <a:cs typeface="Times New Roman" panose="02020603050405020304" pitchFamily="18" charset="0"/>
            </a:endParaRPr>
          </a:p>
          <a:p>
            <a:endParaRPr lang="pl-PL" dirty="0"/>
          </a:p>
        </p:txBody>
      </p:sp>
    </p:spTree>
    <p:extLst>
      <p:ext uri="{BB962C8B-B14F-4D97-AF65-F5344CB8AC3E}">
        <p14:creationId xmlns:p14="http://schemas.microsoft.com/office/powerpoint/2010/main" val="1750125106"/>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70000" lnSpcReduction="20000"/>
          </a:bodyPr>
          <a:lstStyle/>
          <a:p>
            <a:r>
              <a:rPr lang="pl-PL" b="1" dirty="0">
                <a:solidFill>
                  <a:srgbClr val="FF0000"/>
                </a:solidFill>
              </a:rPr>
              <a:t>Oszustwo</a:t>
            </a:r>
          </a:p>
          <a:p>
            <a:r>
              <a:rPr lang="pl-PL" dirty="0"/>
              <a:t>Art.  286.  </a:t>
            </a:r>
          </a:p>
          <a:p>
            <a:r>
              <a:rPr lang="pl-PL" dirty="0"/>
              <a:t>§  1. </a:t>
            </a:r>
          </a:p>
          <a:p>
            <a:r>
              <a:rPr lang="pl-PL" dirty="0"/>
              <a:t>Kto, w celu osiągnięcia korzyści majątkowej, doprowadza inną osobę do niekorzystnego rozporządzenia własnym lub cudzym mieniem za pomocą wprowadzenia jej w błąd albo wyzyskania błędu lub niezdolności do należytego pojmowania przedsiębranego </a:t>
            </a:r>
            <a:r>
              <a:rPr lang="pl-PL" dirty="0" err="1"/>
              <a:t>działania,podlega</a:t>
            </a:r>
            <a:r>
              <a:rPr lang="pl-PL" dirty="0"/>
              <a:t> karze pozbawienia wolności od 6 miesięcy do lat 8.</a:t>
            </a:r>
          </a:p>
          <a:p>
            <a:r>
              <a:rPr lang="pl-PL" dirty="0"/>
              <a:t>§  2. </a:t>
            </a:r>
          </a:p>
          <a:p>
            <a:r>
              <a:rPr lang="pl-PL" dirty="0"/>
              <a:t>Tej samej karze podlega, kto żąda korzyści majątkowej w zamian za zwrot bezprawnie zabranej rzeczy.</a:t>
            </a:r>
          </a:p>
          <a:p>
            <a:r>
              <a:rPr lang="pl-PL" dirty="0"/>
              <a:t>§  3. </a:t>
            </a:r>
          </a:p>
          <a:p>
            <a:r>
              <a:rPr lang="pl-PL" dirty="0"/>
              <a:t>W wypadku mniejszej wagi, </a:t>
            </a:r>
            <a:r>
              <a:rPr lang="pl-PL" dirty="0" err="1"/>
              <a:t>sprawcapodlega</a:t>
            </a:r>
            <a:r>
              <a:rPr lang="pl-PL" dirty="0"/>
              <a:t> grzywnie, karze ograniczenia wolności albo pozbawienia wolności do lat 2.</a:t>
            </a:r>
          </a:p>
          <a:p>
            <a:r>
              <a:rPr lang="pl-PL" dirty="0"/>
              <a:t>§  4. </a:t>
            </a:r>
          </a:p>
          <a:p>
            <a:r>
              <a:rPr lang="pl-PL" dirty="0"/>
              <a:t>Jeżeli czyn określony w § 1-3 popełniono na szkodę osoby najbliższej, ściganie następuje na wniosek pokrzywdzonego.</a:t>
            </a:r>
          </a:p>
          <a:p>
            <a:endParaRPr lang="pl-PL" dirty="0"/>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dirty="0"/>
          </a:p>
        </p:txBody>
      </p:sp>
      <p:sp>
        <p:nvSpPr>
          <p:cNvPr id="3" name="Symbol zastępczy zawartości 2"/>
          <p:cNvSpPr>
            <a:spLocks noGrp="1"/>
          </p:cNvSpPr>
          <p:nvPr>
            <p:ph sz="quarter" idx="1"/>
          </p:nvPr>
        </p:nvSpPr>
        <p:spPr/>
        <p:txBody>
          <a:bodyPr>
            <a:normAutofit/>
          </a:bodyPr>
          <a:lstStyle/>
          <a:p>
            <a:r>
              <a:rPr lang="pl-PL" dirty="0"/>
              <a:t>Niekorzystne rozporządzenie mieniem –</a:t>
            </a:r>
          </a:p>
          <a:p>
            <a:endParaRPr lang="pl-PL" dirty="0"/>
          </a:p>
          <a:p>
            <a:r>
              <a:rPr lang="pl-PL" dirty="0"/>
              <a:t>„niekorzyść” „ szersze pojęcie niż szkoda i strata”.</a:t>
            </a:r>
          </a:p>
          <a:p>
            <a:r>
              <a:rPr lang="pl-PL" dirty="0"/>
              <a:t> „ostateczny rezultat niekorzystnego rozporządzenia mieniem może też polegać na takiej zmianie, która nie pozbawia części mienia przyszłych dochodów lub nie powoduje przyszłych wydatków, lecz polega na pogorszeniu sytuacji majątkowej, np. przez przesunięcie terminu spłaty długu, przez pogorszenie szans wierzyciela na uzyskanie jego należności”</a:t>
            </a:r>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lstStyle/>
          <a:p>
            <a:r>
              <a:rPr lang="pl-PL" dirty="0"/>
              <a:t> „każda czynność o charakterze określonej dyspozycji majątkowej, odnosząca się do ogółu praw majątkowych, ale i zobowiązań kształtujących sytuację majątkową, która skutkuje ogólnym pogorszeniem sytuacji majątkowej pokrzywdzonego, w tym zmniejszeniem szans na zaspokojenie roszczeń w przyszłości”</a:t>
            </a:r>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lstStyle/>
          <a:p>
            <a:endParaRPr lang="pl-PL" dirty="0"/>
          </a:p>
          <a:p>
            <a:r>
              <a:rPr lang="pl-PL" dirty="0"/>
              <a:t>Rozporządzenie -  wszelkie czynności prowadzące do zmiany stanu majątkowego, tj. dyspozycje majątkowe zarówno o skutkach rzeczowych, jak i obligacyjnych, a także czynności faktyczne w postaci przeniesienia posiadania</a:t>
            </a:r>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a:bodyPr>
          <a:lstStyle/>
          <a:p>
            <a:r>
              <a:rPr lang="pl-PL" dirty="0"/>
              <a:t>Korzyść majątkowa – </a:t>
            </a:r>
          </a:p>
          <a:p>
            <a:r>
              <a:rPr lang="pl-PL" dirty="0"/>
              <a:t> w pierwszym rzędzie zaspokaja potrzebę materialną i może być wyrażona określoną kwotą pieniężną, a polega na ogólnym polepszeniu sytuacji majątkowej określonego podmiotu,</a:t>
            </a:r>
          </a:p>
          <a:p>
            <a:r>
              <a:rPr lang="pl-PL" dirty="0"/>
              <a:t>bez znaczenia jest okres, na jaki owo polepszenie następuje - może mieć bowiem charakter krótkotrwały i przejściowy,</a:t>
            </a:r>
          </a:p>
          <a:p>
            <a:r>
              <a:rPr lang="pl-PL" dirty="0"/>
              <a:t>Zwiększenie aktywów/zmniejszenie pasywów</a:t>
            </a:r>
          </a:p>
          <a:p>
            <a:r>
              <a:rPr lang="pl-PL" dirty="0"/>
              <a:t>Nie zawsze musi mieć charakter bezprawny  </a:t>
            </a:r>
          </a:p>
          <a:p>
            <a:endParaRPr lang="pl-PL" dirty="0"/>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85000" lnSpcReduction="10000"/>
          </a:bodyPr>
          <a:lstStyle/>
          <a:p>
            <a:r>
              <a:rPr lang="pl-PL" dirty="0"/>
              <a:t>Wprowadzenie w błąd </a:t>
            </a:r>
          </a:p>
          <a:p>
            <a:endParaRPr lang="pl-PL" dirty="0"/>
          </a:p>
          <a:p>
            <a:r>
              <a:rPr lang="pl-PL" b="1" dirty="0"/>
              <a:t>Wyrok </a:t>
            </a:r>
            <a:r>
              <a:rPr lang="pl-PL" dirty="0"/>
              <a:t>Sądu Apelacyjnego w Poznaniu z dnia 4 marca 2014 r.</a:t>
            </a:r>
          </a:p>
          <a:p>
            <a:r>
              <a:rPr lang="pl-PL" b="1" dirty="0"/>
              <a:t>II </a:t>
            </a:r>
            <a:r>
              <a:rPr lang="pl-PL" b="1" dirty="0" err="1"/>
              <a:t>AKa</a:t>
            </a:r>
            <a:r>
              <a:rPr lang="pl-PL" b="1" dirty="0"/>
              <a:t> 16/14</a:t>
            </a:r>
          </a:p>
          <a:p>
            <a:endParaRPr lang="pl-PL" b="1" dirty="0"/>
          </a:p>
          <a:p>
            <a:r>
              <a:rPr lang="pl-PL" dirty="0"/>
              <a:t>Znamiona oszustwa wypełnia działanie sprawcy, który składa zamówienie na dostarczenie towaru bądź wykonanie usługi, za które płatność ma nastąpić w uzgodnionym, odroczonym terminie, jeżeli złożeniu zamówienia towarzyszy powzięty z góry zamiar niedotrzymania uzgodnionego terminu zapłaty i odłożenia go na czas bliżej nieokreślony oraz uzależnienia zapłaty od ewentualnego powodzenia określonych inwestycji dokonanych w przyszłości.</a:t>
            </a:r>
          </a:p>
          <a:p>
            <a:endParaRPr lang="pl-PL" dirty="0"/>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77500" lnSpcReduction="20000"/>
          </a:bodyPr>
          <a:lstStyle/>
          <a:p>
            <a:r>
              <a:rPr lang="pl-PL" b="1" dirty="0"/>
              <a:t>Wyrok </a:t>
            </a:r>
            <a:r>
              <a:rPr lang="pl-PL" dirty="0"/>
              <a:t>Sądu Apelacyjnego w Krakowie z dnia 28 października 2013 r. </a:t>
            </a:r>
            <a:r>
              <a:rPr lang="pl-PL" b="1" dirty="0"/>
              <a:t>II </a:t>
            </a:r>
            <a:r>
              <a:rPr lang="pl-PL" b="1" dirty="0" err="1"/>
              <a:t>AKa</a:t>
            </a:r>
            <a:r>
              <a:rPr lang="pl-PL" b="1" dirty="0"/>
              <a:t> 189/13</a:t>
            </a:r>
          </a:p>
          <a:p>
            <a:endParaRPr lang="pl-PL" b="1" dirty="0"/>
          </a:p>
          <a:p>
            <a:r>
              <a:rPr lang="pl-PL" dirty="0"/>
              <a:t>Błąd pokrzywdzonego należy przyjmować i wtedy, gdy racjonalna ocena sytuacji pozwala stwierdzić, że mógł on błędu z łatwością uniknąć. Rację ma Sąd Okręgowy, iż "wysoki stopień naiwności", czy też "łatwość wprowadzenia w błąd" osoby dokonującej niekorzystnego rozporządzenia mieniem nie wpływa na ocenę karnoprawną zachowania sprawcy, bo istotne jest tylko to, czy podjęte przez niego działania w przypadku tych konkretnych pokrzywdzonych okazały się wystarczające do wprowadzenia ich w błąd. Nie idzie bowiem o sposób wprowadzenia pokrzywdzonego w błąd, ale o pozostawanie w błędzie. Musiał on być więc przekonany, że oskarżona nie ma pieniędzy, a jedynie możliwość uzyskania do nich dostępu.</a:t>
            </a:r>
          </a:p>
          <a:p>
            <a:endParaRPr lang="pl-PL" dirty="0"/>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a:xfrm>
            <a:off x="323528" y="1527048"/>
            <a:ext cx="8482144" cy="4782272"/>
          </a:xfrm>
        </p:spPr>
        <p:txBody>
          <a:bodyPr>
            <a:normAutofit/>
          </a:bodyPr>
          <a:lstStyle/>
          <a:p>
            <a:r>
              <a:rPr lang="pl-PL" b="1" dirty="0"/>
              <a:t>Wyrok </a:t>
            </a:r>
            <a:r>
              <a:rPr lang="pl-PL" dirty="0"/>
              <a:t>Sądu Apelacyjnego we Wrocławiu z dnia 6 listopada 2012 r. </a:t>
            </a:r>
            <a:r>
              <a:rPr lang="pl-PL" b="1" dirty="0"/>
              <a:t>II </a:t>
            </a:r>
            <a:r>
              <a:rPr lang="pl-PL" b="1" dirty="0" err="1"/>
              <a:t>AKa</a:t>
            </a:r>
            <a:r>
              <a:rPr lang="pl-PL" b="1" dirty="0"/>
              <a:t> 313/12</a:t>
            </a:r>
          </a:p>
          <a:p>
            <a:r>
              <a:rPr lang="pl-PL" dirty="0"/>
              <a:t>Nie może być mowy o wprowadzeniu w błąd co do możliwości i woli terminowej zapłaty za dostarczone towary lub usługi, jeżeli każdy z pokrzywdzonych znał trudną sytuację, miał świadomość możliwości nieterminowej zapłaty a nawet liczył się z brakiem otrzymania należności</a:t>
            </a:r>
          </a:p>
          <a:p>
            <a:endParaRPr lang="pl-PL" dirty="0"/>
          </a:p>
          <a:p>
            <a:endParaRPr lang="pl-PL" dirty="0"/>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92500" lnSpcReduction="10000"/>
          </a:bodyPr>
          <a:lstStyle/>
          <a:p>
            <a:r>
              <a:rPr lang="pl-PL" b="1" dirty="0"/>
              <a:t>Wyrok</a:t>
            </a:r>
          </a:p>
          <a:p>
            <a:r>
              <a:rPr lang="pl-PL" dirty="0"/>
              <a:t>Sądu Apelacyjnego w Krakowie</a:t>
            </a:r>
          </a:p>
          <a:p>
            <a:r>
              <a:rPr lang="pl-PL" dirty="0"/>
              <a:t>z dnia 1 lutego 2012 r. </a:t>
            </a:r>
            <a:r>
              <a:rPr lang="pl-PL" b="1" dirty="0"/>
              <a:t>II </a:t>
            </a:r>
            <a:r>
              <a:rPr lang="pl-PL" b="1" dirty="0" err="1"/>
              <a:t>AKa</a:t>
            </a:r>
            <a:r>
              <a:rPr lang="pl-PL" b="1" dirty="0"/>
              <a:t> 239/11</a:t>
            </a:r>
          </a:p>
          <a:p>
            <a:r>
              <a:rPr lang="pl-PL" b="1" dirty="0"/>
              <a:t> </a:t>
            </a:r>
          </a:p>
          <a:p>
            <a:r>
              <a:rPr lang="pl-PL" dirty="0"/>
              <a:t>Kontrahent dwustronnej transakcji nie ma obowiązku uprzedzać o złej sytuacji materialnej swojej firmy. Nie będzie to wprowadzeniem w błąd z art. 286 § 1 k.k., gdy podmiot taki przy zachowaniu zwykłych reguł kupieckich, którym druga ze stron umowy ma prawo ufać, będzie miał realną możliwość realizacji przyjętego umownie zobowiązania, więc nie będzie świadomie powodował szkody w majątku wierzyciela.</a:t>
            </a:r>
          </a:p>
          <a:p>
            <a:endParaRPr lang="pl-PL" dirty="0"/>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62500" lnSpcReduction="20000"/>
          </a:bodyPr>
          <a:lstStyle/>
          <a:p>
            <a:r>
              <a:rPr lang="pl-PL" b="1" dirty="0"/>
              <a:t>Wyrok </a:t>
            </a:r>
            <a:r>
              <a:rPr lang="pl-PL" dirty="0"/>
              <a:t>Sądu Apelacyjnego w Katowicach z dnia 20 kwietnia 2000 r. </a:t>
            </a:r>
            <a:r>
              <a:rPr lang="pl-PL" b="1" dirty="0"/>
              <a:t>II </a:t>
            </a:r>
            <a:r>
              <a:rPr lang="pl-PL" b="1" dirty="0" err="1"/>
              <a:t>AKa</a:t>
            </a:r>
            <a:r>
              <a:rPr lang="pl-PL" b="1" dirty="0"/>
              <a:t> 71/00</a:t>
            </a:r>
          </a:p>
          <a:p>
            <a:pPr>
              <a:buNone/>
            </a:pPr>
            <a:r>
              <a:rPr lang="pl-PL" b="1" dirty="0"/>
              <a:t> </a:t>
            </a:r>
          </a:p>
          <a:p>
            <a:r>
              <a:rPr lang="pl-PL" dirty="0"/>
              <a:t>Można zgodzić się z założeniem, że kontrahent w transakcji dwustronnej nie ma obowiązku ujawnienia sytuacji materialnej swojej firmy, niemniej jednak tylko wówczas nie będzie to miało charakteru wprowadzenia w błąd w rozumieniu przepisu art. 286 § 1 k.k., gdy podmiot taki przy zachowaniu reguł kupieckich, którym druga ze stron umowy ma prawo ufać, będzie miał faktyczną możliwość realizacji przyjętego na siebie umownie zobowiązania w dacie jego powstania, bez świadomego powodowania szkody w majątku swego wierzyciela.</a:t>
            </a:r>
          </a:p>
          <a:p>
            <a:r>
              <a:rPr lang="pl-PL" dirty="0"/>
              <a:t>W przeciwnym razie tworzenie fikcji poprzez zatajanie faktycznego standingu firmy jest kreowaniem mylnego wyobrażenia o możliwościach spłaty zadłużenia w umówionym terminie, a nie w ogóle w czasie bliżej nieoznaczonym, prowadzące do niekorzystnego rozporządzenia mieniem, stanowi przestępstwo oszustwa i jest formą zadłużenia w rozumieniu prawa cywilnego opartego na czynie niedozwolonym.</a:t>
            </a:r>
          </a:p>
          <a:p>
            <a:r>
              <a:rPr lang="pl-PL" dirty="0"/>
              <a:t>Ma to szczególne znaczenie w sytuacji nabywania towarów z opóźnionym terminem zapłaty, kiedy to w szeregu wypadkach strony naruszają podstawowe zasady prawa cywilnego i obyczaju kupieckiego, burząc pokładane w nich zaufanie kontrahenta, że właściwie wywiążą się z umowy, mimo że z góry wiadomym jest, o czym w sposób zamierzony nie informuje się, że jest to niemożliwe i spowoduje stratę jego majątku.</a:t>
            </a:r>
          </a:p>
          <a:p>
            <a:endParaRPr lang="pl-PL" dirty="0"/>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92500" lnSpcReduction="10000"/>
          </a:bodyPr>
          <a:lstStyle/>
          <a:p>
            <a:pPr algn="just"/>
            <a:r>
              <a:rPr lang="pl-PL" sz="2400" b="1" dirty="0">
                <a:effectLst/>
                <a:latin typeface="Times New Roman" panose="02020603050405020304" pitchFamily="18" charset="0"/>
                <a:ea typeface="Times New Roman" panose="02020603050405020304" pitchFamily="18" charset="0"/>
              </a:rPr>
              <a:t>Oskarżonemu Piotrowi W. zarzucono, że 17 maja 2020 r. w </a:t>
            </a:r>
            <a:r>
              <a:rPr lang="pl-PL" sz="2400" b="1" dirty="0" err="1">
                <a:effectLst/>
                <a:latin typeface="Times New Roman" panose="02020603050405020304" pitchFamily="18" charset="0"/>
                <a:ea typeface="Times New Roman" panose="02020603050405020304" pitchFamily="18" charset="0"/>
              </a:rPr>
              <a:t>W</a:t>
            </a:r>
            <a:r>
              <a:rPr lang="pl-PL" sz="2400" b="1" dirty="0">
                <a:effectLst/>
                <a:latin typeface="Times New Roman" panose="02020603050405020304" pitchFamily="18" charset="0"/>
                <a:ea typeface="Times New Roman" panose="02020603050405020304" pitchFamily="18" charset="0"/>
              </a:rPr>
              <a:t>. doprowadził do niekorzystnego rozporządzenia mieniem Natalię P. na łączną kwotę strat 1800 zł poprzez wprowadzenie jej w błąd co do faktu zakupu imiennych biletów lotniczych do Berlina i z powrotem tj. popełnienie przestępstwa z art. 286 par. 1 k.k.</a:t>
            </a:r>
            <a:endParaRPr lang="pl-PL" sz="2400" dirty="0">
              <a:effectLst/>
              <a:latin typeface="Times New Roman" panose="02020603050405020304" pitchFamily="18" charset="0"/>
              <a:ea typeface="Times New Roman" panose="02020603050405020304" pitchFamily="18" charset="0"/>
            </a:endParaRPr>
          </a:p>
          <a:p>
            <a:pPr algn="just"/>
            <a:r>
              <a:rPr lang="pl-PL" sz="2400" b="1" dirty="0">
                <a:effectLst/>
                <a:latin typeface="Times New Roman" panose="02020603050405020304" pitchFamily="18" charset="0"/>
                <a:ea typeface="Times New Roman" panose="02020603050405020304" pitchFamily="18" charset="0"/>
              </a:rPr>
              <a:t>Za tak opisany i zakwalifikowany czyn sąd skazał oskarżonego na karę roku i sześciu miesięcy pozbawienia wolności oraz rozstrzygnął o kosztach procesu obciążając nimi oskarżonego. Oceń prawidłowość tego wyroku z perspektywy znamion przestępstwa z art. 286 par. 1 k.k. </a:t>
            </a:r>
          </a:p>
          <a:p>
            <a:pPr algn="just"/>
            <a:r>
              <a:rPr lang="pl-PL" sz="2400" b="1" dirty="0">
                <a:latin typeface="Times New Roman" panose="02020603050405020304" pitchFamily="18" charset="0"/>
                <a:ea typeface="Times New Roman" panose="02020603050405020304" pitchFamily="18" charset="0"/>
              </a:rPr>
              <a:t>Art. 286 par. 1 k.k., art. 1 par. 1 k.k. </a:t>
            </a:r>
          </a:p>
          <a:p>
            <a:pPr algn="just"/>
            <a:r>
              <a:rPr lang="pl-PL" sz="2400" b="1" dirty="0">
                <a:effectLst/>
                <a:latin typeface="Times New Roman" panose="02020603050405020304" pitchFamily="18" charset="0"/>
                <a:ea typeface="Times New Roman" panose="02020603050405020304" pitchFamily="18" charset="0"/>
              </a:rPr>
              <a:t>Wyczerpane znamiona? </a:t>
            </a:r>
            <a:r>
              <a:rPr lang="pl-PL" sz="2400" b="1" dirty="0">
                <a:solidFill>
                  <a:srgbClr val="FF0000"/>
                </a:solidFill>
                <a:effectLst/>
                <a:latin typeface="Times New Roman" panose="02020603050405020304" pitchFamily="18" charset="0"/>
                <a:ea typeface="Times New Roman" panose="02020603050405020304" pitchFamily="18" charset="0"/>
              </a:rPr>
              <a:t>Nie, brak znamienia kierunkowego „w celu….”. </a:t>
            </a:r>
            <a:endParaRPr lang="pl-PL" sz="2400" dirty="0">
              <a:solidFill>
                <a:srgbClr val="FF0000"/>
              </a:solidFill>
              <a:effectLst/>
              <a:latin typeface="Times New Roman" panose="02020603050405020304" pitchFamily="18" charset="0"/>
              <a:ea typeface="Times New Roman" panose="02020603050405020304" pitchFamily="18" charset="0"/>
            </a:endParaRPr>
          </a:p>
          <a:p>
            <a:endParaRPr lang="pl-PL" dirty="0"/>
          </a:p>
        </p:txBody>
      </p:sp>
    </p:spTree>
    <p:extLst>
      <p:ext uri="{BB962C8B-B14F-4D97-AF65-F5344CB8AC3E}">
        <p14:creationId xmlns:p14="http://schemas.microsoft.com/office/powerpoint/2010/main" val="2439474889"/>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77500" lnSpcReduction="20000"/>
          </a:bodyPr>
          <a:lstStyle/>
          <a:p>
            <a:r>
              <a:rPr lang="pl-PL" b="1" dirty="0">
                <a:solidFill>
                  <a:srgbClr val="FF0000"/>
                </a:solidFill>
              </a:rPr>
              <a:t>Zniszczenie lub uszkodzenie mienia </a:t>
            </a:r>
          </a:p>
          <a:p>
            <a:r>
              <a:rPr lang="pl-PL" dirty="0"/>
              <a:t>Art.  288. </a:t>
            </a:r>
          </a:p>
          <a:p>
            <a:r>
              <a:rPr lang="pl-PL" dirty="0"/>
              <a:t>§  1. </a:t>
            </a:r>
          </a:p>
          <a:p>
            <a:r>
              <a:rPr lang="pl-PL" dirty="0"/>
              <a:t>Kto cudzą rzecz niszczy, uszkadza lub czyni niezdatną do użytku, podlega karze pozbawienia wolności od 3 miesięcy do lat 5.</a:t>
            </a:r>
          </a:p>
          <a:p>
            <a:r>
              <a:rPr lang="pl-PL" dirty="0"/>
              <a:t>§  2. </a:t>
            </a:r>
          </a:p>
          <a:p>
            <a:r>
              <a:rPr lang="pl-PL" dirty="0"/>
              <a:t>W wypadku mniejszej wagi, sprawca podlega grzywnie, karze ograniczenia wolności albo pozbawienia wolności do roku.</a:t>
            </a:r>
          </a:p>
          <a:p>
            <a:r>
              <a:rPr lang="pl-PL" dirty="0"/>
              <a:t>§  3. </a:t>
            </a:r>
          </a:p>
          <a:p>
            <a:r>
              <a:rPr lang="pl-PL" dirty="0"/>
              <a:t>Karze określonej w § 1 podlega także ten, kto przerywa lub uszkadza kabel podmorski albo narusza </a:t>
            </a:r>
            <a:r>
              <a:rPr lang="pl-PL" dirty="0">
                <a:hlinkClick r:id="rId2"/>
              </a:rPr>
              <a:t>przepisy</a:t>
            </a:r>
            <a:r>
              <a:rPr lang="pl-PL" dirty="0"/>
              <a:t> obowiązujące przy zakładaniu lub naprawie takiego kabla.</a:t>
            </a:r>
          </a:p>
          <a:p>
            <a:r>
              <a:rPr lang="pl-PL" dirty="0"/>
              <a:t>§  4. </a:t>
            </a:r>
          </a:p>
          <a:p>
            <a:r>
              <a:rPr lang="pl-PL" dirty="0"/>
              <a:t>Ściganie przestępstwa określonego w § 1 lub 2 następuje na wniosek pokrzywdzonego.</a:t>
            </a:r>
          </a:p>
          <a:p>
            <a:endParaRPr lang="pl-PL" dirty="0"/>
          </a:p>
          <a:p>
            <a:endParaRPr lang="pl-PL" dirty="0"/>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70000" lnSpcReduction="20000"/>
          </a:bodyPr>
          <a:lstStyle/>
          <a:p>
            <a:r>
              <a:rPr lang="pl-PL" b="1" dirty="0"/>
              <a:t>Wyrok </a:t>
            </a:r>
            <a:r>
              <a:rPr lang="pl-PL" dirty="0"/>
              <a:t>Sądu Okręgowego w Koszalinie z dnia 5 czerwca 2013 r. </a:t>
            </a:r>
            <a:r>
              <a:rPr lang="pl-PL" b="1" dirty="0"/>
              <a:t>V </a:t>
            </a:r>
            <a:r>
              <a:rPr lang="pl-PL" b="1" dirty="0" err="1"/>
              <a:t>Ka</a:t>
            </a:r>
            <a:r>
              <a:rPr lang="pl-PL" b="1" dirty="0"/>
              <a:t> 327/13</a:t>
            </a:r>
          </a:p>
          <a:p>
            <a:r>
              <a:rPr lang="pl-PL" dirty="0"/>
              <a:t> </a:t>
            </a:r>
          </a:p>
          <a:p>
            <a:r>
              <a:rPr lang="pl-PL" dirty="0"/>
              <a:t>Za szkodę w rozumieniu art. 288 § 1 k.k. i art. 124 § 1 </a:t>
            </a:r>
            <a:r>
              <a:rPr lang="pl-PL" dirty="0" err="1"/>
              <a:t>k.w</a:t>
            </a:r>
            <a:r>
              <a:rPr lang="pl-PL" dirty="0"/>
              <a:t>. uznaje się przy tym rzeczywisty uszczerbek w majątku pokrzywdzonego, przy czym z orzecznictwa Sądu Najwyższego wynika, ze nie obejmuje on utraconych korzyści. Jeśli zatem zniszczenie mienia nastąpiło na szkodę właściciela sklepu, to za szkodę uznać należy cenę towaru, za którą nabył on rzeczy, ale nie powiększoną o marżę własną cenę, po której towar wystawił do sprzedaży. Nadto, z uwagi na to, że od rzeczy zniszczonych podatnik VAT może odliczyć podatek wcześniej naliczony, również kwota tego podatku nie stanowi dla pokrzywdzonego rzeczywistej szkody. Oczywiście inaczej byłoby, gdyby zniszczenie mienia nastąpiło na szkodę osoby, która tę rzecz kupiła w sklepie. Wówczas wysokość szkody stanowiłaby wartość towaru z marżą sklepu i podatkiem VAT, a ewentualna niższa wartość mogłaby wynikać ze stopnia zużycia rzeczy używanej.</a:t>
            </a:r>
          </a:p>
          <a:p>
            <a:r>
              <a:rPr lang="pl-PL" i="1" dirty="0"/>
              <a:t>LEX nr 1715448</a:t>
            </a:r>
            <a:endParaRPr lang="pl-PL" dirty="0"/>
          </a:p>
          <a:p>
            <a:endParaRPr lang="pl-PL" dirty="0"/>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77500" lnSpcReduction="20000"/>
          </a:bodyPr>
          <a:lstStyle/>
          <a:p>
            <a:r>
              <a:rPr lang="pl-PL" dirty="0"/>
              <a:t> </a:t>
            </a:r>
          </a:p>
          <a:p>
            <a:r>
              <a:rPr lang="pl-PL" b="1" dirty="0"/>
              <a:t>Wyrok </a:t>
            </a:r>
            <a:r>
              <a:rPr lang="pl-PL" dirty="0"/>
              <a:t>Sądu Najwyższego z dnia 22 października 1998 r.</a:t>
            </a:r>
          </a:p>
          <a:p>
            <a:r>
              <a:rPr lang="pl-PL" dirty="0"/>
              <a:t> </a:t>
            </a:r>
          </a:p>
          <a:p>
            <a:r>
              <a:rPr lang="pl-PL" b="1" dirty="0"/>
              <a:t>III KKN 146/97</a:t>
            </a:r>
          </a:p>
          <a:p>
            <a:r>
              <a:rPr lang="pl-PL" dirty="0"/>
              <a:t> </a:t>
            </a:r>
          </a:p>
          <a:p>
            <a:r>
              <a:rPr lang="pl-PL" dirty="0"/>
              <a:t>Artykuł 124 § 1 </a:t>
            </a:r>
            <a:r>
              <a:rPr lang="pl-PL" dirty="0" err="1"/>
              <a:t>k.w</a:t>
            </a:r>
            <a:r>
              <a:rPr lang="pl-PL" dirty="0"/>
              <a:t>. wyraźnie wskazuje, co jest granicą przewidzianego w nim wykroczenia; określa ją wysokość szkody (nie przekraczająca 250 zł, </a:t>
            </a:r>
            <a:r>
              <a:rPr lang="pl-PL" dirty="0">
                <a:solidFill>
                  <a:srgbClr val="FF0000"/>
                </a:solidFill>
              </a:rPr>
              <a:t>obecnie 800</a:t>
            </a:r>
            <a:r>
              <a:rPr lang="pl-PL" dirty="0"/>
              <a:t>), a nie wartość uszkodzonego mienia (obecnie rzeczy). Powyższy przepis nie operuje pojęciem wartości "cudzej rzeczy" (inaczej niż np. art. 119 § 1 </a:t>
            </a:r>
            <a:r>
              <a:rPr lang="pl-PL" dirty="0" err="1"/>
              <a:t>k.w</a:t>
            </a:r>
            <a:r>
              <a:rPr lang="pl-PL" dirty="0"/>
              <a:t>.), ale pojęciem szkody. Od wysokości szkody, a nie wartości uszkodzonej rzeczy zależy, czy czyn polegający na umyślnym niszczeniu, uszkodzeniu, czy czynieniu cudzej rzeczy niezdatnej do użytku jest wykroczeniem przewidzianym w art. 124 § 1 </a:t>
            </a:r>
            <a:r>
              <a:rPr lang="pl-PL" dirty="0" err="1"/>
              <a:t>k.w</a:t>
            </a:r>
            <a:r>
              <a:rPr lang="pl-PL" dirty="0"/>
              <a:t>. czy występkiem z art. 212 § 1 k.k. z 1969 r. (art. 288 § 1 k.k.).</a:t>
            </a:r>
          </a:p>
          <a:p>
            <a:endParaRPr lang="pl-PL" dirty="0"/>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85000" lnSpcReduction="10000"/>
          </a:bodyPr>
          <a:lstStyle/>
          <a:p>
            <a:r>
              <a:rPr lang="pl-PL" dirty="0"/>
              <a:t>Art.  124.  §  1. </a:t>
            </a:r>
          </a:p>
          <a:p>
            <a:r>
              <a:rPr lang="pl-PL" dirty="0"/>
              <a:t>Kto cudzą rzecz umyślnie niszczy, uszkadza lub czyni niezdatną do użytku, jeżeli szkoda nie przekracza 800 złotych, podlega karze aresztu, ograniczenia wolności albo grzywny.</a:t>
            </a:r>
          </a:p>
          <a:p>
            <a:r>
              <a:rPr lang="pl-PL" dirty="0"/>
              <a:t>§  2. </a:t>
            </a:r>
          </a:p>
          <a:p>
            <a:r>
              <a:rPr lang="pl-PL" dirty="0"/>
              <a:t>Usiłowanie, podżeganie i pomocnictwo są karalne.</a:t>
            </a:r>
          </a:p>
          <a:p>
            <a:r>
              <a:rPr lang="pl-PL" dirty="0"/>
              <a:t>§  3. </a:t>
            </a:r>
          </a:p>
          <a:p>
            <a:r>
              <a:rPr lang="pl-PL" dirty="0"/>
              <a:t>Ściganie następuje na żądanie pokrzywdzonego.</a:t>
            </a:r>
          </a:p>
          <a:p>
            <a:r>
              <a:rPr lang="pl-PL" dirty="0"/>
              <a:t>§  4. </a:t>
            </a:r>
          </a:p>
          <a:p>
            <a:r>
              <a:rPr lang="pl-PL" dirty="0"/>
              <a:t>W razie popełnienia wykroczenia można orzec obowiązek zapłaty równowartości wyrządzonej szkody lub obowiązek przywrócenia do stanu poprzedniego.</a:t>
            </a:r>
          </a:p>
          <a:p>
            <a:endParaRPr lang="pl-PL" dirty="0"/>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a:xfrm>
            <a:off x="301752" y="1527048"/>
            <a:ext cx="8503920" cy="4926288"/>
          </a:xfrm>
        </p:spPr>
        <p:txBody>
          <a:bodyPr>
            <a:normAutofit fontScale="85000" lnSpcReduction="20000"/>
          </a:bodyPr>
          <a:lstStyle/>
          <a:p>
            <a:r>
              <a:rPr lang="pl-PL" dirty="0"/>
              <a:t>Jan W. został popchnięty przez swego kolegę w markecie spożywczym, w wyniku czego utracił równowagę i upadł  na szklany regał, powodując jego przewrócenie się i zbicie się jednej z szyb regału. Kolega Jana W. zbiegł z miejsca zdarzenia, zaś Jan W. został ujęty w markecie. W trakcie wszczętego postępowania karnego, po przedstawieniu zarzutu,  Jan W. przyznał do winy i nie wskazał danych personalnych swego kolegi oświadczając, że „nie chce robić mu kłopotu”.  Biegły ustalił wartość zbitej szyby na kwotę 800 zł, zaś koszt jej wymiany (robocizna) wyniósł 100 zł. Jana W. oskarżono o popełnienie przestępstwa z art. 288 par. 1 k.k. (wniosek o ściganie złożył właściciel sklepu). Obrońca na rozprawie wnosił o przyjęcie, że w tej sprawie mieliśmy do czynienia z wykroczeniem z art. 124 </a:t>
            </a:r>
            <a:r>
              <a:rPr lang="pl-PL" dirty="0" err="1"/>
              <a:t>k.w</a:t>
            </a:r>
            <a:r>
              <a:rPr lang="pl-PL" dirty="0"/>
              <a:t>. z uwagi na wartość zbitej szyby nieprzekraczającej 800 zł. Jaki wyrok powinien w tej sprawie wydać sąd? </a:t>
            </a:r>
          </a:p>
        </p:txBody>
      </p:sp>
    </p:spTree>
    <p:extLst>
      <p:ext uri="{BB962C8B-B14F-4D97-AF65-F5344CB8AC3E}">
        <p14:creationId xmlns:p14="http://schemas.microsoft.com/office/powerpoint/2010/main" val="2367076200"/>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fontScale="90000"/>
          </a:bodyPr>
          <a:lstStyle/>
          <a:p>
            <a:r>
              <a:rPr lang="pl-PL" dirty="0"/>
              <a:t>Przestępstwa przeciwko wiarygodności dokumentów – </a:t>
            </a:r>
            <a:r>
              <a:rPr lang="pl-PL" dirty="0">
                <a:solidFill>
                  <a:srgbClr val="00B050"/>
                </a:solidFill>
              </a:rPr>
              <a:t>przestępstwo </a:t>
            </a:r>
            <a:r>
              <a:rPr lang="pl-PL" dirty="0" err="1">
                <a:solidFill>
                  <a:srgbClr val="00B050"/>
                </a:solidFill>
              </a:rPr>
              <a:t>wieloodmianowe</a:t>
            </a:r>
            <a:endParaRPr lang="pl-PL" dirty="0">
              <a:solidFill>
                <a:srgbClr val="00B050"/>
              </a:solidFill>
            </a:endParaRPr>
          </a:p>
        </p:txBody>
      </p:sp>
      <p:sp>
        <p:nvSpPr>
          <p:cNvPr id="3" name="Symbol zastępczy zawartości 2"/>
          <p:cNvSpPr>
            <a:spLocks noGrp="1"/>
          </p:cNvSpPr>
          <p:nvPr>
            <p:ph sz="quarter" idx="1"/>
          </p:nvPr>
        </p:nvSpPr>
        <p:spPr/>
        <p:txBody>
          <a:bodyPr>
            <a:normAutofit fontScale="70000" lnSpcReduction="20000"/>
          </a:bodyPr>
          <a:lstStyle/>
          <a:p>
            <a:r>
              <a:rPr lang="pl-PL" dirty="0"/>
              <a:t>Art.  270.  </a:t>
            </a:r>
          </a:p>
          <a:p>
            <a:r>
              <a:rPr lang="pl-PL" dirty="0"/>
              <a:t>§  1. </a:t>
            </a:r>
          </a:p>
          <a:p>
            <a:r>
              <a:rPr lang="pl-PL" dirty="0"/>
              <a:t>Kto, w celu użycia za autentyczny, podrabia lub przerabia dokument lub takiego dokumentu jako autentycznego </a:t>
            </a:r>
            <a:r>
              <a:rPr lang="pl-PL" dirty="0" err="1"/>
              <a:t>używa,podlega</a:t>
            </a:r>
            <a:r>
              <a:rPr lang="pl-PL" dirty="0"/>
              <a:t> karze pozbawienia wolności od 3 miesięcy do lat 5.</a:t>
            </a:r>
          </a:p>
          <a:p>
            <a:r>
              <a:rPr lang="pl-PL" dirty="0"/>
              <a:t>§  2. </a:t>
            </a:r>
          </a:p>
          <a:p>
            <a:r>
              <a:rPr lang="pl-PL" dirty="0"/>
              <a:t>Tej samej karze podlega, kto wypełnia blankiet, opatrzony cudzym podpisem, niezgodnie z wolą podpisanego i na jego szkodę albo takiego dokumentu używa.</a:t>
            </a:r>
          </a:p>
          <a:p>
            <a:r>
              <a:rPr lang="pl-PL" dirty="0"/>
              <a:t>§  2a. </a:t>
            </a:r>
          </a:p>
          <a:p>
            <a:r>
              <a:rPr lang="pl-PL" dirty="0"/>
              <a:t>W wypadku mniejszej wagi, </a:t>
            </a:r>
            <a:r>
              <a:rPr lang="pl-PL" dirty="0" err="1"/>
              <a:t>sprawcapodlega</a:t>
            </a:r>
            <a:r>
              <a:rPr lang="pl-PL" dirty="0"/>
              <a:t> grzywnie, karze ograniczenia wolności albo pozbawienia wolności do lat 2.</a:t>
            </a:r>
          </a:p>
          <a:p>
            <a:r>
              <a:rPr lang="pl-PL" dirty="0"/>
              <a:t>§  3. </a:t>
            </a:r>
          </a:p>
          <a:p>
            <a:r>
              <a:rPr lang="pl-PL" dirty="0"/>
              <a:t>Kto czyni przygotowania do przestępstwa określonego w § 1,podlega grzywnie, karze ograniczenia wolności albo pozbawienia wolności do lat 2.</a:t>
            </a:r>
          </a:p>
          <a:p>
            <a:endParaRPr lang="pl-PL" dirty="0"/>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lstStyle/>
          <a:p>
            <a:r>
              <a:rPr lang="pl-PL" dirty="0"/>
              <a:t>Definicja legalna dokumentu:</a:t>
            </a:r>
          </a:p>
          <a:p>
            <a:endParaRPr lang="pl-PL" dirty="0"/>
          </a:p>
          <a:p>
            <a:r>
              <a:rPr lang="pl-PL" dirty="0"/>
              <a:t>Art. 115 par. 14 </a:t>
            </a:r>
          </a:p>
          <a:p>
            <a:endParaRPr lang="pl-PL" dirty="0"/>
          </a:p>
          <a:p>
            <a:r>
              <a:rPr lang="pl-PL" dirty="0"/>
              <a:t>Dokumentem jest każdy przedmiot lub inny zapisany nośnik informacji, z którym jest związane określone prawo, albo który ze względu na zawartą w nim treść stanowi dowód prawa, stosunku prawnego lub okoliczności mającej znaczenie prawne.</a:t>
            </a:r>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a:bodyPr>
          <a:lstStyle/>
          <a:p>
            <a:r>
              <a:rPr lang="pl-PL" dirty="0"/>
              <a:t> </a:t>
            </a:r>
          </a:p>
          <a:p>
            <a:r>
              <a:rPr lang="pl-PL" b="1" dirty="0"/>
              <a:t>Wyrok </a:t>
            </a:r>
            <a:r>
              <a:rPr lang="pl-PL" dirty="0"/>
              <a:t>Sądu Najwyższego z dnia 10 kwietnia 2003 r. </a:t>
            </a:r>
            <a:r>
              <a:rPr lang="pl-PL" b="1" dirty="0"/>
              <a:t>III KKN 203/01</a:t>
            </a:r>
          </a:p>
          <a:p>
            <a:pPr>
              <a:buNone/>
            </a:pPr>
            <a:endParaRPr lang="pl-PL" dirty="0"/>
          </a:p>
          <a:p>
            <a:r>
              <a:rPr lang="pl-PL" dirty="0"/>
              <a:t>Tablice rejestracyjne samochodu nie są dokumentem w ujęciu art. 115 § 14 k.k., i tym samym nie mogą być przedmiotem przestępstwa określonego w art. 270 k.k.</a:t>
            </a:r>
          </a:p>
          <a:p>
            <a:pPr>
              <a:buNone/>
            </a:pPr>
            <a:endParaRPr lang="pl-PL" dirty="0"/>
          </a:p>
          <a:p>
            <a:endParaRPr lang="pl-PL" dirty="0"/>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a:bodyPr>
          <a:lstStyle/>
          <a:p>
            <a:pPr>
              <a:buNone/>
            </a:pPr>
            <a:endParaRPr lang="pl-PL" dirty="0"/>
          </a:p>
          <a:p>
            <a:r>
              <a:rPr lang="pl-PL" b="1" dirty="0"/>
              <a:t>Podrobienie dokumentu</a:t>
            </a:r>
            <a:r>
              <a:rPr lang="pl-PL" dirty="0"/>
              <a:t> polega na sporządzeniu przedmiotu, który ma imitować dokument autentyczny,  czyli, inaczej mówiąc, na sporządzeniu dokumentu przy zachowaniu pozoru, jak gdyby dokument pochodził od innej osoby (niekoniecznie rzeczywiście istniejącej), a nie od sprawcy. Czynność tę można popełnić zarówno przez kreację całości lub części dokumentu i podpisanie się za inną osobę, jak też wyłącznie przez podpisanie się za inną osobę.  </a:t>
            </a:r>
          </a:p>
          <a:p>
            <a:endParaRPr lang="pl-PL" dirty="0"/>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lstStyle/>
          <a:p>
            <a:endParaRPr lang="pl-PL" dirty="0"/>
          </a:p>
          <a:p>
            <a:endParaRPr lang="pl-PL" dirty="0"/>
          </a:p>
          <a:p>
            <a:r>
              <a:rPr lang="pl-PL" dirty="0"/>
              <a:t>Do podrobienia dokumentu dochodzi również wtedy, gdy osoba, za którą sprawca się podpisuje, wyraża na to zgodę.</a:t>
            </a:r>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lnSpcReduction="10000"/>
          </a:bodyPr>
          <a:lstStyle/>
          <a:p>
            <a:r>
              <a:rPr lang="pl-PL" dirty="0">
                <a:solidFill>
                  <a:srgbClr val="FF0000"/>
                </a:solidFill>
              </a:rPr>
              <a:t>Przerobienie dokumentu </a:t>
            </a:r>
            <a:r>
              <a:rPr lang="pl-PL" dirty="0"/>
              <a:t>- oznacza dokonywanie zmian w istniejącym, autentycznym dokumencie (np. czynienie dopisków, przekreśleń, wywabianie fragmentów tekstu). Bez znaczenia jest przy tym charakter i rozmiar wskazanej zmiany. Przerobieniem jest bowiem dokonanie w dokumencie każdej, nawet bardzo drobnej zmiany, godzącej  w wartość dowodową dokumentu lub jego treść. Bez znaczenia dla uznania, że dokument został przerobiony jest również to, czy w wyniku tej czynności dokumentowi nadano treść zgodną z rzeczywistością. </a:t>
            </a:r>
          </a:p>
          <a:p>
            <a:endParaRPr lang="pl-PL" dirty="0"/>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85000" lnSpcReduction="20000"/>
          </a:bodyPr>
          <a:lstStyle/>
          <a:p>
            <a:r>
              <a:rPr lang="pl-PL" b="1" dirty="0"/>
              <a:t>Przerobieniem dokumentu </a:t>
            </a:r>
            <a:r>
              <a:rPr lang="pl-PL" dirty="0"/>
              <a:t>jest wyłącznie dokonanie zmian w dokumencie </a:t>
            </a:r>
            <a:r>
              <a:rPr lang="pl-PL" dirty="0">
                <a:solidFill>
                  <a:srgbClr val="FF0000"/>
                </a:solidFill>
              </a:rPr>
              <a:t>przez osobę nieupoważnioną</a:t>
            </a:r>
            <a:r>
              <a:rPr lang="pl-PL" dirty="0"/>
              <a:t>, tj. najczęściej przez osobę niebędącą autorem czy wystawcą dokumentu. </a:t>
            </a:r>
          </a:p>
          <a:p>
            <a:r>
              <a:rPr lang="pl-PL" dirty="0"/>
              <a:t>Dokonanie zmian w treści dokumentu przez osobę, od której on pochodzi, będzie mogło być uznane za jego przerobienie w wypadkach szczególnych, tj. w sytuacjach, gdy osoba po wystawieniu dokumentu traci prawo do dysponowania nim.</a:t>
            </a:r>
          </a:p>
          <a:p>
            <a:r>
              <a:rPr lang="pl-PL" dirty="0"/>
              <a:t>Na przykład przedstawiciel organu władzy publicznej po wydaniu decyzji w ramach swoich uprawnień nie ma prawa dokonywania w niej przeróbek i zmian. Procedury zmiany czy sprostowania decyzji są bowiem ściśle określone. </a:t>
            </a:r>
          </a:p>
          <a:p>
            <a:r>
              <a:rPr lang="pl-PL" i="1" dirty="0">
                <a:solidFill>
                  <a:srgbClr val="FF0000"/>
                </a:solidFill>
              </a:rPr>
              <a:t> </a:t>
            </a:r>
            <a:r>
              <a:rPr lang="pl-PL" dirty="0">
                <a:solidFill>
                  <a:srgbClr val="FF0000"/>
                </a:solidFill>
              </a:rPr>
              <a:t>Nie jest natomiast przerobieniem dokumentu dokonanie zmian w umowie cywilnoprawnej przez jej strony  </a:t>
            </a:r>
          </a:p>
          <a:p>
            <a:endParaRPr lang="pl-PL" dirty="0"/>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92500" lnSpcReduction="10000"/>
          </a:bodyPr>
          <a:lstStyle/>
          <a:p>
            <a:r>
              <a:rPr lang="pl-PL" b="1" dirty="0"/>
              <a:t>Uchwała </a:t>
            </a:r>
            <a:r>
              <a:rPr lang="pl-PL" dirty="0"/>
              <a:t>Sądu Najwyższego z dnia 24 października 2014 r. </a:t>
            </a:r>
            <a:r>
              <a:rPr lang="pl-PL" b="1" dirty="0"/>
              <a:t>SNO 43/14</a:t>
            </a:r>
          </a:p>
          <a:p>
            <a:pPr>
              <a:buNone/>
            </a:pPr>
            <a:endParaRPr lang="pl-PL" dirty="0"/>
          </a:p>
          <a:p>
            <a:r>
              <a:rPr lang="pl-PL" dirty="0"/>
              <a:t>Protokół rozprawy jest dokumentem o charakterze publicznoprawnym i w takim przypadku wszelkie zmiany mogą być w nim dokonywane jedynie w procedurze do tego przewidzianej. Sędzia, po podpisaniu protokołu nie ma prawa nim wyłącznie rozporządzać i jako funkcjonariusz publiczny, w sytuacji gdy wbrew trybowi sprostowania protokołu, dokonuje w nim zmian, dopuszcza się przestępstwa fałszu materialnego w postaci przerobienia dokumentu.</a:t>
            </a:r>
          </a:p>
          <a:p>
            <a:endParaRPr lang="pl-PL" dirty="0"/>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85000" lnSpcReduction="20000"/>
          </a:bodyPr>
          <a:lstStyle/>
          <a:p>
            <a:r>
              <a:rPr lang="pl-PL" b="1" dirty="0"/>
              <a:t>Postanowienie </a:t>
            </a:r>
            <a:r>
              <a:rPr lang="pl-PL" dirty="0"/>
              <a:t>Sądu Najwyższego z dnia 25 marca 2015 r.</a:t>
            </a:r>
          </a:p>
          <a:p>
            <a:pPr>
              <a:buNone/>
            </a:pPr>
            <a:r>
              <a:rPr lang="pl-PL" dirty="0"/>
              <a:t>    </a:t>
            </a:r>
            <a:r>
              <a:rPr lang="pl-PL" b="1" dirty="0"/>
              <a:t>III KK 302/14</a:t>
            </a:r>
          </a:p>
          <a:p>
            <a:pPr>
              <a:buNone/>
            </a:pPr>
            <a:endParaRPr lang="pl-PL" dirty="0"/>
          </a:p>
          <a:p>
            <a:r>
              <a:rPr lang="pl-PL" dirty="0"/>
              <a:t>1. Przedmiotem ochrony w przypadku czynu zabronionego z art. 270 § 1 k.k. jest dobro prawne ogólnej natury, jakim jest wiarygodność dokumentów, nie zaś indywidualne interesy i prawa z nimi związane.</a:t>
            </a:r>
          </a:p>
          <a:p>
            <a:r>
              <a:rPr lang="pl-PL" dirty="0"/>
              <a:t>2. Brak jest możliwości przyjęcia, że bezpośrednim następstwem czynu z art. 270 § 1 k.k. jest pokrzywdzenie konkretnej osoby fizycznej. To z kolei powoduje, że w postępowaniu dotyczącym wiarygodności dokumentów z art. 270 § 1 k.k. nie ma również osoby, która na podstawie art. 53 k.p.k. mogłaby działać w sprawie w charakterze oskarżyciela posiłkowego</a:t>
            </a:r>
          </a:p>
          <a:p>
            <a:endParaRPr lang="pl-PL" dirty="0"/>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85000" lnSpcReduction="20000"/>
          </a:bodyPr>
          <a:lstStyle/>
          <a:p>
            <a:r>
              <a:rPr lang="pl-PL" dirty="0"/>
              <a:t>Art.  271.  </a:t>
            </a:r>
          </a:p>
          <a:p>
            <a:r>
              <a:rPr lang="pl-PL" dirty="0"/>
              <a:t>§  1. </a:t>
            </a:r>
          </a:p>
          <a:p>
            <a:r>
              <a:rPr lang="pl-PL" dirty="0"/>
              <a:t>Funkcjonariusz publiczny lub inna osoba uprawniona do wystawienia dokumentu, która poświadcza w nim nieprawdę co do okoliczności mającej znaczenie </a:t>
            </a:r>
            <a:r>
              <a:rPr lang="pl-PL" dirty="0" err="1"/>
              <a:t>prawne,podlega</a:t>
            </a:r>
            <a:r>
              <a:rPr lang="pl-PL" dirty="0"/>
              <a:t> karze pozbawienia wolności od 3 miesięcy do lat 5.</a:t>
            </a:r>
          </a:p>
          <a:p>
            <a:r>
              <a:rPr lang="pl-PL" dirty="0"/>
              <a:t>§  2. </a:t>
            </a:r>
          </a:p>
          <a:p>
            <a:r>
              <a:rPr lang="pl-PL" dirty="0"/>
              <a:t>W wypadku mniejszej wagi, sprawca podlega grzywnie albo karze ograniczenia wolności.</a:t>
            </a:r>
          </a:p>
          <a:p>
            <a:r>
              <a:rPr lang="pl-PL" dirty="0"/>
              <a:t>§  3. </a:t>
            </a:r>
          </a:p>
          <a:p>
            <a:r>
              <a:rPr lang="pl-PL" dirty="0"/>
              <a:t>Jeżeli sprawca dopuszcza się czynu określonego w § 1 w celu osiągnięcia korzyści majątkowej lub </a:t>
            </a:r>
            <a:r>
              <a:rPr lang="pl-PL" dirty="0" err="1"/>
              <a:t>osobistej,podlega</a:t>
            </a:r>
            <a:r>
              <a:rPr lang="pl-PL" dirty="0"/>
              <a:t> karze pozbawienia wolności od 6 miesięcy do lat 8.</a:t>
            </a:r>
          </a:p>
          <a:p>
            <a:endParaRPr lang="pl-PL" dirty="0"/>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92500" lnSpcReduction="10000"/>
          </a:bodyPr>
          <a:lstStyle/>
          <a:p>
            <a:r>
              <a:rPr lang="pl-PL" dirty="0"/>
              <a:t>Art. 271 § 1 częściowo został uznany za niezgodny z zasadą </a:t>
            </a:r>
            <a:r>
              <a:rPr lang="pl-PL" dirty="0" err="1"/>
              <a:t>ne</a:t>
            </a:r>
            <a:r>
              <a:rPr lang="pl-PL" dirty="0"/>
              <a:t> bis in </a:t>
            </a:r>
            <a:r>
              <a:rPr lang="pl-PL" dirty="0" err="1"/>
              <a:t>idem</a:t>
            </a:r>
            <a:r>
              <a:rPr lang="pl-PL" dirty="0"/>
              <a:t> oraz zasadą proporcjonalnej reakcji państwa na naruszenie prawa wynikającymi z </a:t>
            </a:r>
            <a:r>
              <a:rPr lang="pl-PL" dirty="0">
                <a:hlinkClick r:id="rId2"/>
              </a:rPr>
              <a:t>art. 2</a:t>
            </a:r>
            <a:r>
              <a:rPr lang="pl-PL" dirty="0"/>
              <a:t> Konstytucji RP, wyrokiem Trybunału Konstytucyjnego z dnia 20 czerwca 2017 r., sygn. akt P 124/15 (Dz.U.2017.1214) z dniem 24 czerwca 2017 r. Zgodnie z tym wyrokiem wymieniony wyżej przepis traci moc w zakresie, w jakim dopuszcza stosowanie wobec tej samej osoby fizycznej, za ten sam czyn, który stanowi naruszenie obowiązków lub warunków przewozu drogowego opisane w lp. 3.9 </a:t>
            </a:r>
            <a:r>
              <a:rPr lang="pl-PL" dirty="0">
                <a:hlinkClick r:id="rId3"/>
              </a:rPr>
              <a:t>załącznika nr 3</a:t>
            </a:r>
            <a:r>
              <a:rPr lang="pl-PL" dirty="0"/>
              <a:t> do ustawy o transporcie drogowym, odpowiedzialności za przestępstwo oraz kary pieniężnej.</a:t>
            </a:r>
          </a:p>
        </p:txBody>
      </p:sp>
    </p:spTree>
    <p:extLst>
      <p:ext uri="{BB962C8B-B14F-4D97-AF65-F5344CB8AC3E}">
        <p14:creationId xmlns:p14="http://schemas.microsoft.com/office/powerpoint/2010/main" val="2814656634"/>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a:xfrm>
            <a:off x="301752" y="1527048"/>
            <a:ext cx="8503920" cy="4998296"/>
          </a:xfrm>
        </p:spPr>
        <p:txBody>
          <a:bodyPr>
            <a:normAutofit lnSpcReduction="10000"/>
          </a:bodyPr>
          <a:lstStyle/>
          <a:p>
            <a:r>
              <a:rPr lang="pl-PL" dirty="0"/>
              <a:t>Art.  272. </a:t>
            </a:r>
          </a:p>
          <a:p>
            <a:r>
              <a:rPr lang="pl-PL" dirty="0"/>
              <a:t>Kto wyłudza poświadczenie nieprawdy przez podstępne wprowadzenie w błąd funkcjonariusza publicznego lub innej osoby upoważnionej do wystawienia dokumentu,</a:t>
            </a:r>
          </a:p>
          <a:p>
            <a:r>
              <a:rPr lang="pl-PL" dirty="0"/>
              <a:t>podlega karze pozbawienia wolności do lat 3.</a:t>
            </a:r>
          </a:p>
          <a:p>
            <a:r>
              <a:rPr lang="pl-PL" dirty="0"/>
              <a:t>Art.  273.  </a:t>
            </a:r>
          </a:p>
          <a:p>
            <a:r>
              <a:rPr lang="pl-PL" dirty="0"/>
              <a:t>Kto używa dokumentu określonego w art. 271 lub 272,</a:t>
            </a:r>
          </a:p>
          <a:p>
            <a:r>
              <a:rPr lang="pl-PL" dirty="0"/>
              <a:t>podlega grzywnie, karze ograniczenia wolności albo pozbawienia wolności do lat 2.</a:t>
            </a:r>
          </a:p>
          <a:p>
            <a:endParaRPr lang="pl-PL" dirty="0"/>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lstStyle/>
          <a:p>
            <a:endParaRPr lang="pl-PL" dirty="0"/>
          </a:p>
          <a:p>
            <a:r>
              <a:rPr lang="pl-PL" dirty="0"/>
              <a:t>Poświadczenie nieprawdy -wystawienie dokumentu stwierdzającego okoliczności nieistniejące lub przeinaczającego te okoliczności bądź zatajającego okoliczności, które należało stwierdzić  </a:t>
            </a:r>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70000" lnSpcReduction="20000"/>
          </a:bodyPr>
          <a:lstStyle/>
          <a:p>
            <a:r>
              <a:rPr lang="pl-PL" dirty="0"/>
              <a:t>Od poświadczenia należy odróżnić oświadczenie.</a:t>
            </a:r>
          </a:p>
          <a:p>
            <a:endParaRPr lang="pl-PL" dirty="0"/>
          </a:p>
          <a:p>
            <a:r>
              <a:rPr lang="pl-PL" dirty="0"/>
              <a:t>Poświadczenie odnosi się bowiem wyłącznie do już istniejącego, wypowiedzianego zdania. </a:t>
            </a:r>
          </a:p>
          <a:p>
            <a:endParaRPr lang="pl-PL" dirty="0"/>
          </a:p>
          <a:p>
            <a:r>
              <a:rPr lang="pl-PL" dirty="0"/>
              <a:t>Oświadczenie ma więc wobec poświadczenia charakter pierwotny. Ponadto poświadczenie składane jest w swoim imieniu, ale w cudzej sprawie. </a:t>
            </a:r>
          </a:p>
          <a:p>
            <a:endParaRPr lang="pl-PL" dirty="0"/>
          </a:p>
          <a:p>
            <a:r>
              <a:rPr lang="pl-PL" dirty="0"/>
              <a:t>Przez pojęcie „oświadczenie” należy rozumieć zaś wypowiedź składaną we własnym imieniu i w swojej sprawie (wyjątek dotyczy przedstawiciela ustawowego i pełnomocnika). </a:t>
            </a:r>
          </a:p>
          <a:p>
            <a:endParaRPr lang="pl-PL" dirty="0"/>
          </a:p>
          <a:p>
            <a:r>
              <a:rPr lang="pl-PL" dirty="0"/>
              <a:t>Kolejną istotna kwestia -  </a:t>
            </a:r>
            <a:r>
              <a:rPr lang="pl-PL" dirty="0">
                <a:solidFill>
                  <a:srgbClr val="FF0000"/>
                </a:solidFill>
              </a:rPr>
              <a:t>poświadczenie może odnosić się wyłącznie do treści, które poddają się weryfikacji pod względem prawdziwości. Z powyższych względów za dokumenty poświadczające nieprawdę nie mogą być uznane dokumenty zawierające oświadczenia woli (np. umowy cywilnoprawne) i oceny  .</a:t>
            </a:r>
          </a:p>
          <a:p>
            <a:endParaRPr lang="pl-PL" dirty="0"/>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77500" lnSpcReduction="20000"/>
          </a:bodyPr>
          <a:lstStyle/>
          <a:p>
            <a:r>
              <a:rPr lang="pl-PL" b="1" dirty="0"/>
              <a:t>Wyrok </a:t>
            </a:r>
            <a:r>
              <a:rPr lang="pl-PL" dirty="0"/>
              <a:t>Sądu Najwyższego z dnia 26 marca 2015 r. </a:t>
            </a:r>
            <a:r>
              <a:rPr lang="pl-PL" b="1" dirty="0"/>
              <a:t>IV KK 422/14</a:t>
            </a:r>
          </a:p>
          <a:p>
            <a:pPr>
              <a:buNone/>
            </a:pPr>
            <a:r>
              <a:rPr lang="pl-PL" dirty="0"/>
              <a:t>    nieprawdy.</a:t>
            </a:r>
          </a:p>
          <a:p>
            <a:pPr>
              <a:buNone/>
            </a:pPr>
            <a:r>
              <a:rPr lang="pl-PL" dirty="0"/>
              <a:t> </a:t>
            </a:r>
          </a:p>
          <a:p>
            <a:r>
              <a:rPr lang="pl-PL" dirty="0"/>
              <a:t>"Uprawnienie do wystawienia dokumentu" </a:t>
            </a:r>
            <a:r>
              <a:rPr lang="pl-PL" dirty="0">
                <a:solidFill>
                  <a:srgbClr val="FF0000"/>
                </a:solidFill>
              </a:rPr>
              <a:t>nie dotyczy ogólnej kompetencji do udziału w obrocie prawnym, a więc, że nie stanowi wystawienia dokumentu z poświadczeniem w nim nieprawdy w rozumieniu art. 271 § 1 k.k. samo zawarcie cywilnoprawnej umowy przez strony transakcji</a:t>
            </a:r>
            <a:r>
              <a:rPr lang="pl-PL" dirty="0"/>
              <a:t>. Podkreśla się przy tym, że </a:t>
            </a:r>
            <a:r>
              <a:rPr lang="pl-PL" dirty="0">
                <a:solidFill>
                  <a:srgbClr val="00B050"/>
                </a:solidFill>
              </a:rPr>
              <a:t>uprawnienie innej osoby, o jakiej mowa w art. 271 § 1 k.k., do wystawiania dokumentów, jest uzupełnieniem kompetencji funkcjonariusza publicznego i nie jest równoznaczne z ogólną możliwością uczestniczenia w czynnościach prawnych i sporządzania tam różnych oświadczeń</a:t>
            </a:r>
            <a:r>
              <a:rPr lang="pl-PL" dirty="0"/>
              <a:t>. </a:t>
            </a:r>
            <a:r>
              <a:rPr lang="pl-PL" dirty="0">
                <a:solidFill>
                  <a:srgbClr val="FF0000"/>
                </a:solidFill>
              </a:rPr>
              <a:t>Dokument wystawiony przez taką osobę ma zawierać w swojej treści poświadczenie, któremu przysługuje cecha zaufania publicznego, a w związku z tym domniemanie prawdziwości.</a:t>
            </a:r>
          </a:p>
          <a:p>
            <a:endParaRPr lang="pl-PL" dirty="0"/>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a:xfrm>
            <a:off x="251520" y="116632"/>
            <a:ext cx="8584632" cy="870920"/>
          </a:xfrm>
        </p:spPr>
        <p:txBody>
          <a:bodyPr>
            <a:normAutofit fontScale="90000"/>
          </a:bodyPr>
          <a:lstStyle/>
          <a:p>
            <a:br>
              <a:rPr lang="pl-PL" b="1" dirty="0"/>
            </a:br>
            <a:br>
              <a:rPr lang="pl-PL" b="1" dirty="0"/>
            </a:br>
            <a:r>
              <a:rPr lang="pl-PL" b="1" dirty="0"/>
              <a:t> </a:t>
            </a:r>
            <a:r>
              <a:rPr lang="pl-PL" dirty="0"/>
              <a:t> </a:t>
            </a:r>
            <a:br>
              <a:rPr lang="pl-PL" dirty="0"/>
            </a:br>
            <a:br>
              <a:rPr lang="pl-PL" dirty="0"/>
            </a:br>
            <a:br>
              <a:rPr lang="pl-PL" dirty="0"/>
            </a:br>
            <a:br>
              <a:rPr lang="pl-PL" dirty="0"/>
            </a:br>
            <a:br>
              <a:rPr lang="pl-PL" dirty="0"/>
            </a:br>
            <a:br>
              <a:rPr lang="pl-PL" dirty="0"/>
            </a:br>
            <a:br>
              <a:rPr lang="pl-PL" dirty="0"/>
            </a:br>
            <a:br>
              <a:rPr lang="pl-PL" dirty="0"/>
            </a:br>
            <a:br>
              <a:rPr lang="pl-PL" dirty="0"/>
            </a:br>
            <a:br>
              <a:rPr lang="pl-PL" dirty="0"/>
            </a:br>
            <a:br>
              <a:rPr lang="pl-PL" dirty="0"/>
            </a:br>
            <a:br>
              <a:rPr lang="pl-PL" dirty="0"/>
            </a:br>
            <a:r>
              <a:rPr lang="pl-PL" dirty="0">
                <a:latin typeface="Times New Roman" pitchFamily="18" charset="0"/>
                <a:cs typeface="Times New Roman" pitchFamily="18" charset="0"/>
              </a:rPr>
              <a:t> </a:t>
            </a:r>
            <a:br>
              <a:rPr lang="pl-PL" b="1" dirty="0">
                <a:latin typeface="Times New Roman" pitchFamily="18" charset="0"/>
                <a:cs typeface="Times New Roman" pitchFamily="18" charset="0"/>
              </a:rPr>
            </a:br>
            <a:r>
              <a:rPr lang="pl-PL" b="1" dirty="0">
                <a:latin typeface="Times New Roman" pitchFamily="18" charset="0"/>
                <a:cs typeface="Times New Roman" pitchFamily="18" charset="0"/>
              </a:rPr>
              <a:t>Wyrok Sądu Najwyższego z dnia 27 czerwca 2012 </a:t>
            </a:r>
            <a:br>
              <a:rPr lang="pl-PL" b="1" dirty="0">
                <a:latin typeface="Times New Roman" pitchFamily="18" charset="0"/>
                <a:cs typeface="Times New Roman" pitchFamily="18" charset="0"/>
              </a:rPr>
            </a:br>
            <a:r>
              <a:rPr lang="pl-PL" b="1" dirty="0">
                <a:latin typeface="Times New Roman" pitchFamily="18" charset="0"/>
                <a:cs typeface="Times New Roman" pitchFamily="18" charset="0"/>
              </a:rPr>
              <a:t> V KK 112/12</a:t>
            </a:r>
            <a:endParaRPr lang="pl-PL" dirty="0">
              <a:latin typeface="Times New Roman" pitchFamily="18" charset="0"/>
              <a:cs typeface="Times New Roman" pitchFamily="18" charset="0"/>
            </a:endParaRPr>
          </a:p>
        </p:txBody>
      </p:sp>
      <p:sp>
        <p:nvSpPr>
          <p:cNvPr id="3" name="Symbol zastępczy zawartości 2"/>
          <p:cNvSpPr>
            <a:spLocks noGrp="1"/>
          </p:cNvSpPr>
          <p:nvPr>
            <p:ph sz="quarter" idx="1"/>
          </p:nvPr>
        </p:nvSpPr>
        <p:spPr/>
        <p:txBody>
          <a:bodyPr>
            <a:normAutofit fontScale="70000" lnSpcReduction="20000"/>
          </a:bodyPr>
          <a:lstStyle/>
          <a:p>
            <a:r>
              <a:rPr lang="pl-PL" dirty="0">
                <a:solidFill>
                  <a:srgbClr val="FF0000"/>
                </a:solidFill>
              </a:rPr>
              <a:t>Podobnie oczywiście zasadny okazał się podniesiony w kasacji zarzut naruszenia prawa materialnego przez zakwalifikowanie zachowania polegającego na wystawieniu przez Andrzeja M. poświadczającego nieprawdę dokumentu, w postaci zaświadczenia o zatrudnieniu i wysokości zarobków Jana M., jako czynu zabronionego z </a:t>
            </a:r>
            <a:r>
              <a:rPr lang="pl-PL" u="sng" dirty="0">
                <a:solidFill>
                  <a:srgbClr val="FF0000"/>
                </a:solidFill>
                <a:hlinkClick r:id="rId2"/>
              </a:rPr>
              <a:t>art. 271 § 1</a:t>
            </a:r>
            <a:r>
              <a:rPr lang="pl-PL" dirty="0">
                <a:solidFill>
                  <a:srgbClr val="FF0000"/>
                </a:solidFill>
              </a:rPr>
              <a:t> k.k. oraz pomocnictwa do czynu zabronionego z </a:t>
            </a:r>
            <a:r>
              <a:rPr lang="pl-PL" u="sng" dirty="0">
                <a:solidFill>
                  <a:srgbClr val="FF0000"/>
                </a:solidFill>
                <a:hlinkClick r:id="rId2"/>
              </a:rPr>
              <a:t>art. 273</a:t>
            </a:r>
            <a:r>
              <a:rPr lang="pl-PL" dirty="0">
                <a:solidFill>
                  <a:srgbClr val="FF0000"/>
                </a:solidFill>
              </a:rPr>
              <a:t> k.k</a:t>
            </a:r>
            <a:r>
              <a:rPr lang="pl-PL" dirty="0"/>
              <a:t>. </a:t>
            </a:r>
            <a:r>
              <a:rPr lang="pl-PL" dirty="0">
                <a:solidFill>
                  <a:srgbClr val="00B050"/>
                </a:solidFill>
              </a:rPr>
              <a:t>Wystawienie takiego dokumentu dotyczy stosunku prawnego zatrudnienia, który nie ma charakteru publicznoprawnego</a:t>
            </a:r>
            <a:r>
              <a:rPr lang="pl-PL" dirty="0"/>
              <a:t>..Wystawienie takiego dokumentu nie dokonuje się więc na podstawie szczególnych "uprawnień" porównywalnych z władztwem, jakie posiada funkcjonariusz publiczny. Z tego też powodu nie spełnia znamion czynu zabronionego z </a:t>
            </a:r>
            <a:r>
              <a:rPr lang="pl-PL" u="sng" dirty="0">
                <a:hlinkClick r:id="rId2"/>
              </a:rPr>
              <a:t>art. 271 § 1</a:t>
            </a:r>
            <a:r>
              <a:rPr lang="pl-PL" dirty="0"/>
              <a:t> k.k., posługiwanie się zaś takim stwierdzającym nieprawdę zaświadczeniem o zatrudnieniu i uzyskiwanym wynagrodzeniu nie stanowi także przestępstwa z </a:t>
            </a:r>
            <a:r>
              <a:rPr lang="pl-PL" u="sng" dirty="0">
                <a:hlinkClick r:id="rId2"/>
              </a:rPr>
              <a:t>art. 273</a:t>
            </a:r>
            <a:r>
              <a:rPr lang="pl-PL" dirty="0"/>
              <a:t> k.k. Brak jest także szczególnych uregulowań prawnych, które przypisywałyby wystawionemu przez pracodawcę zaświadczeniu o zatrudnieniu oraz wysokości wynagrodzenia szczególną cechę zaufania publicznego ze skutkami erga </a:t>
            </a:r>
            <a:r>
              <a:rPr lang="pl-PL" dirty="0" err="1"/>
              <a:t>omnes</a:t>
            </a:r>
            <a:endParaRPr lang="pl-PL" dirty="0"/>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92500" lnSpcReduction="20000"/>
          </a:bodyPr>
          <a:lstStyle/>
          <a:p>
            <a:r>
              <a:rPr lang="pl-PL" b="1" dirty="0"/>
              <a:t>Wyrok </a:t>
            </a:r>
            <a:r>
              <a:rPr lang="pl-PL" dirty="0"/>
              <a:t>Sądu Najwyższego z dnia 5 kwietnia 2011 r.</a:t>
            </a:r>
          </a:p>
          <a:p>
            <a:pPr>
              <a:buNone/>
            </a:pPr>
            <a:r>
              <a:rPr lang="pl-PL" dirty="0"/>
              <a:t> </a:t>
            </a:r>
            <a:r>
              <a:rPr lang="pl-PL" b="1" dirty="0"/>
              <a:t>II KK 267/10</a:t>
            </a:r>
          </a:p>
          <a:p>
            <a:pPr>
              <a:buNone/>
            </a:pPr>
            <a:r>
              <a:rPr lang="pl-PL" dirty="0"/>
              <a:t> </a:t>
            </a:r>
          </a:p>
          <a:p>
            <a:r>
              <a:rPr lang="pl-PL" dirty="0"/>
              <a:t>Dla wypełnienia znamion strony przedmiotowej występku z art. 272 k.k. </a:t>
            </a:r>
            <a:r>
              <a:rPr lang="pl-PL" dirty="0">
                <a:solidFill>
                  <a:srgbClr val="FF0000"/>
                </a:solidFill>
              </a:rPr>
              <a:t>nie wystarcza złożenie nieprawdziwego oświadczenia, gdyż nie stanowi ono podstępnego zabiegu</a:t>
            </a:r>
            <a:r>
              <a:rPr lang="pl-PL" dirty="0"/>
              <a:t>. </a:t>
            </a:r>
            <a:r>
              <a:rPr lang="pl-PL" dirty="0">
                <a:solidFill>
                  <a:srgbClr val="00B050"/>
                </a:solidFill>
              </a:rPr>
              <a:t>Ponieważ "podstępne wprowadzenie w błąd" jest szczególną formą "wprowadzenia w błąd", wymaga podjęcia innych jeszcze podstępnych zabiegów w celu wyłudzenia od osoby uprawnionej określonej treści dokumentu, na przykład "przebiegłych, pozorujących jego zgodność z rzeczywistością i utrudniających wykrycie prawdy</a:t>
            </a:r>
            <a:r>
              <a:rPr lang="pl-PL" dirty="0"/>
              <a:t>"</a:t>
            </a:r>
          </a:p>
          <a:p>
            <a:endParaRPr lang="pl-PL" dirty="0"/>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a:xfrm>
            <a:off x="301752" y="1484784"/>
            <a:ext cx="8503920" cy="4572000"/>
          </a:xfrm>
        </p:spPr>
        <p:txBody>
          <a:bodyPr>
            <a:normAutofit fontScale="92500" lnSpcReduction="20000"/>
          </a:bodyPr>
          <a:lstStyle/>
          <a:p>
            <a:r>
              <a:rPr lang="pl-PL" b="1" dirty="0"/>
              <a:t>Wyrok </a:t>
            </a:r>
            <a:r>
              <a:rPr lang="pl-PL" dirty="0"/>
              <a:t>Sądu Najwyższego z dnia 26 listopada 2014 r. </a:t>
            </a:r>
            <a:r>
              <a:rPr lang="pl-PL" b="1" dirty="0"/>
              <a:t>II KK 138/14</a:t>
            </a:r>
          </a:p>
          <a:p>
            <a:pPr>
              <a:buNone/>
            </a:pPr>
            <a:r>
              <a:rPr lang="pl-PL" dirty="0"/>
              <a:t> </a:t>
            </a:r>
          </a:p>
          <a:p>
            <a:r>
              <a:rPr lang="pl-PL" dirty="0"/>
              <a:t>Za "podstępne wprowadzenie w błąd funkcjonariusza publicznego" w rozumieniu art. 272 k.k. może być uznane takie zachowanie sprawcy, który współdziałając z innymi osobami jako osoba podstawiona, pozoruje zgodność z rzeczywistością okoliczności istotnych dla zarejestrowania w wydziale komunikacji pojazdu, a następnie wyłudza w ten sposób poświadczenie nieprawdy w postaci uzyskania dowodu rejestracji takiego pojazdu, posługując się kłamliwymi oświadczeniami i twierdzeniami oraz przedkładając sfałszowane, także przez inne osoby, dokumenty.</a:t>
            </a:r>
          </a:p>
          <a:p>
            <a:endParaRPr lang="pl-PL" dirty="0"/>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a:xfrm>
            <a:off x="301752" y="1527048"/>
            <a:ext cx="8503920" cy="4926288"/>
          </a:xfrm>
        </p:spPr>
        <p:txBody>
          <a:bodyPr>
            <a:normAutofit lnSpcReduction="10000"/>
          </a:bodyPr>
          <a:lstStyle/>
          <a:p>
            <a:r>
              <a:rPr lang="pl-PL" dirty="0"/>
              <a:t>Art.  275.  </a:t>
            </a:r>
          </a:p>
          <a:p>
            <a:r>
              <a:rPr lang="pl-PL" dirty="0"/>
              <a:t>§  1. </a:t>
            </a:r>
          </a:p>
          <a:p>
            <a:r>
              <a:rPr lang="pl-PL" dirty="0"/>
              <a:t>Kto posługuje się dokumentem stwierdzającym tożsamość innej osoby albo jej prawa majątkowe lub dokument taki kradnie lub go </a:t>
            </a:r>
            <a:r>
              <a:rPr lang="pl-PL" dirty="0" err="1"/>
              <a:t>przywłaszcza,podlega</a:t>
            </a:r>
            <a:r>
              <a:rPr lang="pl-PL" dirty="0"/>
              <a:t> grzywnie, karze ograniczenia wolności albo pozbawienia wolności do lat 2.</a:t>
            </a:r>
          </a:p>
          <a:p>
            <a:r>
              <a:rPr lang="pl-PL" dirty="0"/>
              <a:t>§  2. </a:t>
            </a:r>
          </a:p>
          <a:p>
            <a:r>
              <a:rPr lang="pl-PL" dirty="0"/>
              <a:t>Tej samej karze podlega, kto bezprawnie przewozi, przenosi lub przesyła za granicę dokument stwierdzający tożsamość innej osoby albo jej prawa majątkowe.</a:t>
            </a:r>
          </a:p>
          <a:p>
            <a:endParaRPr lang="pl-PL" dirty="0"/>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92500" lnSpcReduction="20000"/>
          </a:bodyPr>
          <a:lstStyle/>
          <a:p>
            <a:r>
              <a:rPr lang="pl-PL" sz="4000" dirty="0"/>
              <a:t>Barnaba K. został oskarżony o to, że dokonał kradzieży na szkodę Piotra U. dokumentu stwierdzającego tożsamość ww. osoby w postaci prawa jazdy to jest o przestępstwo z art. 275 par. 1 k.k. Jakie orzeczenie powinien wydać tutaj sąd?</a:t>
            </a:r>
          </a:p>
          <a:p>
            <a:r>
              <a:rPr lang="pl-PL" sz="4000" dirty="0"/>
              <a:t>Zob. art. 339 par. 3 pkt 1 i 2 k.p.k., art. 414 k.p.k. </a:t>
            </a:r>
          </a:p>
        </p:txBody>
      </p:sp>
    </p:spTree>
    <p:extLst>
      <p:ext uri="{BB962C8B-B14F-4D97-AF65-F5344CB8AC3E}">
        <p14:creationId xmlns:p14="http://schemas.microsoft.com/office/powerpoint/2010/main" val="3447156693"/>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70000" lnSpcReduction="20000"/>
          </a:bodyPr>
          <a:lstStyle/>
          <a:p>
            <a:r>
              <a:rPr lang="pl-PL" b="1" dirty="0"/>
              <a:t>Dokument stwierdzający tożsamość</a:t>
            </a:r>
            <a:r>
              <a:rPr lang="pl-PL" dirty="0"/>
              <a:t> należy rozumieć:</a:t>
            </a:r>
          </a:p>
          <a:p>
            <a:endParaRPr lang="pl-PL" dirty="0"/>
          </a:p>
          <a:p>
            <a:r>
              <a:rPr lang="pl-PL" dirty="0"/>
              <a:t>a) dowód osobisty, </a:t>
            </a:r>
          </a:p>
          <a:p>
            <a:endParaRPr lang="pl-PL" dirty="0"/>
          </a:p>
          <a:p>
            <a:r>
              <a:rPr lang="pl-PL" dirty="0"/>
              <a:t>b) dokumenty paszportowe </a:t>
            </a:r>
            <a:r>
              <a:rPr lang="pl-PL" u="sng" dirty="0"/>
              <a:t>2 </a:t>
            </a:r>
            <a:r>
              <a:rPr lang="pl-PL" u="sng" dirty="0" err="1"/>
              <a:t>pkt</a:t>
            </a:r>
            <a:r>
              <a:rPr lang="pl-PL" u="sng" dirty="0"/>
              <a:t> 2 </a:t>
            </a:r>
            <a:r>
              <a:rPr lang="pl-PL" dirty="0"/>
              <a:t>ustawy z 2 lipca 2006 r. o paszportach </a:t>
            </a:r>
          </a:p>
          <a:p>
            <a:endParaRPr lang="pl-PL" dirty="0"/>
          </a:p>
          <a:p>
            <a:r>
              <a:rPr lang="pl-PL" dirty="0"/>
              <a:t>c) dokument podróży, wiza ,</a:t>
            </a:r>
          </a:p>
          <a:p>
            <a:r>
              <a:rPr lang="pl-PL" dirty="0"/>
              <a:t> </a:t>
            </a:r>
          </a:p>
          <a:p>
            <a:r>
              <a:rPr lang="pl-PL" b="1" dirty="0">
                <a:solidFill>
                  <a:srgbClr val="FF0000"/>
                </a:solidFill>
              </a:rPr>
              <a:t>Nie posiadają charakteru dokumentów stwierdzających tożsamość</a:t>
            </a:r>
            <a:r>
              <a:rPr lang="pl-PL" dirty="0"/>
              <a:t> </a:t>
            </a:r>
            <a:r>
              <a:rPr lang="pl-PL" dirty="0">
                <a:solidFill>
                  <a:srgbClr val="00B050"/>
                </a:solidFill>
              </a:rPr>
              <a:t>legitymacje służbowe, prawo jazdy, legitymacje ubezpieczeniowe, legitymacje uprawniające do świadczeń z ubezpieczenia społecznego, legitymacje szkolne czy studenckie</a:t>
            </a:r>
            <a:r>
              <a:rPr lang="pl-PL" dirty="0"/>
              <a:t>. Dokumenty te, zawierają co prawda dane o osobach, które są ich posiadaczami, ale stanowią co najwyżej podstawę do ustalenia tożsamości danej osoby, z punktu widzenia obowiązującego prawa nie mają charakteru dokumentów stwierdzających tożsamość danej osoby.</a:t>
            </a:r>
          </a:p>
          <a:p>
            <a:endParaRPr lang="pl-PL" dirty="0"/>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a:bodyPr>
          <a:lstStyle/>
          <a:p>
            <a:r>
              <a:rPr lang="pl-PL" dirty="0"/>
              <a:t>Dokument stwierdzający prawa majątkowe</a:t>
            </a:r>
            <a:r>
              <a:rPr lang="pl-PL" b="1" dirty="0"/>
              <a:t>, któremu przysługuje domniemanie, że osoba, której dotyczy, posiada określone prawo majątkowe.</a:t>
            </a:r>
            <a:r>
              <a:rPr lang="pl-PL" dirty="0"/>
              <a:t> Przykładowo: akt własności, wypis z księgi wieczystej, postanowienie o stwierdzeniu nabycia spadku, kartka żywnościowa, bon towarowy itp. </a:t>
            </a:r>
          </a:p>
          <a:p>
            <a:r>
              <a:rPr lang="pl-PL" dirty="0"/>
              <a:t>Niekoniecznie musi być to przy tym dokument imiennie określający dysponenta (są poglądy odmienne)</a:t>
            </a:r>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lstStyle/>
          <a:p>
            <a:r>
              <a:rPr lang="pl-PL" dirty="0"/>
              <a:t>posługiwać się - </a:t>
            </a:r>
            <a:r>
              <a:rPr lang="pl-PL" b="1" dirty="0"/>
              <a:t>wszelkie możliwe wykorzystanie dokumentu związane z funkcją, którą on pełni;</a:t>
            </a:r>
          </a:p>
          <a:p>
            <a:pPr>
              <a:buNone/>
            </a:pPr>
            <a:r>
              <a:rPr lang="pl-PL" dirty="0"/>
              <a:t> </a:t>
            </a:r>
          </a:p>
          <a:p>
            <a:r>
              <a:rPr lang="pl-PL" dirty="0"/>
              <a:t> zwłaszcza o przedłożenie go czy okazanie i w ten sposób podanie się za osobę będącą prawnym dysponentem danego dokumentu. </a:t>
            </a:r>
          </a:p>
          <a:p>
            <a:endParaRPr lang="pl-PL" dirty="0"/>
          </a:p>
          <a:p>
            <a:pPr>
              <a:buNone/>
            </a:pPr>
            <a:endParaRPr lang="pl-PL" dirty="0"/>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a:bodyPr>
          <a:lstStyle/>
          <a:p>
            <a:r>
              <a:rPr lang="pl-PL" b="1" dirty="0"/>
              <a:t>Wyrok </a:t>
            </a:r>
            <a:r>
              <a:rPr lang="pl-PL" dirty="0"/>
              <a:t>Sądu Apelacyjnego w Krakowie z dnia 10 listopada 1999 r. </a:t>
            </a:r>
            <a:r>
              <a:rPr lang="pl-PL" b="1" dirty="0"/>
              <a:t>II </a:t>
            </a:r>
            <a:r>
              <a:rPr lang="pl-PL" b="1" dirty="0" err="1"/>
              <a:t>AKa</a:t>
            </a:r>
            <a:r>
              <a:rPr lang="pl-PL" b="1" dirty="0"/>
              <a:t> 188/99</a:t>
            </a:r>
          </a:p>
          <a:p>
            <a:endParaRPr lang="pl-PL" dirty="0"/>
          </a:p>
          <a:p>
            <a:r>
              <a:rPr lang="pl-PL" dirty="0"/>
              <a:t>Odpowiedzialność za posłużenie się fałszywym dowodem tożsamości (art. 275 k.k.) zachodzi nie tylko wtedy, gdy sprawca dowód taki okazuje, ale i wtedy, gdy przy legitymowaniu powołuje się na treść cudzego dokumentu przy nim znalezionego.</a:t>
            </a:r>
          </a:p>
          <a:p>
            <a:endParaRPr lang="pl-PL" dirty="0"/>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85000" lnSpcReduction="10000"/>
          </a:bodyPr>
          <a:lstStyle/>
          <a:p>
            <a:r>
              <a:rPr lang="pl-PL" b="1" dirty="0"/>
              <a:t>Art. 79.</a:t>
            </a:r>
            <a:r>
              <a:rPr lang="pl-PL" dirty="0"/>
              <a:t>  Kto:</a:t>
            </a:r>
          </a:p>
          <a:p>
            <a:r>
              <a:rPr lang="pl-PL" dirty="0"/>
              <a:t>1)   uchyla się od obowiązku posiadania lub wymiany dowodu osobistego,</a:t>
            </a:r>
          </a:p>
          <a:p>
            <a:r>
              <a:rPr lang="pl-PL" dirty="0"/>
              <a:t>2)   zatrzymuje bez podstawy prawnej cudzy dowód osobisty,</a:t>
            </a:r>
          </a:p>
          <a:p>
            <a:r>
              <a:rPr lang="pl-PL" dirty="0"/>
              <a:t>3)   nie zwraca dowodu osobistego w razie utraty obywatelstwa polskiego,</a:t>
            </a:r>
          </a:p>
          <a:p>
            <a:r>
              <a:rPr lang="pl-PL" dirty="0"/>
              <a:t>podlega karze ograniczenia wolności albo karze grzywny.</a:t>
            </a:r>
          </a:p>
          <a:p>
            <a:r>
              <a:rPr lang="pl-PL" u="sng" dirty="0"/>
              <a:t> </a:t>
            </a:r>
            <a:endParaRPr lang="pl-PL" dirty="0"/>
          </a:p>
          <a:p>
            <a:r>
              <a:rPr lang="pl-PL" b="1" dirty="0"/>
              <a:t>Art. 80.</a:t>
            </a:r>
            <a:r>
              <a:rPr lang="pl-PL" dirty="0"/>
              <a:t> Orzekanie w sprawach określonych w art. 79 odbywa się na zasadach i w trybie określonym w </a:t>
            </a:r>
            <a:r>
              <a:rPr lang="pl-PL" u="sng" dirty="0"/>
              <a:t>ustawie</a:t>
            </a:r>
            <a:r>
              <a:rPr lang="pl-PL" dirty="0"/>
              <a:t> z dnia 24 sierpnia 2001 r. - Kodeks postępowania w sprawach o wykroczenia (Dz. U. z 2008 r. Nr 133, poz. 848, z </a:t>
            </a:r>
            <a:r>
              <a:rPr lang="pl-PL" dirty="0" err="1"/>
              <a:t>późn</a:t>
            </a:r>
            <a:r>
              <a:rPr lang="pl-PL" dirty="0"/>
              <a:t>. zm.</a:t>
            </a:r>
            <a:r>
              <a:rPr lang="pl-PL" baseline="30000" dirty="0"/>
              <a:t>4)</a:t>
            </a:r>
            <a:r>
              <a:rPr lang="pl-PL" dirty="0"/>
              <a:t>).</a:t>
            </a:r>
          </a:p>
          <a:p>
            <a:endParaRPr lang="pl-PL" dirty="0"/>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sz="quarter" idx="1"/>
          </p:nvPr>
        </p:nvSpPr>
        <p:spPr/>
        <p:txBody>
          <a:bodyPr>
            <a:normAutofit fontScale="85000" lnSpcReduction="20000"/>
          </a:bodyPr>
          <a:lstStyle/>
          <a:p>
            <a:r>
              <a:rPr lang="pl-PL" b="1" dirty="0"/>
              <a:t>Art. 49.</a:t>
            </a:r>
            <a:r>
              <a:rPr lang="pl-PL" dirty="0"/>
              <a:t> 1. Osoba, która znalazła cudzy dowód osobisty, jest obowiązana niezwłocznie przekazać ten dokument organowi dowolnej gminy, Policji, innemu organowi administracji publicznej lub placówce konsularnej Rzeczypospolitej Polskiej. Organy te przekazują niezwłocznie dowód osobisty organowi, który go wydał, w celu unieważnienia dokumentu.</a:t>
            </a:r>
          </a:p>
          <a:p>
            <a:r>
              <a:rPr lang="pl-PL" dirty="0"/>
              <a:t>2. Osoba, która znalazła cudzy dowód osobisty, może, bez zbędnej zwłoki, przekazać ten dokument posiadaczowi dowodu osobistego. W tym przypadku posiadacz dokumentu może również zawiadomić organy, o których mowa w ust. 1, o utracie dowodu osobistego, w celu jego unieważnienia.</a:t>
            </a:r>
          </a:p>
          <a:p>
            <a:r>
              <a:rPr lang="pl-PL" dirty="0"/>
              <a:t>3. Osoba posiadająca dowód osobisty, która utraciła obywatelstwo polskie, jest obowiązana niezwłocznie zwrócić go do organu dowolnej gminy lub placówki konsularnej Rzeczypospolitej Polskiej.</a:t>
            </a:r>
          </a:p>
          <a:p>
            <a:endParaRPr lang="pl-PL" dirty="0"/>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iejski">
  <a:themeElements>
    <a:clrScheme name="Miejski">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Miejski">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Miejski">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Motyw pakietu Office">
  <a:themeElements>
    <a:clrScheme name="Pakiet 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Pakiet 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Pakiet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Civic</Template>
  <TotalTime>13982</TotalTime>
  <Words>19775</Words>
  <Application>Microsoft Office PowerPoint</Application>
  <PresentationFormat>Pokaz na ekranie (4:3)</PresentationFormat>
  <Paragraphs>956</Paragraphs>
  <Slides>213</Slides>
  <Notes>1</Notes>
  <HiddenSlides>0</HiddenSlides>
  <MMClips>0</MMClips>
  <ScaleCrop>false</ScaleCrop>
  <HeadingPairs>
    <vt:vector size="6" baseType="variant">
      <vt:variant>
        <vt:lpstr>Używane czcionki</vt:lpstr>
      </vt:variant>
      <vt:variant>
        <vt:i4>6</vt:i4>
      </vt:variant>
      <vt:variant>
        <vt:lpstr>Motyw</vt:lpstr>
      </vt:variant>
      <vt:variant>
        <vt:i4>1</vt:i4>
      </vt:variant>
      <vt:variant>
        <vt:lpstr>Tytuły slajdów</vt:lpstr>
      </vt:variant>
      <vt:variant>
        <vt:i4>213</vt:i4>
      </vt:variant>
    </vt:vector>
  </HeadingPairs>
  <TitlesOfParts>
    <vt:vector size="220" baseType="lpstr">
      <vt:lpstr>Arial</vt:lpstr>
      <vt:lpstr>Calibri</vt:lpstr>
      <vt:lpstr>Georgia</vt:lpstr>
      <vt:lpstr>Times New Roman</vt:lpstr>
      <vt:lpstr>Wingdings</vt:lpstr>
      <vt:lpstr>Wingdings 2</vt:lpstr>
      <vt:lpstr>Miejski</vt:lpstr>
      <vt:lpstr>Prawo karne i prawo wykroczeń – zagadnienia wybrane </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art. 148 par. 2 pkt 4 z użyciem materiałów wybuchowych </vt:lpstr>
      <vt:lpstr> </vt:lpstr>
      <vt:lpstr>art. 148 § 3</vt:lpstr>
      <vt:lpstr>Prezentacja programu PowerPoint</vt:lpstr>
      <vt:lpstr>Prezentacja programu PowerPoint</vt:lpstr>
      <vt:lpstr>Prezentacja programu PowerPoint</vt:lpstr>
      <vt:lpstr>Prezentacja programu PowerPoint</vt:lpstr>
      <vt:lpstr>Zabójstwo funkcjonariusza publicznego</vt:lpstr>
      <vt:lpstr>Prezentacja programu PowerPoint</vt:lpstr>
      <vt:lpstr>Zabójstwo w afekcie</vt:lpstr>
      <vt:lpstr>Prezentacja programu PowerPoint</vt:lpstr>
      <vt:lpstr>Wyrok Sądu Apelacyjnego w Poznaniu z dnia 19 lutego 2015 r</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Ciężki uszczerbek na zdrowiu</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Średni i lekki uszczerbek na zdrowiu</vt:lpstr>
      <vt:lpstr>Prezentacja programu PowerPoint</vt:lpstr>
      <vt:lpstr>Prezentacja programu PowerPoint</vt:lpstr>
      <vt:lpstr>Prezentacja programu PowerPoint</vt:lpstr>
      <vt:lpstr>art. 12 Ściganie na wniosek – art. 13</vt:lpstr>
      <vt:lpstr>art. 17 k.p.k. </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art. 12 Ściganie na wniosek</vt:lpstr>
      <vt:lpstr>art. 12 Ściganie na wniosek</vt:lpstr>
      <vt:lpstr>art. 12 Ściganie na wniosek</vt:lpstr>
      <vt:lpstr>art. 12 Ściganie na wniosek</vt:lpstr>
      <vt:lpstr>art. 12 Ściganie na wniosek</vt:lpstr>
      <vt:lpstr>Prezentacja programu PowerPoint</vt:lpstr>
      <vt:lpstr>Prezentacja programu PowerPoint</vt:lpstr>
      <vt:lpstr>Bójka i pobicie</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Odpowiedzialność za typy kwalifikowane</vt:lpstr>
      <vt:lpstr>Prezentacja programu PowerPoint</vt:lpstr>
      <vt:lpstr>Prezentacja programu PowerPoint</vt:lpstr>
      <vt:lpstr>Prezentacja programu PowerPoint</vt:lpstr>
      <vt:lpstr>Prezentacja programu PowerPoint</vt:lpstr>
      <vt:lpstr>)   USTAWA z dnia 21 maja 1999 r. o broni i amunicji</vt:lpstr>
      <vt:lpstr>Prezentacja programu PowerPoint</vt:lpstr>
      <vt:lpstr>Prezentacja programu PowerPoint</vt:lpstr>
      <vt:lpstr>Prezentacja programu PowerPoint</vt:lpstr>
      <vt:lpstr>Prezentacja programu PowerPoint</vt:lpstr>
      <vt:lpstr>Prezentacja programu PowerPoint</vt:lpstr>
      <vt:lpstr>Podmiot</vt:lpstr>
      <vt:lpstr>Kazus</vt:lpstr>
      <vt:lpstr>Kazus c.d.</vt:lpstr>
      <vt:lpstr>Przestępstwa przeciwko bezpieczeństwu w komunikacji</vt:lpstr>
      <vt:lpstr>Przestępstwa przeciwko bezpieczeństwu w komunikacji</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      Uchwała SN z 28 lutego 1975 r. V KZP 2/74 </vt:lpstr>
      <vt:lpstr>Związek przyczynowy</vt:lpstr>
      <vt:lpstr>Prezentacja programu PowerPoint</vt:lpstr>
      <vt:lpstr>Zasada ograniczonego zaufania</vt:lpstr>
      <vt:lpstr> </vt:lpstr>
      <vt:lpstr>Prezentacja programu PowerPoint</vt:lpstr>
      <vt:lpstr>Prezentacja programu PowerPoint</vt:lpstr>
      <vt:lpstr>Zasada prędkości bezpiecznej </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Stan pod wpływem środka odurzającego </vt:lpstr>
      <vt:lpstr>  Wyrok Sądu Najwyższego z dnia 4.10.2013 r., IV KK 136/13</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Przestępstwa przeciwko mieniu</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Przestępstwa przeciwko wiarygodności dokumentów – przestępstwo wieloodmianowe</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                  Wyrok Sądu Najwyższego z dnia 27 czerwca 2012   V KK 112/12</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vector>
  </TitlesOfParts>
  <Company>Toshiba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Struktura przestępstwa i jej elementy</dc:title>
  <dc:creator>Maja</dc:creator>
  <cp:lastModifiedBy>Kala Dariusz</cp:lastModifiedBy>
  <cp:revision>121</cp:revision>
  <dcterms:created xsi:type="dcterms:W3CDTF">2015-11-21T06:36:35Z</dcterms:created>
  <dcterms:modified xsi:type="dcterms:W3CDTF">2025-10-12T14:53:04Z</dcterms:modified>
</cp:coreProperties>
</file>