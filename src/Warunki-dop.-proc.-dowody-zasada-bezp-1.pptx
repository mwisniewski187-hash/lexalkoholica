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450"/>
  </p:notesMasterIdLst>
  <p:sldIdLst>
    <p:sldId id="256" r:id="rId2"/>
    <p:sldId id="269" r:id="rId3"/>
    <p:sldId id="506" r:id="rId4"/>
    <p:sldId id="507" r:id="rId5"/>
    <p:sldId id="270" r:id="rId6"/>
    <p:sldId id="509" r:id="rId7"/>
    <p:sldId id="508" r:id="rId8"/>
    <p:sldId id="271" r:id="rId9"/>
    <p:sldId id="386" r:id="rId10"/>
    <p:sldId id="387" r:id="rId11"/>
    <p:sldId id="518" r:id="rId12"/>
    <p:sldId id="510" r:id="rId13"/>
    <p:sldId id="274" r:id="rId14"/>
    <p:sldId id="275" r:id="rId15"/>
    <p:sldId id="517" r:id="rId16"/>
    <p:sldId id="519" r:id="rId17"/>
    <p:sldId id="520" r:id="rId18"/>
    <p:sldId id="521" r:id="rId19"/>
    <p:sldId id="540" r:id="rId20"/>
    <p:sldId id="555" r:id="rId21"/>
    <p:sldId id="556" r:id="rId22"/>
    <p:sldId id="522" r:id="rId23"/>
    <p:sldId id="523" r:id="rId24"/>
    <p:sldId id="526" r:id="rId25"/>
    <p:sldId id="527" r:id="rId26"/>
    <p:sldId id="382" r:id="rId27"/>
    <p:sldId id="2344" r:id="rId28"/>
    <p:sldId id="2301" r:id="rId29"/>
    <p:sldId id="512" r:id="rId30"/>
    <p:sldId id="2316" r:id="rId31"/>
    <p:sldId id="586" r:id="rId32"/>
    <p:sldId id="587" r:id="rId33"/>
    <p:sldId id="588" r:id="rId34"/>
    <p:sldId id="589" r:id="rId35"/>
    <p:sldId id="590" r:id="rId36"/>
    <p:sldId id="591" r:id="rId37"/>
    <p:sldId id="1750" r:id="rId38"/>
    <p:sldId id="1752" r:id="rId39"/>
    <p:sldId id="1930" r:id="rId40"/>
    <p:sldId id="2302" r:id="rId41"/>
    <p:sldId id="2300" r:id="rId42"/>
    <p:sldId id="2317" r:id="rId43"/>
    <p:sldId id="1931" r:id="rId44"/>
    <p:sldId id="2297" r:id="rId45"/>
    <p:sldId id="2298" r:id="rId46"/>
    <p:sldId id="2299" r:id="rId47"/>
    <p:sldId id="2342" r:id="rId48"/>
    <p:sldId id="2343" r:id="rId49"/>
    <p:sldId id="513" r:id="rId50"/>
    <p:sldId id="2345" r:id="rId51"/>
    <p:sldId id="2346" r:id="rId52"/>
    <p:sldId id="514" r:id="rId53"/>
    <p:sldId id="2303" r:id="rId54"/>
    <p:sldId id="2304" r:id="rId55"/>
    <p:sldId id="516" r:id="rId56"/>
    <p:sldId id="2305" r:id="rId57"/>
    <p:sldId id="515" r:id="rId58"/>
    <p:sldId id="2318" r:id="rId59"/>
    <p:sldId id="388" r:id="rId60"/>
    <p:sldId id="276" r:id="rId61"/>
    <p:sldId id="383" r:id="rId62"/>
    <p:sldId id="384" r:id="rId63"/>
    <p:sldId id="279" r:id="rId64"/>
    <p:sldId id="281" r:id="rId65"/>
    <p:sldId id="282" r:id="rId66"/>
    <p:sldId id="385" r:id="rId67"/>
    <p:sldId id="277" r:id="rId68"/>
    <p:sldId id="280" r:id="rId69"/>
    <p:sldId id="283" r:id="rId70"/>
    <p:sldId id="2347" r:id="rId71"/>
    <p:sldId id="529" r:id="rId72"/>
    <p:sldId id="2306" r:id="rId73"/>
    <p:sldId id="2307" r:id="rId74"/>
    <p:sldId id="530" r:id="rId75"/>
    <p:sldId id="531" r:id="rId76"/>
    <p:sldId id="532" r:id="rId77"/>
    <p:sldId id="538" r:id="rId78"/>
    <p:sldId id="539" r:id="rId79"/>
    <p:sldId id="1706" r:id="rId80"/>
    <p:sldId id="1782" r:id="rId81"/>
    <p:sldId id="1783" r:id="rId82"/>
    <p:sldId id="1849" r:id="rId83"/>
    <p:sldId id="1775" r:id="rId84"/>
    <p:sldId id="1776" r:id="rId85"/>
    <p:sldId id="1784" r:id="rId86"/>
    <p:sldId id="351" r:id="rId87"/>
    <p:sldId id="352" r:id="rId88"/>
    <p:sldId id="354" r:id="rId89"/>
    <p:sldId id="1777" r:id="rId90"/>
    <p:sldId id="1779" r:id="rId91"/>
    <p:sldId id="1780" r:id="rId92"/>
    <p:sldId id="2102" r:id="rId93"/>
    <p:sldId id="2174" r:id="rId94"/>
    <p:sldId id="2175" r:id="rId95"/>
    <p:sldId id="2176" r:id="rId96"/>
    <p:sldId id="2177" r:id="rId97"/>
    <p:sldId id="2179" r:id="rId98"/>
    <p:sldId id="2178" r:id="rId99"/>
    <p:sldId id="1778" r:id="rId100"/>
    <p:sldId id="1785" r:id="rId101"/>
    <p:sldId id="533" r:id="rId102"/>
    <p:sldId id="534" r:id="rId103"/>
    <p:sldId id="535" r:id="rId104"/>
    <p:sldId id="536" r:id="rId105"/>
    <p:sldId id="537" r:id="rId106"/>
    <p:sldId id="541" r:id="rId107"/>
    <p:sldId id="2319" r:id="rId108"/>
    <p:sldId id="542" r:id="rId109"/>
    <p:sldId id="2321" r:id="rId110"/>
    <p:sldId id="2322" r:id="rId111"/>
    <p:sldId id="560" r:id="rId112"/>
    <p:sldId id="2323" r:id="rId113"/>
    <p:sldId id="543" r:id="rId114"/>
    <p:sldId id="553" r:id="rId115"/>
    <p:sldId id="554" r:id="rId116"/>
    <p:sldId id="547" r:id="rId117"/>
    <p:sldId id="548" r:id="rId118"/>
    <p:sldId id="528" r:id="rId119"/>
    <p:sldId id="544" r:id="rId120"/>
    <p:sldId id="549" r:id="rId121"/>
    <p:sldId id="550" r:id="rId122"/>
    <p:sldId id="551" r:id="rId123"/>
    <p:sldId id="552" r:id="rId124"/>
    <p:sldId id="285" r:id="rId125"/>
    <p:sldId id="389" r:id="rId126"/>
    <p:sldId id="390" r:id="rId127"/>
    <p:sldId id="567" r:id="rId128"/>
    <p:sldId id="561" r:id="rId129"/>
    <p:sldId id="565" r:id="rId130"/>
    <p:sldId id="453" r:id="rId131"/>
    <p:sldId id="562" r:id="rId132"/>
    <p:sldId id="563" r:id="rId133"/>
    <p:sldId id="564" r:id="rId134"/>
    <p:sldId id="454" r:id="rId135"/>
    <p:sldId id="566" r:id="rId136"/>
    <p:sldId id="568" r:id="rId137"/>
    <p:sldId id="391" r:id="rId138"/>
    <p:sldId id="392" r:id="rId139"/>
    <p:sldId id="287" r:id="rId140"/>
    <p:sldId id="393" r:id="rId141"/>
    <p:sldId id="288" r:id="rId142"/>
    <p:sldId id="289" r:id="rId143"/>
    <p:sldId id="290" r:id="rId144"/>
    <p:sldId id="582" r:id="rId145"/>
    <p:sldId id="583" r:id="rId146"/>
    <p:sldId id="293" r:id="rId147"/>
    <p:sldId id="396" r:id="rId148"/>
    <p:sldId id="456" r:id="rId149"/>
    <p:sldId id="457" r:id="rId150"/>
    <p:sldId id="460" r:id="rId151"/>
    <p:sldId id="2349" r:id="rId152"/>
    <p:sldId id="2348" r:id="rId153"/>
    <p:sldId id="569" r:id="rId154"/>
    <p:sldId id="455" r:id="rId155"/>
    <p:sldId id="295" r:id="rId156"/>
    <p:sldId id="570" r:id="rId157"/>
    <p:sldId id="571" r:id="rId158"/>
    <p:sldId id="572" r:id="rId159"/>
    <p:sldId id="573" r:id="rId160"/>
    <p:sldId id="574" r:id="rId161"/>
    <p:sldId id="575" r:id="rId162"/>
    <p:sldId id="297" r:id="rId163"/>
    <p:sldId id="298" r:id="rId164"/>
    <p:sldId id="398" r:id="rId165"/>
    <p:sldId id="1910" r:id="rId166"/>
    <p:sldId id="1911" r:id="rId167"/>
    <p:sldId id="399" r:id="rId168"/>
    <p:sldId id="2357" r:id="rId169"/>
    <p:sldId id="2358" r:id="rId170"/>
    <p:sldId id="2309" r:id="rId171"/>
    <p:sldId id="2312" r:id="rId172"/>
    <p:sldId id="2313" r:id="rId173"/>
    <p:sldId id="2351" r:id="rId174"/>
    <p:sldId id="403" r:id="rId175"/>
    <p:sldId id="2314" r:id="rId176"/>
    <p:sldId id="404" r:id="rId177"/>
    <p:sldId id="2324" r:id="rId178"/>
    <p:sldId id="405" r:id="rId179"/>
    <p:sldId id="2311" r:id="rId180"/>
    <p:sldId id="321" r:id="rId181"/>
    <p:sldId id="2315" r:id="rId182"/>
    <p:sldId id="397" r:id="rId183"/>
    <p:sldId id="300" r:id="rId184"/>
    <p:sldId id="299" r:id="rId185"/>
    <p:sldId id="301" r:id="rId186"/>
    <p:sldId id="437" r:id="rId187"/>
    <p:sldId id="442" r:id="rId188"/>
    <p:sldId id="2353" r:id="rId189"/>
    <p:sldId id="2352" r:id="rId190"/>
    <p:sldId id="2131" r:id="rId191"/>
    <p:sldId id="2132" r:id="rId192"/>
    <p:sldId id="2133" r:id="rId193"/>
    <p:sldId id="2134" r:id="rId194"/>
    <p:sldId id="2135" r:id="rId195"/>
    <p:sldId id="2137" r:id="rId196"/>
    <p:sldId id="2173" r:id="rId197"/>
    <p:sldId id="302" r:id="rId198"/>
    <p:sldId id="303" r:id="rId199"/>
    <p:sldId id="304" r:id="rId200"/>
    <p:sldId id="443" r:id="rId201"/>
    <p:sldId id="407" r:id="rId202"/>
    <p:sldId id="408" r:id="rId203"/>
    <p:sldId id="461" r:id="rId204"/>
    <p:sldId id="409" r:id="rId205"/>
    <p:sldId id="410" r:id="rId206"/>
    <p:sldId id="411" r:id="rId207"/>
    <p:sldId id="458" r:id="rId208"/>
    <p:sldId id="306" r:id="rId209"/>
    <p:sldId id="412" r:id="rId210"/>
    <p:sldId id="309" r:id="rId211"/>
    <p:sldId id="307" r:id="rId212"/>
    <p:sldId id="413" r:id="rId213"/>
    <p:sldId id="414" r:id="rId214"/>
    <p:sldId id="415" r:id="rId215"/>
    <p:sldId id="416" r:id="rId216"/>
    <p:sldId id="417" r:id="rId217"/>
    <p:sldId id="418" r:id="rId218"/>
    <p:sldId id="419" r:id="rId219"/>
    <p:sldId id="420" r:id="rId220"/>
    <p:sldId id="421" r:id="rId221"/>
    <p:sldId id="310" r:id="rId222"/>
    <p:sldId id="370" r:id="rId223"/>
    <p:sldId id="371" r:id="rId224"/>
    <p:sldId id="423" r:id="rId225"/>
    <p:sldId id="424" r:id="rId226"/>
    <p:sldId id="425" r:id="rId227"/>
    <p:sldId id="426" r:id="rId228"/>
    <p:sldId id="468" r:id="rId229"/>
    <p:sldId id="469" r:id="rId230"/>
    <p:sldId id="427" r:id="rId231"/>
    <p:sldId id="431" r:id="rId232"/>
    <p:sldId id="428" r:id="rId233"/>
    <p:sldId id="429" r:id="rId234"/>
    <p:sldId id="432" r:id="rId235"/>
    <p:sldId id="2359" r:id="rId236"/>
    <p:sldId id="2360" r:id="rId237"/>
    <p:sldId id="2361" r:id="rId238"/>
    <p:sldId id="433" r:id="rId239"/>
    <p:sldId id="438" r:id="rId240"/>
    <p:sldId id="434" r:id="rId241"/>
    <p:sldId id="435" r:id="rId242"/>
    <p:sldId id="436" r:id="rId243"/>
    <p:sldId id="462" r:id="rId244"/>
    <p:sldId id="313" r:id="rId245"/>
    <p:sldId id="312" r:id="rId246"/>
    <p:sldId id="314" r:id="rId247"/>
    <p:sldId id="584" r:id="rId248"/>
    <p:sldId id="445" r:id="rId249"/>
    <p:sldId id="446" r:id="rId250"/>
    <p:sldId id="585" r:id="rId251"/>
    <p:sldId id="2354" r:id="rId252"/>
    <p:sldId id="2355" r:id="rId253"/>
    <p:sldId id="444" r:id="rId254"/>
    <p:sldId id="315" r:id="rId255"/>
    <p:sldId id="317" r:id="rId256"/>
    <p:sldId id="318" r:id="rId257"/>
    <p:sldId id="319" r:id="rId258"/>
    <p:sldId id="447" r:id="rId259"/>
    <p:sldId id="2356" r:id="rId260"/>
    <p:sldId id="346" r:id="rId261"/>
    <p:sldId id="2325" r:id="rId262"/>
    <p:sldId id="579" r:id="rId263"/>
    <p:sldId id="580" r:id="rId264"/>
    <p:sldId id="577" r:id="rId265"/>
    <p:sldId id="581" r:id="rId266"/>
    <p:sldId id="329" r:id="rId267"/>
    <p:sldId id="328" r:id="rId268"/>
    <p:sldId id="340" r:id="rId269"/>
    <p:sldId id="339" r:id="rId270"/>
    <p:sldId id="324" r:id="rId271"/>
    <p:sldId id="330" r:id="rId272"/>
    <p:sldId id="332" r:id="rId273"/>
    <p:sldId id="333" r:id="rId274"/>
    <p:sldId id="334" r:id="rId275"/>
    <p:sldId id="471" r:id="rId276"/>
    <p:sldId id="470" r:id="rId277"/>
    <p:sldId id="474" r:id="rId278"/>
    <p:sldId id="476" r:id="rId279"/>
    <p:sldId id="335" r:id="rId280"/>
    <p:sldId id="336" r:id="rId281"/>
    <p:sldId id="337" r:id="rId282"/>
    <p:sldId id="2330" r:id="rId283"/>
    <p:sldId id="2331" r:id="rId284"/>
    <p:sldId id="2332" r:id="rId285"/>
    <p:sldId id="2333" r:id="rId286"/>
    <p:sldId id="2334" r:id="rId287"/>
    <p:sldId id="2335" r:id="rId288"/>
    <p:sldId id="2336" r:id="rId289"/>
    <p:sldId id="2341" r:id="rId290"/>
    <p:sldId id="2337" r:id="rId291"/>
    <p:sldId id="2326" r:id="rId292"/>
    <p:sldId id="2327" r:id="rId293"/>
    <p:sldId id="2328" r:id="rId294"/>
    <p:sldId id="2329" r:id="rId295"/>
    <p:sldId id="2340" r:id="rId296"/>
    <p:sldId id="2362" r:id="rId297"/>
    <p:sldId id="2580" r:id="rId298"/>
    <p:sldId id="2581" r:id="rId299"/>
    <p:sldId id="2582" r:id="rId300"/>
    <p:sldId id="2583" r:id="rId301"/>
    <p:sldId id="368" r:id="rId302"/>
    <p:sldId id="2636" r:id="rId303"/>
    <p:sldId id="473" r:id="rId304"/>
    <p:sldId id="2591" r:id="rId305"/>
    <p:sldId id="2637" r:id="rId306"/>
    <p:sldId id="2592" r:id="rId307"/>
    <p:sldId id="2594" r:id="rId308"/>
    <p:sldId id="2595" r:id="rId309"/>
    <p:sldId id="2596" r:id="rId310"/>
    <p:sldId id="2597" r:id="rId311"/>
    <p:sldId id="2598" r:id="rId312"/>
    <p:sldId id="2600" r:id="rId313"/>
    <p:sldId id="2601" r:id="rId314"/>
    <p:sldId id="2638" r:id="rId315"/>
    <p:sldId id="2602" r:id="rId316"/>
    <p:sldId id="2642" r:id="rId317"/>
    <p:sldId id="2603" r:id="rId318"/>
    <p:sldId id="2604" r:id="rId319"/>
    <p:sldId id="2659" r:id="rId320"/>
    <p:sldId id="2605" r:id="rId321"/>
    <p:sldId id="2606" r:id="rId322"/>
    <p:sldId id="2571" r:id="rId323"/>
    <p:sldId id="2572" r:id="rId324"/>
    <p:sldId id="2573" r:id="rId325"/>
    <p:sldId id="2574" r:id="rId326"/>
    <p:sldId id="267" r:id="rId327"/>
    <p:sldId id="2660" r:id="rId328"/>
    <p:sldId id="2661" r:id="rId329"/>
    <p:sldId id="2662" r:id="rId330"/>
    <p:sldId id="2575" r:id="rId331"/>
    <p:sldId id="2576" r:id="rId332"/>
    <p:sldId id="2645" r:id="rId333"/>
    <p:sldId id="2646" r:id="rId334"/>
    <p:sldId id="2663" r:id="rId335"/>
    <p:sldId id="2664" r:id="rId336"/>
    <p:sldId id="2647" r:id="rId337"/>
    <p:sldId id="284" r:id="rId338"/>
    <p:sldId id="2648" r:id="rId339"/>
    <p:sldId id="2644" r:id="rId340"/>
    <p:sldId id="2643" r:id="rId341"/>
    <p:sldId id="2665" r:id="rId342"/>
    <p:sldId id="2666" r:id="rId343"/>
    <p:sldId id="2678" r:id="rId344"/>
    <p:sldId id="2679" r:id="rId345"/>
    <p:sldId id="278" r:id="rId346"/>
    <p:sldId id="2680" r:id="rId347"/>
    <p:sldId id="2681" r:id="rId348"/>
    <p:sldId id="2607" r:id="rId349"/>
    <p:sldId id="2608" r:id="rId350"/>
    <p:sldId id="2609" r:id="rId351"/>
    <p:sldId id="2610" r:id="rId352"/>
    <p:sldId id="2611" r:id="rId353"/>
    <p:sldId id="2612" r:id="rId354"/>
    <p:sldId id="2613" r:id="rId355"/>
    <p:sldId id="2614" r:id="rId356"/>
    <p:sldId id="2616" r:id="rId357"/>
    <p:sldId id="2617" r:id="rId358"/>
    <p:sldId id="2618" r:id="rId359"/>
    <p:sldId id="2620" r:id="rId360"/>
    <p:sldId id="2621" r:id="rId361"/>
    <p:sldId id="2622" r:id="rId362"/>
    <p:sldId id="2623" r:id="rId363"/>
    <p:sldId id="2682" r:id="rId364"/>
    <p:sldId id="2624" r:id="rId365"/>
    <p:sldId id="2625" r:id="rId366"/>
    <p:sldId id="2626" r:id="rId367"/>
    <p:sldId id="2683" r:id="rId368"/>
    <p:sldId id="2627" r:id="rId369"/>
    <p:sldId id="2628" r:id="rId370"/>
    <p:sldId id="2629" r:id="rId371"/>
    <p:sldId id="2631" r:id="rId372"/>
    <p:sldId id="2632" r:id="rId373"/>
    <p:sldId id="2684" r:id="rId374"/>
    <p:sldId id="2685" r:id="rId375"/>
    <p:sldId id="2686" r:id="rId376"/>
    <p:sldId id="2687" r:id="rId377"/>
    <p:sldId id="2667" r:id="rId378"/>
    <p:sldId id="2668" r:id="rId379"/>
    <p:sldId id="2669" r:id="rId380"/>
    <p:sldId id="2672" r:id="rId381"/>
    <p:sldId id="2674" r:id="rId382"/>
    <p:sldId id="2675" r:id="rId383"/>
    <p:sldId id="2676" r:id="rId384"/>
    <p:sldId id="2633" r:id="rId385"/>
    <p:sldId id="2634" r:id="rId386"/>
    <p:sldId id="2760" r:id="rId387"/>
    <p:sldId id="2761" r:id="rId388"/>
    <p:sldId id="2773" r:id="rId389"/>
    <p:sldId id="2783" r:id="rId390"/>
    <p:sldId id="2762" r:id="rId391"/>
    <p:sldId id="2784" r:id="rId392"/>
    <p:sldId id="2774" r:id="rId393"/>
    <p:sldId id="2768" r:id="rId394"/>
    <p:sldId id="2830" r:id="rId395"/>
    <p:sldId id="2769" r:id="rId396"/>
    <p:sldId id="2770" r:id="rId397"/>
    <p:sldId id="2771" r:id="rId398"/>
    <p:sldId id="2775" r:id="rId399"/>
    <p:sldId id="2776" r:id="rId400"/>
    <p:sldId id="2777" r:id="rId401"/>
    <p:sldId id="361" r:id="rId402"/>
    <p:sldId id="2778" r:id="rId403"/>
    <p:sldId id="2772" r:id="rId404"/>
    <p:sldId id="355" r:id="rId405"/>
    <p:sldId id="2785" r:id="rId406"/>
    <p:sldId id="2786" r:id="rId407"/>
    <p:sldId id="2798" r:id="rId408"/>
    <p:sldId id="2792" r:id="rId409"/>
    <p:sldId id="2787" r:id="rId410"/>
    <p:sldId id="2793" r:id="rId411"/>
    <p:sldId id="2842" r:id="rId412"/>
    <p:sldId id="2843" r:id="rId413"/>
    <p:sldId id="2844" r:id="rId414"/>
    <p:sldId id="2788" r:id="rId415"/>
    <p:sldId id="2791" r:id="rId416"/>
    <p:sldId id="2794" r:id="rId417"/>
    <p:sldId id="2796" r:id="rId418"/>
    <p:sldId id="2795" r:id="rId419"/>
    <p:sldId id="2797" r:id="rId420"/>
    <p:sldId id="2801" r:id="rId421"/>
    <p:sldId id="2802" r:id="rId422"/>
    <p:sldId id="2799" r:id="rId423"/>
    <p:sldId id="2789" r:id="rId424"/>
    <p:sldId id="2790" r:id="rId425"/>
    <p:sldId id="2845" r:id="rId426"/>
    <p:sldId id="2846" r:id="rId427"/>
    <p:sldId id="2804" r:id="rId428"/>
    <p:sldId id="2803" r:id="rId429"/>
    <p:sldId id="358" r:id="rId430"/>
    <p:sldId id="2805" r:id="rId431"/>
    <p:sldId id="2806" r:id="rId432"/>
    <p:sldId id="2807" r:id="rId433"/>
    <p:sldId id="2808" r:id="rId434"/>
    <p:sldId id="2809" r:id="rId435"/>
    <p:sldId id="2810" r:id="rId436"/>
    <p:sldId id="2811" r:id="rId437"/>
    <p:sldId id="2813" r:id="rId438"/>
    <p:sldId id="2847" r:id="rId439"/>
    <p:sldId id="2812" r:id="rId440"/>
    <p:sldId id="2814" r:id="rId441"/>
    <p:sldId id="2815" r:id="rId442"/>
    <p:sldId id="2816" r:id="rId443"/>
    <p:sldId id="2818" r:id="rId444"/>
    <p:sldId id="2819" r:id="rId445"/>
    <p:sldId id="2822" r:id="rId446"/>
    <p:sldId id="2829" r:id="rId447"/>
    <p:sldId id="2823" r:id="rId448"/>
    <p:sldId id="2850" r:id="rId449"/>
  </p:sldIdLst>
  <p:sldSz cx="9144000" cy="6858000" type="screen4x3"/>
  <p:notesSz cx="6669088" cy="9928225"/>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30" autoAdjust="0"/>
  </p:normalViewPr>
  <p:slideViewPr>
    <p:cSldViewPr>
      <p:cViewPr varScale="1">
        <p:scale>
          <a:sx n="86" d="100"/>
          <a:sy n="86" d="100"/>
        </p:scale>
        <p:origin x="413" y="-182"/>
      </p:cViewPr>
      <p:guideLst>
        <p:guide orient="horz" pos="2160"/>
        <p:guide pos="2880"/>
      </p:guideLst>
    </p:cSldViewPr>
  </p:slideViewPr>
  <p:outlineViewPr>
    <p:cViewPr>
      <p:scale>
        <a:sx n="33" d="100"/>
        <a:sy n="33" d="100"/>
      </p:scale>
      <p:origin x="0" y="7475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170" Type="http://schemas.openxmlformats.org/officeDocument/2006/relationships/slide" Target="slides/slide169.xml"/><Relationship Id="rId226" Type="http://schemas.openxmlformats.org/officeDocument/2006/relationships/slide" Target="slides/slide225.xml"/><Relationship Id="rId433" Type="http://schemas.openxmlformats.org/officeDocument/2006/relationships/slide" Target="slides/slide432.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377" Type="http://schemas.openxmlformats.org/officeDocument/2006/relationships/slide" Target="slides/slide376.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402" Type="http://schemas.openxmlformats.org/officeDocument/2006/relationships/slide" Target="slides/slide401.xml"/><Relationship Id="rId279" Type="http://schemas.openxmlformats.org/officeDocument/2006/relationships/slide" Target="slides/slide278.xml"/><Relationship Id="rId444" Type="http://schemas.openxmlformats.org/officeDocument/2006/relationships/slide" Target="slides/slide443.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388" Type="http://schemas.openxmlformats.org/officeDocument/2006/relationships/slide" Target="slides/slide387.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413" Type="http://schemas.openxmlformats.org/officeDocument/2006/relationships/slide" Target="slides/slide412.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399" Type="http://schemas.openxmlformats.org/officeDocument/2006/relationships/slide" Target="slides/slide398.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424" Type="http://schemas.openxmlformats.org/officeDocument/2006/relationships/slide" Target="slides/slide423.xml"/><Relationship Id="rId445" Type="http://schemas.openxmlformats.org/officeDocument/2006/relationships/slide" Target="slides/slide444.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305" Type="http://schemas.openxmlformats.org/officeDocument/2006/relationships/slide" Target="slides/slide304.xml"/><Relationship Id="rId326" Type="http://schemas.openxmlformats.org/officeDocument/2006/relationships/slide" Target="slides/slide325.xml"/><Relationship Id="rId347" Type="http://schemas.openxmlformats.org/officeDocument/2006/relationships/slide" Target="slides/slide346.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368" Type="http://schemas.openxmlformats.org/officeDocument/2006/relationships/slide" Target="slides/slide367.xml"/><Relationship Id="rId389" Type="http://schemas.openxmlformats.org/officeDocument/2006/relationships/slide" Target="slides/slide388.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414" Type="http://schemas.openxmlformats.org/officeDocument/2006/relationships/slide" Target="slides/slide413.xml"/><Relationship Id="rId435" Type="http://schemas.openxmlformats.org/officeDocument/2006/relationships/slide" Target="slides/slide434.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16" Type="http://schemas.openxmlformats.org/officeDocument/2006/relationships/slide" Target="slides/slide315.xml"/><Relationship Id="rId337" Type="http://schemas.openxmlformats.org/officeDocument/2006/relationships/slide" Target="slides/slide336.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358" Type="http://schemas.openxmlformats.org/officeDocument/2006/relationships/slide" Target="slides/slide357.xml"/><Relationship Id="rId379" Type="http://schemas.openxmlformats.org/officeDocument/2006/relationships/slide" Target="slides/slide378.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390" Type="http://schemas.openxmlformats.org/officeDocument/2006/relationships/slide" Target="slides/slide389.xml"/><Relationship Id="rId404" Type="http://schemas.openxmlformats.org/officeDocument/2006/relationships/slide" Target="slides/slide403.xml"/><Relationship Id="rId425" Type="http://schemas.openxmlformats.org/officeDocument/2006/relationships/slide" Target="slides/slide424.xml"/><Relationship Id="rId446" Type="http://schemas.openxmlformats.org/officeDocument/2006/relationships/slide" Target="slides/slide445.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327" Type="http://schemas.openxmlformats.org/officeDocument/2006/relationships/slide" Target="slides/slide326.xml"/><Relationship Id="rId348" Type="http://schemas.openxmlformats.org/officeDocument/2006/relationships/slide" Target="slides/slide347.xml"/><Relationship Id="rId369" Type="http://schemas.openxmlformats.org/officeDocument/2006/relationships/slide" Target="slides/slide368.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380" Type="http://schemas.openxmlformats.org/officeDocument/2006/relationships/slide" Target="slides/slide379.xml"/><Relationship Id="rId415" Type="http://schemas.openxmlformats.org/officeDocument/2006/relationships/slide" Target="slides/slide414.xml"/><Relationship Id="rId436" Type="http://schemas.openxmlformats.org/officeDocument/2006/relationships/slide" Target="slides/slide435.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338" Type="http://schemas.openxmlformats.org/officeDocument/2006/relationships/slide" Target="slides/slide337.xml"/><Relationship Id="rId359" Type="http://schemas.openxmlformats.org/officeDocument/2006/relationships/slide" Target="slides/slide358.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70" Type="http://schemas.openxmlformats.org/officeDocument/2006/relationships/slide" Target="slides/slide369.xml"/><Relationship Id="rId391" Type="http://schemas.openxmlformats.org/officeDocument/2006/relationships/slide" Target="slides/slide390.xml"/><Relationship Id="rId405" Type="http://schemas.openxmlformats.org/officeDocument/2006/relationships/slide" Target="slides/slide404.xml"/><Relationship Id="rId426" Type="http://schemas.openxmlformats.org/officeDocument/2006/relationships/slide" Target="slides/slide425.xml"/><Relationship Id="rId447" Type="http://schemas.openxmlformats.org/officeDocument/2006/relationships/slide" Target="slides/slide446.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328" Type="http://schemas.openxmlformats.org/officeDocument/2006/relationships/slide" Target="slides/slide327.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381" Type="http://schemas.openxmlformats.org/officeDocument/2006/relationships/slide" Target="slides/slide380.xml"/><Relationship Id="rId416" Type="http://schemas.openxmlformats.org/officeDocument/2006/relationships/slide" Target="slides/slide415.xml"/><Relationship Id="rId220" Type="http://schemas.openxmlformats.org/officeDocument/2006/relationships/slide" Target="slides/slide219.xml"/><Relationship Id="rId241" Type="http://schemas.openxmlformats.org/officeDocument/2006/relationships/slide" Target="slides/slide240.xml"/><Relationship Id="rId437" Type="http://schemas.openxmlformats.org/officeDocument/2006/relationships/slide" Target="slides/slide436.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openxmlformats.org/officeDocument/2006/relationships/slide" Target="slides/slide338.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350" Type="http://schemas.openxmlformats.org/officeDocument/2006/relationships/slide" Target="slides/slide349.xml"/><Relationship Id="rId371" Type="http://schemas.openxmlformats.org/officeDocument/2006/relationships/slide" Target="slides/slide370.xml"/><Relationship Id="rId406" Type="http://schemas.openxmlformats.org/officeDocument/2006/relationships/slide" Target="slides/slide405.xml"/><Relationship Id="rId9" Type="http://schemas.openxmlformats.org/officeDocument/2006/relationships/slide" Target="slides/slide8.xml"/><Relationship Id="rId210" Type="http://schemas.openxmlformats.org/officeDocument/2006/relationships/slide" Target="slides/slide209.xml"/><Relationship Id="rId392" Type="http://schemas.openxmlformats.org/officeDocument/2006/relationships/slide" Target="slides/slide391.xml"/><Relationship Id="rId427" Type="http://schemas.openxmlformats.org/officeDocument/2006/relationships/slide" Target="slides/slide426.xml"/><Relationship Id="rId448" Type="http://schemas.openxmlformats.org/officeDocument/2006/relationships/slide" Target="slides/slide447.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361" Type="http://schemas.openxmlformats.org/officeDocument/2006/relationships/slide" Target="slides/slide360.xml"/><Relationship Id="rId196" Type="http://schemas.openxmlformats.org/officeDocument/2006/relationships/slide" Target="slides/slide195.xml"/><Relationship Id="rId200" Type="http://schemas.openxmlformats.org/officeDocument/2006/relationships/slide" Target="slides/slide199.xml"/><Relationship Id="rId382" Type="http://schemas.openxmlformats.org/officeDocument/2006/relationships/slide" Target="slides/slide381.xml"/><Relationship Id="rId417" Type="http://schemas.openxmlformats.org/officeDocument/2006/relationships/slide" Target="slides/slide416.xml"/><Relationship Id="rId438" Type="http://schemas.openxmlformats.org/officeDocument/2006/relationships/slide" Target="slides/slide437.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372" Type="http://schemas.openxmlformats.org/officeDocument/2006/relationships/slide" Target="slides/slide371.xml"/><Relationship Id="rId393" Type="http://schemas.openxmlformats.org/officeDocument/2006/relationships/slide" Target="slides/slide392.xml"/><Relationship Id="rId407" Type="http://schemas.openxmlformats.org/officeDocument/2006/relationships/slide" Target="slides/slide406.xml"/><Relationship Id="rId428" Type="http://schemas.openxmlformats.org/officeDocument/2006/relationships/slide" Target="slides/slide427.xml"/><Relationship Id="rId449" Type="http://schemas.openxmlformats.org/officeDocument/2006/relationships/slide" Target="slides/slide448.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383" Type="http://schemas.openxmlformats.org/officeDocument/2006/relationships/slide" Target="slides/slide382.xml"/><Relationship Id="rId418" Type="http://schemas.openxmlformats.org/officeDocument/2006/relationships/slide" Target="slides/slide417.xml"/><Relationship Id="rId439" Type="http://schemas.openxmlformats.org/officeDocument/2006/relationships/slide" Target="slides/slide438.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450"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373" Type="http://schemas.openxmlformats.org/officeDocument/2006/relationships/slide" Target="slides/slide372.xml"/><Relationship Id="rId394" Type="http://schemas.openxmlformats.org/officeDocument/2006/relationships/slide" Target="slides/slide393.xml"/><Relationship Id="rId408" Type="http://schemas.openxmlformats.org/officeDocument/2006/relationships/slide" Target="slides/slide407.xml"/><Relationship Id="rId429" Type="http://schemas.openxmlformats.org/officeDocument/2006/relationships/slide" Target="slides/slide428.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440" Type="http://schemas.openxmlformats.org/officeDocument/2006/relationships/slide" Target="slides/slide439.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384" Type="http://schemas.openxmlformats.org/officeDocument/2006/relationships/slide" Target="slides/slide383.xml"/><Relationship Id="rId419" Type="http://schemas.openxmlformats.org/officeDocument/2006/relationships/slide" Target="slides/slide418.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430" Type="http://schemas.openxmlformats.org/officeDocument/2006/relationships/slide" Target="slides/slide429.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451" Type="http://schemas.openxmlformats.org/officeDocument/2006/relationships/presProps" Target="presProps.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slide" Target="slides/slide373.xml"/><Relationship Id="rId395" Type="http://schemas.openxmlformats.org/officeDocument/2006/relationships/slide" Target="slides/slide394.xml"/><Relationship Id="rId409" Type="http://schemas.openxmlformats.org/officeDocument/2006/relationships/slide" Target="slides/slide408.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420" Type="http://schemas.openxmlformats.org/officeDocument/2006/relationships/slide" Target="slides/slide419.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41" Type="http://schemas.openxmlformats.org/officeDocument/2006/relationships/slide" Target="slides/slide440.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385" Type="http://schemas.openxmlformats.org/officeDocument/2006/relationships/slide" Target="slides/slide384.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410" Type="http://schemas.openxmlformats.org/officeDocument/2006/relationships/slide" Target="slides/slide409.xml"/><Relationship Id="rId431" Type="http://schemas.openxmlformats.org/officeDocument/2006/relationships/slide" Target="slides/slide430.xml"/><Relationship Id="rId452" Type="http://schemas.openxmlformats.org/officeDocument/2006/relationships/viewProps" Target="viewProp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96" Type="http://schemas.openxmlformats.org/officeDocument/2006/relationships/slide" Target="slides/slide395.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400" Type="http://schemas.openxmlformats.org/officeDocument/2006/relationships/slide" Target="slides/slide399.xml"/><Relationship Id="rId421" Type="http://schemas.openxmlformats.org/officeDocument/2006/relationships/slide" Target="slides/slide420.xml"/><Relationship Id="rId442" Type="http://schemas.openxmlformats.org/officeDocument/2006/relationships/slide" Target="slides/slide441.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386" Type="http://schemas.openxmlformats.org/officeDocument/2006/relationships/slide" Target="slides/slide385.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411" Type="http://schemas.openxmlformats.org/officeDocument/2006/relationships/slide" Target="slides/slide410.xml"/><Relationship Id="rId432" Type="http://schemas.openxmlformats.org/officeDocument/2006/relationships/slide" Target="slides/slide431.xml"/><Relationship Id="rId453" Type="http://schemas.openxmlformats.org/officeDocument/2006/relationships/theme" Target="theme/theme1.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397" Type="http://schemas.openxmlformats.org/officeDocument/2006/relationships/slide" Target="slides/slide396.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01" Type="http://schemas.openxmlformats.org/officeDocument/2006/relationships/slide" Target="slides/slide400.xml"/><Relationship Id="rId422" Type="http://schemas.openxmlformats.org/officeDocument/2006/relationships/slide" Target="slides/slide421.xml"/><Relationship Id="rId443" Type="http://schemas.openxmlformats.org/officeDocument/2006/relationships/slide" Target="slides/slide442.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slide" Target="slides/slide386.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412" Type="http://schemas.openxmlformats.org/officeDocument/2006/relationships/slide" Target="slides/slide411.xml"/><Relationship Id="rId107" Type="http://schemas.openxmlformats.org/officeDocument/2006/relationships/slide" Target="slides/slide106.xml"/><Relationship Id="rId289" Type="http://schemas.openxmlformats.org/officeDocument/2006/relationships/slide" Target="slides/slide288.xml"/><Relationship Id="rId454" Type="http://schemas.openxmlformats.org/officeDocument/2006/relationships/tableStyles" Target="tableStyles.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398" Type="http://schemas.openxmlformats.org/officeDocument/2006/relationships/slide" Target="slides/slide397.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423" Type="http://schemas.openxmlformats.org/officeDocument/2006/relationships/slide" Target="slides/slide422.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434" Type="http://schemas.openxmlformats.org/officeDocument/2006/relationships/slide" Target="slides/slide433.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slide" Target="slides/slide377.xml"/><Relationship Id="rId403" Type="http://schemas.openxmlformats.org/officeDocument/2006/relationships/slide" Target="slides/slide40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889250" cy="4968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778250" y="0"/>
            <a:ext cx="2889250" cy="496888"/>
          </a:xfrm>
          <a:prstGeom prst="rect">
            <a:avLst/>
          </a:prstGeom>
        </p:spPr>
        <p:txBody>
          <a:bodyPr vert="horz" lIns="91440" tIns="45720" rIns="91440" bIns="45720" rtlCol="0"/>
          <a:lstStyle>
            <a:lvl1pPr algn="r">
              <a:defRPr sz="1200"/>
            </a:lvl1pPr>
          </a:lstStyle>
          <a:p>
            <a:fld id="{99CE58A4-EAD8-482D-BC16-212DB698A042}" type="datetimeFigureOut">
              <a:rPr lang="pl-PL" smtClean="0"/>
              <a:pPr/>
              <a:t>2025-10-07</a:t>
            </a:fld>
            <a:endParaRPr lang="pl-PL"/>
          </a:p>
        </p:txBody>
      </p:sp>
      <p:sp>
        <p:nvSpPr>
          <p:cNvPr id="4" name="Symbol zastępczy obrazu slajdu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66750" y="4716463"/>
            <a:ext cx="5335588" cy="4467225"/>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9429750"/>
            <a:ext cx="2889250" cy="496888"/>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778250" y="9429750"/>
            <a:ext cx="2889250" cy="496888"/>
          </a:xfrm>
          <a:prstGeom prst="rect">
            <a:avLst/>
          </a:prstGeom>
        </p:spPr>
        <p:txBody>
          <a:bodyPr vert="horz" lIns="91440" tIns="45720" rIns="91440" bIns="45720" rtlCol="0" anchor="b"/>
          <a:lstStyle>
            <a:lvl1pPr algn="r">
              <a:defRPr sz="1200"/>
            </a:lvl1pPr>
          </a:lstStyle>
          <a:p>
            <a:fld id="{5B89443D-F463-40F8-9BD0-C241D56C827D}" type="slidenum">
              <a:rPr lang="pl-PL" smtClean="0"/>
              <a:pPr/>
              <a:t>‹#›</a:t>
            </a:fld>
            <a:endParaRPr lang="pl-PL"/>
          </a:p>
        </p:txBody>
      </p:sp>
    </p:spTree>
    <p:extLst>
      <p:ext uri="{BB962C8B-B14F-4D97-AF65-F5344CB8AC3E}">
        <p14:creationId xmlns:p14="http://schemas.microsoft.com/office/powerpoint/2010/main" val="1678432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Symbol zastępczy obrazu slajdu 1">
            <a:extLst>
              <a:ext uri="{FF2B5EF4-FFF2-40B4-BE49-F238E27FC236}">
                <a16:creationId xmlns:a16="http://schemas.microsoft.com/office/drawing/2014/main" id="{12DA7BCA-27F6-C63F-67AA-BC3F7CDE091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2131" name="Symbol zastępczy notatek 2">
            <a:extLst>
              <a:ext uri="{FF2B5EF4-FFF2-40B4-BE49-F238E27FC236}">
                <a16:creationId xmlns:a16="http://schemas.microsoft.com/office/drawing/2014/main" id="{D170E748-0D49-28DB-E73F-221DDFC4045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pl-PL" altLang="pl-PL"/>
          </a:p>
        </p:txBody>
      </p:sp>
      <p:sp>
        <p:nvSpPr>
          <p:cNvPr id="432132" name="Symbol zastępczy numeru slajdu 3">
            <a:extLst>
              <a:ext uri="{FF2B5EF4-FFF2-40B4-BE49-F238E27FC236}">
                <a16:creationId xmlns:a16="http://schemas.microsoft.com/office/drawing/2014/main" id="{8A224F27-4F75-B7E6-314A-83ACF27DA31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6E74A7B-9D2A-4908-A7D1-33C89B6809DE}" type="slidenum">
              <a:rPr lang="pl-PL" altLang="pl-PL" smtClean="0"/>
              <a:pPr/>
              <a:t>37</a:t>
            </a:fld>
            <a:endParaRPr lang="pl-PL" altLang="pl-P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Symbol zastępczy obrazu slajdu 1">
            <a:extLst>
              <a:ext uri="{FF2B5EF4-FFF2-40B4-BE49-F238E27FC236}">
                <a16:creationId xmlns:a16="http://schemas.microsoft.com/office/drawing/2014/main" id="{281208D9-DDEF-389D-3649-FBD3CB05E8F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4179" name="Symbol zastępczy notatek 2">
            <a:extLst>
              <a:ext uri="{FF2B5EF4-FFF2-40B4-BE49-F238E27FC236}">
                <a16:creationId xmlns:a16="http://schemas.microsoft.com/office/drawing/2014/main" id="{4964CAC6-7B9C-7BB6-2EB1-9262C569416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
        <p:nvSpPr>
          <p:cNvPr id="434180" name="Symbol zastępczy numeru slajdu 3">
            <a:extLst>
              <a:ext uri="{FF2B5EF4-FFF2-40B4-BE49-F238E27FC236}">
                <a16:creationId xmlns:a16="http://schemas.microsoft.com/office/drawing/2014/main" id="{71FC5A4A-C955-3CA3-E857-FE990F77A1B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4BE2A19-8C6D-4A88-B535-0278A4B90B8D}" type="slidenum">
              <a:rPr lang="pl-PL" altLang="pl-PL" smtClean="0"/>
              <a:pPr/>
              <a:t>38</a:t>
            </a:fld>
            <a:endParaRPr lang="pl-PL" altLang="pl-P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Symbol zastępczy obrazu slajdu 1">
            <a:extLst>
              <a:ext uri="{FF2B5EF4-FFF2-40B4-BE49-F238E27FC236}">
                <a16:creationId xmlns:a16="http://schemas.microsoft.com/office/drawing/2014/main" id="{EEB0B075-65A5-93A0-0B97-430A480D529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6227" name="Symbol zastępczy notatek 2">
            <a:extLst>
              <a:ext uri="{FF2B5EF4-FFF2-40B4-BE49-F238E27FC236}">
                <a16:creationId xmlns:a16="http://schemas.microsoft.com/office/drawing/2014/main" id="{FC3CED57-B738-539A-2315-8E1DAA93F3B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
        <p:nvSpPr>
          <p:cNvPr id="436228" name="Symbol zastępczy numeru slajdu 3">
            <a:extLst>
              <a:ext uri="{FF2B5EF4-FFF2-40B4-BE49-F238E27FC236}">
                <a16:creationId xmlns:a16="http://schemas.microsoft.com/office/drawing/2014/main" id="{6F2591AB-AF9C-A845-1A93-AA16EEDF6B4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74E6782-C329-442D-BF1D-BB807596D0A9}" type="slidenum">
              <a:rPr lang="pl-PL" altLang="pl-PL" smtClean="0"/>
              <a:pPr/>
              <a:t>39</a:t>
            </a:fld>
            <a:endParaRPr lang="pl-PL" altLang="pl-PL"/>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Symbol zastępczy obrazu slajdu 1">
            <a:extLst>
              <a:ext uri="{FF2B5EF4-FFF2-40B4-BE49-F238E27FC236}">
                <a16:creationId xmlns:a16="http://schemas.microsoft.com/office/drawing/2014/main" id="{EEB0B075-65A5-93A0-0B97-430A480D529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6227" name="Symbol zastępczy notatek 2">
            <a:extLst>
              <a:ext uri="{FF2B5EF4-FFF2-40B4-BE49-F238E27FC236}">
                <a16:creationId xmlns:a16="http://schemas.microsoft.com/office/drawing/2014/main" id="{FC3CED57-B738-539A-2315-8E1DAA93F3B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
        <p:nvSpPr>
          <p:cNvPr id="436228" name="Symbol zastępczy numeru slajdu 3">
            <a:extLst>
              <a:ext uri="{FF2B5EF4-FFF2-40B4-BE49-F238E27FC236}">
                <a16:creationId xmlns:a16="http://schemas.microsoft.com/office/drawing/2014/main" id="{6F2591AB-AF9C-A845-1A93-AA16EEDF6B4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74E6782-C329-442D-BF1D-BB807596D0A9}" type="slidenum">
              <a:rPr lang="pl-PL" altLang="pl-PL" smtClean="0"/>
              <a:pPr/>
              <a:t>40</a:t>
            </a:fld>
            <a:endParaRPr lang="pl-PL" altLang="pl-PL"/>
          </a:p>
        </p:txBody>
      </p:sp>
    </p:spTree>
    <p:extLst>
      <p:ext uri="{BB962C8B-B14F-4D97-AF65-F5344CB8AC3E}">
        <p14:creationId xmlns:p14="http://schemas.microsoft.com/office/powerpoint/2010/main" val="2391326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Symbol zastępczy obrazu slajdu 1">
            <a:extLst>
              <a:ext uri="{FF2B5EF4-FFF2-40B4-BE49-F238E27FC236}">
                <a16:creationId xmlns:a16="http://schemas.microsoft.com/office/drawing/2014/main" id="{EEB0B075-65A5-93A0-0B97-430A480D529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6227" name="Symbol zastępczy notatek 2">
            <a:extLst>
              <a:ext uri="{FF2B5EF4-FFF2-40B4-BE49-F238E27FC236}">
                <a16:creationId xmlns:a16="http://schemas.microsoft.com/office/drawing/2014/main" id="{FC3CED57-B738-539A-2315-8E1DAA93F3B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
        <p:nvSpPr>
          <p:cNvPr id="436228" name="Symbol zastępczy numeru slajdu 3">
            <a:extLst>
              <a:ext uri="{FF2B5EF4-FFF2-40B4-BE49-F238E27FC236}">
                <a16:creationId xmlns:a16="http://schemas.microsoft.com/office/drawing/2014/main" id="{6F2591AB-AF9C-A845-1A93-AA16EEDF6B4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74E6782-C329-442D-BF1D-BB807596D0A9}" type="slidenum">
              <a:rPr lang="pl-PL" altLang="pl-PL" smtClean="0"/>
              <a:pPr/>
              <a:t>41</a:t>
            </a:fld>
            <a:endParaRPr lang="pl-PL" altLang="pl-PL"/>
          </a:p>
        </p:txBody>
      </p:sp>
    </p:spTree>
    <p:extLst>
      <p:ext uri="{BB962C8B-B14F-4D97-AF65-F5344CB8AC3E}">
        <p14:creationId xmlns:p14="http://schemas.microsoft.com/office/powerpoint/2010/main" val="305063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Symbol zastępczy obrazu slajdu 1">
            <a:extLst>
              <a:ext uri="{FF2B5EF4-FFF2-40B4-BE49-F238E27FC236}">
                <a16:creationId xmlns:a16="http://schemas.microsoft.com/office/drawing/2014/main" id="{EEB0B075-65A5-93A0-0B97-430A480D529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6227" name="Symbol zastępczy notatek 2">
            <a:extLst>
              <a:ext uri="{FF2B5EF4-FFF2-40B4-BE49-F238E27FC236}">
                <a16:creationId xmlns:a16="http://schemas.microsoft.com/office/drawing/2014/main" id="{FC3CED57-B738-539A-2315-8E1DAA93F3B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
        <p:nvSpPr>
          <p:cNvPr id="436228" name="Symbol zastępczy numeru slajdu 3">
            <a:extLst>
              <a:ext uri="{FF2B5EF4-FFF2-40B4-BE49-F238E27FC236}">
                <a16:creationId xmlns:a16="http://schemas.microsoft.com/office/drawing/2014/main" id="{6F2591AB-AF9C-A845-1A93-AA16EEDF6B4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74E6782-C329-442D-BF1D-BB807596D0A9}" type="slidenum">
              <a:rPr lang="pl-PL" altLang="pl-PL" smtClean="0"/>
              <a:pPr/>
              <a:t>42</a:t>
            </a:fld>
            <a:endParaRPr lang="pl-PL" altLang="pl-PL"/>
          </a:p>
        </p:txBody>
      </p:sp>
    </p:spTree>
    <p:extLst>
      <p:ext uri="{BB962C8B-B14F-4D97-AF65-F5344CB8AC3E}">
        <p14:creationId xmlns:p14="http://schemas.microsoft.com/office/powerpoint/2010/main" val="497164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Symbol zastępczy obrazu slajdu 1">
            <a:extLst>
              <a:ext uri="{FF2B5EF4-FFF2-40B4-BE49-F238E27FC236}">
                <a16:creationId xmlns:a16="http://schemas.microsoft.com/office/drawing/2014/main" id="{ED523013-7247-879C-6E19-BCB9523F0CE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9299" name="Symbol zastępczy notatek 2">
            <a:extLst>
              <a:ext uri="{FF2B5EF4-FFF2-40B4-BE49-F238E27FC236}">
                <a16:creationId xmlns:a16="http://schemas.microsoft.com/office/drawing/2014/main" id="{F28C99B6-6967-55DE-ACF7-3CDCDDD1D0A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
        <p:nvSpPr>
          <p:cNvPr id="439300" name="Symbol zastępczy numeru slajdu 3">
            <a:extLst>
              <a:ext uri="{FF2B5EF4-FFF2-40B4-BE49-F238E27FC236}">
                <a16:creationId xmlns:a16="http://schemas.microsoft.com/office/drawing/2014/main" id="{644F57F7-FF1D-B6B1-3BE8-2C70343C1BB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B4E1101-C1F1-439E-8209-3870213BA01A}" type="slidenum">
              <a:rPr lang="pl-PL" altLang="pl-PL" smtClean="0"/>
              <a:pPr/>
              <a:t>44</a:t>
            </a:fld>
            <a:endParaRPr lang="pl-PL" altLang="pl-PL"/>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Symbol zastępczy obrazu slajdu 1">
            <a:extLst>
              <a:ext uri="{FF2B5EF4-FFF2-40B4-BE49-F238E27FC236}">
                <a16:creationId xmlns:a16="http://schemas.microsoft.com/office/drawing/2014/main" id="{1F36773B-6B23-D394-8D5F-622E4C82600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1347" name="Symbol zastępczy notatek 2">
            <a:extLst>
              <a:ext uri="{FF2B5EF4-FFF2-40B4-BE49-F238E27FC236}">
                <a16:creationId xmlns:a16="http://schemas.microsoft.com/office/drawing/2014/main" id="{30ADE6C1-8F4E-80E9-DD2E-4955F4BB2CC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
        <p:nvSpPr>
          <p:cNvPr id="441348" name="Symbol zastępczy numeru slajdu 3">
            <a:extLst>
              <a:ext uri="{FF2B5EF4-FFF2-40B4-BE49-F238E27FC236}">
                <a16:creationId xmlns:a16="http://schemas.microsoft.com/office/drawing/2014/main" id="{EC259BD8-2348-C190-1B8C-6771028A2EC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0814BE1-6809-49BD-BAB6-C64F19B46680}" type="slidenum">
              <a:rPr lang="pl-PL" altLang="pl-PL" smtClean="0"/>
              <a:pPr/>
              <a:t>45</a:t>
            </a:fld>
            <a:endParaRPr lang="pl-PL" altLang="pl-PL"/>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Symbol zastępczy obrazu slajdu 1">
            <a:extLst>
              <a:ext uri="{FF2B5EF4-FFF2-40B4-BE49-F238E27FC236}">
                <a16:creationId xmlns:a16="http://schemas.microsoft.com/office/drawing/2014/main" id="{861510D1-7E14-89DB-1A8A-A6EEE57DF7C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3395" name="Symbol zastępczy notatek 2">
            <a:extLst>
              <a:ext uri="{FF2B5EF4-FFF2-40B4-BE49-F238E27FC236}">
                <a16:creationId xmlns:a16="http://schemas.microsoft.com/office/drawing/2014/main" id="{F1C17DE7-34DD-0C50-8874-68E8B4AD53C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
        <p:nvSpPr>
          <p:cNvPr id="443396" name="Symbol zastępczy numeru slajdu 3">
            <a:extLst>
              <a:ext uri="{FF2B5EF4-FFF2-40B4-BE49-F238E27FC236}">
                <a16:creationId xmlns:a16="http://schemas.microsoft.com/office/drawing/2014/main" id="{4415A4BF-B81A-7B73-B9B8-254A445E89F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AFFD52C-585D-48A7-93DE-D3D6AF711E4C}" type="slidenum">
              <a:rPr lang="pl-PL" altLang="pl-PL" smtClean="0"/>
              <a:pPr/>
              <a:t>46</a:t>
            </a:fld>
            <a:endParaRPr lang="pl-PL" altLang="pl-PL"/>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Symbol zastępczy obrazu slajdu 1">
            <a:extLst>
              <a:ext uri="{FF2B5EF4-FFF2-40B4-BE49-F238E27FC236}">
                <a16:creationId xmlns:a16="http://schemas.microsoft.com/office/drawing/2014/main" id="{861510D1-7E14-89DB-1A8A-A6EEE57DF7C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3395" name="Symbol zastępczy notatek 2">
            <a:extLst>
              <a:ext uri="{FF2B5EF4-FFF2-40B4-BE49-F238E27FC236}">
                <a16:creationId xmlns:a16="http://schemas.microsoft.com/office/drawing/2014/main" id="{F1C17DE7-34DD-0C50-8874-68E8B4AD53C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
        <p:nvSpPr>
          <p:cNvPr id="443396" name="Symbol zastępczy numeru slajdu 3">
            <a:extLst>
              <a:ext uri="{FF2B5EF4-FFF2-40B4-BE49-F238E27FC236}">
                <a16:creationId xmlns:a16="http://schemas.microsoft.com/office/drawing/2014/main" id="{4415A4BF-B81A-7B73-B9B8-254A445E89F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AFFD52C-585D-48A7-93DE-D3D6AF711E4C}" type="slidenum">
              <a:rPr lang="pl-PL" altLang="pl-PL" smtClean="0"/>
              <a:pPr/>
              <a:t>47</a:t>
            </a:fld>
            <a:endParaRPr lang="pl-PL" altLang="pl-PL"/>
          </a:p>
        </p:txBody>
      </p:sp>
    </p:spTree>
    <p:extLst>
      <p:ext uri="{BB962C8B-B14F-4D97-AF65-F5344CB8AC3E}">
        <p14:creationId xmlns:p14="http://schemas.microsoft.com/office/powerpoint/2010/main" val="9711948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Symbol zastępczy obrazu slajdu 1">
            <a:extLst>
              <a:ext uri="{FF2B5EF4-FFF2-40B4-BE49-F238E27FC236}">
                <a16:creationId xmlns:a16="http://schemas.microsoft.com/office/drawing/2014/main" id="{861510D1-7E14-89DB-1A8A-A6EEE57DF7C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3395" name="Symbol zastępczy notatek 2">
            <a:extLst>
              <a:ext uri="{FF2B5EF4-FFF2-40B4-BE49-F238E27FC236}">
                <a16:creationId xmlns:a16="http://schemas.microsoft.com/office/drawing/2014/main" id="{F1C17DE7-34DD-0C50-8874-68E8B4AD53C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
        <p:nvSpPr>
          <p:cNvPr id="443396" name="Symbol zastępczy numeru slajdu 3">
            <a:extLst>
              <a:ext uri="{FF2B5EF4-FFF2-40B4-BE49-F238E27FC236}">
                <a16:creationId xmlns:a16="http://schemas.microsoft.com/office/drawing/2014/main" id="{4415A4BF-B81A-7B73-B9B8-254A445E89F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AFFD52C-585D-48A7-93DE-D3D6AF711E4C}" type="slidenum">
              <a:rPr lang="pl-PL" altLang="pl-PL" smtClean="0"/>
              <a:pPr/>
              <a:t>48</a:t>
            </a:fld>
            <a:endParaRPr lang="pl-PL" altLang="pl-PL"/>
          </a:p>
        </p:txBody>
      </p:sp>
    </p:spTree>
    <p:extLst>
      <p:ext uri="{BB962C8B-B14F-4D97-AF65-F5344CB8AC3E}">
        <p14:creationId xmlns:p14="http://schemas.microsoft.com/office/powerpoint/2010/main" val="20095054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ymbol zastępczy obrazu slajdu 1">
            <a:extLst>
              <a:ext uri="{FF2B5EF4-FFF2-40B4-BE49-F238E27FC236}">
                <a16:creationId xmlns:a16="http://schemas.microsoft.com/office/drawing/2014/main" id="{1713A143-463E-0BB4-441F-F3DF0961584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Symbol zastępczy notatek 2">
            <a:extLst>
              <a:ext uri="{FF2B5EF4-FFF2-40B4-BE49-F238E27FC236}">
                <a16:creationId xmlns:a16="http://schemas.microsoft.com/office/drawing/2014/main" id="{842CCD4E-D4EE-2964-4963-E75428225BA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pl-PL" altLang="pl-PL"/>
          </a:p>
        </p:txBody>
      </p:sp>
      <p:sp>
        <p:nvSpPr>
          <p:cNvPr id="26628" name="Symbol zastępczy numeru slajdu 3">
            <a:extLst>
              <a:ext uri="{FF2B5EF4-FFF2-40B4-BE49-F238E27FC236}">
                <a16:creationId xmlns:a16="http://schemas.microsoft.com/office/drawing/2014/main" id="{E8EB4A5B-2EB7-E892-377E-40C72353F86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3D00233-2F1A-43C7-AD33-6F7609C0D5C9}" type="slidenum">
              <a:rPr lang="pl-PL" altLang="pl-PL" smtClean="0"/>
              <a:pPr/>
              <a:t>79</a:t>
            </a:fld>
            <a:endParaRPr lang="pl-PL" altLang="pl-PL"/>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ymbol zastępczy obrazu slajdu 1">
            <a:extLst>
              <a:ext uri="{FF2B5EF4-FFF2-40B4-BE49-F238E27FC236}">
                <a16:creationId xmlns:a16="http://schemas.microsoft.com/office/drawing/2014/main" id="{F76DBA51-9F39-0D41-D5F7-B7B314EDFBE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Symbol zastępczy notatek 2">
            <a:extLst>
              <a:ext uri="{FF2B5EF4-FFF2-40B4-BE49-F238E27FC236}">
                <a16:creationId xmlns:a16="http://schemas.microsoft.com/office/drawing/2014/main" id="{67E27173-5AC8-E095-4BBD-C79999C681B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pl-PL" altLang="pl-PL"/>
          </a:p>
        </p:txBody>
      </p:sp>
      <p:sp>
        <p:nvSpPr>
          <p:cNvPr id="30724" name="Symbol zastępczy numeru slajdu 3">
            <a:extLst>
              <a:ext uri="{FF2B5EF4-FFF2-40B4-BE49-F238E27FC236}">
                <a16:creationId xmlns:a16="http://schemas.microsoft.com/office/drawing/2014/main" id="{D67FF8BC-038C-8472-7E9E-839EC0FCA62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A23EF04-2A1C-4422-93B7-EEEA54633A49}" type="slidenum">
              <a:rPr lang="pl-PL" altLang="pl-PL" smtClean="0"/>
              <a:pPr/>
              <a:t>80</a:t>
            </a:fld>
            <a:endParaRPr lang="pl-PL" altLang="pl-PL"/>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ymbol zastępczy obrazu slajdu 1">
            <a:extLst>
              <a:ext uri="{FF2B5EF4-FFF2-40B4-BE49-F238E27FC236}">
                <a16:creationId xmlns:a16="http://schemas.microsoft.com/office/drawing/2014/main" id="{EEE693FD-A75A-43DA-0633-B58C2B23FCC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Symbol zastępczy notatek 2">
            <a:extLst>
              <a:ext uri="{FF2B5EF4-FFF2-40B4-BE49-F238E27FC236}">
                <a16:creationId xmlns:a16="http://schemas.microsoft.com/office/drawing/2014/main" id="{FF99C3DC-67FE-156B-5D27-74455C67C1D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pl-PL" altLang="pl-PL"/>
          </a:p>
        </p:txBody>
      </p:sp>
      <p:sp>
        <p:nvSpPr>
          <p:cNvPr id="32772" name="Symbol zastępczy numeru slajdu 3">
            <a:extLst>
              <a:ext uri="{FF2B5EF4-FFF2-40B4-BE49-F238E27FC236}">
                <a16:creationId xmlns:a16="http://schemas.microsoft.com/office/drawing/2014/main" id="{F72FC3A7-5AFC-E4DD-B80A-80C6499811F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1588FF6-6239-4F9D-9252-FA3EBE5248CC}" type="slidenum">
              <a:rPr lang="pl-PL" altLang="pl-PL" smtClean="0"/>
              <a:pPr/>
              <a:t>81</a:t>
            </a:fld>
            <a:endParaRPr lang="pl-PL" altLang="pl-PL"/>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ymbol zastępczy obrazu slajdu 1">
            <a:extLst>
              <a:ext uri="{FF2B5EF4-FFF2-40B4-BE49-F238E27FC236}">
                <a16:creationId xmlns:a16="http://schemas.microsoft.com/office/drawing/2014/main" id="{35D0BB69-F98F-7071-2DB3-F302FD83243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Symbol zastępczy notatek 2">
            <a:extLst>
              <a:ext uri="{FF2B5EF4-FFF2-40B4-BE49-F238E27FC236}">
                <a16:creationId xmlns:a16="http://schemas.microsoft.com/office/drawing/2014/main" id="{1EEE4147-D454-B96E-78EE-6878CC7ACDF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pl-PL" altLang="pl-PL"/>
          </a:p>
        </p:txBody>
      </p:sp>
      <p:sp>
        <p:nvSpPr>
          <p:cNvPr id="34820" name="Symbol zastępczy numeru slajdu 3">
            <a:extLst>
              <a:ext uri="{FF2B5EF4-FFF2-40B4-BE49-F238E27FC236}">
                <a16:creationId xmlns:a16="http://schemas.microsoft.com/office/drawing/2014/main" id="{2CC9E406-2403-BC67-B5DD-0E0D8E2D78F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8F7B51D-1E04-4A90-8A8C-D9CCA80AD878}" type="slidenum">
              <a:rPr lang="pl-PL" altLang="pl-PL" smtClean="0"/>
              <a:pPr/>
              <a:t>82</a:t>
            </a:fld>
            <a:endParaRPr lang="pl-PL" altLang="pl-PL"/>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ymbol zastępczy obrazu slajdu 1">
            <a:extLst>
              <a:ext uri="{FF2B5EF4-FFF2-40B4-BE49-F238E27FC236}">
                <a16:creationId xmlns:a16="http://schemas.microsoft.com/office/drawing/2014/main" id="{23EB714E-31B2-4E8B-5CEA-5B367ED4A93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Symbol zastępczy notatek 2">
            <a:extLst>
              <a:ext uri="{FF2B5EF4-FFF2-40B4-BE49-F238E27FC236}">
                <a16:creationId xmlns:a16="http://schemas.microsoft.com/office/drawing/2014/main" id="{75724C65-B626-B491-D4BC-A5D7392CBF5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pl-PL" altLang="pl-PL"/>
          </a:p>
        </p:txBody>
      </p:sp>
      <p:sp>
        <p:nvSpPr>
          <p:cNvPr id="36868" name="Symbol zastępczy numeru slajdu 3">
            <a:extLst>
              <a:ext uri="{FF2B5EF4-FFF2-40B4-BE49-F238E27FC236}">
                <a16:creationId xmlns:a16="http://schemas.microsoft.com/office/drawing/2014/main" id="{BC295337-B007-2C53-DF7E-1B1115CA803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0563894-210D-45D9-97C4-BA917A64E3BD}" type="slidenum">
              <a:rPr lang="pl-PL" altLang="pl-PL" smtClean="0"/>
              <a:pPr/>
              <a:t>83</a:t>
            </a:fld>
            <a:endParaRPr lang="pl-PL" altLang="pl-PL"/>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ymbol zastępczy obrazu slajdu 1">
            <a:extLst>
              <a:ext uri="{FF2B5EF4-FFF2-40B4-BE49-F238E27FC236}">
                <a16:creationId xmlns:a16="http://schemas.microsoft.com/office/drawing/2014/main" id="{60E334C1-3A93-372F-B6D9-74CA1CC5679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Symbol zastępczy notatek 2">
            <a:extLst>
              <a:ext uri="{FF2B5EF4-FFF2-40B4-BE49-F238E27FC236}">
                <a16:creationId xmlns:a16="http://schemas.microsoft.com/office/drawing/2014/main" id="{827B27B7-5550-0351-3367-966E8E6633A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pl-PL" altLang="pl-PL"/>
          </a:p>
        </p:txBody>
      </p:sp>
      <p:sp>
        <p:nvSpPr>
          <p:cNvPr id="38916" name="Symbol zastępczy numeru slajdu 3">
            <a:extLst>
              <a:ext uri="{FF2B5EF4-FFF2-40B4-BE49-F238E27FC236}">
                <a16:creationId xmlns:a16="http://schemas.microsoft.com/office/drawing/2014/main" id="{F55AC25C-2704-D781-4515-A4F1AE2E886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33C899C-B9D8-49FB-A3E3-0C7D0434B83D}" type="slidenum">
              <a:rPr lang="pl-PL" altLang="pl-PL" smtClean="0"/>
              <a:pPr/>
              <a:t>84</a:t>
            </a:fld>
            <a:endParaRPr lang="pl-PL" altLang="pl-PL"/>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ymbol zastępczy obrazu slajdu 1">
            <a:extLst>
              <a:ext uri="{FF2B5EF4-FFF2-40B4-BE49-F238E27FC236}">
                <a16:creationId xmlns:a16="http://schemas.microsoft.com/office/drawing/2014/main" id="{BCED647E-BD2D-AD3C-A996-B09C97CC75D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Symbol zastępczy notatek 2">
            <a:extLst>
              <a:ext uri="{FF2B5EF4-FFF2-40B4-BE49-F238E27FC236}">
                <a16:creationId xmlns:a16="http://schemas.microsoft.com/office/drawing/2014/main" id="{49E339EC-08EE-2A23-3246-71CD866A454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pl-PL" altLang="pl-PL"/>
          </a:p>
        </p:txBody>
      </p:sp>
      <p:sp>
        <p:nvSpPr>
          <p:cNvPr id="40964" name="Symbol zastępczy numeru slajdu 3">
            <a:extLst>
              <a:ext uri="{FF2B5EF4-FFF2-40B4-BE49-F238E27FC236}">
                <a16:creationId xmlns:a16="http://schemas.microsoft.com/office/drawing/2014/main" id="{404D1106-87B5-6522-08A3-D016D04778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231FFC2-21EA-4D61-A827-F1BD2B3D569C}" type="slidenum">
              <a:rPr lang="pl-PL" altLang="pl-PL" smtClean="0"/>
              <a:pPr/>
              <a:t>85</a:t>
            </a:fld>
            <a:endParaRPr lang="pl-PL" altLang="pl-PL"/>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Symbol zastępczy obrazu slajdu 1">
            <a:extLst>
              <a:ext uri="{FF2B5EF4-FFF2-40B4-BE49-F238E27FC236}">
                <a16:creationId xmlns:a16="http://schemas.microsoft.com/office/drawing/2014/main" id="{1E318D70-E990-D75F-345A-A6B9775202A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7859" name="Symbol zastępczy notatek 2">
            <a:extLst>
              <a:ext uri="{FF2B5EF4-FFF2-40B4-BE49-F238E27FC236}">
                <a16:creationId xmlns:a16="http://schemas.microsoft.com/office/drawing/2014/main" id="{C5F1219D-FA8C-4A2F-1971-EB9B6E40D03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pl-PL" altLang="pl-PL"/>
          </a:p>
        </p:txBody>
      </p:sp>
      <p:sp>
        <p:nvSpPr>
          <p:cNvPr id="377860" name="Symbol zastępczy numeru slajdu 3">
            <a:extLst>
              <a:ext uri="{FF2B5EF4-FFF2-40B4-BE49-F238E27FC236}">
                <a16:creationId xmlns:a16="http://schemas.microsoft.com/office/drawing/2014/main" id="{8D43712C-4124-E4A4-71FE-C8EEFE816C4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42C934C-109B-4294-844C-44229BC34A92}" type="slidenum">
              <a:rPr lang="pl-PL" altLang="pl-PL" smtClean="0"/>
              <a:pPr/>
              <a:t>190</a:t>
            </a:fld>
            <a:endParaRPr lang="pl-PL" altLang="pl-PL"/>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Symbol zastępczy obrazu slajdu 1">
            <a:extLst>
              <a:ext uri="{FF2B5EF4-FFF2-40B4-BE49-F238E27FC236}">
                <a16:creationId xmlns:a16="http://schemas.microsoft.com/office/drawing/2014/main" id="{4A55FCED-2B04-8755-8BD6-A9EAC5E5DD5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9907" name="Symbol zastępczy notatek 2">
            <a:extLst>
              <a:ext uri="{FF2B5EF4-FFF2-40B4-BE49-F238E27FC236}">
                <a16:creationId xmlns:a16="http://schemas.microsoft.com/office/drawing/2014/main" id="{9FABA7F7-F377-D02F-DF4C-B1A1F9669C8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pl-PL" altLang="pl-PL"/>
          </a:p>
        </p:txBody>
      </p:sp>
      <p:sp>
        <p:nvSpPr>
          <p:cNvPr id="379908" name="Symbol zastępczy numeru slajdu 3">
            <a:extLst>
              <a:ext uri="{FF2B5EF4-FFF2-40B4-BE49-F238E27FC236}">
                <a16:creationId xmlns:a16="http://schemas.microsoft.com/office/drawing/2014/main" id="{CADFD607-4C69-172B-759B-D612B9FA34D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D7F885C-176C-4393-9492-B873FD97A67E}" type="slidenum">
              <a:rPr lang="pl-PL" altLang="pl-PL" smtClean="0"/>
              <a:pPr/>
              <a:t>191</a:t>
            </a:fld>
            <a:endParaRPr lang="pl-PL" altLang="pl-PL"/>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Symbol zastępczy obrazu slajdu 1">
            <a:extLst>
              <a:ext uri="{FF2B5EF4-FFF2-40B4-BE49-F238E27FC236}">
                <a16:creationId xmlns:a16="http://schemas.microsoft.com/office/drawing/2014/main" id="{13FA8260-706D-A78E-F867-54A3D6D509E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1955" name="Symbol zastępczy notatek 2">
            <a:extLst>
              <a:ext uri="{FF2B5EF4-FFF2-40B4-BE49-F238E27FC236}">
                <a16:creationId xmlns:a16="http://schemas.microsoft.com/office/drawing/2014/main" id="{6A3A9CAD-B86C-C1F6-83F2-D53FAA3B5BC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pl-PL" altLang="pl-PL"/>
          </a:p>
        </p:txBody>
      </p:sp>
      <p:sp>
        <p:nvSpPr>
          <p:cNvPr id="381956" name="Symbol zastępczy numeru slajdu 3">
            <a:extLst>
              <a:ext uri="{FF2B5EF4-FFF2-40B4-BE49-F238E27FC236}">
                <a16:creationId xmlns:a16="http://schemas.microsoft.com/office/drawing/2014/main" id="{52601410-F1C8-60D7-FB28-235939AC62C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57154DE-D75D-4CCD-BD46-7A2F7BCCE347}" type="slidenum">
              <a:rPr lang="pl-PL" altLang="pl-PL" smtClean="0"/>
              <a:pPr/>
              <a:t>192</a:t>
            </a:fld>
            <a:endParaRPr lang="pl-PL" altLang="pl-PL"/>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Symbol zastępczy obrazu slajdu 1">
            <a:extLst>
              <a:ext uri="{FF2B5EF4-FFF2-40B4-BE49-F238E27FC236}">
                <a16:creationId xmlns:a16="http://schemas.microsoft.com/office/drawing/2014/main" id="{63625975-3C75-16D3-5671-553B2C7F365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4003" name="Symbol zastępczy notatek 2">
            <a:extLst>
              <a:ext uri="{FF2B5EF4-FFF2-40B4-BE49-F238E27FC236}">
                <a16:creationId xmlns:a16="http://schemas.microsoft.com/office/drawing/2014/main" id="{B28C461D-652C-F51C-AD94-040E07E9497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pl-PL" altLang="pl-PL"/>
          </a:p>
        </p:txBody>
      </p:sp>
      <p:sp>
        <p:nvSpPr>
          <p:cNvPr id="384004" name="Symbol zastępczy numeru slajdu 3">
            <a:extLst>
              <a:ext uri="{FF2B5EF4-FFF2-40B4-BE49-F238E27FC236}">
                <a16:creationId xmlns:a16="http://schemas.microsoft.com/office/drawing/2014/main" id="{370056F5-4436-80C2-0126-84052571847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9E7AC88-E5A4-474C-AC25-4DEC5A8F0B53}" type="slidenum">
              <a:rPr lang="pl-PL" altLang="pl-PL" smtClean="0"/>
              <a:pPr/>
              <a:t>193</a:t>
            </a:fld>
            <a:endParaRPr lang="pl-PL" altLang="pl-PL"/>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Symbol zastępczy obrazu slajdu 1">
            <a:extLst>
              <a:ext uri="{FF2B5EF4-FFF2-40B4-BE49-F238E27FC236}">
                <a16:creationId xmlns:a16="http://schemas.microsoft.com/office/drawing/2014/main" id="{620EC5F9-AAB6-800D-F02E-1FDF0B90EE9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6051" name="Symbol zastępczy notatek 2">
            <a:extLst>
              <a:ext uri="{FF2B5EF4-FFF2-40B4-BE49-F238E27FC236}">
                <a16:creationId xmlns:a16="http://schemas.microsoft.com/office/drawing/2014/main" id="{31D291F8-6647-7FDF-E8AF-8A25CF552FC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pl-PL" altLang="pl-PL"/>
          </a:p>
        </p:txBody>
      </p:sp>
      <p:sp>
        <p:nvSpPr>
          <p:cNvPr id="386052" name="Symbol zastępczy numeru slajdu 3">
            <a:extLst>
              <a:ext uri="{FF2B5EF4-FFF2-40B4-BE49-F238E27FC236}">
                <a16:creationId xmlns:a16="http://schemas.microsoft.com/office/drawing/2014/main" id="{03FEA21B-A209-998D-31FF-5C538644472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72ECAD0-FA4C-468D-8FA2-13690775F81F}" type="slidenum">
              <a:rPr lang="pl-PL" altLang="pl-PL" smtClean="0"/>
              <a:pPr/>
              <a:t>194</a:t>
            </a:fld>
            <a:endParaRPr lang="pl-PL" altLang="pl-PL"/>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Symbol zastępczy obrazu slajdu 1">
            <a:extLst>
              <a:ext uri="{FF2B5EF4-FFF2-40B4-BE49-F238E27FC236}">
                <a16:creationId xmlns:a16="http://schemas.microsoft.com/office/drawing/2014/main" id="{2C6B963F-9BFF-0426-D24F-2E1A234E687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8099" name="Symbol zastępczy notatek 2">
            <a:extLst>
              <a:ext uri="{FF2B5EF4-FFF2-40B4-BE49-F238E27FC236}">
                <a16:creationId xmlns:a16="http://schemas.microsoft.com/office/drawing/2014/main" id="{A4E659AF-6489-A823-6B38-DAFA72962A6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pl-PL" altLang="pl-PL"/>
          </a:p>
        </p:txBody>
      </p:sp>
      <p:sp>
        <p:nvSpPr>
          <p:cNvPr id="388100" name="Symbol zastępczy numeru slajdu 3">
            <a:extLst>
              <a:ext uri="{FF2B5EF4-FFF2-40B4-BE49-F238E27FC236}">
                <a16:creationId xmlns:a16="http://schemas.microsoft.com/office/drawing/2014/main" id="{161B6C28-3E60-C3D5-8B8F-F0F217D5A34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52DC200-5B51-4706-828D-B403D313DD23}" type="slidenum">
              <a:rPr lang="pl-PL" altLang="pl-PL" smtClean="0"/>
              <a:pPr/>
              <a:t>195</a:t>
            </a:fld>
            <a:endParaRPr lang="pl-PL" altLang="pl-PL"/>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normAutofit/>
          </a:bodyPr>
          <a:lstStyle/>
          <a:p>
            <a:endParaRPr lang="pl-PL" dirty="0"/>
          </a:p>
        </p:txBody>
      </p:sp>
      <p:sp>
        <p:nvSpPr>
          <p:cNvPr id="4" name="Symbol zastępczy numeru slajdu 3"/>
          <p:cNvSpPr>
            <a:spLocks noGrp="1"/>
          </p:cNvSpPr>
          <p:nvPr>
            <p:ph type="sldNum" sz="quarter" idx="10"/>
          </p:nvPr>
        </p:nvSpPr>
        <p:spPr/>
        <p:txBody>
          <a:bodyPr/>
          <a:lstStyle/>
          <a:p>
            <a:fld id="{5B89443D-F463-40F8-9BD0-C241D56C827D}" type="slidenum">
              <a:rPr lang="pl-PL" smtClean="0"/>
              <a:pPr/>
              <a:t>199</a:t>
            </a:fld>
            <a:endParaRPr lang="pl-PL"/>
          </a:p>
        </p:txBody>
      </p:sp>
    </p:spTree>
    <p:extLst>
      <p:ext uri="{BB962C8B-B14F-4D97-AF65-F5344CB8AC3E}">
        <p14:creationId xmlns:p14="http://schemas.microsoft.com/office/powerpoint/2010/main" val="604850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normAutofit/>
          </a:bodyPr>
          <a:lstStyle/>
          <a:p>
            <a:endParaRPr lang="pl-PL" dirty="0"/>
          </a:p>
        </p:txBody>
      </p:sp>
      <p:sp>
        <p:nvSpPr>
          <p:cNvPr id="4" name="Symbol zastępczy numeru slajdu 3"/>
          <p:cNvSpPr>
            <a:spLocks noGrp="1"/>
          </p:cNvSpPr>
          <p:nvPr>
            <p:ph type="sldNum" sz="quarter" idx="10"/>
          </p:nvPr>
        </p:nvSpPr>
        <p:spPr/>
        <p:txBody>
          <a:bodyPr/>
          <a:lstStyle/>
          <a:p>
            <a:fld id="{5B89443D-F463-40F8-9BD0-C241D56C827D}" type="slidenum">
              <a:rPr lang="pl-PL" smtClean="0"/>
              <a:pPr/>
              <a:t>277</a:t>
            </a:fld>
            <a:endParaRPr lang="pl-PL"/>
          </a:p>
        </p:txBody>
      </p:sp>
    </p:spTree>
    <p:extLst>
      <p:ext uri="{BB962C8B-B14F-4D97-AF65-F5344CB8AC3E}">
        <p14:creationId xmlns:p14="http://schemas.microsoft.com/office/powerpoint/2010/main" val="8366344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ymbol zastępczy obrazu slajdu 1">
            <a:extLst>
              <a:ext uri="{FF2B5EF4-FFF2-40B4-BE49-F238E27FC236}">
                <a16:creationId xmlns:a16="http://schemas.microsoft.com/office/drawing/2014/main" id="{E7C39686-6520-F81A-A282-0957C70CEDF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Symbol zastępczy notatek 2">
            <a:extLst>
              <a:ext uri="{FF2B5EF4-FFF2-40B4-BE49-F238E27FC236}">
                <a16:creationId xmlns:a16="http://schemas.microsoft.com/office/drawing/2014/main" id="{E166B86C-5566-52FC-E9D5-D8665A67AAD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l-PL" altLang="pl-PL"/>
          </a:p>
        </p:txBody>
      </p:sp>
      <p:sp>
        <p:nvSpPr>
          <p:cNvPr id="135172" name="Symbol zastępczy numeru slajdu 3">
            <a:extLst>
              <a:ext uri="{FF2B5EF4-FFF2-40B4-BE49-F238E27FC236}">
                <a16:creationId xmlns:a16="http://schemas.microsoft.com/office/drawing/2014/main" id="{245CD72B-1A4C-DDA1-A1CB-4D81D234DC2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BA5F684-E334-440F-87C3-92905C9B0903}" type="slidenum">
              <a:rPr lang="pl-PL" altLang="pl-PL" smtClean="0"/>
              <a:pPr/>
              <a:t>392</a:t>
            </a:fld>
            <a:endParaRPr lang="pl-PL" altLang="pl-P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ajd tytułowy">
    <p:spTree>
      <p:nvGrpSpPr>
        <p:cNvPr id="1" name=""/>
        <p:cNvGrpSpPr/>
        <p:nvPr/>
      </p:nvGrpSpPr>
      <p:grpSpPr>
        <a:xfrm>
          <a:off x="0" y="0"/>
          <a:ext cx="0" cy="0"/>
          <a:chOff x="0" y="0"/>
          <a:chExt cx="0" cy="0"/>
        </a:xfrm>
      </p:grpSpPr>
      <p:sp>
        <p:nvSpPr>
          <p:cNvPr id="15" name="Prostokąt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Prostokąt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Prostokąt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Prostokąt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Prostokąt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Podtytuł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pl-PL"/>
              <a:t>Kliknij, aby edytować styl wzorca podtytułu</a:t>
            </a:r>
            <a:endParaRPr kumimoji="0" lang="en-US"/>
          </a:p>
        </p:txBody>
      </p:sp>
      <p:sp>
        <p:nvSpPr>
          <p:cNvPr id="28" name="Symbol zastępczy daty 27"/>
          <p:cNvSpPr>
            <a:spLocks noGrp="1"/>
          </p:cNvSpPr>
          <p:nvPr>
            <p:ph type="dt" sz="half" idx="10"/>
          </p:nvPr>
        </p:nvSpPr>
        <p:spPr/>
        <p:txBody>
          <a:bodyPr/>
          <a:lstStyle/>
          <a:p>
            <a:fld id="{A13DBE70-7B9B-4476-91EF-CF5FCAA78BA2}" type="datetimeFigureOut">
              <a:rPr lang="pl-PL" smtClean="0"/>
              <a:pPr/>
              <a:t>2025-10-07</a:t>
            </a:fld>
            <a:endParaRPr lang="pl-PL"/>
          </a:p>
        </p:txBody>
      </p:sp>
      <p:sp>
        <p:nvSpPr>
          <p:cNvPr id="17" name="Symbol zastępczy stopki 16"/>
          <p:cNvSpPr>
            <a:spLocks noGrp="1"/>
          </p:cNvSpPr>
          <p:nvPr>
            <p:ph type="ftr" sz="quarter" idx="11"/>
          </p:nvPr>
        </p:nvSpPr>
        <p:spPr/>
        <p:txBody>
          <a:bodyPr/>
          <a:lstStyle/>
          <a:p>
            <a:endParaRPr lang="pl-PL"/>
          </a:p>
        </p:txBody>
      </p:sp>
      <p:sp>
        <p:nvSpPr>
          <p:cNvPr id="7" name="Łącznik prosty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Prostokąt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ipsa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ipsa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ymbol zastępczy numeru slajdu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10C69D8A-33A9-4547-AEB7-8A0728A4A6E0}" type="slidenum">
              <a:rPr lang="pl-PL" smtClean="0"/>
              <a:pPr/>
              <a:t>‹#›</a:t>
            </a:fld>
            <a:endParaRPr lang="pl-PL"/>
          </a:p>
        </p:txBody>
      </p:sp>
      <p:sp>
        <p:nvSpPr>
          <p:cNvPr id="8" name="Tytuł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pl-PL"/>
              <a:t>Kliknij, aby edytować styl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solidFill>
                  <a:schemeClr val="accent3">
                    <a:shade val="75000"/>
                  </a:schemeClr>
                </a:solidFill>
              </a:defRPr>
            </a:lvl1pPr>
          </a:lstStyle>
          <a:p>
            <a:r>
              <a:rPr kumimoji="0" lang="pl-PL"/>
              <a:t>Kliknij, aby edytować styl</a:t>
            </a:r>
            <a:endParaRPr kumimoji="0" lang="en-US"/>
          </a:p>
        </p:txBody>
      </p:sp>
      <p:sp>
        <p:nvSpPr>
          <p:cNvPr id="4" name="Symbol zastępczy daty 3"/>
          <p:cNvSpPr>
            <a:spLocks noGrp="1"/>
          </p:cNvSpPr>
          <p:nvPr>
            <p:ph type="dt" sz="half" idx="10"/>
          </p:nvPr>
        </p:nvSpPr>
        <p:spPr/>
        <p:txBody>
          <a:bodyPr/>
          <a:lstStyle/>
          <a:p>
            <a:fld id="{A13DBE70-7B9B-4476-91EF-CF5FCAA78BA2}" type="datetimeFigureOut">
              <a:rPr lang="pl-PL" smtClean="0"/>
              <a:pPr/>
              <a:t>2025-10-07</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a:xfrm>
            <a:off x="4361688" y="1026372"/>
            <a:ext cx="457200" cy="441325"/>
          </a:xfrm>
        </p:spPr>
        <p:txBody>
          <a:bodyPr/>
          <a:lstStyle/>
          <a:p>
            <a:fld id="{10C69D8A-33A9-4547-AEB7-8A0728A4A6E0}" type="slidenum">
              <a:rPr lang="pl-PL" smtClean="0"/>
              <a:pPr/>
              <a:t>‹#›</a:t>
            </a:fld>
            <a:endParaRPr lang="pl-PL"/>
          </a:p>
        </p:txBody>
      </p:sp>
      <p:sp>
        <p:nvSpPr>
          <p:cNvPr id="8" name="Symbol zastępczy zawartości 7"/>
          <p:cNvSpPr>
            <a:spLocks noGrp="1"/>
          </p:cNvSpPr>
          <p:nvPr>
            <p:ph sz="quarter" idx="1"/>
          </p:nvPr>
        </p:nvSpPr>
        <p:spPr>
          <a:xfrm>
            <a:off x="301752" y="1527048"/>
            <a:ext cx="8503920" cy="4572000"/>
          </a:xfrm>
        </p:spPr>
        <p:txBody>
          <a:bodyPr/>
          <a:lstStyle/>
          <a:p>
            <a:pPr lvl="0" eaLnBrk="1" latinLnBrk="0" hangingPunct="1"/>
            <a:r>
              <a:rPr lang="pl-PL"/>
              <a:t>Kliknij, aby edytować style wzorca tekstu</a:t>
            </a:r>
          </a:p>
          <a:p>
            <a:pPr lvl="1" eaLnBrk="1" latinLnBrk="0" hangingPunct="1"/>
            <a:r>
              <a:rPr lang="pl-PL"/>
              <a:t>Drugi poziom</a:t>
            </a:r>
          </a:p>
          <a:p>
            <a:pPr lvl="2" eaLnBrk="1" latinLnBrk="0" hangingPunct="1"/>
            <a:r>
              <a:rPr lang="pl-PL"/>
              <a:t>Trzeci poziom</a:t>
            </a:r>
          </a:p>
          <a:p>
            <a:pPr lvl="3" eaLnBrk="1" latinLnBrk="0" hangingPunct="1"/>
            <a:r>
              <a:rPr lang="pl-PL"/>
              <a:t>Czwarty poziom</a:t>
            </a:r>
          </a:p>
          <a:p>
            <a:pPr lvl="4" eaLnBrk="1" latinLnBrk="0" hangingPunct="1"/>
            <a:r>
              <a:rPr lang="pl-PL"/>
              <a:t>Piąty poziom</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Nagłówek sekcji">
    <p:spTree>
      <p:nvGrpSpPr>
        <p:cNvPr id="1" name=""/>
        <p:cNvGrpSpPr/>
        <p:nvPr/>
      </p:nvGrpSpPr>
      <p:grpSpPr>
        <a:xfrm>
          <a:off x="0" y="0"/>
          <a:ext cx="0" cy="0"/>
          <a:chOff x="0" y="0"/>
          <a:chExt cx="0" cy="0"/>
        </a:xfrm>
      </p:grpSpPr>
      <p:sp>
        <p:nvSpPr>
          <p:cNvPr id="17" name="Prostokąt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Prostokąt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Prostokąt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Prostokąt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Prostokąt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Prostokąt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Symbol zastępczy tekstu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pl-PL"/>
              <a:t>Kliknij, aby edytować style wzorca tekstu</a:t>
            </a:r>
          </a:p>
        </p:txBody>
      </p:sp>
      <p:sp>
        <p:nvSpPr>
          <p:cNvPr id="13" name="Prostokąt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Prostokąt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Symbol zastępczy stopki 4"/>
          <p:cNvSpPr>
            <a:spLocks noGrp="1"/>
          </p:cNvSpPr>
          <p:nvPr>
            <p:ph type="ftr" sz="quarter" idx="11"/>
          </p:nvPr>
        </p:nvSpPr>
        <p:spPr/>
        <p:txBody>
          <a:bodyPr/>
          <a:lstStyle/>
          <a:p>
            <a:endParaRPr lang="pl-PL"/>
          </a:p>
        </p:txBody>
      </p:sp>
      <p:sp>
        <p:nvSpPr>
          <p:cNvPr id="4" name="Symbol zastępczy daty 3"/>
          <p:cNvSpPr>
            <a:spLocks noGrp="1"/>
          </p:cNvSpPr>
          <p:nvPr>
            <p:ph type="dt" sz="half" idx="10"/>
          </p:nvPr>
        </p:nvSpPr>
        <p:spPr/>
        <p:txBody>
          <a:bodyPr/>
          <a:lstStyle/>
          <a:p>
            <a:fld id="{A13DBE70-7B9B-4476-91EF-CF5FCAA78BA2}" type="datetimeFigureOut">
              <a:rPr lang="pl-PL" smtClean="0"/>
              <a:pPr/>
              <a:t>2025-10-07</a:t>
            </a:fld>
            <a:endParaRPr lang="pl-PL"/>
          </a:p>
        </p:txBody>
      </p:sp>
      <p:sp>
        <p:nvSpPr>
          <p:cNvPr id="8" name="Łącznik prosty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ipsa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ipsa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ymbol zastępczy numeru slajdu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10C69D8A-33A9-4547-AEB7-8A0728A4A6E0}" type="slidenum">
              <a:rPr lang="pl-PL" smtClean="0"/>
              <a:pPr/>
              <a:t>‹#›</a:t>
            </a:fld>
            <a:endParaRPr lang="pl-PL"/>
          </a:p>
        </p:txBody>
      </p:sp>
      <p:sp>
        <p:nvSpPr>
          <p:cNvPr id="2" name="Tytuł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pl-PL"/>
              <a:t>Kliknij, aby edytować styl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a:xfrm>
            <a:off x="301752" y="228600"/>
            <a:ext cx="8534400" cy="758952"/>
          </a:xfrm>
        </p:spPr>
        <p:txBody>
          <a:bodyPr/>
          <a:lstStyle/>
          <a:p>
            <a:r>
              <a:rPr kumimoji="0" lang="pl-PL"/>
              <a:t>Kliknij, aby edytować styl</a:t>
            </a:r>
            <a:endParaRPr kumimoji="0" lang="en-US"/>
          </a:p>
        </p:txBody>
      </p:sp>
      <p:sp>
        <p:nvSpPr>
          <p:cNvPr id="5" name="Symbol zastępczy daty 4"/>
          <p:cNvSpPr>
            <a:spLocks noGrp="1"/>
          </p:cNvSpPr>
          <p:nvPr>
            <p:ph type="dt" sz="half" idx="10"/>
          </p:nvPr>
        </p:nvSpPr>
        <p:spPr>
          <a:xfrm>
            <a:off x="5791200" y="6409944"/>
            <a:ext cx="3044952" cy="365760"/>
          </a:xfrm>
        </p:spPr>
        <p:txBody>
          <a:bodyPr/>
          <a:lstStyle/>
          <a:p>
            <a:fld id="{A13DBE70-7B9B-4476-91EF-CF5FCAA78BA2}" type="datetimeFigureOut">
              <a:rPr lang="pl-PL" smtClean="0"/>
              <a:pPr/>
              <a:t>2025-10-07</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10C69D8A-33A9-4547-AEB7-8A0728A4A6E0}" type="slidenum">
              <a:rPr lang="pl-PL" smtClean="0"/>
              <a:pPr/>
              <a:t>‹#›</a:t>
            </a:fld>
            <a:endParaRPr lang="pl-PL"/>
          </a:p>
        </p:txBody>
      </p:sp>
      <p:sp>
        <p:nvSpPr>
          <p:cNvPr id="8" name="Łącznik prosty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Symbol zastępczy zawartości 9"/>
          <p:cNvSpPr>
            <a:spLocks noGrp="1"/>
          </p:cNvSpPr>
          <p:nvPr>
            <p:ph sz="half" idx="1"/>
          </p:nvPr>
        </p:nvSpPr>
        <p:spPr>
          <a:xfrm>
            <a:off x="301752" y="1371600"/>
            <a:ext cx="4038600" cy="4681728"/>
          </a:xfrm>
        </p:spPr>
        <p:txBody>
          <a:bodyPr/>
          <a:lstStyle>
            <a:lvl1pPr>
              <a:defRPr sz="2500"/>
            </a:lvl1pPr>
          </a:lstStyle>
          <a:p>
            <a:pPr lvl="0" eaLnBrk="1" latinLnBrk="0" hangingPunct="1"/>
            <a:r>
              <a:rPr lang="pl-PL"/>
              <a:t>Kliknij, aby edytować style wzorca tekstu</a:t>
            </a:r>
          </a:p>
          <a:p>
            <a:pPr lvl="1" eaLnBrk="1" latinLnBrk="0" hangingPunct="1"/>
            <a:r>
              <a:rPr lang="pl-PL"/>
              <a:t>Drugi poziom</a:t>
            </a:r>
          </a:p>
          <a:p>
            <a:pPr lvl="2" eaLnBrk="1" latinLnBrk="0" hangingPunct="1"/>
            <a:r>
              <a:rPr lang="pl-PL"/>
              <a:t>Trzeci poziom</a:t>
            </a:r>
          </a:p>
          <a:p>
            <a:pPr lvl="3" eaLnBrk="1" latinLnBrk="0" hangingPunct="1"/>
            <a:r>
              <a:rPr lang="pl-PL"/>
              <a:t>Czwarty poziom</a:t>
            </a:r>
          </a:p>
          <a:p>
            <a:pPr lvl="4" eaLnBrk="1" latinLnBrk="0" hangingPunct="1"/>
            <a:r>
              <a:rPr lang="pl-PL"/>
              <a:t>Piąty poziom</a:t>
            </a:r>
            <a:endParaRPr kumimoji="0" lang="en-US"/>
          </a:p>
        </p:txBody>
      </p:sp>
      <p:sp>
        <p:nvSpPr>
          <p:cNvPr id="12" name="Symbol zastępczy zawartości 11"/>
          <p:cNvSpPr>
            <a:spLocks noGrp="1"/>
          </p:cNvSpPr>
          <p:nvPr>
            <p:ph sz="half" idx="2"/>
          </p:nvPr>
        </p:nvSpPr>
        <p:spPr>
          <a:xfrm>
            <a:off x="4800600" y="1371600"/>
            <a:ext cx="4038600" cy="4681728"/>
          </a:xfrm>
        </p:spPr>
        <p:txBody>
          <a:bodyPr/>
          <a:lstStyle>
            <a:lvl1pPr>
              <a:defRPr sz="2500"/>
            </a:lvl1pPr>
          </a:lstStyle>
          <a:p>
            <a:pPr lvl="0" eaLnBrk="1" latinLnBrk="0" hangingPunct="1"/>
            <a:r>
              <a:rPr lang="pl-PL"/>
              <a:t>Kliknij, aby edytować style wzorca tekstu</a:t>
            </a:r>
          </a:p>
          <a:p>
            <a:pPr lvl="1" eaLnBrk="1" latinLnBrk="0" hangingPunct="1"/>
            <a:r>
              <a:rPr lang="pl-PL"/>
              <a:t>Drugi poziom</a:t>
            </a:r>
          </a:p>
          <a:p>
            <a:pPr lvl="2" eaLnBrk="1" latinLnBrk="0" hangingPunct="1"/>
            <a:r>
              <a:rPr lang="pl-PL"/>
              <a:t>Trzeci poziom</a:t>
            </a:r>
          </a:p>
          <a:p>
            <a:pPr lvl="3" eaLnBrk="1" latinLnBrk="0" hangingPunct="1"/>
            <a:r>
              <a:rPr lang="pl-PL"/>
              <a:t>Czwarty poziom</a:t>
            </a:r>
          </a:p>
          <a:p>
            <a:pPr lvl="4" eaLnBrk="1" latinLnBrk="0" hangingPunct="1"/>
            <a:r>
              <a:rPr lang="pl-PL"/>
              <a:t>Piąty poziom</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Porównanie">
    <p:spTree>
      <p:nvGrpSpPr>
        <p:cNvPr id="1" name=""/>
        <p:cNvGrpSpPr/>
        <p:nvPr/>
      </p:nvGrpSpPr>
      <p:grpSpPr>
        <a:xfrm>
          <a:off x="0" y="0"/>
          <a:ext cx="0" cy="0"/>
          <a:chOff x="0" y="0"/>
          <a:chExt cx="0" cy="0"/>
        </a:xfrm>
      </p:grpSpPr>
      <p:sp>
        <p:nvSpPr>
          <p:cNvPr id="10" name="Łącznik prosty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Prostokąt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Prostokąt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Prostokąt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Prostokąt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Prostokąt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Prostokąt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Symbol zastępczy tekstu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pl-PL"/>
              <a:t>Kliknij, aby edytować style wzorca tekstu</a:t>
            </a:r>
          </a:p>
        </p:txBody>
      </p:sp>
      <p:sp>
        <p:nvSpPr>
          <p:cNvPr id="4" name="Symbol zastępczy tekstu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pl-PL"/>
              <a:t>Kliknij, aby edytować style wzorca tekstu</a:t>
            </a:r>
          </a:p>
        </p:txBody>
      </p:sp>
      <p:sp>
        <p:nvSpPr>
          <p:cNvPr id="7" name="Symbol zastępczy daty 6"/>
          <p:cNvSpPr>
            <a:spLocks noGrp="1"/>
          </p:cNvSpPr>
          <p:nvPr>
            <p:ph type="dt" sz="half" idx="10"/>
          </p:nvPr>
        </p:nvSpPr>
        <p:spPr/>
        <p:txBody>
          <a:bodyPr/>
          <a:lstStyle/>
          <a:p>
            <a:fld id="{A13DBE70-7B9B-4476-91EF-CF5FCAA78BA2}" type="datetimeFigureOut">
              <a:rPr lang="pl-PL" smtClean="0"/>
              <a:pPr/>
              <a:t>2025-10-07</a:t>
            </a:fld>
            <a:endParaRPr lang="pl-PL"/>
          </a:p>
        </p:txBody>
      </p:sp>
      <p:sp>
        <p:nvSpPr>
          <p:cNvPr id="8" name="Symbol zastępczy stopki 7"/>
          <p:cNvSpPr>
            <a:spLocks noGrp="1"/>
          </p:cNvSpPr>
          <p:nvPr>
            <p:ph type="ftr" sz="quarter" idx="11"/>
          </p:nvPr>
        </p:nvSpPr>
        <p:spPr>
          <a:xfrm>
            <a:off x="304800" y="6409944"/>
            <a:ext cx="3581400" cy="365760"/>
          </a:xfrm>
        </p:spPr>
        <p:txBody>
          <a:bodyPr/>
          <a:lstStyle/>
          <a:p>
            <a:endParaRPr lang="pl-PL"/>
          </a:p>
        </p:txBody>
      </p:sp>
      <p:sp>
        <p:nvSpPr>
          <p:cNvPr id="15" name="Łącznik prosty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Prostokąt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Symbol zastępczy zawartości 23"/>
          <p:cNvSpPr>
            <a:spLocks noGrp="1"/>
          </p:cNvSpPr>
          <p:nvPr>
            <p:ph sz="quarter" idx="2"/>
          </p:nvPr>
        </p:nvSpPr>
        <p:spPr>
          <a:xfrm>
            <a:off x="301752" y="2471383"/>
            <a:ext cx="4041648" cy="3818404"/>
          </a:xfrm>
        </p:spPr>
        <p:txBody>
          <a:bodyPr/>
          <a:lstStyle/>
          <a:p>
            <a:pPr lvl="0" eaLnBrk="1" latinLnBrk="0" hangingPunct="1"/>
            <a:r>
              <a:rPr lang="pl-PL"/>
              <a:t>Kliknij, aby edytować style wzorca tekstu</a:t>
            </a:r>
          </a:p>
          <a:p>
            <a:pPr lvl="1" eaLnBrk="1" latinLnBrk="0" hangingPunct="1"/>
            <a:r>
              <a:rPr lang="pl-PL"/>
              <a:t>Drugi poziom</a:t>
            </a:r>
          </a:p>
          <a:p>
            <a:pPr lvl="2" eaLnBrk="1" latinLnBrk="0" hangingPunct="1"/>
            <a:r>
              <a:rPr lang="pl-PL"/>
              <a:t>Trzeci poziom</a:t>
            </a:r>
          </a:p>
          <a:p>
            <a:pPr lvl="3" eaLnBrk="1" latinLnBrk="0" hangingPunct="1"/>
            <a:r>
              <a:rPr lang="pl-PL"/>
              <a:t>Czwarty poziom</a:t>
            </a:r>
          </a:p>
          <a:p>
            <a:pPr lvl="4" eaLnBrk="1" latinLnBrk="0" hangingPunct="1"/>
            <a:r>
              <a:rPr lang="pl-PL"/>
              <a:t>Piąty poziom</a:t>
            </a:r>
            <a:endParaRPr kumimoji="0" lang="en-US"/>
          </a:p>
        </p:txBody>
      </p:sp>
      <p:sp>
        <p:nvSpPr>
          <p:cNvPr id="26" name="Symbol zastępczy zawartości 25"/>
          <p:cNvSpPr>
            <a:spLocks noGrp="1"/>
          </p:cNvSpPr>
          <p:nvPr>
            <p:ph sz="quarter" idx="4"/>
          </p:nvPr>
        </p:nvSpPr>
        <p:spPr>
          <a:xfrm>
            <a:off x="4800600" y="2471383"/>
            <a:ext cx="4038600" cy="3822192"/>
          </a:xfrm>
        </p:spPr>
        <p:txBody>
          <a:bodyPr/>
          <a:lstStyle/>
          <a:p>
            <a:pPr lvl="0" eaLnBrk="1" latinLnBrk="0" hangingPunct="1"/>
            <a:r>
              <a:rPr lang="pl-PL"/>
              <a:t>Kliknij, aby edytować style wzorca tekstu</a:t>
            </a:r>
          </a:p>
          <a:p>
            <a:pPr lvl="1" eaLnBrk="1" latinLnBrk="0" hangingPunct="1"/>
            <a:r>
              <a:rPr lang="pl-PL"/>
              <a:t>Drugi poziom</a:t>
            </a:r>
          </a:p>
          <a:p>
            <a:pPr lvl="2" eaLnBrk="1" latinLnBrk="0" hangingPunct="1"/>
            <a:r>
              <a:rPr lang="pl-PL"/>
              <a:t>Trzeci poziom</a:t>
            </a:r>
          </a:p>
          <a:p>
            <a:pPr lvl="3" eaLnBrk="1" latinLnBrk="0" hangingPunct="1"/>
            <a:r>
              <a:rPr lang="pl-PL"/>
              <a:t>Czwarty poziom</a:t>
            </a:r>
          </a:p>
          <a:p>
            <a:pPr lvl="4" eaLnBrk="1" latinLnBrk="0" hangingPunct="1"/>
            <a:r>
              <a:rPr lang="pl-PL"/>
              <a:t>Piąty poziom</a:t>
            </a:r>
            <a:endParaRPr kumimoji="0" lang="en-US"/>
          </a:p>
        </p:txBody>
      </p:sp>
      <p:sp>
        <p:nvSpPr>
          <p:cNvPr id="25" name="Elipsa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ipsa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ymbol zastępczy numeru slajdu 8"/>
          <p:cNvSpPr>
            <a:spLocks noGrp="1"/>
          </p:cNvSpPr>
          <p:nvPr>
            <p:ph type="sldNum" sz="quarter" idx="12"/>
          </p:nvPr>
        </p:nvSpPr>
        <p:spPr>
          <a:xfrm>
            <a:off x="4343400" y="1042416"/>
            <a:ext cx="457200" cy="441325"/>
          </a:xfrm>
        </p:spPr>
        <p:txBody>
          <a:bodyPr/>
          <a:lstStyle>
            <a:lvl1pPr algn="ctr">
              <a:defRPr/>
            </a:lvl1pPr>
          </a:lstStyle>
          <a:p>
            <a:fld id="{10C69D8A-33A9-4547-AEB7-8A0728A4A6E0}" type="slidenum">
              <a:rPr lang="pl-PL" smtClean="0"/>
              <a:pPr/>
              <a:t>‹#›</a:t>
            </a:fld>
            <a:endParaRPr lang="pl-PL"/>
          </a:p>
        </p:txBody>
      </p:sp>
      <p:sp>
        <p:nvSpPr>
          <p:cNvPr id="23" name="Tytuł 22"/>
          <p:cNvSpPr>
            <a:spLocks noGrp="1"/>
          </p:cNvSpPr>
          <p:nvPr>
            <p:ph type="title"/>
          </p:nvPr>
        </p:nvSpPr>
        <p:spPr/>
        <p:txBody>
          <a:bodyPr rtlCol="0" anchor="b" anchorCtr="0"/>
          <a:lstStyle/>
          <a:p>
            <a:r>
              <a:rPr kumimoji="0" lang="pl-PL"/>
              <a:t>Kliknij, aby edytować styl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kumimoji="0" lang="pl-PL"/>
              <a:t>Kliknij, aby edytować styl</a:t>
            </a:r>
            <a:endParaRPr kumimoji="0" lang="en-US"/>
          </a:p>
        </p:txBody>
      </p:sp>
      <p:sp>
        <p:nvSpPr>
          <p:cNvPr id="3" name="Symbol zastępczy daty 2"/>
          <p:cNvSpPr>
            <a:spLocks noGrp="1"/>
          </p:cNvSpPr>
          <p:nvPr>
            <p:ph type="dt" sz="half" idx="10"/>
          </p:nvPr>
        </p:nvSpPr>
        <p:spPr/>
        <p:txBody>
          <a:bodyPr/>
          <a:lstStyle/>
          <a:p>
            <a:fld id="{A13DBE70-7B9B-4476-91EF-CF5FCAA78BA2}" type="datetimeFigureOut">
              <a:rPr lang="pl-PL" smtClean="0"/>
              <a:pPr/>
              <a:t>2025-10-07</a:t>
            </a:fld>
            <a:endParaRPr lang="pl-PL"/>
          </a:p>
        </p:txBody>
      </p:sp>
      <p:sp>
        <p:nvSpPr>
          <p:cNvPr id="4" name="Symbol zastępczy stopki 3"/>
          <p:cNvSpPr>
            <a:spLocks noGrp="1"/>
          </p:cNvSpPr>
          <p:nvPr>
            <p:ph type="ftr" sz="quarter" idx="11"/>
          </p:nvPr>
        </p:nvSpPr>
        <p:spPr/>
        <p:txBody>
          <a:bodyPr/>
          <a:lstStyle/>
          <a:p>
            <a:endParaRPr lang="pl-PL"/>
          </a:p>
        </p:txBody>
      </p:sp>
      <p:sp>
        <p:nvSpPr>
          <p:cNvPr id="5" name="Symbol zastępczy numeru slajdu 4"/>
          <p:cNvSpPr>
            <a:spLocks noGrp="1"/>
          </p:cNvSpPr>
          <p:nvPr>
            <p:ph type="sldNum" sz="quarter" idx="12"/>
          </p:nvPr>
        </p:nvSpPr>
        <p:spPr>
          <a:xfrm>
            <a:off x="4343400" y="1036020"/>
            <a:ext cx="457200" cy="441325"/>
          </a:xfrm>
        </p:spPr>
        <p:txBody>
          <a:bodyPr/>
          <a:lstStyle/>
          <a:p>
            <a:fld id="{10C69D8A-33A9-4547-AEB7-8A0728A4A6E0}" type="slidenum">
              <a:rPr lang="pl-PL" smtClean="0"/>
              <a:pPr/>
              <a:t>‹#›</a:t>
            </a:fld>
            <a:endParaRPr lang="pl-P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Pusty">
    <p:spTree>
      <p:nvGrpSpPr>
        <p:cNvPr id="1" name=""/>
        <p:cNvGrpSpPr/>
        <p:nvPr/>
      </p:nvGrpSpPr>
      <p:grpSpPr>
        <a:xfrm>
          <a:off x="0" y="0"/>
          <a:ext cx="0" cy="0"/>
          <a:chOff x="0" y="0"/>
          <a:chExt cx="0" cy="0"/>
        </a:xfrm>
      </p:grpSpPr>
      <p:sp>
        <p:nvSpPr>
          <p:cNvPr id="7" name="Prostokąt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Prostokąt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Prostokąt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Prostokąt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Prostokąt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Prostokąt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Symbol zastępczy daty 1"/>
          <p:cNvSpPr>
            <a:spLocks noGrp="1"/>
          </p:cNvSpPr>
          <p:nvPr>
            <p:ph type="dt" sz="half" idx="10"/>
          </p:nvPr>
        </p:nvSpPr>
        <p:spPr/>
        <p:txBody>
          <a:bodyPr/>
          <a:lstStyle/>
          <a:p>
            <a:fld id="{A13DBE70-7B9B-4476-91EF-CF5FCAA78BA2}" type="datetimeFigureOut">
              <a:rPr lang="pl-PL" smtClean="0"/>
              <a:pPr/>
              <a:t>2025-10-07</a:t>
            </a:fld>
            <a:endParaRPr lang="pl-PL"/>
          </a:p>
        </p:txBody>
      </p:sp>
      <p:sp>
        <p:nvSpPr>
          <p:cNvPr id="3" name="Symbol zastępczy stopki 2"/>
          <p:cNvSpPr>
            <a:spLocks noGrp="1"/>
          </p:cNvSpPr>
          <p:nvPr>
            <p:ph type="ftr" sz="quarter" idx="11"/>
          </p:nvPr>
        </p:nvSpPr>
        <p:spPr/>
        <p:txBody>
          <a:bodyPr/>
          <a:lstStyle/>
          <a:p>
            <a:endParaRPr lang="pl-PL"/>
          </a:p>
        </p:txBody>
      </p:sp>
      <p:sp>
        <p:nvSpPr>
          <p:cNvPr id="4" name="Symbol zastępczy numeru slajdu 3"/>
          <p:cNvSpPr>
            <a:spLocks noGrp="1"/>
          </p:cNvSpPr>
          <p:nvPr>
            <p:ph type="sldNum" sz="quarter" idx="12"/>
          </p:nvPr>
        </p:nvSpPr>
        <p:spPr>
          <a:xfrm>
            <a:off x="4267200" y="6324600"/>
            <a:ext cx="609600" cy="441324"/>
          </a:xfrm>
        </p:spPr>
        <p:txBody>
          <a:bodyPr/>
          <a:lstStyle>
            <a:lvl1pPr>
              <a:defRPr>
                <a:solidFill>
                  <a:srgbClr val="FFFFFF"/>
                </a:solidFill>
              </a:defRPr>
            </a:lvl1pPr>
          </a:lstStyle>
          <a:p>
            <a:fld id="{10C69D8A-33A9-4547-AEB7-8A0728A4A6E0}" type="slidenum">
              <a:rPr lang="pl-PL" smtClean="0"/>
              <a:pPr/>
              <a:t>‹#›</a:t>
            </a:fld>
            <a:endParaRPr lang="pl-P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Zawartość z podpisem">
    <p:spTree>
      <p:nvGrpSpPr>
        <p:cNvPr id="1" name=""/>
        <p:cNvGrpSpPr/>
        <p:nvPr/>
      </p:nvGrpSpPr>
      <p:grpSpPr>
        <a:xfrm>
          <a:off x="0" y="0"/>
          <a:ext cx="0" cy="0"/>
          <a:chOff x="0" y="0"/>
          <a:chExt cx="0" cy="0"/>
        </a:xfrm>
      </p:grpSpPr>
      <p:sp>
        <p:nvSpPr>
          <p:cNvPr id="19" name="Prostokąt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Prostokąt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Prostokąt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Prostokąt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Prostokąt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Prostokąt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ytuł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pl-PL"/>
              <a:t>Kliknij, aby edytować styl</a:t>
            </a:r>
            <a:endParaRPr kumimoji="0" lang="en-US"/>
          </a:p>
        </p:txBody>
      </p:sp>
      <p:sp>
        <p:nvSpPr>
          <p:cNvPr id="3" name="Symbol zastępczy tekstu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pl-PL"/>
              <a:t>Kliknij, aby edytować style wzorca tekstu</a:t>
            </a:r>
          </a:p>
        </p:txBody>
      </p:sp>
      <p:sp>
        <p:nvSpPr>
          <p:cNvPr id="8" name="Prostokąt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Łącznik prosty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Symbol zastępczy zawartości 19"/>
          <p:cNvSpPr>
            <a:spLocks noGrp="1"/>
          </p:cNvSpPr>
          <p:nvPr>
            <p:ph sz="quarter" idx="1"/>
          </p:nvPr>
        </p:nvSpPr>
        <p:spPr>
          <a:xfrm>
            <a:off x="3124200" y="685800"/>
            <a:ext cx="5638800" cy="5410200"/>
          </a:xfrm>
        </p:spPr>
        <p:txBody>
          <a:bodyPr/>
          <a:lstStyle/>
          <a:p>
            <a:pPr lvl="0" eaLnBrk="1" latinLnBrk="0" hangingPunct="1"/>
            <a:r>
              <a:rPr lang="pl-PL"/>
              <a:t>Kliknij, aby edytować style wzorca tekstu</a:t>
            </a:r>
          </a:p>
          <a:p>
            <a:pPr lvl="1" eaLnBrk="1" latinLnBrk="0" hangingPunct="1"/>
            <a:r>
              <a:rPr lang="pl-PL"/>
              <a:t>Drugi poziom</a:t>
            </a:r>
          </a:p>
          <a:p>
            <a:pPr lvl="2" eaLnBrk="1" latinLnBrk="0" hangingPunct="1"/>
            <a:r>
              <a:rPr lang="pl-PL"/>
              <a:t>Trzeci poziom</a:t>
            </a:r>
          </a:p>
          <a:p>
            <a:pPr lvl="3" eaLnBrk="1" latinLnBrk="0" hangingPunct="1"/>
            <a:r>
              <a:rPr lang="pl-PL"/>
              <a:t>Czwarty poziom</a:t>
            </a:r>
          </a:p>
          <a:p>
            <a:pPr lvl="4" eaLnBrk="1" latinLnBrk="0" hangingPunct="1"/>
            <a:r>
              <a:rPr lang="pl-PL"/>
              <a:t>Piąty poziom</a:t>
            </a:r>
            <a:endParaRPr kumimoji="0" lang="en-US"/>
          </a:p>
        </p:txBody>
      </p:sp>
      <p:sp>
        <p:nvSpPr>
          <p:cNvPr id="10" name="Elipsa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ipsa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ymbol zastępczy numeru slajdu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10C69D8A-33A9-4547-AEB7-8A0728A4A6E0}" type="slidenum">
              <a:rPr lang="pl-PL" smtClean="0"/>
              <a:pPr/>
              <a:t>‹#›</a:t>
            </a:fld>
            <a:endParaRPr lang="pl-PL"/>
          </a:p>
        </p:txBody>
      </p:sp>
      <p:sp>
        <p:nvSpPr>
          <p:cNvPr id="21" name="Prostokąt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Symbol zastępczy daty 4"/>
          <p:cNvSpPr>
            <a:spLocks noGrp="1"/>
          </p:cNvSpPr>
          <p:nvPr>
            <p:ph type="dt" sz="half" idx="10"/>
          </p:nvPr>
        </p:nvSpPr>
        <p:spPr/>
        <p:txBody>
          <a:bodyPr/>
          <a:lstStyle/>
          <a:p>
            <a:fld id="{A13DBE70-7B9B-4476-91EF-CF5FCAA78BA2}" type="datetimeFigureOut">
              <a:rPr lang="pl-PL" smtClean="0"/>
              <a:pPr/>
              <a:t>2025-10-07</a:t>
            </a:fld>
            <a:endParaRPr lang="pl-PL"/>
          </a:p>
        </p:txBody>
      </p:sp>
      <p:sp>
        <p:nvSpPr>
          <p:cNvPr id="6" name="Symbol zastępczy stopki 5"/>
          <p:cNvSpPr>
            <a:spLocks noGrp="1"/>
          </p:cNvSpPr>
          <p:nvPr>
            <p:ph type="ftr" sz="quarter" idx="11"/>
          </p:nvPr>
        </p:nvSpPr>
        <p:spPr>
          <a:xfrm>
            <a:off x="301752" y="6410848"/>
            <a:ext cx="3383280" cy="365760"/>
          </a:xfrm>
        </p:spPr>
        <p:txBody>
          <a:bodyPr/>
          <a:lstStyle/>
          <a:p>
            <a:endParaRPr lang="pl-PL"/>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Obraz z podpisem">
    <p:spTree>
      <p:nvGrpSpPr>
        <p:cNvPr id="1" name=""/>
        <p:cNvGrpSpPr/>
        <p:nvPr/>
      </p:nvGrpSpPr>
      <p:grpSpPr>
        <a:xfrm>
          <a:off x="0" y="0"/>
          <a:ext cx="0" cy="0"/>
          <a:chOff x="0" y="0"/>
          <a:chExt cx="0" cy="0"/>
        </a:xfrm>
      </p:grpSpPr>
      <p:sp>
        <p:nvSpPr>
          <p:cNvPr id="21" name="Łącznik prosty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Prostokąt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Prostokąt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Prostokąt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Prostokąt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Prostokąt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Prostokąt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Prostokąt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ipsa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ipsa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ymbol zastępczy numeru slajdu 6"/>
          <p:cNvSpPr>
            <a:spLocks noGrp="1"/>
          </p:cNvSpPr>
          <p:nvPr>
            <p:ph type="sldNum" sz="quarter" idx="12"/>
          </p:nvPr>
        </p:nvSpPr>
        <p:spPr>
          <a:xfrm>
            <a:off x="1371600" y="312738"/>
            <a:ext cx="457200" cy="441325"/>
          </a:xfrm>
        </p:spPr>
        <p:txBody>
          <a:bodyPr/>
          <a:lstStyle/>
          <a:p>
            <a:fld id="{10C69D8A-33A9-4547-AEB7-8A0728A4A6E0}" type="slidenum">
              <a:rPr lang="pl-PL" smtClean="0"/>
              <a:pPr/>
              <a:t>‹#›</a:t>
            </a:fld>
            <a:endParaRPr lang="pl-PL"/>
          </a:p>
        </p:txBody>
      </p:sp>
      <p:sp>
        <p:nvSpPr>
          <p:cNvPr id="2" name="Tytuł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pl-PL"/>
              <a:t>Kliknij, aby edytować styl</a:t>
            </a:r>
            <a:endParaRPr kumimoji="0" lang="en-US"/>
          </a:p>
        </p:txBody>
      </p:sp>
      <p:sp>
        <p:nvSpPr>
          <p:cNvPr id="3" name="Symbol zastępczy obrazu 2"/>
          <p:cNvSpPr>
            <a:spLocks noGrp="1"/>
          </p:cNvSpPr>
          <p:nvPr>
            <p:ph type="pic" idx="1"/>
          </p:nvPr>
        </p:nvSpPr>
        <p:spPr>
          <a:xfrm>
            <a:off x="3000375" y="609600"/>
            <a:ext cx="5867400" cy="4267200"/>
          </a:xfrm>
        </p:spPr>
        <p:txBody>
          <a:bodyPr/>
          <a:lstStyle>
            <a:lvl1pPr marL="0" indent="0">
              <a:buNone/>
              <a:defRPr sz="3200"/>
            </a:lvl1pPr>
          </a:lstStyle>
          <a:p>
            <a:r>
              <a:rPr kumimoji="0" lang="pl-PL"/>
              <a:t>Kliknij ikonę, aby dodać obraz</a:t>
            </a:r>
            <a:endParaRPr kumimoji="0" lang="en-US" dirty="0"/>
          </a:p>
        </p:txBody>
      </p:sp>
      <p:sp>
        <p:nvSpPr>
          <p:cNvPr id="4" name="Symbol zastępczy tekstu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pl-PL"/>
              <a:t>Kliknij, aby edytować style wzorca tekstu</a:t>
            </a:r>
          </a:p>
        </p:txBody>
      </p:sp>
      <p:sp>
        <p:nvSpPr>
          <p:cNvPr id="22" name="Prostokąt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Symbol zastępczy daty 4"/>
          <p:cNvSpPr>
            <a:spLocks noGrp="1"/>
          </p:cNvSpPr>
          <p:nvPr>
            <p:ph type="dt" sz="half" idx="10"/>
          </p:nvPr>
        </p:nvSpPr>
        <p:spPr>
          <a:xfrm>
            <a:off x="5788152" y="6404984"/>
            <a:ext cx="3044952" cy="365760"/>
          </a:xfrm>
        </p:spPr>
        <p:txBody>
          <a:bodyPr/>
          <a:lstStyle/>
          <a:p>
            <a:fld id="{A13DBE70-7B9B-4476-91EF-CF5FCAA78BA2}" type="datetimeFigureOut">
              <a:rPr lang="pl-PL" smtClean="0"/>
              <a:pPr/>
              <a:t>2025-10-07</a:t>
            </a:fld>
            <a:endParaRPr lang="pl-PL"/>
          </a:p>
        </p:txBody>
      </p:sp>
      <p:sp>
        <p:nvSpPr>
          <p:cNvPr id="6" name="Symbol zastępczy stopki 5"/>
          <p:cNvSpPr>
            <a:spLocks noGrp="1"/>
          </p:cNvSpPr>
          <p:nvPr>
            <p:ph type="ftr" sz="quarter" idx="11"/>
          </p:nvPr>
        </p:nvSpPr>
        <p:spPr>
          <a:xfrm>
            <a:off x="301752" y="6410848"/>
            <a:ext cx="3584448" cy="365760"/>
          </a:xfrm>
        </p:spPr>
        <p:txBody>
          <a:bodyPr/>
          <a:lstStyle/>
          <a:p>
            <a:endParaRPr lang="pl-P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kumimoji="0" lang="pl-PL"/>
              <a:t>Kliknij, aby edytować styl</a:t>
            </a:r>
            <a:endParaRPr kumimoji="0" lang="en-US"/>
          </a:p>
        </p:txBody>
      </p:sp>
      <p:sp>
        <p:nvSpPr>
          <p:cNvPr id="3" name="Symbol zastępczy tytułu pionowego 2"/>
          <p:cNvSpPr>
            <a:spLocks noGrp="1"/>
          </p:cNvSpPr>
          <p:nvPr>
            <p:ph type="body" orient="vert" idx="1"/>
          </p:nvPr>
        </p:nvSpPr>
        <p:spPr/>
        <p:txBody>
          <a:bodyPr vert="eaVert"/>
          <a:lstStyle/>
          <a:p>
            <a:pPr lvl="0" eaLnBrk="1" latinLnBrk="0" hangingPunct="1"/>
            <a:r>
              <a:rPr lang="pl-PL"/>
              <a:t>Kliknij, aby edytować style wzorca tekstu</a:t>
            </a:r>
          </a:p>
          <a:p>
            <a:pPr lvl="1" eaLnBrk="1" latinLnBrk="0" hangingPunct="1"/>
            <a:r>
              <a:rPr lang="pl-PL"/>
              <a:t>Drugi poziom</a:t>
            </a:r>
          </a:p>
          <a:p>
            <a:pPr lvl="2" eaLnBrk="1" latinLnBrk="0" hangingPunct="1"/>
            <a:r>
              <a:rPr lang="pl-PL"/>
              <a:t>Trzeci poziom</a:t>
            </a:r>
          </a:p>
          <a:p>
            <a:pPr lvl="3" eaLnBrk="1" latinLnBrk="0" hangingPunct="1"/>
            <a:r>
              <a:rPr lang="pl-PL"/>
              <a:t>Czwarty poziom</a:t>
            </a:r>
          </a:p>
          <a:p>
            <a:pPr lvl="4" eaLnBrk="1" latinLnBrk="0" hangingPunct="1"/>
            <a:r>
              <a:rPr lang="pl-PL"/>
              <a:t>Piąty poziom</a:t>
            </a:r>
            <a:endParaRPr kumimoji="0" lang="en-US"/>
          </a:p>
        </p:txBody>
      </p:sp>
      <p:sp>
        <p:nvSpPr>
          <p:cNvPr id="4" name="Symbol zastępczy daty 3"/>
          <p:cNvSpPr>
            <a:spLocks noGrp="1"/>
          </p:cNvSpPr>
          <p:nvPr>
            <p:ph type="dt" sz="half" idx="10"/>
          </p:nvPr>
        </p:nvSpPr>
        <p:spPr/>
        <p:txBody>
          <a:bodyPr/>
          <a:lstStyle/>
          <a:p>
            <a:fld id="{A13DBE70-7B9B-4476-91EF-CF5FCAA78BA2}" type="datetimeFigureOut">
              <a:rPr lang="pl-PL" smtClean="0"/>
              <a:pPr/>
              <a:t>2025-10-07</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10C69D8A-33A9-4547-AEB7-8A0728A4A6E0}" type="slidenum">
              <a:rPr lang="pl-PL" smtClean="0"/>
              <a:pPr/>
              <a:t>‹#›</a:t>
            </a:fld>
            <a:endParaRPr lang="pl-PL"/>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ytuł pionowy i tekst">
    <p:spTree>
      <p:nvGrpSpPr>
        <p:cNvPr id="1" name=""/>
        <p:cNvGrpSpPr/>
        <p:nvPr/>
      </p:nvGrpSpPr>
      <p:grpSpPr>
        <a:xfrm>
          <a:off x="0" y="0"/>
          <a:ext cx="0" cy="0"/>
          <a:chOff x="0" y="0"/>
          <a:chExt cx="0" cy="0"/>
        </a:xfrm>
      </p:grpSpPr>
      <p:sp>
        <p:nvSpPr>
          <p:cNvPr id="7" name="Prostokąt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Prostokąt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Prostokąt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Prostokąt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Prostokąt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Prostokąt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Łącznik prosty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ipsa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ipsa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ymbol zastępczy numeru slajdu 5"/>
          <p:cNvSpPr>
            <a:spLocks noGrp="1"/>
          </p:cNvSpPr>
          <p:nvPr>
            <p:ph type="sldNum" sz="quarter" idx="12"/>
          </p:nvPr>
        </p:nvSpPr>
        <p:spPr>
          <a:xfrm>
            <a:off x="6915912" y="3009901"/>
            <a:ext cx="457200" cy="441325"/>
          </a:xfrm>
        </p:spPr>
        <p:txBody>
          <a:bodyPr/>
          <a:lstStyle/>
          <a:p>
            <a:fld id="{10C69D8A-33A9-4547-AEB7-8A0728A4A6E0}" type="slidenum">
              <a:rPr lang="pl-PL" smtClean="0"/>
              <a:pPr/>
              <a:t>‹#›</a:t>
            </a:fld>
            <a:endParaRPr lang="pl-PL"/>
          </a:p>
        </p:txBody>
      </p:sp>
      <p:sp>
        <p:nvSpPr>
          <p:cNvPr id="3" name="Symbol zastępczy tytułu pionowego 2"/>
          <p:cNvSpPr>
            <a:spLocks noGrp="1"/>
          </p:cNvSpPr>
          <p:nvPr>
            <p:ph type="body" orient="vert" idx="1"/>
          </p:nvPr>
        </p:nvSpPr>
        <p:spPr>
          <a:xfrm>
            <a:off x="304800" y="304800"/>
            <a:ext cx="6553200" cy="5821366"/>
          </a:xfrm>
        </p:spPr>
        <p:txBody>
          <a:bodyPr vert="eaVert"/>
          <a:lstStyle/>
          <a:p>
            <a:pPr lvl="0" eaLnBrk="1" latinLnBrk="0" hangingPunct="1"/>
            <a:r>
              <a:rPr lang="pl-PL"/>
              <a:t>Kliknij, aby edytować style wzorca tekstu</a:t>
            </a:r>
          </a:p>
          <a:p>
            <a:pPr lvl="1" eaLnBrk="1" latinLnBrk="0" hangingPunct="1"/>
            <a:r>
              <a:rPr lang="pl-PL"/>
              <a:t>Drugi poziom</a:t>
            </a:r>
          </a:p>
          <a:p>
            <a:pPr lvl="2" eaLnBrk="1" latinLnBrk="0" hangingPunct="1"/>
            <a:r>
              <a:rPr lang="pl-PL"/>
              <a:t>Trzeci poziom</a:t>
            </a:r>
          </a:p>
          <a:p>
            <a:pPr lvl="3" eaLnBrk="1" latinLnBrk="0" hangingPunct="1"/>
            <a:r>
              <a:rPr lang="pl-PL"/>
              <a:t>Czwarty poziom</a:t>
            </a:r>
          </a:p>
          <a:p>
            <a:pPr lvl="4" eaLnBrk="1" latinLnBrk="0" hangingPunct="1"/>
            <a:r>
              <a:rPr lang="pl-PL"/>
              <a:t>Piąty poziom</a:t>
            </a:r>
            <a:endParaRPr kumimoji="0" lang="en-US"/>
          </a:p>
        </p:txBody>
      </p:sp>
      <p:sp>
        <p:nvSpPr>
          <p:cNvPr id="4" name="Symbol zastępczy daty 3"/>
          <p:cNvSpPr>
            <a:spLocks noGrp="1"/>
          </p:cNvSpPr>
          <p:nvPr>
            <p:ph type="dt" sz="half" idx="10"/>
          </p:nvPr>
        </p:nvSpPr>
        <p:spPr/>
        <p:txBody>
          <a:bodyPr/>
          <a:lstStyle/>
          <a:p>
            <a:fld id="{A13DBE70-7B9B-4476-91EF-CF5FCAA78BA2}" type="datetimeFigureOut">
              <a:rPr lang="pl-PL" smtClean="0"/>
              <a:pPr/>
              <a:t>2025-10-07</a:t>
            </a:fld>
            <a:endParaRPr lang="pl-PL"/>
          </a:p>
        </p:txBody>
      </p:sp>
      <p:sp>
        <p:nvSpPr>
          <p:cNvPr id="5" name="Symbol zastępczy stopki 4"/>
          <p:cNvSpPr>
            <a:spLocks noGrp="1"/>
          </p:cNvSpPr>
          <p:nvPr>
            <p:ph type="ftr" sz="quarter" idx="11"/>
          </p:nvPr>
        </p:nvSpPr>
        <p:spPr/>
        <p:txBody>
          <a:bodyPr/>
          <a:lstStyle/>
          <a:p>
            <a:endParaRPr lang="pl-PL"/>
          </a:p>
        </p:txBody>
      </p:sp>
      <p:sp>
        <p:nvSpPr>
          <p:cNvPr id="2" name="Tytuł pionowy 1"/>
          <p:cNvSpPr>
            <a:spLocks noGrp="1"/>
          </p:cNvSpPr>
          <p:nvPr>
            <p:ph type="title" orient="vert"/>
          </p:nvPr>
        </p:nvSpPr>
        <p:spPr>
          <a:xfrm>
            <a:off x="7391400" y="304801"/>
            <a:ext cx="1447800" cy="5851525"/>
          </a:xfrm>
        </p:spPr>
        <p:txBody>
          <a:bodyPr vert="eaVert"/>
          <a:lstStyle/>
          <a:p>
            <a:r>
              <a:rPr kumimoji="0" lang="pl-PL"/>
              <a:t>Kliknij, aby edytować styl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17" name="Prostokąt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Prostokąt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Prostokąt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Prostokąt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Prostokąt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Symbol zastępczy daty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A13DBE70-7B9B-4476-91EF-CF5FCAA78BA2}" type="datetimeFigureOut">
              <a:rPr lang="pl-PL" smtClean="0"/>
              <a:pPr/>
              <a:t>2025-10-07</a:t>
            </a:fld>
            <a:endParaRPr lang="pl-PL"/>
          </a:p>
        </p:txBody>
      </p:sp>
      <p:sp>
        <p:nvSpPr>
          <p:cNvPr id="3" name="Symbol zastępczy stopki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pl-PL"/>
          </a:p>
        </p:txBody>
      </p:sp>
      <p:sp>
        <p:nvSpPr>
          <p:cNvPr id="8" name="Prostokąt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Łącznik prosty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ipsa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ipsa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ymbol zastępczy numeru slajdu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10C69D8A-33A9-4547-AEB7-8A0728A4A6E0}" type="slidenum">
              <a:rPr lang="pl-PL" smtClean="0"/>
              <a:pPr/>
              <a:t>‹#›</a:t>
            </a:fld>
            <a:endParaRPr lang="pl-PL"/>
          </a:p>
        </p:txBody>
      </p:sp>
      <p:sp>
        <p:nvSpPr>
          <p:cNvPr id="22" name="Symbol zastępczy tytułu 21"/>
          <p:cNvSpPr>
            <a:spLocks noGrp="1"/>
          </p:cNvSpPr>
          <p:nvPr>
            <p:ph type="title"/>
          </p:nvPr>
        </p:nvSpPr>
        <p:spPr>
          <a:xfrm>
            <a:off x="301752" y="228600"/>
            <a:ext cx="8534400" cy="758952"/>
          </a:xfrm>
          <a:prstGeom prst="rect">
            <a:avLst/>
          </a:prstGeom>
        </p:spPr>
        <p:txBody>
          <a:bodyPr vert="horz" anchor="b">
            <a:normAutofit/>
          </a:bodyPr>
          <a:lstStyle/>
          <a:p>
            <a:r>
              <a:rPr kumimoji="0" lang="pl-PL"/>
              <a:t>Kliknij, aby edytować styl</a:t>
            </a:r>
            <a:endParaRPr kumimoji="0" lang="en-US"/>
          </a:p>
        </p:txBody>
      </p:sp>
      <p:sp>
        <p:nvSpPr>
          <p:cNvPr id="13" name="Symbol zastępczy tekstu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pl-PL"/>
              <a:t>Kliknij, aby edytować style wzorca tekstu</a:t>
            </a:r>
          </a:p>
          <a:p>
            <a:pPr lvl="1" eaLnBrk="1" latinLnBrk="0" hangingPunct="1"/>
            <a:r>
              <a:rPr kumimoji="0" lang="pl-PL"/>
              <a:t>Drugi poziom</a:t>
            </a:r>
          </a:p>
          <a:p>
            <a:pPr lvl="2" eaLnBrk="1" latinLnBrk="0" hangingPunct="1"/>
            <a:r>
              <a:rPr kumimoji="0" lang="pl-PL"/>
              <a:t>Trzeci poziom</a:t>
            </a:r>
          </a:p>
          <a:p>
            <a:pPr lvl="3" eaLnBrk="1" latinLnBrk="0" hangingPunct="1"/>
            <a:r>
              <a:rPr kumimoji="0" lang="pl-PL"/>
              <a:t>Czwarty poziom</a:t>
            </a:r>
          </a:p>
          <a:p>
            <a:pPr lvl="4" eaLnBrk="1" latinLnBrk="0" hangingPunct="1"/>
            <a:r>
              <a:rPr kumimoji="0" lang="pl-PL"/>
              <a:t>Piąty poziom</a:t>
            </a:r>
            <a:endParaRPr kumimoji="0" lang="en-US"/>
          </a:p>
        </p:txBody>
      </p:sp>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sip.lex.pl/#/document/520256086?cm=DOCUMENT" TargetMode="External"/><Relationship Id="rId2" Type="http://schemas.openxmlformats.org/officeDocument/2006/relationships/hyperlink" Target="https://sip.lex.pl/#/document/520178156?cm=DOCUMENT"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sip.lex.pl/#/document/16798683?unitId=art(270)par(1)&amp;cm=DOCUMENT" TargetMode="External"/><Relationship Id="rId2" Type="http://schemas.openxmlformats.org/officeDocument/2006/relationships/hyperlink" Target="https://sip.lex.pl/#/document/16798683?unitId=art(286)par(1)&amp;cm=DOCUMENT"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sip.lex.pl/#/document/16777920?unitId=art(19)&amp;cm=DOCUMENT"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sip.lex.pl/#/document/16798683?unitId=art(1)&amp;cm=DOCUMENT"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sip.lex.pl/#/document/16798683?unitId=art(115)par(1)&amp;cm=DOCUMENT" TargetMode="External"/><Relationship Id="rId2" Type="http://schemas.openxmlformats.org/officeDocument/2006/relationships/hyperlink" Target="https://sip.lex.pl/#/document/16798685?unitId=art(17)par(1)pkt(2)&amp;cm=DOCUMENT"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hyperlink" Target="https://sip.lex.pl/#/document/16798683?unitId=art(1)par(1)&amp;cm=DOCUMENT"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sip.lex.pl/#/document/16798683?unitId=art(209)par(1)&amp;cm=DOCUMENT" TargetMode="Externa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hyperlink" Target="https://sip.lex.pl/#/document/16798683?unitId=art(297)par(3)&amp;cm=DOCUMENT" TargetMode="Externa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hyperlink" Target="https://sip.lex.pl/#/document/16798613?unitId=art(47)&amp;cm=DOCUMENT" TargetMode="External"/><Relationship Id="rId2" Type="http://schemas.openxmlformats.org/officeDocument/2006/relationships/hyperlink" Target="https://sip.lex.pl/#/document/16798683?unitId=art(101)par(2)&amp;cm=DOCUMENT" TargetMode="External"/><Relationship Id="rId1" Type="http://schemas.openxmlformats.org/officeDocument/2006/relationships/slideLayout" Target="../slideLayouts/slideLayout2.xml"/><Relationship Id="rId6" Type="http://schemas.openxmlformats.org/officeDocument/2006/relationships/hyperlink" Target="https://sip.lex.pl/#/document/522365759?cm=DOCUMENT" TargetMode="External"/><Relationship Id="rId5" Type="http://schemas.openxmlformats.org/officeDocument/2006/relationships/hyperlink" Target="https://sip.lex.pl/#/document/16798613?unitId=art(77)ust(2)&amp;cm=DOCUMENT" TargetMode="External"/><Relationship Id="rId4" Type="http://schemas.openxmlformats.org/officeDocument/2006/relationships/hyperlink" Target="https://sip.lex.pl/#/document/16798613?unitId=art(45)ust(1)&amp;cm=DOCUMENT" TargetMode="Externa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hyperlink" Target="https://sip.lex.pl/#/document/522643177?cm=DOCUMENT" TargetMode="External"/><Relationship Id="rId7" Type="http://schemas.openxmlformats.org/officeDocument/2006/relationships/hyperlink" Target="https://sip.lex.pl/#/document/523134023?cm=DOCUMENT" TargetMode="External"/><Relationship Id="rId2" Type="http://schemas.openxmlformats.org/officeDocument/2006/relationships/hyperlink" Target="https://sip.lex.pl/#/document/522435875?cm=DOCUMENT" TargetMode="External"/><Relationship Id="rId1" Type="http://schemas.openxmlformats.org/officeDocument/2006/relationships/slideLayout" Target="../slideLayouts/slideLayout2.xml"/><Relationship Id="rId6" Type="http://schemas.openxmlformats.org/officeDocument/2006/relationships/hyperlink" Target="https://sip.lex.pl/#/document/16798683?unitId=art(11)par(3)&amp;cm=DOCUMENT" TargetMode="External"/><Relationship Id="rId5" Type="http://schemas.openxmlformats.org/officeDocument/2006/relationships/hyperlink" Target="https://sip.lex.pl/#/document/16798683?unitId=art(101)&amp;cm=DOCUMENT" TargetMode="External"/><Relationship Id="rId4" Type="http://schemas.openxmlformats.org/officeDocument/2006/relationships/hyperlink" Target="https://sip.lex.pl/#/document/16798683?unitId=art(11)par(2)&amp;cm=DOCUMENT" TargetMode="Externa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hyperlink" Target="https://sip.lex.pl/#/document/522294078?cm=DOCUMENT" TargetMode="External"/><Relationship Id="rId2" Type="http://schemas.openxmlformats.org/officeDocument/2006/relationships/hyperlink" Target="https://sip.lex.pl/#/document/16798683?unitId=art(104)par(1)&amp;cm=DOCUMENT" TargetMode="Externa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hyperlink" Target="https://sip.lex.pl/#/document/16798683?unitId=art(102)&amp;cm=DOCUMENT" TargetMode="External"/><Relationship Id="rId7" Type="http://schemas.openxmlformats.org/officeDocument/2006/relationships/hyperlink" Target="https://sip.lex.pl/#/document/523418260?cm=DOCUMENT" TargetMode="External"/><Relationship Id="rId2" Type="http://schemas.openxmlformats.org/officeDocument/2006/relationships/hyperlink" Target="https://sip.lex.pl/#/document/16798683?unitId=art(101)par(2)&amp;cm=DOCUMENT" TargetMode="External"/><Relationship Id="rId1" Type="http://schemas.openxmlformats.org/officeDocument/2006/relationships/slideLayout" Target="../slideLayouts/slideLayout2.xml"/><Relationship Id="rId6" Type="http://schemas.openxmlformats.org/officeDocument/2006/relationships/hyperlink" Target="https://sip.lex.pl/#/document/522697237?cm=DOCUMENT" TargetMode="External"/><Relationship Id="rId5" Type="http://schemas.openxmlformats.org/officeDocument/2006/relationships/hyperlink" Target="https://sip.lex.pl/#/document/522584598?cm=DOCUMENT" TargetMode="External"/><Relationship Id="rId4" Type="http://schemas.openxmlformats.org/officeDocument/2006/relationships/hyperlink" Target="https://sip.lex.pl/#/document/16798685?unitId=art(60)par(1)&amp;cm=DOCUMENT" TargetMode="Externa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hyperlink" Target="https://sip.lex.pl/#/act/18091469"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hyperlink" Target="https://sip.lex.pl/#/jurisprudence/522791297/1/ii-dsi-28-19-kara-dyscyplinarna-dla-radcy-prawnego-wolnosc-wypowiedzi-radcy-prawnego...?cm=URELATIONS" TargetMode="Externa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hyperlink" Target="https://sip.lex.pl/#/jurisprudence/523667809/1/ii-zk-56-22-granice-rzeczowej-potrzeby-wyrok-sadu-najwyzszego?cm=URELATIONS" TargetMode="Externa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hyperlink" Target="https://sip.lex.pl/#/jurisprudence/523544826/1/v-a-ca-61-22-immunitet-radcowski-wyrok-sadu-apelacyjnego-w-warszawie?cm=URELATIONS" TargetMode="Externa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3" Type="http://schemas.openxmlformats.org/officeDocument/2006/relationships/hyperlink" Target="https://sip.lex.pl/#/document/16788218?unitId=cz(s)roz(XI)&amp;cm=DOCUMENT" TargetMode="External"/><Relationship Id="rId2" Type="http://schemas.openxmlformats.org/officeDocument/2006/relationships/hyperlink" Target="https://sip.lex.pl/#/document/16909701?unitId=art(51)par(1)&amp;cm=DOCUMENT" TargetMode="External"/><Relationship Id="rId1" Type="http://schemas.openxmlformats.org/officeDocument/2006/relationships/slideLayout" Target="../slideLayouts/slideLayout2.xml"/><Relationship Id="rId4" Type="http://schemas.openxmlformats.org/officeDocument/2006/relationships/hyperlink" Target="https://sip.lex.pl/#/document/16911555?unitId=art(98)par(1)pkt(3)&amp;cm=DOCUMENT" TargetMode="Externa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hyperlink" Target="http://lex.online.wolterskluwer.pl/WKPLOnline/index.rpc?" TargetMode="External"/><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hyperlink" Target="https://sip.lex.pl/#/document/16798683?unitId=art(190)par(1)&amp;cm=DOCUMENT" TargetMode="External"/><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2" Type="http://schemas.openxmlformats.org/officeDocument/2006/relationships/hyperlink" Target="https://sip.lex.pl/#/document/16798685?unitId=art(119)" TargetMode="External"/><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hyperlink" Target="https://sip.lex.pl/#/document/16798685?unitId=art(170)" TargetMode="External"/><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2" Type="http://schemas.openxmlformats.org/officeDocument/2006/relationships/hyperlink" Target="https://sip.lex.pl/#/document/520113465" TargetMode="External"/><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2" Type="http://schemas.openxmlformats.org/officeDocument/2006/relationships/hyperlink" Target="https://sip.lex.pl/#/document/16798683?unitId=art(1)par(1)" TargetMode="External"/><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2" Type="http://schemas.openxmlformats.org/officeDocument/2006/relationships/hyperlink" Target="https://sip.lex.pl/#/document/16798685?unitId=art(170)par(1)pkt(1)" TargetMode="External"/><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3" Type="http://schemas.openxmlformats.org/officeDocument/2006/relationships/hyperlink" Target="https://sip.lex.pl/#/document/16798683?unitId=art(65)" TargetMode="External"/><Relationship Id="rId2" Type="http://schemas.openxmlformats.org/officeDocument/2006/relationships/hyperlink" Target="https://sip.lex.pl/#/document/16798683?unitId=art(64)" TargetMode="External"/><Relationship Id="rId1" Type="http://schemas.openxmlformats.org/officeDocument/2006/relationships/slideLayout" Target="../slideLayouts/slideLayout2.xml"/><Relationship Id="rId4" Type="http://schemas.openxmlformats.org/officeDocument/2006/relationships/hyperlink" Target="https://sip.lex.pl/#/document/16798683?unitId=art(93(g))" TargetMode="Externa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3" Type="http://schemas.openxmlformats.org/officeDocument/2006/relationships/hyperlink" Target="https://sip.lex.pl/#/document/16798685?unitId=art(170)par(2)" TargetMode="External"/><Relationship Id="rId2" Type="http://schemas.openxmlformats.org/officeDocument/2006/relationships/hyperlink" Target="https://sip.lex.pl/#/document/520111073" TargetMode="External"/><Relationship Id="rId1" Type="http://schemas.openxmlformats.org/officeDocument/2006/relationships/slideLayout" Target="../slideLayouts/slideLayout2.xml"/><Relationship Id="rId4" Type="http://schemas.openxmlformats.org/officeDocument/2006/relationships/hyperlink" Target="https://sip.lex.pl/#/document/520112820" TargetMode="Externa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3" Type="http://schemas.openxmlformats.org/officeDocument/2006/relationships/hyperlink" Target="https://sip.lex.pl/#/document/16798685?unitId=art(405)" TargetMode="External"/><Relationship Id="rId2" Type="http://schemas.openxmlformats.org/officeDocument/2006/relationships/hyperlink" Target="https://sip.lex.pl/#/document/16798685?unitId=art(396)par(2)" TargetMode="External"/><Relationship Id="rId1" Type="http://schemas.openxmlformats.org/officeDocument/2006/relationships/slideLayout" Target="../slideLayouts/slideLayout2.xml"/><Relationship Id="rId6" Type="http://schemas.openxmlformats.org/officeDocument/2006/relationships/hyperlink" Target="https://sip.lex.pl/#/document/16798685?unitId=art(168)" TargetMode="External"/><Relationship Id="rId5" Type="http://schemas.openxmlformats.org/officeDocument/2006/relationships/hyperlink" Target="https://sip.lex.pl/#/document/16798685?unitId=art(442)par(2)" TargetMode="External"/><Relationship Id="rId4" Type="http://schemas.openxmlformats.org/officeDocument/2006/relationships/hyperlink" Target="https://sip.lex.pl/#/document/16798685?unitId=art(387)par(5)" TargetMode="Externa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xml.rels><?xml version="1.0" encoding="UTF-8" standalone="yes"?>
<Relationships xmlns="http://schemas.openxmlformats.org/package/2006/relationships"><Relationship Id="rId3" Type="http://schemas.openxmlformats.org/officeDocument/2006/relationships/hyperlink" Target="https://sip.lex.pl/#/document/16798685?unitId=art(182)" TargetMode="External"/><Relationship Id="rId2" Type="http://schemas.openxmlformats.org/officeDocument/2006/relationships/hyperlink" Target="https://sip.lex.pl/#/document/16798685?unitId=art(177)par(1)" TargetMode="External"/><Relationship Id="rId1" Type="http://schemas.openxmlformats.org/officeDocument/2006/relationships/slideLayout" Target="../slideLayouts/slideLayout2.xml"/><Relationship Id="rId4" Type="http://schemas.openxmlformats.org/officeDocument/2006/relationships/hyperlink" Target="https://sip.lex.pl/#/document/16798685?unitId=art(185)" TargetMode="Externa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2" Type="http://schemas.openxmlformats.org/officeDocument/2006/relationships/hyperlink" Target="https://sip.lex.pl/#/document/16798685?unitId=art(350(a))" TargetMode="External"/><Relationship Id="rId1" Type="http://schemas.openxmlformats.org/officeDocument/2006/relationships/slideLayout" Target="../slideLayouts/slideLayout2.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xml.rels><?xml version="1.0" encoding="UTF-8" standalone="yes"?>
<Relationships xmlns="http://schemas.openxmlformats.org/package/2006/relationships"><Relationship Id="rId3" Type="http://schemas.openxmlformats.org/officeDocument/2006/relationships/hyperlink" Target="https://sip.lex.pl/#/document/16798685?unitId=art(333)par(2)" TargetMode="External"/><Relationship Id="rId2" Type="http://schemas.openxmlformats.org/officeDocument/2006/relationships/hyperlink" Target="https://sip.lex.pl/#/document/16798685?unitId=art(350(a))" TargetMode="External"/><Relationship Id="rId1" Type="http://schemas.openxmlformats.org/officeDocument/2006/relationships/slideLayout" Target="../slideLayouts/slideLayout2.xml"/><Relationship Id="rId4" Type="http://schemas.openxmlformats.org/officeDocument/2006/relationships/hyperlink" Target="https://sip.lex.pl/#/document/16798685?unitId=art(442)par(2)" TargetMode="External"/></Relationships>
</file>

<file path=ppt/slides/_rels/slide440.xml.rels><?xml version="1.0" encoding="UTF-8" standalone="yes"?>
<Relationships xmlns="http://schemas.openxmlformats.org/package/2006/relationships"><Relationship Id="rId3" Type="http://schemas.openxmlformats.org/officeDocument/2006/relationships/hyperlink" Target="https://sip.lex.pl/#/document/16798685?unitId=art(405)par(3)" TargetMode="External"/><Relationship Id="rId2" Type="http://schemas.openxmlformats.org/officeDocument/2006/relationships/hyperlink" Target="https://sip.lex.pl/#/document/16798685?unitId=art(405)par(2)" TargetMode="External"/><Relationship Id="rId1" Type="http://schemas.openxmlformats.org/officeDocument/2006/relationships/slideLayout" Target="../slideLayouts/slideLayout2.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3" Type="http://schemas.openxmlformats.org/officeDocument/2006/relationships/hyperlink" Target="https://sip.lex.pl/#/document/16798685?unitId=art(186)par(1)" TargetMode="External"/><Relationship Id="rId2" Type="http://schemas.openxmlformats.org/officeDocument/2006/relationships/hyperlink" Target="https://sip.lex.pl/#/document/16798685?unitId=art(182)par(1)" TargetMode="External"/><Relationship Id="rId1" Type="http://schemas.openxmlformats.org/officeDocument/2006/relationships/slideLayout" Target="../slideLayouts/slideLayout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ctrTitle"/>
          </p:nvPr>
        </p:nvSpPr>
        <p:spPr>
          <a:xfrm>
            <a:off x="685800" y="1196752"/>
            <a:ext cx="7772400" cy="4608512"/>
          </a:xfrm>
        </p:spPr>
        <p:txBody>
          <a:bodyPr>
            <a:noAutofit/>
          </a:bodyPr>
          <a:lstStyle/>
          <a:p>
            <a:br>
              <a:rPr lang="pl-PL" sz="6000" dirty="0"/>
            </a:br>
            <a:br>
              <a:rPr lang="pl-PL" sz="6000" dirty="0"/>
            </a:br>
            <a:r>
              <a:rPr lang="pl-PL" sz="6000" dirty="0"/>
              <a:t>Warunki dopuszczalności procesu (przesłanki procesowe) – zagadnienia wybrane (art. 17 k.p.k.)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16632"/>
            <a:ext cx="8626160" cy="5982416"/>
          </a:xfrm>
        </p:spPr>
        <p:txBody>
          <a:bodyPr/>
          <a:lstStyle/>
          <a:p>
            <a:endParaRPr lang="pl-PL" dirty="0"/>
          </a:p>
          <a:p>
            <a:endParaRPr lang="pl-PL" dirty="0"/>
          </a:p>
          <a:p>
            <a:r>
              <a:rPr lang="pl-PL" sz="4400" b="1" dirty="0">
                <a:solidFill>
                  <a:schemeClr val="accent1"/>
                </a:solidFill>
              </a:rPr>
              <a:t>PRZESŁANKI PROCESOWE </a:t>
            </a:r>
            <a:r>
              <a:rPr lang="pl-PL" sz="4400" dirty="0"/>
              <a:t>– TO OKREŚLONE STANY (SYTUACJE), Z KTÓRYMI PRAWO KARNE PROCESOWE WIĄŻE DOPUSZCZALNOŚĆ (NIEDOPUSZCZALNOŚĆ POSTĘPOWANIA)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5838400"/>
          </a:xfrm>
        </p:spPr>
        <p:txBody>
          <a:bodyPr>
            <a:normAutofit/>
          </a:bodyPr>
          <a:lstStyle/>
          <a:p>
            <a:r>
              <a:rPr lang="pl-PL" b="1" dirty="0">
                <a:solidFill>
                  <a:srgbClr val="C00000"/>
                </a:solidFill>
              </a:rPr>
              <a:t>Funkcje systemu przesłanek procesowych:</a:t>
            </a:r>
          </a:p>
          <a:p>
            <a:endParaRPr lang="pl-PL" dirty="0"/>
          </a:p>
          <a:p>
            <a:r>
              <a:rPr lang="pl-PL" dirty="0"/>
              <a:t>1) </a:t>
            </a:r>
            <a:r>
              <a:rPr lang="pl-PL" dirty="0">
                <a:solidFill>
                  <a:srgbClr val="FF0000"/>
                </a:solidFill>
              </a:rPr>
              <a:t>funkcja blokady merytorycznego orzekania </a:t>
            </a:r>
            <a:r>
              <a:rPr lang="pl-PL" dirty="0"/>
              <a:t>(w przypadku materialnych negatywnych warunków dopuszczalności procesu co najwyżej blokada wydania </a:t>
            </a:r>
            <a:r>
              <a:rPr lang="pl-PL" b="1" dirty="0"/>
              <a:t>pełnego</a:t>
            </a:r>
            <a:r>
              <a:rPr lang="pl-PL" dirty="0"/>
              <a:t> merytorycznego rozstrzygnięcia w sprawie)</a:t>
            </a:r>
          </a:p>
          <a:p>
            <a:r>
              <a:rPr lang="pl-PL" dirty="0"/>
              <a:t>2) </a:t>
            </a:r>
            <a:r>
              <a:rPr lang="pl-PL" dirty="0">
                <a:solidFill>
                  <a:srgbClr val="FF0000"/>
                </a:solidFill>
              </a:rPr>
              <a:t>funkcja gwarancyjna (ochronna) </a:t>
            </a:r>
            <a:r>
              <a:rPr lang="pl-PL" dirty="0"/>
              <a:t>-  wyraźne i szczegółowe wyodrębnienie przesłanek tworzy jasne kryterium dopuszczalności procesu, co stanowi mechanizm chroniący jednostkę przed bezzasadnym uwikłaniem w proces, a w szczególności bezzasadnym nakładaniem na nią ciężarów procesowych.</a:t>
            </a:r>
          </a:p>
        </p:txBody>
      </p:sp>
    </p:spTree>
    <p:extLst>
      <p:ext uri="{BB962C8B-B14F-4D97-AF65-F5344CB8AC3E}">
        <p14:creationId xmlns:p14="http://schemas.microsoft.com/office/powerpoint/2010/main" val="3641924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endParaRPr lang="pl-PL" dirty="0"/>
          </a:p>
          <a:p>
            <a:r>
              <a:rPr lang="pl-PL" dirty="0"/>
              <a:t>3) </a:t>
            </a:r>
            <a:r>
              <a:rPr lang="pl-PL" dirty="0">
                <a:solidFill>
                  <a:srgbClr val="FF0000"/>
                </a:solidFill>
              </a:rPr>
              <a:t>funkcja ekonomiczna</a:t>
            </a:r>
          </a:p>
          <a:p>
            <a:endParaRPr lang="pl-PL" dirty="0"/>
          </a:p>
          <a:p>
            <a:r>
              <a:rPr lang="pl-PL" dirty="0"/>
              <a:t>4) </a:t>
            </a:r>
            <a:r>
              <a:rPr lang="pl-PL" dirty="0">
                <a:solidFill>
                  <a:srgbClr val="FF0000"/>
                </a:solidFill>
              </a:rPr>
              <a:t>funkcja informacyjna</a:t>
            </a:r>
            <a:r>
              <a:rPr lang="pl-PL" dirty="0"/>
              <a:t>  - system przesłanek procesowych porządkuje wiedzę o dopuszczalności procesu i pozwala  na zorientowanie się, jak przedstawia się od strony normatywnej kwestia dopuszczalności procesu</a:t>
            </a:r>
          </a:p>
        </p:txBody>
      </p:sp>
    </p:spTree>
    <p:extLst>
      <p:ext uri="{BB962C8B-B14F-4D97-AF65-F5344CB8AC3E}">
        <p14:creationId xmlns:p14="http://schemas.microsoft.com/office/powerpoint/2010/main" val="2869039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5910408"/>
          </a:xfrm>
        </p:spPr>
        <p:txBody>
          <a:bodyPr>
            <a:normAutofit lnSpcReduction="10000"/>
          </a:bodyPr>
          <a:lstStyle/>
          <a:p>
            <a:r>
              <a:rPr lang="pl-PL" sz="3600" dirty="0">
                <a:solidFill>
                  <a:srgbClr val="C00000"/>
                </a:solidFill>
              </a:rPr>
              <a:t>I. </a:t>
            </a:r>
            <a:r>
              <a:rPr lang="pl-PL" sz="3600" b="1" dirty="0">
                <a:solidFill>
                  <a:srgbClr val="C00000"/>
                </a:solidFill>
              </a:rPr>
              <a:t>Przesłanki procesowe:</a:t>
            </a:r>
          </a:p>
          <a:p>
            <a:pPr marL="0" indent="0">
              <a:buNone/>
            </a:pPr>
            <a:r>
              <a:rPr lang="pl-PL" sz="3600" dirty="0"/>
              <a:t>             a) pozytywne – muszą zaistnieć, by proces mógł się toczyć (skarga uprawnionego oskarżyciela, istnienie stron procesowych)</a:t>
            </a:r>
          </a:p>
          <a:p>
            <a:endParaRPr lang="pl-PL" sz="3600" dirty="0"/>
          </a:p>
          <a:p>
            <a:pPr marL="0" indent="0">
              <a:buNone/>
            </a:pPr>
            <a:r>
              <a:rPr lang="pl-PL" sz="3600" dirty="0"/>
              <a:t>            b) negatywne – ich zaistnienie skutkuje niedopuszczalnością procesu karnego (jego wszczęcia lub kontynuowania (śmierć oskarżonego, przedawnienie karalności)</a:t>
            </a:r>
          </a:p>
          <a:p>
            <a:endParaRPr lang="pl-PL" dirty="0"/>
          </a:p>
          <a:p>
            <a:endParaRPr lang="pl-PL" dirty="0"/>
          </a:p>
          <a:p>
            <a:endParaRPr lang="pl-PL"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Autofit/>
          </a:bodyPr>
          <a:lstStyle/>
          <a:p>
            <a:r>
              <a:rPr lang="pl-PL" sz="6600" dirty="0"/>
              <a:t>Ustawodawca polski wszystkie przesłanki procesowe ujął jako </a:t>
            </a:r>
            <a:r>
              <a:rPr lang="pl-PL" sz="6600" dirty="0">
                <a:solidFill>
                  <a:srgbClr val="C00000"/>
                </a:solidFill>
              </a:rPr>
              <a:t>przesłanki negatywne (przeszkody procesowe) </a:t>
            </a:r>
          </a:p>
        </p:txBody>
      </p:sp>
    </p:spTree>
    <p:extLst>
      <p:ext uri="{BB962C8B-B14F-4D97-AF65-F5344CB8AC3E}">
        <p14:creationId xmlns:p14="http://schemas.microsoft.com/office/powerpoint/2010/main" val="1193113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5910408"/>
          </a:xfrm>
        </p:spPr>
        <p:txBody>
          <a:bodyPr>
            <a:normAutofit/>
          </a:bodyPr>
          <a:lstStyle/>
          <a:p>
            <a:r>
              <a:rPr lang="pl-PL" dirty="0">
                <a:solidFill>
                  <a:srgbClr val="C00000"/>
                </a:solidFill>
              </a:rPr>
              <a:t>II. </a:t>
            </a:r>
            <a:r>
              <a:rPr lang="pl-PL" b="1" dirty="0">
                <a:solidFill>
                  <a:srgbClr val="C00000"/>
                </a:solidFill>
              </a:rPr>
              <a:t>Przesłanki procesowe:</a:t>
            </a:r>
          </a:p>
          <a:p>
            <a:r>
              <a:rPr lang="pl-PL" dirty="0"/>
              <a:t>              a) odnoszące się do wszystkich stadiów procesowych (</a:t>
            </a:r>
            <a:r>
              <a:rPr lang="pl-PL" i="1" dirty="0"/>
              <a:t>res iudicata, zawisłość sprawy, istnienie strony procesowej, immunitet formalny</a:t>
            </a:r>
            <a:r>
              <a:rPr lang="pl-PL" dirty="0"/>
              <a:t>);</a:t>
            </a:r>
          </a:p>
          <a:p>
            <a:r>
              <a:rPr lang="pl-PL" dirty="0"/>
              <a:t>              b) odnoszące się tylko do postępowania przygotowawczego i jurysdykcyjnego (</a:t>
            </a:r>
            <a:r>
              <a:rPr lang="pl-PL" i="1" dirty="0"/>
              <a:t>przedawnienie karalności, wniosek o ściganie, znikoma społeczna szkodliwość czynu</a:t>
            </a:r>
            <a:r>
              <a:rPr lang="pl-PL" dirty="0"/>
              <a:t>)</a:t>
            </a:r>
          </a:p>
          <a:p>
            <a:r>
              <a:rPr lang="pl-PL" dirty="0"/>
              <a:t>               c) odnoszące się tylko do postępowania jurysdykcyjnego </a:t>
            </a:r>
            <a:r>
              <a:rPr lang="pl-PL" i="1" dirty="0"/>
              <a:t>(skarga uprawnionego oskarżyciela)</a:t>
            </a:r>
          </a:p>
          <a:p>
            <a:r>
              <a:rPr lang="pl-PL" dirty="0"/>
              <a:t>               d) odnoszące się tylko do postępowania wykonawczego (</a:t>
            </a:r>
            <a:r>
              <a:rPr lang="pl-PL" i="1" dirty="0"/>
              <a:t>przedawnienie wykonania kary</a:t>
            </a:r>
            <a:r>
              <a:rPr lang="pl-PL" dirty="0"/>
              <a:t>)</a:t>
            </a:r>
          </a:p>
        </p:txBody>
      </p:sp>
    </p:spTree>
    <p:extLst>
      <p:ext uri="{BB962C8B-B14F-4D97-AF65-F5344CB8AC3E}">
        <p14:creationId xmlns:p14="http://schemas.microsoft.com/office/powerpoint/2010/main" val="1852913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lstStyle/>
          <a:p>
            <a:pPr marL="0" indent="0">
              <a:buNone/>
            </a:pPr>
            <a:r>
              <a:rPr lang="pl-PL" sz="4400" dirty="0"/>
              <a:t>III. </a:t>
            </a:r>
            <a:r>
              <a:rPr lang="pl-PL" sz="4400" b="1" dirty="0">
                <a:solidFill>
                  <a:srgbClr val="C00000"/>
                </a:solidFill>
              </a:rPr>
              <a:t>Przesłanki procesowe:</a:t>
            </a:r>
          </a:p>
          <a:p>
            <a:pPr marL="0" indent="0">
              <a:buNone/>
            </a:pPr>
            <a:r>
              <a:rPr lang="pl-PL" sz="4400" dirty="0"/>
              <a:t>         a) bezwzględne (absolutne),</a:t>
            </a:r>
          </a:p>
          <a:p>
            <a:pPr marL="0" indent="0">
              <a:buNone/>
            </a:pPr>
            <a:r>
              <a:rPr lang="pl-PL" sz="4400" dirty="0"/>
              <a:t>        b) względne (relatywne)</a:t>
            </a:r>
          </a:p>
          <a:p>
            <a:endParaRPr lang="pl-PL" sz="4400" dirty="0"/>
          </a:p>
          <a:p>
            <a:pPr marL="0" indent="0">
              <a:buNone/>
            </a:pPr>
            <a:r>
              <a:rPr lang="pl-PL" sz="4400" dirty="0"/>
              <a:t>IV. </a:t>
            </a:r>
            <a:r>
              <a:rPr lang="pl-PL" sz="4400" b="1" dirty="0">
                <a:solidFill>
                  <a:srgbClr val="C00000"/>
                </a:solidFill>
              </a:rPr>
              <a:t>Przesłanki procesowe</a:t>
            </a:r>
          </a:p>
          <a:p>
            <a:pPr marL="0" indent="0">
              <a:buNone/>
            </a:pPr>
            <a:r>
              <a:rPr lang="pl-PL" sz="4400" dirty="0"/>
              <a:t>     a) ogólne</a:t>
            </a:r>
          </a:p>
          <a:p>
            <a:pPr marL="0" indent="0">
              <a:buNone/>
            </a:pPr>
            <a:r>
              <a:rPr lang="pl-PL" sz="4400" dirty="0"/>
              <a:t>         b) szczególne    </a:t>
            </a:r>
          </a:p>
          <a:p>
            <a:endParaRPr lang="pl-PL"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5838400"/>
          </a:xfrm>
        </p:spPr>
        <p:txBody>
          <a:bodyPr>
            <a:normAutofit/>
          </a:bodyPr>
          <a:lstStyle/>
          <a:p>
            <a:r>
              <a:rPr lang="pl-PL" b="1" u="sng" dirty="0">
                <a:solidFill>
                  <a:srgbClr val="C00000"/>
                </a:solidFill>
              </a:rPr>
              <a:t>Przesłanki o charakterze bezwzględnym</a:t>
            </a:r>
            <a:r>
              <a:rPr lang="pl-PL" b="1" dirty="0">
                <a:solidFill>
                  <a:srgbClr val="C00000"/>
                </a:solidFill>
              </a:rPr>
              <a:t>:</a:t>
            </a:r>
          </a:p>
          <a:p>
            <a:endParaRPr lang="pl-PL" dirty="0"/>
          </a:p>
          <a:p>
            <a:r>
              <a:rPr lang="pl-PL" dirty="0"/>
              <a:t>Warunkują dopuszczalność postępowania przeciwko określonej osobie o określony czyn w każdym układzie procesowym;</a:t>
            </a:r>
          </a:p>
          <a:p>
            <a:endParaRPr lang="pl-PL" dirty="0"/>
          </a:p>
          <a:p>
            <a:r>
              <a:rPr lang="pl-PL" dirty="0"/>
              <a:t>nie jest możliwa konwalidacja braku, który powoduje zaistnienie tej przesłanki        </a:t>
            </a:r>
          </a:p>
          <a:p>
            <a:endParaRPr lang="pl-PL" dirty="0"/>
          </a:p>
          <a:p>
            <a:r>
              <a:rPr lang="pl-PL" dirty="0"/>
              <a:t>(np. nieprzestępność czynu, niepodleganie karze)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5838400"/>
          </a:xfrm>
        </p:spPr>
        <p:txBody>
          <a:bodyPr>
            <a:normAutofit fontScale="92500" lnSpcReduction="10000"/>
          </a:bodyPr>
          <a:lstStyle/>
          <a:p>
            <a:r>
              <a:rPr lang="pl-PL" b="1" u="sng" dirty="0">
                <a:solidFill>
                  <a:srgbClr val="C00000"/>
                </a:solidFill>
              </a:rPr>
              <a:t>Przesłanki o charakterze względnym:</a:t>
            </a:r>
          </a:p>
          <a:p>
            <a:endParaRPr lang="pl-PL" dirty="0"/>
          </a:p>
          <a:p>
            <a:r>
              <a:rPr lang="pl-PL" dirty="0"/>
              <a:t>Warunkują dopuszczalność postępowania tylko w  konkretnym układzie procesowym wyznaczanym przez trzy elementy:  </a:t>
            </a:r>
          </a:p>
          <a:p>
            <a:endParaRPr lang="pl-PL" dirty="0"/>
          </a:p>
          <a:p>
            <a:r>
              <a:rPr lang="pl-PL" dirty="0"/>
              <a:t>1) osobę oskarżonego</a:t>
            </a:r>
          </a:p>
          <a:p>
            <a:r>
              <a:rPr lang="pl-PL" dirty="0"/>
              <a:t>2) czyn w znaczeniu przedmiotowym</a:t>
            </a:r>
          </a:p>
          <a:p>
            <a:r>
              <a:rPr lang="pl-PL" dirty="0"/>
              <a:t>3) konkretny element, którego dotyczy brak uznany za negatywną przesłankę procesową</a:t>
            </a:r>
          </a:p>
          <a:p>
            <a:pPr>
              <a:buNone/>
            </a:pPr>
            <a:r>
              <a:rPr lang="pl-PL" dirty="0"/>
              <a:t> </a:t>
            </a:r>
          </a:p>
          <a:p>
            <a:r>
              <a:rPr lang="pl-PL" dirty="0"/>
              <a:t>stan sprawy osądzonej powstaje tylko w zakresie tego układu (wniosek o ściganie, skarga uprawnionego oskarżyciela)</a:t>
            </a:r>
          </a:p>
          <a:p>
            <a:endParaRPr lang="pl-PL"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dirty="0"/>
              <a:t>Wyrok Sądu Najwyższego z dnia 23 listopada 2011 r.</a:t>
            </a:r>
          </a:p>
          <a:p>
            <a:r>
              <a:rPr lang="pl-PL" dirty="0"/>
              <a:t>II KK 279/11</a:t>
            </a:r>
          </a:p>
          <a:p>
            <a:endParaRPr lang="pl-PL" dirty="0"/>
          </a:p>
          <a:p>
            <a:r>
              <a:rPr lang="pl-PL" dirty="0"/>
              <a:t>Charakter ujemnej przesłanki procesowej z art. 17 § 1 pkt 10 k.p.k. - jej względność, wobec możliwości złożenia wniosku o ściganie aż do upływu okresu przedawnienia, nie implikuje umorzenia postępowania w następstwie rozpoznania kasacji w zakresie czynu z art. 118 ust. 1 </a:t>
            </a:r>
            <a:r>
              <a:rPr lang="pl-PL" dirty="0" err="1"/>
              <a:t>u.p.a.p.p</a:t>
            </a:r>
            <a:r>
              <a:rPr lang="pl-PL" dirty="0"/>
              <a:t>., a uzasadnia przekazanie sprawy do ponownego rozpoznania.</a:t>
            </a:r>
          </a:p>
        </p:txBody>
      </p:sp>
    </p:spTree>
    <p:extLst>
      <p:ext uri="{BB962C8B-B14F-4D97-AF65-F5344CB8AC3E}">
        <p14:creationId xmlns:p14="http://schemas.microsoft.com/office/powerpoint/2010/main" val="206191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fontScale="92500" lnSpcReduction="20000"/>
          </a:bodyPr>
          <a:lstStyle/>
          <a:p>
            <a:r>
              <a:rPr lang="pl-PL" b="1" dirty="0"/>
              <a:t>V. </a:t>
            </a:r>
            <a:r>
              <a:rPr lang="pl-PL" b="1" dirty="0">
                <a:solidFill>
                  <a:srgbClr val="C00000"/>
                </a:solidFill>
              </a:rPr>
              <a:t>Przesłanki procesowe:</a:t>
            </a:r>
          </a:p>
          <a:p>
            <a:endParaRPr lang="pl-PL" dirty="0"/>
          </a:p>
          <a:p>
            <a:r>
              <a:rPr lang="pl-PL" dirty="0"/>
              <a:t>       a) o charakterze czysto formalnym – ich znaczenie wyczerpuje się wyłącznie w sferze prawa procesowego, jako że warunkują one proces karny, ale same w sobie nie przesądzają o braku odpowiedzialności karnej w razie ich niezaistnienia,</a:t>
            </a:r>
          </a:p>
          <a:p>
            <a:r>
              <a:rPr lang="pl-PL" dirty="0"/>
              <a:t>       b) o charakterze materialnym - warunki, które nie tylko decydują o dopuszczalności procesu, lecz także równocześnie stanowią warunki odpowiedzialności z punktu widzenia prawa materialnego. </a:t>
            </a:r>
          </a:p>
          <a:p>
            <a:r>
              <a:rPr lang="pl-PL" dirty="0"/>
              <a:t>       c)  o charakterze mieszanym   -  mają zabarwienie materialne i najczęściej zaliczane są do instytucji prawa materialnego (są „zakotwiczone” w prawie materialnym), jednakże wpływ na odpowiedzialność karną wywierają wyłącznie na drodze procesowej  (amnestia, przedawnienie) </a:t>
            </a:r>
          </a:p>
        </p:txBody>
      </p:sp>
    </p:spTree>
    <p:extLst>
      <p:ext uri="{BB962C8B-B14F-4D97-AF65-F5344CB8AC3E}">
        <p14:creationId xmlns:p14="http://schemas.microsoft.com/office/powerpoint/2010/main" val="936008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POSZCZEGÓLNE PRZESŁANKI PROCESOWE</a:t>
            </a:r>
          </a:p>
        </p:txBody>
      </p:sp>
      <p:sp>
        <p:nvSpPr>
          <p:cNvPr id="3" name="Symbol zastępczy zawartości 2"/>
          <p:cNvSpPr>
            <a:spLocks noGrp="1"/>
          </p:cNvSpPr>
          <p:nvPr>
            <p:ph sz="quarter" idx="1"/>
          </p:nvPr>
        </p:nvSpPr>
        <p:spPr/>
        <p:txBody>
          <a:bodyPr>
            <a:normAutofit fontScale="70000" lnSpcReduction="20000"/>
          </a:bodyPr>
          <a:lstStyle/>
          <a:p>
            <a:r>
              <a:rPr lang="pl-PL" b="1" dirty="0">
                <a:solidFill>
                  <a:srgbClr val="FF0000"/>
                </a:solidFill>
              </a:rPr>
              <a:t>Art. 17.</a:t>
            </a:r>
            <a:r>
              <a:rPr lang="pl-PL" dirty="0">
                <a:solidFill>
                  <a:srgbClr val="FF0000"/>
                </a:solidFill>
              </a:rPr>
              <a:t> § 1. Nie wszczyna się postępowania, a wszczęte umarza, gdy</a:t>
            </a:r>
            <a:r>
              <a:rPr lang="pl-PL" dirty="0"/>
              <a:t>:</a:t>
            </a:r>
          </a:p>
          <a:p>
            <a:r>
              <a:rPr lang="pl-PL" dirty="0"/>
              <a:t>1)   czynu nie popełniono albo brak jest danych dostatecznie uzasadniających podejrzenie jego popełnienia,</a:t>
            </a:r>
          </a:p>
          <a:p>
            <a:r>
              <a:rPr lang="pl-PL" dirty="0"/>
              <a:t>2)   czyn nie zawiera znamion czynu zabronionego albo ustawa stanowi, że sprawca nie popełnia przestępstwa,</a:t>
            </a:r>
          </a:p>
          <a:p>
            <a:r>
              <a:rPr lang="pl-PL" dirty="0"/>
              <a:t>3)   społeczna szkodliwość czynu jest znikoma,</a:t>
            </a:r>
          </a:p>
          <a:p>
            <a:r>
              <a:rPr lang="pl-PL" dirty="0"/>
              <a:t>4)   ustawa stanowi, że sprawca nie podlega karze,</a:t>
            </a:r>
          </a:p>
          <a:p>
            <a:r>
              <a:rPr lang="pl-PL" dirty="0"/>
              <a:t>5)   oskarżony zmarł,</a:t>
            </a:r>
          </a:p>
          <a:p>
            <a:r>
              <a:rPr lang="pl-PL" dirty="0"/>
              <a:t>6)   nastąpiło przedawnienie karalności,</a:t>
            </a:r>
          </a:p>
          <a:p>
            <a:r>
              <a:rPr lang="pl-PL" dirty="0"/>
              <a:t>7)   postępowanie karne co do tego samego czynu tej samej osoby zostało prawomocnie zakończone albo wcześniej wszczęte toczy się,</a:t>
            </a:r>
          </a:p>
          <a:p>
            <a:r>
              <a:rPr lang="pl-PL" dirty="0"/>
              <a:t>8)   sprawca nie podlega orzecznictwu polskich sądów karnych,</a:t>
            </a:r>
          </a:p>
          <a:p>
            <a:r>
              <a:rPr lang="pl-PL" dirty="0"/>
              <a:t>9)   brak skargi uprawnionego oskarżyciela,</a:t>
            </a:r>
          </a:p>
          <a:p>
            <a:r>
              <a:rPr lang="pl-PL" dirty="0"/>
              <a:t>10)  brak wymaganego zezwolenia na ściganie lub wniosku o ściganie pochodzącego od osoby uprawnionej, chyba że ustawa stanowi inaczej,</a:t>
            </a:r>
          </a:p>
          <a:p>
            <a:r>
              <a:rPr lang="pl-PL" dirty="0">
                <a:solidFill>
                  <a:srgbClr val="FF0000"/>
                </a:solidFill>
              </a:rPr>
              <a:t>11)  zachodzi inna okoliczność wyłączająca ściganie.</a:t>
            </a:r>
          </a:p>
          <a:p>
            <a:endParaRPr lang="pl-PL"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301752" y="188640"/>
            <a:ext cx="8503920" cy="5910408"/>
          </a:xfrm>
        </p:spPr>
        <p:txBody>
          <a:bodyPr/>
          <a:lstStyle/>
          <a:p>
            <a:pPr>
              <a:buNone/>
            </a:pPr>
            <a:r>
              <a:rPr lang="pl-PL" b="1" dirty="0"/>
              <a:t>   1. BRAK DOSTATECZNYCH PODSTAW FAKTYCZNYCH DO ŚCIGANIA KARNEGO (art. 17 par. 1 pkt 1 k.p.k.)</a:t>
            </a:r>
          </a:p>
          <a:p>
            <a:pPr>
              <a:buNone/>
            </a:pPr>
            <a:r>
              <a:rPr lang="pl-PL" b="1" dirty="0"/>
              <a:t>   </a:t>
            </a:r>
          </a:p>
          <a:p>
            <a:pPr>
              <a:buNone/>
            </a:pPr>
            <a:r>
              <a:rPr lang="pl-PL" i="1" dirty="0"/>
              <a:t>   </a:t>
            </a:r>
            <a:r>
              <a:rPr lang="pl-PL" sz="4800" i="1" dirty="0"/>
              <a:t>czynu nie popełniono albo brak jest danych dostatecznie uzasadniających podejrzenie jego popełnienia</a:t>
            </a:r>
          </a:p>
          <a:p>
            <a:endParaRPr lang="pl-PL" dirty="0"/>
          </a:p>
          <a:p>
            <a:pPr>
              <a:buNone/>
            </a:pPr>
            <a:endParaRPr lang="pl-PL"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lstStyle/>
          <a:p>
            <a:endParaRPr lang="pl-PL" dirty="0"/>
          </a:p>
          <a:p>
            <a:r>
              <a:rPr lang="pl-PL" sz="4800" b="1" dirty="0"/>
              <a:t>PODSTAWA FAKTYCZNA PROCESU – </a:t>
            </a:r>
            <a:r>
              <a:rPr lang="pl-PL" sz="4800" dirty="0"/>
              <a:t>fakty uzasadniające podejrzenie popełnienia przestępstwa/uzasadnione podejrzenie popełnienia przestępstwa</a:t>
            </a:r>
          </a:p>
          <a:p>
            <a:endParaRPr lang="pl-PL" dirty="0"/>
          </a:p>
        </p:txBody>
      </p:sp>
    </p:spTree>
    <p:extLst>
      <p:ext uri="{BB962C8B-B14F-4D97-AF65-F5344CB8AC3E}">
        <p14:creationId xmlns:p14="http://schemas.microsoft.com/office/powerpoint/2010/main" val="2806742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99392"/>
            <a:ext cx="8698168" cy="6198440"/>
          </a:xfrm>
        </p:spPr>
        <p:txBody>
          <a:bodyPr/>
          <a:lstStyle/>
          <a:p>
            <a:endParaRPr lang="pl-PL" b="1" dirty="0"/>
          </a:p>
          <a:p>
            <a:endParaRPr lang="pl-PL" b="1" dirty="0"/>
          </a:p>
          <a:p>
            <a:r>
              <a:rPr lang="pl-PL" sz="4800" b="1" dirty="0"/>
              <a:t>Kwestia materiału uzasadniającego podstawę procesu musi być rozpatrywana dynamicznie, na tle rozwoju procesu.</a:t>
            </a:r>
          </a:p>
          <a:p>
            <a:endParaRPr lang="pl-PL" dirty="0"/>
          </a:p>
        </p:txBody>
      </p:sp>
    </p:spTree>
    <p:extLst>
      <p:ext uri="{BB962C8B-B14F-4D97-AF65-F5344CB8AC3E}">
        <p14:creationId xmlns:p14="http://schemas.microsoft.com/office/powerpoint/2010/main" val="3713123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260648"/>
            <a:ext cx="8554152" cy="6480720"/>
          </a:xfrm>
        </p:spPr>
        <p:txBody>
          <a:bodyPr>
            <a:normAutofit/>
          </a:bodyPr>
          <a:lstStyle/>
          <a:p>
            <a:r>
              <a:rPr lang="pl-PL" dirty="0"/>
              <a:t>W momencie wszczęcia postępowania wystarczy uprawdopodobnienie popełnienia przestępstwa</a:t>
            </a:r>
          </a:p>
          <a:p>
            <a:endParaRPr lang="pl-PL" dirty="0"/>
          </a:p>
          <a:p>
            <a:r>
              <a:rPr lang="pl-PL" dirty="0"/>
              <a:t>Art.  303 k.p.k.</a:t>
            </a:r>
          </a:p>
          <a:p>
            <a:endParaRPr lang="pl-PL" dirty="0"/>
          </a:p>
          <a:p>
            <a:r>
              <a:rPr lang="pl-PL" dirty="0"/>
              <a:t> Jeżeli zachodzi </a:t>
            </a:r>
            <a:r>
              <a:rPr lang="pl-PL" dirty="0">
                <a:solidFill>
                  <a:srgbClr val="FF0000"/>
                </a:solidFill>
              </a:rPr>
              <a:t>uzasadnione podejrzenie popełnienia przestępstwa</a:t>
            </a:r>
            <a:r>
              <a:rPr lang="pl-PL" dirty="0"/>
              <a:t>, wydaje się z urzędu lub na skutek zawiadomienia o przestępstwie postanowienie o wszczęciu śledztwa, w którym określa się czyn będący przedmiotem postępowania oraz jego kwalifikację prawną.</a:t>
            </a:r>
          </a:p>
          <a:p>
            <a:endParaRPr lang="pl-PL" dirty="0"/>
          </a:p>
          <a:p>
            <a:endParaRPr lang="pl-PL" dirty="0"/>
          </a:p>
        </p:txBody>
      </p:sp>
    </p:spTree>
    <p:extLst>
      <p:ext uri="{BB962C8B-B14F-4D97-AF65-F5344CB8AC3E}">
        <p14:creationId xmlns:p14="http://schemas.microsoft.com/office/powerpoint/2010/main" val="2712961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0"/>
            <a:ext cx="8698168" cy="6099048"/>
          </a:xfrm>
        </p:spPr>
        <p:txBody>
          <a:bodyPr>
            <a:normAutofit/>
          </a:bodyPr>
          <a:lstStyle/>
          <a:p>
            <a:endParaRPr lang="pl-PL" dirty="0"/>
          </a:p>
          <a:p>
            <a:pPr algn="just"/>
            <a:r>
              <a:rPr lang="pl-PL" sz="3200" b="1" dirty="0"/>
              <a:t>Przez "podejrzenie</a:t>
            </a:r>
            <a:r>
              <a:rPr lang="pl-PL" sz="3200" dirty="0"/>
              <a:t>" należy  rozumieć wywołane obiektywnymi informacjami subiektywne odczucie organu procesowego wskazujące na prawdopodobieństwo, że zaistniało przestępstwo</a:t>
            </a:r>
          </a:p>
          <a:p>
            <a:pPr algn="just"/>
            <a:endParaRPr lang="pl-PL" sz="3200" b="1" dirty="0"/>
          </a:p>
          <a:p>
            <a:pPr algn="just"/>
            <a:r>
              <a:rPr lang="pl-PL" sz="3200" b="1" dirty="0"/>
              <a:t>Uzasadnione - </a:t>
            </a:r>
            <a:r>
              <a:rPr lang="pl-PL" sz="3200" dirty="0"/>
              <a:t>uzasadnione podejrzenie" użyte w przepisie oznacza konieczność oparcia się przez organ procesowy na konkretnych informacjach - dowodach</a:t>
            </a:r>
            <a:r>
              <a:rPr lang="pl-PL" sz="3200" b="1" dirty="0"/>
              <a:t>.</a:t>
            </a:r>
          </a:p>
        </p:txBody>
      </p:sp>
    </p:spTree>
    <p:extLst>
      <p:ext uri="{BB962C8B-B14F-4D97-AF65-F5344CB8AC3E}">
        <p14:creationId xmlns:p14="http://schemas.microsoft.com/office/powerpoint/2010/main" val="3883694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6368752"/>
          </a:xfrm>
        </p:spPr>
        <p:txBody>
          <a:bodyPr>
            <a:normAutofit/>
          </a:bodyPr>
          <a:lstStyle/>
          <a:p>
            <a:r>
              <a:rPr lang="pl-PL" sz="3200" dirty="0"/>
              <a:t>Art.  313</a:t>
            </a:r>
          </a:p>
          <a:p>
            <a:r>
              <a:rPr lang="pl-PL" sz="3200" dirty="0"/>
              <a:t>§  1. Jeżeli dane istniejące w chwili wszczęcia śledztwa lub zebrane w jego toku </a:t>
            </a:r>
            <a:r>
              <a:rPr lang="pl-PL" sz="3200" b="1" dirty="0">
                <a:solidFill>
                  <a:srgbClr val="C00000"/>
                </a:solidFill>
              </a:rPr>
              <a:t>uzasadniają dostatecznie podejrzenie</a:t>
            </a:r>
            <a:r>
              <a:rPr lang="pl-PL" sz="3200" dirty="0"/>
              <a:t>, że czyn popełniła określona osoba, wydaje się postanowienie o przedstawieniu zarzutów, ogłasza je niezwłocznie podejrzanemu i przesłuchuje się go, chyba że ogłoszenie postanowienia lub przesłuchanie podejrzanego nie jest możliwe z powodu jego ukrywania się lub nieobecności w kraju.</a:t>
            </a:r>
          </a:p>
        </p:txBody>
      </p:sp>
    </p:spTree>
    <p:extLst>
      <p:ext uri="{BB962C8B-B14F-4D97-AF65-F5344CB8AC3E}">
        <p14:creationId xmlns:p14="http://schemas.microsoft.com/office/powerpoint/2010/main" val="436271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5838400"/>
          </a:xfrm>
        </p:spPr>
        <p:txBody>
          <a:bodyPr>
            <a:noAutofit/>
          </a:bodyPr>
          <a:lstStyle/>
          <a:p>
            <a:r>
              <a:rPr lang="pl-PL" sz="3200" dirty="0"/>
              <a:t>„Zasadnie zauważa Sąd Najwyższy, że porównanie treści art. 303 k.p.k. z treścią art. 313 k.p.k. prowadzi do jednoznacznego wniosku, iż dostatecznie uzasadnione podejrzenie w odniesieniu do konkretnej osoby oznacza wyższy stopień podejrzenia zarówno co do faktu popełnienia przestępstwa, jak i co do osoby sprawcy. Nie chodzi zatem o ustalenie, że określona osoba popełniła przestępstwo, lecz o to, że zebrane dowody wskazują na wysokie prawdopodobieństwo zaistnienia tego faktu” (P. Hofmański)</a:t>
            </a:r>
          </a:p>
        </p:txBody>
      </p:sp>
    </p:spTree>
    <p:extLst>
      <p:ext uri="{BB962C8B-B14F-4D97-AF65-F5344CB8AC3E}">
        <p14:creationId xmlns:p14="http://schemas.microsoft.com/office/powerpoint/2010/main" val="1512756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260648"/>
            <a:ext cx="8698168" cy="5838400"/>
          </a:xfrm>
        </p:spPr>
        <p:txBody>
          <a:bodyPr>
            <a:normAutofit lnSpcReduction="10000"/>
          </a:bodyPr>
          <a:lstStyle/>
          <a:p>
            <a:endParaRPr lang="pl-PL" dirty="0"/>
          </a:p>
          <a:p>
            <a:r>
              <a:rPr lang="pl-PL" dirty="0"/>
              <a:t>„</a:t>
            </a:r>
            <a:r>
              <a:rPr lang="pl-PL" sz="4400" dirty="0"/>
              <a:t>Prawdopodobieństwo popełnienia czynu przez podejrzanego musi być na tyle wysokie, aby wyłączało w takim samym stopniu prawdopodobieństwo sprawstwa w stosunku do innych osób” (M. Cieślak) </a:t>
            </a:r>
          </a:p>
        </p:txBody>
      </p:sp>
    </p:spTree>
    <p:extLst>
      <p:ext uri="{BB962C8B-B14F-4D97-AF65-F5344CB8AC3E}">
        <p14:creationId xmlns:p14="http://schemas.microsoft.com/office/powerpoint/2010/main" val="3668661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260648"/>
            <a:ext cx="8698168" cy="5838400"/>
          </a:xfrm>
        </p:spPr>
        <p:txBody>
          <a:bodyPr>
            <a:normAutofit lnSpcReduction="10000"/>
          </a:bodyPr>
          <a:lstStyle/>
          <a:p>
            <a:r>
              <a:rPr lang="pl-PL" dirty="0"/>
              <a:t>W chwili wniesienia aktu oskarżenia </a:t>
            </a:r>
            <a:r>
              <a:rPr lang="pl-PL" dirty="0">
                <a:solidFill>
                  <a:srgbClr val="FF0000"/>
                </a:solidFill>
              </a:rPr>
              <a:t>musi zaistnieć stan taki aby oskarżyciel mógł przedstawić dowody potwierdzające tezę oskarżenia </a:t>
            </a:r>
          </a:p>
          <a:p>
            <a:endParaRPr lang="pl-PL" dirty="0"/>
          </a:p>
          <a:p>
            <a:r>
              <a:rPr lang="pl-PL" dirty="0"/>
              <a:t> „przekonanie prokuratora o winie oskarżonego musi być z jednej strony ostateczne w tym sensie, że na podstawie dotychczas zebranego materiału wyklucza on możliwość, by oskarżony był niewinny (...), z drugiej zaś strony (...) przekonanie prokuratorskie o winie oskarżonego nie może być ostateczne w tym znaczeniu, by wykluczało możliwość wykazania niewinności oskarżonego” w jakimś przyszłym postępowaniu, „w odniesieniu zaś do aktu oskarżenia – w postępowaniu sądowym” (M. Cieślak)</a:t>
            </a:r>
          </a:p>
        </p:txBody>
      </p:sp>
    </p:spTree>
    <p:extLst>
      <p:ext uri="{BB962C8B-B14F-4D97-AF65-F5344CB8AC3E}">
        <p14:creationId xmlns:p14="http://schemas.microsoft.com/office/powerpoint/2010/main" val="25621545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5910408"/>
          </a:xfrm>
        </p:spPr>
        <p:txBody>
          <a:bodyPr>
            <a:normAutofit fontScale="32500" lnSpcReduction="20000"/>
          </a:bodyPr>
          <a:lstStyle/>
          <a:p>
            <a:endParaRPr lang="pl-PL" dirty="0"/>
          </a:p>
          <a:p>
            <a:pPr algn="just"/>
            <a:r>
              <a:rPr lang="pl-PL" sz="8000" dirty="0">
                <a:solidFill>
                  <a:srgbClr val="FF0000"/>
                </a:solidFill>
              </a:rPr>
              <a:t>Akt oskarżenia jest czynnością procesową wyjątkowo dolegliwą </a:t>
            </a:r>
            <a:r>
              <a:rPr lang="pl-PL" sz="8000" dirty="0"/>
              <a:t>z punktu widzenia oskarżonego obywatela, w rzeczywistości niewinnego. Nadając obywatelowi piętno oskarżonego, prokurator postępuje uczciwie i lojalnie tylko wówczas, gdy czynność tę wykonuje z subiektywnym przekonaniem popartym dowodami,  że oskarżenie jest zarówno prawnie, jak i faktycznie (dowodowo) uzasadnione. I tylko wtedy może w sposób odpowiedzialny złożyć swój podpis pod aktem oskarżenia, nie naruszając równocześnie zasady domniemania niewinności oskarżonego.</a:t>
            </a:r>
          </a:p>
          <a:p>
            <a:pPr algn="just"/>
            <a:endParaRPr lang="pl-PL" sz="8000" dirty="0"/>
          </a:p>
          <a:p>
            <a:pPr algn="just"/>
            <a:r>
              <a:rPr lang="pl-PL" sz="8000" dirty="0">
                <a:solidFill>
                  <a:srgbClr val="FF0000"/>
                </a:solidFill>
              </a:rPr>
              <a:t>Jeżeli prokurator sam tego przekonania nie ma, to powinien zgodnie ze wspomnianą zasadą postępowanie przygotowawcze umorzyć, unikając złożenia swego podpisu pod niedostatecznie uzasadnionym aktem oskarżenia”  (R. Kmiecik)</a:t>
            </a:r>
          </a:p>
        </p:txBody>
      </p:sp>
    </p:spTree>
    <p:extLst>
      <p:ext uri="{BB962C8B-B14F-4D97-AF65-F5344CB8AC3E}">
        <p14:creationId xmlns:p14="http://schemas.microsoft.com/office/powerpoint/2010/main" val="2295040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35496" y="116632"/>
            <a:ext cx="8770176" cy="5982416"/>
          </a:xfrm>
        </p:spPr>
        <p:txBody>
          <a:bodyPr>
            <a:normAutofit/>
          </a:bodyPr>
          <a:lstStyle/>
          <a:p>
            <a:r>
              <a:rPr lang="pl-PL" sz="3600" dirty="0"/>
              <a:t>Wyrok skazujący – pewność, co do faktu, że oskarżony popełnił przestępstwo</a:t>
            </a:r>
          </a:p>
          <a:p>
            <a:endParaRPr lang="pl-PL" sz="3600" dirty="0"/>
          </a:p>
          <a:p>
            <a:r>
              <a:rPr lang="pl-PL" sz="3600" dirty="0"/>
              <a:t>„Dopóki nie nastąpi stwierdzenie przestępstwa w wyroku skazującym lub warunkowo umarzającym postępowanie dopóty w grę wchodzi – z procesowego punktu widzenia – tylko podejrzenie popełnienia przestępstwa” (W. Daszkiewicz)</a:t>
            </a:r>
          </a:p>
        </p:txBody>
      </p:sp>
    </p:spTree>
    <p:extLst>
      <p:ext uri="{BB962C8B-B14F-4D97-AF65-F5344CB8AC3E}">
        <p14:creationId xmlns:p14="http://schemas.microsoft.com/office/powerpoint/2010/main" val="2018639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16632"/>
            <a:ext cx="8626160" cy="5982416"/>
          </a:xfrm>
        </p:spPr>
        <p:txBody>
          <a:bodyPr>
            <a:normAutofit fontScale="92500"/>
          </a:bodyPr>
          <a:lstStyle/>
          <a:p>
            <a:r>
              <a:rPr lang="pl-PL" dirty="0"/>
              <a:t>Postanowienie Sądu Apelacyjnego w Krakowie z dnia 25.01.2007,  II </a:t>
            </a:r>
            <a:r>
              <a:rPr lang="pl-PL" dirty="0" err="1"/>
              <a:t>AKz</a:t>
            </a:r>
            <a:r>
              <a:rPr lang="pl-PL" dirty="0"/>
              <a:t> 19/07 </a:t>
            </a:r>
          </a:p>
          <a:p>
            <a:r>
              <a:rPr lang="pl-PL" dirty="0"/>
              <a:t>Oczywiście błędny jest zarzut skarżącego o braku dużego prawdopodobieństwa popełnienia przestępstwa, skoro oskarżony został za to przestępstwo nieprawomocnie skazany. Kwestia ta została bez wątpliwości rozstrzygnięta w praktyce (zob. np. postanowienie Sądu Apelacyjnego z dnia 27 lipca 2005 roku, KZS 7-8/05 poz. 87), a odmienne stanowisko nie da się pogodzić z podstawowymi zasadami procesu karnego. </a:t>
            </a:r>
            <a:r>
              <a:rPr lang="pl-PL" dirty="0">
                <a:solidFill>
                  <a:srgbClr val="FF0000"/>
                </a:solidFill>
              </a:rPr>
              <a:t>Skoro sąd wydaje wyrok skazujący, oznacza to, że jest pewien, iż oskarżony popełnił czyn mu przypisany. Podważanie tego przekonania jest niedopuszczalne w postępowaniu wpadkowym co do aresztowania, bo tyczy rozstrzygnięcia o meritum.</a:t>
            </a:r>
          </a:p>
        </p:txBody>
      </p:sp>
    </p:spTree>
    <p:extLst>
      <p:ext uri="{BB962C8B-B14F-4D97-AF65-F5344CB8AC3E}">
        <p14:creationId xmlns:p14="http://schemas.microsoft.com/office/powerpoint/2010/main" val="1830050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188640"/>
            <a:ext cx="8554152" cy="6624736"/>
          </a:xfrm>
        </p:spPr>
        <p:txBody>
          <a:bodyPr>
            <a:normAutofit fontScale="85000" lnSpcReduction="10000"/>
          </a:bodyPr>
          <a:lstStyle/>
          <a:p>
            <a:endParaRPr lang="pl-PL" dirty="0"/>
          </a:p>
          <a:p>
            <a:r>
              <a:rPr lang="pl-PL" sz="6400" dirty="0">
                <a:solidFill>
                  <a:srgbClr val="00B050"/>
                </a:solidFill>
              </a:rPr>
              <a:t>„Czynu nie popełniono” :</a:t>
            </a:r>
          </a:p>
          <a:p>
            <a:pPr>
              <a:buNone/>
            </a:pPr>
            <a:endParaRPr lang="pl-PL" sz="2600" dirty="0"/>
          </a:p>
          <a:p>
            <a:pPr>
              <a:buNone/>
            </a:pPr>
            <a:r>
              <a:rPr lang="pl-PL" sz="2600" dirty="0"/>
              <a:t>     – zdarzenie w ogóle nie miało miejsca,</a:t>
            </a:r>
          </a:p>
          <a:p>
            <a:pPr>
              <a:buNone/>
            </a:pPr>
            <a:r>
              <a:rPr lang="pl-PL" sz="2600" dirty="0"/>
              <a:t>        </a:t>
            </a:r>
          </a:p>
          <a:p>
            <a:pPr>
              <a:buNone/>
            </a:pPr>
            <a:r>
              <a:rPr lang="pl-PL" sz="2600" dirty="0"/>
              <a:t>     -  zdarzenie nie ma cech czynu w rozumieniu prawa karnego </a:t>
            </a:r>
          </a:p>
          <a:p>
            <a:pPr>
              <a:buNone/>
            </a:pPr>
            <a:r>
              <a:rPr lang="pl-PL" sz="2600" dirty="0"/>
              <a:t>       </a:t>
            </a:r>
          </a:p>
          <a:p>
            <a:pPr>
              <a:buNone/>
            </a:pPr>
            <a:r>
              <a:rPr lang="pl-PL" sz="2600" dirty="0"/>
              <a:t>      - czynu nie popełnił dany oskarżony?</a:t>
            </a:r>
          </a:p>
          <a:p>
            <a:pPr>
              <a:buNone/>
            </a:pPr>
            <a:r>
              <a:rPr lang="pl-PL" sz="2600" dirty="0">
                <a:solidFill>
                  <a:srgbClr val="FF0000"/>
                </a:solidFill>
              </a:rPr>
              <a:t>     </a:t>
            </a:r>
            <a:r>
              <a:rPr lang="pl-PL" sz="4700" dirty="0">
                <a:solidFill>
                  <a:srgbClr val="FF0000"/>
                </a:solidFill>
              </a:rPr>
              <a:t>Czynem jest zachowanie człowieka zależne od jego woli i mające określone znaczenie społeczne (negatywne, pozytywne).</a:t>
            </a:r>
          </a:p>
          <a:p>
            <a:pPr>
              <a:buNone/>
            </a:pPr>
            <a:r>
              <a:rPr lang="pl-PL" sz="2600" dirty="0"/>
              <a:t>  </a:t>
            </a:r>
          </a:p>
          <a:p>
            <a:pPr>
              <a:buNone/>
            </a:pPr>
            <a:r>
              <a:rPr lang="pl-PL" sz="2600" dirty="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188640"/>
            <a:ext cx="8554152" cy="6624736"/>
          </a:xfrm>
        </p:spPr>
        <p:txBody>
          <a:bodyPr>
            <a:normAutofit/>
          </a:bodyPr>
          <a:lstStyle/>
          <a:p>
            <a:endParaRPr lang="pl-PL" dirty="0"/>
          </a:p>
          <a:p>
            <a:r>
              <a:rPr lang="pl-PL" sz="2000" dirty="0"/>
              <a:t>Art.  322.  [Umorzenie śledztwa]</a:t>
            </a:r>
          </a:p>
          <a:p>
            <a:r>
              <a:rPr lang="pl-PL" sz="2000" dirty="0"/>
              <a:t>§  1. </a:t>
            </a:r>
          </a:p>
          <a:p>
            <a:r>
              <a:rPr lang="pl-PL" sz="2000" dirty="0"/>
              <a:t>Jeżeli postępowanie nie dostarczyło podstaw do wniesienia aktu oskarżenia, a nie zachodzą warunki określone w art. 324, umarza się śledztwo bez konieczności uprzedniego zaznajomienia z materiałami postępowania i jego zamknięcia.</a:t>
            </a:r>
          </a:p>
          <a:p>
            <a:r>
              <a:rPr lang="pl-PL" sz="2000" dirty="0"/>
              <a:t>§  2. </a:t>
            </a:r>
          </a:p>
          <a:p>
            <a:r>
              <a:rPr lang="pl-PL" sz="2000" dirty="0"/>
              <a:t>Postanowienie o umorzeniu śledztwa powinno zawierać, oprócz danych wymienionych w art. 94, dokładne określenie czynu i jego kwalifikacji prawnej oraz wskazanie przyczyn umorzenia.</a:t>
            </a:r>
          </a:p>
          <a:p>
            <a:r>
              <a:rPr lang="pl-PL" sz="2000" dirty="0"/>
              <a:t>§  3. </a:t>
            </a:r>
          </a:p>
          <a:p>
            <a:r>
              <a:rPr lang="pl-PL" sz="2000" dirty="0"/>
              <a:t>Jeżeli umorzenie następuje po wydaniu postanowienia o przedstawieniu zarzutów albo przesłuchaniu osoby w charakterze podejrzanego, postanowienie o umorzeniu powinno zawierać także imię i nazwisko podejrzanego oraz w razie potrzeby inne dane o jego osobie.</a:t>
            </a:r>
          </a:p>
          <a:p>
            <a:pPr>
              <a:buNone/>
            </a:pPr>
            <a:r>
              <a:rPr lang="pl-PL" sz="2600" dirty="0"/>
              <a:t>  </a:t>
            </a:r>
          </a:p>
          <a:p>
            <a:pPr>
              <a:buNone/>
            </a:pPr>
            <a:r>
              <a:rPr lang="pl-PL" sz="2600" dirty="0"/>
              <a:t>  </a:t>
            </a:r>
          </a:p>
        </p:txBody>
      </p:sp>
    </p:spTree>
    <p:extLst>
      <p:ext uri="{BB962C8B-B14F-4D97-AF65-F5344CB8AC3E}">
        <p14:creationId xmlns:p14="http://schemas.microsoft.com/office/powerpoint/2010/main" val="1711111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6624736"/>
          </a:xfrm>
        </p:spPr>
        <p:txBody>
          <a:bodyPr>
            <a:normAutofit fontScale="92500" lnSpcReduction="20000"/>
          </a:bodyPr>
          <a:lstStyle/>
          <a:p>
            <a:endParaRPr lang="pl-PL" dirty="0"/>
          </a:p>
          <a:p>
            <a:r>
              <a:rPr lang="pl-PL" sz="3900" dirty="0"/>
              <a:t>Czynem jest ruch (lub zespół ruchów), a więc zachowanie się człowieka motywowane dążnością do realizacji wyobrażonego celu, nad którą to dążnością człowiek jest zdolny zapanować (A. Zoll: Komentarz do k.k. Część ogólna, Warszawa 1994, str. 11). Innymi słowy, o czynie w rozumieniu prawa karnego można mówić dopiero wtedy, gdy zachowanie się człowieka jest "wytworem jego woli" (W. Wolter: Zarys systemu prawa karnego, t. I, str. 48-50).</a:t>
            </a:r>
          </a:p>
          <a:p>
            <a:pPr>
              <a:buNone/>
            </a:pPr>
            <a:r>
              <a:rPr lang="pl-PL" sz="2600" dirty="0"/>
              <a:t>  </a:t>
            </a:r>
          </a:p>
        </p:txBody>
      </p:sp>
    </p:spTree>
    <p:extLst>
      <p:ext uri="{BB962C8B-B14F-4D97-AF65-F5344CB8AC3E}">
        <p14:creationId xmlns:p14="http://schemas.microsoft.com/office/powerpoint/2010/main" val="4219087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44624"/>
            <a:ext cx="8698168" cy="6054424"/>
          </a:xfrm>
        </p:spPr>
        <p:txBody>
          <a:bodyPr>
            <a:noAutofit/>
          </a:bodyPr>
          <a:lstStyle/>
          <a:p>
            <a:r>
              <a:rPr lang="pl-PL" sz="4800" dirty="0"/>
              <a:t>Zachowanie człowieka może być działaniem   lub zaniechaniem.</a:t>
            </a:r>
          </a:p>
          <a:p>
            <a:endParaRPr lang="pl-PL" sz="4800" dirty="0"/>
          </a:p>
          <a:p>
            <a:r>
              <a:rPr lang="pl-PL" sz="4800" dirty="0"/>
              <a:t>Działanie polega na aktywnym zachowaniu, a zaniechanie na powstrzymaniu się od działania. </a:t>
            </a:r>
          </a:p>
        </p:txBody>
      </p:sp>
    </p:spTree>
    <p:extLst>
      <p:ext uri="{BB962C8B-B14F-4D97-AF65-F5344CB8AC3E}">
        <p14:creationId xmlns:p14="http://schemas.microsoft.com/office/powerpoint/2010/main" val="23853761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44624"/>
            <a:ext cx="8698168" cy="6054424"/>
          </a:xfrm>
        </p:spPr>
        <p:txBody>
          <a:bodyPr>
            <a:noAutofit/>
          </a:bodyPr>
          <a:lstStyle/>
          <a:p>
            <a:r>
              <a:rPr lang="pl-PL" sz="4800" dirty="0"/>
              <a:t>Art.  2 k.k.</a:t>
            </a:r>
          </a:p>
          <a:p>
            <a:r>
              <a:rPr lang="pl-PL" sz="4800" dirty="0"/>
              <a:t>Odpowiedzialności karnej za przestępstwo skutkowe popełnione przez zaniechanie podlega ten tylko, na kim ciążył prawny, szczególny obowiązek zapobiegnięcia skutkowi.</a:t>
            </a:r>
          </a:p>
          <a:p>
            <a:endParaRPr lang="pl-PL" sz="4800" dirty="0"/>
          </a:p>
        </p:txBody>
      </p:sp>
    </p:spTree>
    <p:extLst>
      <p:ext uri="{BB962C8B-B14F-4D97-AF65-F5344CB8AC3E}">
        <p14:creationId xmlns:p14="http://schemas.microsoft.com/office/powerpoint/2010/main" val="2517002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16632"/>
            <a:ext cx="8626160" cy="6741368"/>
          </a:xfrm>
        </p:spPr>
        <p:txBody>
          <a:bodyPr>
            <a:normAutofit/>
          </a:bodyPr>
          <a:lstStyle/>
          <a:p>
            <a:r>
              <a:rPr lang="pl-PL" sz="3600" dirty="0"/>
              <a:t>Jakkolwiek definicja czynu uchodzi za jedną z najbardziej spornych kwestii, wywołujących wiele dyskusji, to trzeba zgodzić się z tymi przedstawicielami doktryny, według których zasadniczym rdzeniem (istotą) znaczeniowym czynu pozostaje więź zachodząca między przeżyciami psychicznymi człowieka, a jego postępowaniem (zob. M. Cieślak: Polskie prawo karne. Zarys ujęcia systemowego, Warszawa 1994, s. 142). </a:t>
            </a:r>
          </a:p>
        </p:txBody>
      </p:sp>
    </p:spTree>
    <p:extLst>
      <p:ext uri="{BB962C8B-B14F-4D97-AF65-F5344CB8AC3E}">
        <p14:creationId xmlns:p14="http://schemas.microsoft.com/office/powerpoint/2010/main" val="40994851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6336704"/>
          </a:xfrm>
        </p:spPr>
        <p:txBody>
          <a:bodyPr>
            <a:normAutofit/>
          </a:bodyPr>
          <a:lstStyle/>
          <a:p>
            <a:r>
              <a:rPr lang="pl-PL" dirty="0"/>
              <a:t>Czynu nie da się sprowadzić jedynie do samych przeżyć psychicznych, jeżeli nie znalazły one wyrazu w żadnej zewnętrznej aktywności (</a:t>
            </a:r>
            <a:r>
              <a:rPr lang="pl-PL" i="1" dirty="0" err="1"/>
              <a:t>cogitationis</a:t>
            </a:r>
            <a:r>
              <a:rPr lang="pl-PL" i="1" dirty="0"/>
              <a:t> </a:t>
            </a:r>
            <a:r>
              <a:rPr lang="pl-PL" i="1" dirty="0" err="1"/>
              <a:t>poenam</a:t>
            </a:r>
            <a:r>
              <a:rPr lang="pl-PL" i="1" dirty="0"/>
              <a:t> </a:t>
            </a:r>
            <a:r>
              <a:rPr lang="pl-PL" i="1" dirty="0" err="1"/>
              <a:t>nemo</a:t>
            </a:r>
            <a:r>
              <a:rPr lang="pl-PL" i="1" dirty="0"/>
              <a:t> </a:t>
            </a:r>
            <a:r>
              <a:rPr lang="pl-PL" i="1" dirty="0" err="1"/>
              <a:t>patitur</a:t>
            </a:r>
            <a:r>
              <a:rPr lang="pl-PL" dirty="0"/>
              <a:t>). Zasadnie przyjmuje się w orzecznictwie, że zasadniczym rdzeniem znaczeniowym (istotą) czynu pozostaje więź zachodząca między przeżyciami psychicznymi człowieka a jego postępowaniem (wyrok SN z 1.10.2003 r., </a:t>
            </a:r>
            <a:r>
              <a:rPr lang="pl-PL" dirty="0">
                <a:hlinkClick r:id="rId2"/>
              </a:rPr>
              <a:t>IV KKN 318/01</a:t>
            </a:r>
            <a:r>
              <a:rPr lang="pl-PL" dirty="0"/>
              <a:t>, LEX nr 84460), w związku z czym w polskim systemie prawa nie ma możliwości skazania za sam zamiar popełnienia przestępstwa (wyrok SN z 13.01.2004 r., </a:t>
            </a:r>
            <a:r>
              <a:rPr lang="pl-PL" dirty="0">
                <a:hlinkClick r:id="rId3"/>
              </a:rPr>
              <a:t>WA 62/03</a:t>
            </a:r>
            <a:r>
              <a:rPr lang="pl-PL" dirty="0"/>
              <a:t>, </a:t>
            </a:r>
            <a:r>
              <a:rPr lang="pl-PL" dirty="0" err="1"/>
              <a:t>OSNwSK</a:t>
            </a:r>
            <a:r>
              <a:rPr lang="pl-PL" dirty="0"/>
              <a:t> 2004/1, poz. 90) – J. Kosonoga: R. Stefański, R. Zabłocki, Komentarz do k.p.k. </a:t>
            </a:r>
          </a:p>
        </p:txBody>
      </p:sp>
    </p:spTree>
    <p:extLst>
      <p:ext uri="{BB962C8B-B14F-4D97-AF65-F5344CB8AC3E}">
        <p14:creationId xmlns:p14="http://schemas.microsoft.com/office/powerpoint/2010/main" val="6040023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301752" y="260648"/>
            <a:ext cx="8503920" cy="6264696"/>
          </a:xfrm>
        </p:spPr>
        <p:txBody>
          <a:bodyPr>
            <a:normAutofit/>
          </a:bodyPr>
          <a:lstStyle/>
          <a:p>
            <a:r>
              <a:rPr lang="pl-PL" sz="3600" dirty="0"/>
              <a:t>Wyrok Sądu Najwyższego z dnia 13 stycznia 2004 r., WA 62/03</a:t>
            </a:r>
          </a:p>
          <a:p>
            <a:r>
              <a:rPr lang="pl-PL" sz="6000" dirty="0"/>
              <a:t>W polskim systemie prawa nie ma możliwości skazania za sam zamiar popełnienia przestępstwa.</a:t>
            </a:r>
          </a:p>
          <a:p>
            <a:endParaRPr lang="pl-PL" dirty="0"/>
          </a:p>
        </p:txBody>
      </p:sp>
    </p:spTree>
    <p:extLst>
      <p:ext uri="{BB962C8B-B14F-4D97-AF65-F5344CB8AC3E}">
        <p14:creationId xmlns:p14="http://schemas.microsoft.com/office/powerpoint/2010/main" val="8137894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6336704"/>
          </a:xfrm>
        </p:spPr>
        <p:txBody>
          <a:bodyPr>
            <a:normAutofit fontScale="77500" lnSpcReduction="20000"/>
          </a:bodyPr>
          <a:lstStyle/>
          <a:p>
            <a:r>
              <a:rPr lang="pl-PL" dirty="0">
                <a:solidFill>
                  <a:schemeClr val="tx1">
                    <a:lumMod val="95000"/>
                    <a:lumOff val="5000"/>
                  </a:schemeClr>
                </a:solidFill>
              </a:rPr>
              <a:t>Wyrokiem z dnia 28 października 2003 r., w wyniku ponownego rozpoznania sprawy, Wojskowy Sąd Okręgowy w Warszawie uniewinnił mjra M. L. "z popełnienia zarzucanego aktem oskarżenia czynu", który miał polegać na tym, że "w dniu 07.07.2000 r., w celu osiągnięcia korzyści majątkowej (mjr M. L. - </a:t>
            </a:r>
            <a:r>
              <a:rPr lang="pl-PL" dirty="0" err="1">
                <a:solidFill>
                  <a:schemeClr val="tx1">
                    <a:lumMod val="95000"/>
                    <a:lumOff val="5000"/>
                  </a:schemeClr>
                </a:solidFill>
              </a:rPr>
              <a:t>dop</a:t>
            </a:r>
            <a:r>
              <a:rPr lang="pl-PL" dirty="0">
                <a:solidFill>
                  <a:schemeClr val="tx1">
                    <a:lumMod val="95000"/>
                    <a:lumOff val="5000"/>
                  </a:schemeClr>
                </a:solidFill>
              </a:rPr>
              <a:t>. SN), doprowadził Dowódcę Jednostki Wojskowej w Ł. do niekorzystnego rozporządzenia mieniem tej jednostki poprzez wprowadzenie go w błąd w ten sposób, że użył jako autentyczny, podrobiony dowód wpłaty KP nr 625485763 z dnia 20.06.2000 r., rzekomo wystawiony przez Związek Harcerstwa Polskiego Komendę Hufca w K.(...), opiewający na kwotę 950,00 zł (dziewięćset pięćdziesiąt złotych), za uczestnictwo jego dziecka J. L. na obozie harcerskim w m. G. w dniach 14.07-02.08. 2000 r., a następnie wymieniony dowód wpłaty załączył do wniosku skierowanego do Dowódcy Jednostki Wojskowej w Ł. o dokonanie częściowego zwrotu kosztów poniesionych z tytułu opłacenia pobytu jego dziecka na wspomnianym obozie, w następstwie czego w dniu 11.07.2000 r. z konta bankowego JW w Ł. dokonano przelewu na dobro rachunku bankowego mjra M. L. kwoty nienależnego mu dofinansowania w kwocie 475,00 zł (czterysta siedemdziesiąt pięć złotych), działając tym samym na szkodę Dowódcy JW w Ł., którego następcą prawnym obecnie jest Dowódca JW w Ł." i wypełniać dyspozycje przepisów </a:t>
            </a:r>
            <a:r>
              <a:rPr lang="pl-PL" dirty="0">
                <a:solidFill>
                  <a:schemeClr val="tx1">
                    <a:lumMod val="95000"/>
                    <a:lumOff val="5000"/>
                  </a:schemeClr>
                </a:solidFill>
                <a:hlinkClick r:id="rId2">
                  <a:extLst>
                    <a:ext uri="{A12FA001-AC4F-418D-AE19-62706E023703}">
                      <ahyp:hlinkClr xmlns:ahyp="http://schemas.microsoft.com/office/drawing/2018/hyperlinkcolor" val="tx"/>
                    </a:ext>
                  </a:extLst>
                </a:hlinkClick>
              </a:rPr>
              <a:t>art. 286 § 1</a:t>
            </a:r>
            <a:r>
              <a:rPr lang="pl-PL" dirty="0">
                <a:solidFill>
                  <a:schemeClr val="tx1">
                    <a:lumMod val="95000"/>
                    <a:lumOff val="5000"/>
                  </a:schemeClr>
                </a:solidFill>
              </a:rPr>
              <a:t> k.k. w </a:t>
            </a:r>
            <a:r>
              <a:rPr lang="pl-PL" dirty="0" err="1">
                <a:solidFill>
                  <a:schemeClr val="tx1">
                    <a:lumMod val="95000"/>
                    <a:lumOff val="5000"/>
                  </a:schemeClr>
                </a:solidFill>
              </a:rPr>
              <a:t>zb.</a:t>
            </a:r>
            <a:r>
              <a:rPr lang="pl-PL" dirty="0">
                <a:solidFill>
                  <a:schemeClr val="tx1">
                    <a:lumMod val="95000"/>
                    <a:lumOff val="5000"/>
                  </a:schemeClr>
                </a:solidFill>
              </a:rPr>
              <a:t> z </a:t>
            </a:r>
            <a:r>
              <a:rPr lang="pl-PL" dirty="0">
                <a:solidFill>
                  <a:schemeClr val="tx1">
                    <a:lumMod val="95000"/>
                    <a:lumOff val="5000"/>
                  </a:schemeClr>
                </a:solidFill>
                <a:hlinkClick r:id="rId3">
                  <a:extLst>
                    <a:ext uri="{A12FA001-AC4F-418D-AE19-62706E023703}">
                      <ahyp:hlinkClr xmlns:ahyp="http://schemas.microsoft.com/office/drawing/2018/hyperlinkcolor" val="tx"/>
                    </a:ext>
                  </a:extLst>
                </a:hlinkClick>
              </a:rPr>
              <a:t>art. 270 § 1</a:t>
            </a:r>
            <a:r>
              <a:rPr lang="pl-PL" dirty="0">
                <a:solidFill>
                  <a:schemeClr val="tx1">
                    <a:lumMod val="95000"/>
                    <a:lumOff val="5000"/>
                  </a:schemeClr>
                </a:solidFill>
              </a:rPr>
              <a:t> k.k.</a:t>
            </a:r>
          </a:p>
        </p:txBody>
      </p:sp>
    </p:spTree>
    <p:extLst>
      <p:ext uri="{BB962C8B-B14F-4D97-AF65-F5344CB8AC3E}">
        <p14:creationId xmlns:p14="http://schemas.microsoft.com/office/powerpoint/2010/main" val="419367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6336704"/>
          </a:xfrm>
        </p:spPr>
        <p:txBody>
          <a:bodyPr>
            <a:normAutofit fontScale="77500" lnSpcReduction="20000"/>
          </a:bodyPr>
          <a:lstStyle/>
          <a:p>
            <a:r>
              <a:rPr lang="pl-PL" dirty="0"/>
              <a:t>Autor apelacji zdaje się jednak nie zauważać, że postępowanie karne prowadzone przeciwko M. L. nie doprowadziło do udowodnienia mu winy. Nie można wszak zapominać, że to nieudowodnienie winy nie wynika z niewłaściwego postępowania prowadzonego przez sąd pierwszej instancji. Taki materiał dowodowy i wbrew niemu konstruowany zarzut aktu oskarżenia został przedstawiony przez prokuratora (nota bene personalnie nawet - autora apelacji). Podkreślenia wymaga, że prokurator ten oskarżył mjra M. L. o użycie, jako autentycznego, podrobionego dowodu wpłaty i załączenie go do wniosku skierowanego do Dowódcy JW w Ł. o dokonanie częściowego zwrotu kosztów poniesionych z tytułu opłacenia pobytu jego dziecka na obozie, mimo że już na etapie postępowania przygotowawczego wiadomo było, że zarówno dowód wpłaty, jak i ów wniosek zostały podrobione przez S. S., a więc - mówiąc wprost - nienależną kwotę dofinansowania przelano na dobro rachunku M. L. na skutek działań S. S. Natomiast istnienia porozumienia czy działania na polecenie, czy chociażby wiedzy o podjętych przez S. S. działaniach, L. nie udowodniono. Bez tego zaś skazanie - nawet jeśli okoliczności sprawy wydają się najbardziej absurdalne - nie może mieć miejsca, oparte byłoby bowiem na domniemaniu. I te okoliczności sąd pierwszej instancji wskazał, podkreślając, że istnieją inne możliwości przebiegu zdarzeń niż założone przez oskarżyciela.</a:t>
            </a:r>
          </a:p>
        </p:txBody>
      </p:sp>
    </p:spTree>
    <p:extLst>
      <p:ext uri="{BB962C8B-B14F-4D97-AF65-F5344CB8AC3E}">
        <p14:creationId xmlns:p14="http://schemas.microsoft.com/office/powerpoint/2010/main" val="12383831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6336704"/>
          </a:xfrm>
        </p:spPr>
        <p:txBody>
          <a:bodyPr>
            <a:normAutofit fontScale="77500" lnSpcReduction="20000"/>
          </a:bodyPr>
          <a:lstStyle/>
          <a:p>
            <a:r>
              <a:rPr lang="pl-PL" dirty="0"/>
              <a:t>Ponownie rozpoznający sprawę sąd pierwszej instancji czynił próby wyjaśnienia tej nietypowej sytuacji, rozważał nawet różne warianty kwalifikacji prawnej przyznanego przez oskarżonego działania (innej niż zarzucana), ale jak słusznie zauważył i te próby natrafiają na rafy w postaci braku dowodów winy. Przypomnijmy bowiem - oskarżony przyznał się do zamiaru wyłudzenia mienia w postaci dofinansowania fikcyjnego pobytu dziecka na zorganizowanym wypoczynku i poczynił pewne kroki mające na celu próbę urzeczywistnienia tego zamiaru. Niewątpliwie wyjaśnienia te wskazują, że jego postępowanie weszło w fazę przygotowania. Nie ma już jednak dowodów na to, by uznać to działanie za usiłowanie wyłudzenia mienia, nie wiadomo bowiem, co stało się z dokumentami przygotowanymi przez oskarżonego, poza tym że poczynił jakieś starania zmierzające do dostarczenia tych dokumentów do jednostki. Od tego momentu można snuć tylko domysły, jak doszło do tak nietypowego działania S. S. Nie doprowadzi do pożądanego przez oskarżyciela skutku przeprowadzenie dodatkowych przesłuchań, konfrontacji świadków S. i F. ani próba ustalania, czy blankiety rachunków leżały na stole, czy była jakaś tajemnicza teczka w jednostce w K. bądź kto napisał kartkę z danymi personalnymi dziecka oskarżonego i co się z tą kartką stało, oraz ustalenie, że S. załatwiał rachunki. I nawet jeśli się przyjmie, że wersja zaprezentowana przez S. jest fałszywa, to i tak nie doprowadzi to do ustalenia, że mjr L. wyłudził pieniądze w sposób opisany w zarzucie aktu oskarżenia.</a:t>
            </a:r>
          </a:p>
        </p:txBody>
      </p:sp>
    </p:spTree>
    <p:extLst>
      <p:ext uri="{BB962C8B-B14F-4D97-AF65-F5344CB8AC3E}">
        <p14:creationId xmlns:p14="http://schemas.microsoft.com/office/powerpoint/2010/main" val="17018794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1106" name="Rectangle 3">
            <a:extLst>
              <a:ext uri="{FF2B5EF4-FFF2-40B4-BE49-F238E27FC236}">
                <a16:creationId xmlns:a16="http://schemas.microsoft.com/office/drawing/2014/main" id="{319CD176-F77A-0A8C-79A6-0833643A178C}"/>
              </a:ext>
            </a:extLst>
          </p:cNvPr>
          <p:cNvSpPr>
            <a:spLocks noGrp="1" noChangeArrowheads="1"/>
          </p:cNvSpPr>
          <p:nvPr>
            <p:ph idx="1"/>
          </p:nvPr>
        </p:nvSpPr>
        <p:spPr>
          <a:xfrm>
            <a:off x="250825" y="333375"/>
            <a:ext cx="8642350" cy="6696075"/>
          </a:xfrm>
        </p:spPr>
        <p:txBody>
          <a:bodyPr>
            <a:normAutofit lnSpcReduction="10000"/>
          </a:bodyPr>
          <a:lstStyle/>
          <a:p>
            <a:r>
              <a:rPr lang="pl-PL" altLang="pl-PL" sz="3200" dirty="0">
                <a:solidFill>
                  <a:srgbClr val="000000"/>
                </a:solidFill>
                <a:latin typeface="Times New Roman" panose="02020603050405020304" pitchFamily="18" charset="0"/>
              </a:rPr>
              <a:t>Problem przestępstwa z art. 148a par. 1 k.k. (</a:t>
            </a:r>
            <a:r>
              <a:rPr lang="pl-PL" altLang="pl-PL" sz="3200" dirty="0" err="1">
                <a:solidFill>
                  <a:srgbClr val="000000"/>
                </a:solidFill>
                <a:latin typeface="Times New Roman" panose="02020603050405020304" pitchFamily="18" charset="0"/>
              </a:rPr>
              <a:t>myślozbrodnia</a:t>
            </a:r>
            <a:r>
              <a:rPr lang="pl-PL" altLang="pl-PL" sz="3200" dirty="0">
                <a:solidFill>
                  <a:srgbClr val="000000"/>
                </a:solidFill>
                <a:latin typeface="Times New Roman" panose="02020603050405020304" pitchFamily="18" charset="0"/>
              </a:rPr>
              <a:t>?)</a:t>
            </a:r>
          </a:p>
          <a:p>
            <a:r>
              <a:rPr lang="pl-PL" altLang="pl-PL" sz="3200" dirty="0">
                <a:solidFill>
                  <a:srgbClr val="000000"/>
                </a:solidFill>
                <a:latin typeface="Times New Roman" panose="02020603050405020304" pitchFamily="18" charset="0"/>
              </a:rPr>
              <a:t>„Art. 148a. § 1. Kto </a:t>
            </a:r>
            <a:r>
              <a:rPr lang="pl-PL" altLang="pl-PL" sz="3200" b="1" dirty="0">
                <a:solidFill>
                  <a:srgbClr val="C00000"/>
                </a:solidFill>
                <a:latin typeface="Times New Roman" panose="02020603050405020304" pitchFamily="18" charset="0"/>
              </a:rPr>
              <a:t>przyjmuje zlecenie </a:t>
            </a:r>
            <a:r>
              <a:rPr lang="pl-PL" altLang="pl-PL" sz="3200" dirty="0">
                <a:solidFill>
                  <a:srgbClr val="000000"/>
                </a:solidFill>
                <a:latin typeface="Times New Roman" panose="02020603050405020304" pitchFamily="18" charset="0"/>
              </a:rPr>
              <a:t>zabójstwa człowieka w zamian za udzieloną lub obiecaną korzyść majątkową lub osobistą, </a:t>
            </a:r>
          </a:p>
          <a:p>
            <a:r>
              <a:rPr lang="pl-PL" altLang="pl-PL" sz="3200" dirty="0">
                <a:solidFill>
                  <a:srgbClr val="000000"/>
                </a:solidFill>
                <a:latin typeface="Times New Roman" panose="02020603050405020304" pitchFamily="18" charset="0"/>
              </a:rPr>
              <a:t>podlega karze pozbawienia wolności od lat 2 do 15. </a:t>
            </a:r>
          </a:p>
          <a:p>
            <a:r>
              <a:rPr lang="pl-PL" altLang="pl-PL" sz="3200" dirty="0">
                <a:solidFill>
                  <a:srgbClr val="000000"/>
                </a:solidFill>
                <a:latin typeface="Times New Roman" panose="02020603050405020304" pitchFamily="18" charset="0"/>
              </a:rPr>
              <a:t>§ 2. Nie podlega karze za przestępstwo określone w § 1, kto przed wszczęciem postępowania karnego ujawnił wobec organu powołanego do ścigania przestępstw osobę lub osoby zlecające zabójstwo oraz istotne okoliczności popełnionego czynu.”; </a:t>
            </a:r>
            <a:endParaRPr lang="pl-PL" altLang="pl-PL" sz="3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3154" name="Symbol zastępczy zawartości 2">
            <a:extLst>
              <a:ext uri="{FF2B5EF4-FFF2-40B4-BE49-F238E27FC236}">
                <a16:creationId xmlns:a16="http://schemas.microsoft.com/office/drawing/2014/main" id="{D387914E-F67E-4E4D-A3F4-008BB39114DC}"/>
              </a:ext>
            </a:extLst>
          </p:cNvPr>
          <p:cNvSpPr>
            <a:spLocks noGrp="1" noChangeArrowheads="1"/>
          </p:cNvSpPr>
          <p:nvPr>
            <p:ph idx="1"/>
          </p:nvPr>
        </p:nvSpPr>
        <p:spPr>
          <a:xfrm>
            <a:off x="107950" y="549275"/>
            <a:ext cx="8712200" cy="6048375"/>
          </a:xfrm>
        </p:spPr>
        <p:txBody>
          <a:bodyPr/>
          <a:lstStyle/>
          <a:p>
            <a:pPr algn="just" eaLnBrk="1" hangingPunct="1"/>
            <a:r>
              <a:rPr lang="pl-PL" altLang="pl-PL" sz="4400" dirty="0">
                <a:solidFill>
                  <a:srgbClr val="C00000"/>
                </a:solidFill>
                <a:latin typeface="Calibri" panose="020F0502020204030204" pitchFamily="34" charset="0"/>
                <a:ea typeface="Calibri" panose="020F0502020204030204" pitchFamily="34" charset="0"/>
                <a:cs typeface="Times New Roman" panose="02020603050405020304" pitchFamily="18" charset="0"/>
              </a:rPr>
              <a:t>Z uzasadnienia projektu noweli: </a:t>
            </a:r>
            <a:r>
              <a:rPr lang="pl-PL" altLang="pl-PL" sz="4400" dirty="0">
                <a:latin typeface="Calibri" panose="020F0502020204030204" pitchFamily="34" charset="0"/>
                <a:ea typeface="Calibri" panose="020F0502020204030204" pitchFamily="34" charset="0"/>
                <a:cs typeface="Times New Roman" panose="02020603050405020304" pitchFamily="18" charset="0"/>
              </a:rPr>
              <a:t>Przyjęcie zlecenia zabójstwa nie mieści się w prawnych ramach przygotowania do popełnienia zabójstwa, gdyż nie jest to porozumienie w celu popełnienia czynu zabronionego w rozumieniu art. 16 § 1 k.k. </a:t>
            </a:r>
            <a:endParaRPr lang="pl-PL" altLang="pl-PL" sz="4400" dirty="0">
              <a:ea typeface="Calibri" panose="020F0502020204030204" pitchFamily="34"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5202" name="Symbol zastępczy zawartości 2">
            <a:extLst>
              <a:ext uri="{FF2B5EF4-FFF2-40B4-BE49-F238E27FC236}">
                <a16:creationId xmlns:a16="http://schemas.microsoft.com/office/drawing/2014/main" id="{E0C517E2-899E-276E-934B-FA67D9209123}"/>
              </a:ext>
            </a:extLst>
          </p:cNvPr>
          <p:cNvSpPr>
            <a:spLocks noGrp="1" noChangeArrowheads="1"/>
          </p:cNvSpPr>
          <p:nvPr>
            <p:ph idx="1"/>
          </p:nvPr>
        </p:nvSpPr>
        <p:spPr>
          <a:xfrm>
            <a:off x="179388" y="0"/>
            <a:ext cx="8640762" cy="6597650"/>
          </a:xfrm>
        </p:spPr>
        <p:txBody>
          <a:bodyPr/>
          <a:lstStyle/>
          <a:p>
            <a:pPr algn="just"/>
            <a:r>
              <a:rPr lang="pl-PL" altLang="pl-PL" sz="3600" dirty="0"/>
              <a:t>Art.  16 §  1 k.k. </a:t>
            </a:r>
          </a:p>
          <a:p>
            <a:pPr algn="just"/>
            <a:r>
              <a:rPr lang="pl-PL" altLang="pl-PL" sz="3600" dirty="0"/>
              <a:t>Przygotowanie zachodzi tylko wtedy, gdy sprawca </a:t>
            </a:r>
            <a:r>
              <a:rPr lang="pl-PL" altLang="pl-PL" sz="3600" dirty="0">
                <a:solidFill>
                  <a:srgbClr val="0070C0"/>
                </a:solidFill>
              </a:rPr>
              <a:t>w celu popełnienia czynu zabronionego podejmuje czynności mające stworzyć warunki do przedsięwzięcia czynu zmierzającego bezpośrednio do jego dokonania, w szczególności </a:t>
            </a:r>
            <a:r>
              <a:rPr lang="pl-PL" altLang="pl-PL" sz="3600" b="1" dirty="0">
                <a:solidFill>
                  <a:srgbClr val="FF0000"/>
                </a:solidFill>
              </a:rPr>
              <a:t>w tymże celu wchodzi w porozumienie z inną osobą, </a:t>
            </a:r>
            <a:r>
              <a:rPr lang="pl-PL" altLang="pl-PL" sz="3600" dirty="0"/>
              <a:t>uzyskuje lub przysposabia środki, zbiera informacje lub sporządza plan działania.</a:t>
            </a:r>
          </a:p>
          <a:p>
            <a:pPr algn="just" eaLnBrk="1" hangingPunct="1"/>
            <a:endParaRPr lang="pl-PL" altLang="pl-PL" sz="4400" dirty="0">
              <a:ea typeface="Calibri" panose="020F0502020204030204" pitchFamily="34"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5202" name="Symbol zastępczy zawartości 2">
            <a:extLst>
              <a:ext uri="{FF2B5EF4-FFF2-40B4-BE49-F238E27FC236}">
                <a16:creationId xmlns:a16="http://schemas.microsoft.com/office/drawing/2014/main" id="{E0C517E2-899E-276E-934B-FA67D9209123}"/>
              </a:ext>
            </a:extLst>
          </p:cNvPr>
          <p:cNvSpPr>
            <a:spLocks noGrp="1" noChangeArrowheads="1"/>
          </p:cNvSpPr>
          <p:nvPr>
            <p:ph idx="1"/>
          </p:nvPr>
        </p:nvSpPr>
        <p:spPr>
          <a:xfrm>
            <a:off x="179388" y="0"/>
            <a:ext cx="8640762" cy="6597650"/>
          </a:xfrm>
        </p:spPr>
        <p:txBody>
          <a:bodyPr>
            <a:normAutofit fontScale="62500" lnSpcReduction="20000"/>
          </a:bodyPr>
          <a:lstStyle/>
          <a:p>
            <a:r>
              <a:rPr lang="pl-PL" sz="3200" dirty="0"/>
              <a:t>Wyrok Sądu Apelacyjnego w Łodzi z dnia 6 października 2000 r., </a:t>
            </a:r>
          </a:p>
          <a:p>
            <a:r>
              <a:rPr lang="pl-PL" sz="3200" dirty="0"/>
              <a:t>II </a:t>
            </a:r>
            <a:r>
              <a:rPr lang="pl-PL" sz="3200" dirty="0" err="1"/>
              <a:t>AKa</a:t>
            </a:r>
            <a:r>
              <a:rPr lang="pl-PL" sz="3200" dirty="0"/>
              <a:t> 138/99</a:t>
            </a:r>
          </a:p>
          <a:p>
            <a:r>
              <a:rPr lang="pl-PL" sz="3200" b="1" dirty="0">
                <a:solidFill>
                  <a:srgbClr val="FF0000"/>
                </a:solidFill>
              </a:rPr>
              <a:t>Przygotowanie jako postać stadialna przestępstwa występuje w dwóch odmianach:</a:t>
            </a:r>
          </a:p>
          <a:p>
            <a:r>
              <a:rPr lang="pl-PL" sz="3200" dirty="0"/>
              <a:t>- jednoosobowej, gdy sprawca podejmuje czynności polegające na pozyskaniu lub przysposobieniu środków, zbieraniu informacji bądź sporządzeniu planu działania, które mogą stworzyć warunki do przedsięwzięcia czynu zmierzającego bezpośrednio do jego dokonania,</a:t>
            </a:r>
          </a:p>
          <a:p>
            <a:r>
              <a:rPr lang="pl-PL" sz="3200" dirty="0"/>
              <a:t>- </a:t>
            </a:r>
            <a:r>
              <a:rPr lang="pl-PL" sz="3200" b="1" dirty="0">
                <a:solidFill>
                  <a:srgbClr val="FF0000"/>
                </a:solidFill>
              </a:rPr>
              <a:t>wieloosobowej, gdy dwie lub więcej osób wchodzi w porozumienie celem popełnienia przestępstwa.</a:t>
            </a:r>
          </a:p>
          <a:p>
            <a:r>
              <a:rPr lang="pl-PL" sz="3200" dirty="0"/>
              <a:t>Należy dodać, że ta ostatnia postać przygotowania została odmiennie uregulowana na gruncie obecnie obowiązującego art. 16 § 1 k.k. w porównaniu z jego odpowiednikiem w poprzednim stanie prawnym - art. 14 § 1 k.k. z 1969 r. O ile uprzednio wystarczył sam fakt uzgodnienia z inną osobą woli wspólnego popełnienia w przyszłości przestępstwa, którego przygotowanie było karalne, to art. 16 § 1 k.k. z 1997 r. wymaga, aby wejście w porozumienie stanowiło obiektywnie ułatwienie w realizacji czynu zabronionego, przez stworzenie warunków do przedsięwzięcia czynności zmierzających bezpośrednio do dokonania tegoż czynu. </a:t>
            </a:r>
            <a:r>
              <a:rPr lang="pl-PL" sz="3200" b="1" dirty="0">
                <a:solidFill>
                  <a:srgbClr val="0070C0"/>
                </a:solidFill>
              </a:rPr>
              <a:t>Tym samym porozumienie z inną osobą (osobami) musi obejmować nie tylko podjęcie decyzji popełnienia czynu zabronionego, ale i omówienie podziału ról wykonawczych.</a:t>
            </a:r>
          </a:p>
          <a:p>
            <a:pPr algn="just" eaLnBrk="1" hangingPunct="1"/>
            <a:endParaRPr lang="pl-PL" altLang="pl-PL" sz="44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348825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5202" name="Symbol zastępczy zawartości 2">
            <a:extLst>
              <a:ext uri="{FF2B5EF4-FFF2-40B4-BE49-F238E27FC236}">
                <a16:creationId xmlns:a16="http://schemas.microsoft.com/office/drawing/2014/main" id="{E0C517E2-899E-276E-934B-FA67D9209123}"/>
              </a:ext>
            </a:extLst>
          </p:cNvPr>
          <p:cNvSpPr>
            <a:spLocks noGrp="1" noChangeArrowheads="1"/>
          </p:cNvSpPr>
          <p:nvPr>
            <p:ph idx="1"/>
          </p:nvPr>
        </p:nvSpPr>
        <p:spPr>
          <a:xfrm>
            <a:off x="179388" y="0"/>
            <a:ext cx="8640762" cy="6597650"/>
          </a:xfrm>
        </p:spPr>
        <p:txBody>
          <a:bodyPr/>
          <a:lstStyle/>
          <a:p>
            <a:pPr algn="just"/>
            <a:r>
              <a:rPr lang="pl-PL" altLang="pl-PL" sz="4000" dirty="0">
                <a:solidFill>
                  <a:srgbClr val="000000"/>
                </a:solidFill>
                <a:latin typeface="Times New Roman" panose="02020603050405020304" pitchFamily="18" charset="0"/>
              </a:rPr>
              <a:t>Art. 148 § 5 k.k.</a:t>
            </a:r>
          </a:p>
          <a:p>
            <a:pPr algn="just"/>
            <a:r>
              <a:rPr lang="pl-PL" altLang="pl-PL" sz="4000" dirty="0">
                <a:solidFill>
                  <a:srgbClr val="000000"/>
                </a:solidFill>
                <a:latin typeface="Times New Roman" panose="02020603050405020304" pitchFamily="18" charset="0"/>
              </a:rPr>
              <a:t> Kto czyni przygotowania do przestępstwa określonego w § 1, 2 lub 3, podlega karze pozbawienia wolności od lat 2 do 15 </a:t>
            </a:r>
          </a:p>
          <a:p>
            <a:pPr algn="just"/>
            <a:r>
              <a:rPr lang="pl-PL" altLang="pl-PL" sz="4000" dirty="0">
                <a:solidFill>
                  <a:srgbClr val="000000"/>
                </a:solidFill>
                <a:latin typeface="Times New Roman" panose="02020603050405020304" pitchFamily="18" charset="0"/>
              </a:rPr>
              <a:t>(Z uzasadnienia projektu noweli: niespójność systemowa brak dotychczas tego przepisu np. w kontekście treści art. 270 par. 3 k.k.) </a:t>
            </a:r>
            <a:endParaRPr lang="pl-PL" altLang="pl-PL" sz="4000" dirty="0"/>
          </a:p>
          <a:p>
            <a:pPr algn="just" eaLnBrk="1" hangingPunct="1"/>
            <a:endParaRPr lang="pl-PL" altLang="pl-PL" sz="44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448628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5202" name="Symbol zastępczy zawartości 2">
            <a:extLst>
              <a:ext uri="{FF2B5EF4-FFF2-40B4-BE49-F238E27FC236}">
                <a16:creationId xmlns:a16="http://schemas.microsoft.com/office/drawing/2014/main" id="{E0C517E2-899E-276E-934B-FA67D9209123}"/>
              </a:ext>
            </a:extLst>
          </p:cNvPr>
          <p:cNvSpPr>
            <a:spLocks noGrp="1" noChangeArrowheads="1"/>
          </p:cNvSpPr>
          <p:nvPr>
            <p:ph idx="1"/>
          </p:nvPr>
        </p:nvSpPr>
        <p:spPr>
          <a:xfrm>
            <a:off x="179388" y="0"/>
            <a:ext cx="8640762" cy="6597650"/>
          </a:xfrm>
        </p:spPr>
        <p:txBody>
          <a:bodyPr/>
          <a:lstStyle/>
          <a:p>
            <a:r>
              <a:rPr lang="pl-PL" altLang="pl-PL" sz="4400" dirty="0"/>
              <a:t>Analiza przypadków karalności przygotowania wskazuje, że jest ona wprowadzana odnośnie do najgroźniejszych typów przestępstw, </a:t>
            </a:r>
            <a:r>
              <a:rPr lang="pl-PL" altLang="pl-PL" sz="4400" b="1" dirty="0">
                <a:solidFill>
                  <a:srgbClr val="FF0000"/>
                </a:solidFill>
              </a:rPr>
              <a:t>i to tylko wtedy, gdy ich popełnienie jest niemożliwe bez wcześniejszego przygotowania.</a:t>
            </a:r>
          </a:p>
          <a:p>
            <a:pPr algn="just" eaLnBrk="1" hangingPunct="1"/>
            <a:endParaRPr lang="pl-PL" altLang="pl-PL" sz="44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377517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7250" name="Symbol zastępczy zawartości 2">
            <a:extLst>
              <a:ext uri="{FF2B5EF4-FFF2-40B4-BE49-F238E27FC236}">
                <a16:creationId xmlns:a16="http://schemas.microsoft.com/office/drawing/2014/main" id="{3689757D-0544-C75E-360E-D38847F3AC6B}"/>
              </a:ext>
            </a:extLst>
          </p:cNvPr>
          <p:cNvSpPr>
            <a:spLocks noGrp="1" noChangeArrowheads="1"/>
          </p:cNvSpPr>
          <p:nvPr>
            <p:ph idx="1"/>
          </p:nvPr>
        </p:nvSpPr>
        <p:spPr>
          <a:xfrm>
            <a:off x="179388" y="260350"/>
            <a:ext cx="8713787" cy="6481763"/>
          </a:xfrm>
        </p:spPr>
        <p:txBody>
          <a:bodyPr>
            <a:normAutofit lnSpcReduction="10000"/>
          </a:bodyPr>
          <a:lstStyle/>
          <a:p>
            <a:pPr marL="382588" indent="-382588" eaLnBrk="1" hangingPunct="1"/>
            <a:r>
              <a:rPr lang="pl-PL" altLang="pl-PL" sz="3200">
                <a:solidFill>
                  <a:srgbClr val="C00000"/>
                </a:solidFill>
                <a:latin typeface="Times" panose="02020603050405020304" pitchFamily="18" charset="0"/>
                <a:ea typeface="Times New Roman" panose="02020603050405020304" pitchFamily="18" charset="0"/>
                <a:cs typeface="Arial" panose="020B0604020202020204" pitchFamily="34" charset="0"/>
              </a:rPr>
              <a:t>C.d. uzasadnienia:</a:t>
            </a:r>
            <a:r>
              <a:rPr lang="pl-PL" altLang="pl-PL" sz="3200">
                <a:latin typeface="Times" panose="02020603050405020304" pitchFamily="18" charset="0"/>
                <a:ea typeface="Times New Roman" panose="02020603050405020304" pitchFamily="18" charset="0"/>
                <a:cs typeface="Arial" panose="020B0604020202020204" pitchFamily="34" charset="0"/>
              </a:rPr>
              <a:t> Należy również zauważyć, że wprowadzenia kryminalizacji przyjęcia zlecenia zabójstwa nie można utożsamiać z karalnością za zamiar zabójstwa, której projekt nie przewiduje. Przyjęcie zlecenia zabójstwa stanowi zmianę w świecie zewnętrznym, sterowaną wolą człowieka, a więc spełnia przyjmowaną w prawie karnym definicję czynu. Owa zmiana polega na tym, że przyjmujący zlecenie informuje o tym zlecającego, manifestując gotowość jego dokonania, co stanowi warunek konieczny realizacji znamion tego przestępstwa. </a:t>
            </a:r>
          </a:p>
          <a:p>
            <a:pPr marL="382588" indent="-382588" eaLnBrk="1" hangingPunct="1"/>
            <a:r>
              <a:rPr lang="pl-PL" altLang="pl-PL" sz="3200">
                <a:solidFill>
                  <a:srgbClr val="FF0000"/>
                </a:solidFill>
                <a:latin typeface="Times" panose="02020603050405020304" pitchFamily="18" charset="0"/>
                <a:ea typeface="Times New Roman" panose="02020603050405020304" pitchFamily="18" charset="0"/>
                <a:cs typeface="Arial" panose="020B0604020202020204" pitchFamily="34" charset="0"/>
              </a:rPr>
              <a:t>Cogitationis poenam nemo patitur.</a:t>
            </a:r>
          </a:p>
          <a:p>
            <a:pPr marL="382588" indent="-382588" eaLnBrk="1" hangingPunct="1"/>
            <a:endParaRPr lang="pl-PL" altLang="pl-PL" sz="3200">
              <a:ea typeface="Times New Roman" panose="02020603050405020304" pitchFamily="18" charset="0"/>
              <a:cs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8274" name="Symbol zastępczy zawartości 2">
            <a:extLst>
              <a:ext uri="{FF2B5EF4-FFF2-40B4-BE49-F238E27FC236}">
                <a16:creationId xmlns:a16="http://schemas.microsoft.com/office/drawing/2014/main" id="{70C979FB-7851-0228-0484-C04A413E00B0}"/>
              </a:ext>
            </a:extLst>
          </p:cNvPr>
          <p:cNvSpPr>
            <a:spLocks noGrp="1" noChangeArrowheads="1"/>
          </p:cNvSpPr>
          <p:nvPr>
            <p:ph idx="1"/>
          </p:nvPr>
        </p:nvSpPr>
        <p:spPr>
          <a:xfrm>
            <a:off x="179388" y="188913"/>
            <a:ext cx="8713787" cy="6553200"/>
          </a:xfrm>
        </p:spPr>
        <p:txBody>
          <a:bodyPr/>
          <a:lstStyle/>
          <a:p>
            <a:pPr marL="0" indent="0" eaLnBrk="1" hangingPunct="1">
              <a:buFont typeface="Wingdings" panose="05000000000000000000" pitchFamily="2" charset="2"/>
              <a:buNone/>
            </a:pPr>
            <a:r>
              <a:rPr lang="pl-PL" altLang="pl-PL" sz="2200" dirty="0">
                <a:solidFill>
                  <a:srgbClr val="C00000"/>
                </a:solidFill>
                <a:latin typeface="Times" panose="02020603050405020304" pitchFamily="18" charset="0"/>
                <a:ea typeface="Times New Roman" panose="02020603050405020304" pitchFamily="18" charset="0"/>
                <a:cs typeface="Arial" panose="020B0604020202020204" pitchFamily="34" charset="0"/>
              </a:rPr>
              <a:t>Kryminalizacja na przedpolu</a:t>
            </a:r>
          </a:p>
          <a:p>
            <a:pPr marL="0" indent="0" eaLnBrk="1" hangingPunct="1">
              <a:buFont typeface="Wingdings" panose="05000000000000000000" pitchFamily="2" charset="2"/>
              <a:buNone/>
            </a:pPr>
            <a:r>
              <a:rPr lang="pl-PL" altLang="pl-PL" sz="2200" dirty="0">
                <a:solidFill>
                  <a:srgbClr val="C00000"/>
                </a:solidFill>
                <a:latin typeface="Times" panose="02020603050405020304" pitchFamily="18" charset="0"/>
                <a:ea typeface="Times New Roman" panose="02020603050405020304" pitchFamily="18" charset="0"/>
                <a:cs typeface="Arial" panose="020B0604020202020204" pitchFamily="34" charset="0"/>
              </a:rPr>
              <a:t>Symboliczność?</a:t>
            </a:r>
          </a:p>
          <a:p>
            <a:pPr marL="0" indent="0" eaLnBrk="1" hangingPunct="1">
              <a:buFont typeface="Wingdings" panose="05000000000000000000" pitchFamily="2" charset="2"/>
              <a:buNone/>
            </a:pPr>
            <a:r>
              <a:rPr lang="pl-PL" altLang="pl-PL" sz="2200" dirty="0" err="1">
                <a:solidFill>
                  <a:srgbClr val="C00000"/>
                </a:solidFill>
                <a:latin typeface="Times" panose="02020603050405020304" pitchFamily="18" charset="0"/>
                <a:ea typeface="Times New Roman" panose="02020603050405020304" pitchFamily="18" charset="0"/>
                <a:cs typeface="Arial" panose="020B0604020202020204" pitchFamily="34" charset="0"/>
              </a:rPr>
              <a:t>Myślozbrodnia</a:t>
            </a:r>
            <a:r>
              <a:rPr lang="pl-PL" altLang="pl-PL" sz="2200" dirty="0">
                <a:solidFill>
                  <a:srgbClr val="C00000"/>
                </a:solidFill>
                <a:latin typeface="Times" panose="02020603050405020304" pitchFamily="18" charset="0"/>
                <a:ea typeface="Times New Roman" panose="02020603050405020304" pitchFamily="18" charset="0"/>
                <a:cs typeface="Arial" panose="020B0604020202020204" pitchFamily="34" charset="0"/>
              </a:rPr>
              <a:t>?</a:t>
            </a:r>
          </a:p>
          <a:p>
            <a:pPr marL="0" indent="0" eaLnBrk="1" hangingPunct="1">
              <a:buFont typeface="Wingdings" panose="05000000000000000000" pitchFamily="2" charset="2"/>
              <a:buNone/>
            </a:pPr>
            <a:r>
              <a:rPr lang="pl-PL" altLang="pl-PL" sz="2200" dirty="0">
                <a:solidFill>
                  <a:srgbClr val="C00000"/>
                </a:solidFill>
                <a:latin typeface="Times" panose="02020603050405020304" pitchFamily="18" charset="0"/>
                <a:ea typeface="Times New Roman" panose="02020603050405020304" pitchFamily="18" charset="0"/>
                <a:cs typeface="Arial" panose="020B0604020202020204" pitchFamily="34" charset="0"/>
              </a:rPr>
              <a:t>Novum – przyjęcie zlecenia.</a:t>
            </a:r>
          </a:p>
          <a:p>
            <a:pPr marL="0" indent="0" eaLnBrk="1" hangingPunct="1">
              <a:buFont typeface="Wingdings" panose="05000000000000000000" pitchFamily="2" charset="2"/>
              <a:buNone/>
            </a:pPr>
            <a:r>
              <a:rPr lang="pl-PL" altLang="pl-PL" sz="2200" dirty="0">
                <a:solidFill>
                  <a:srgbClr val="C00000"/>
                </a:solidFill>
                <a:latin typeface="Times" panose="02020603050405020304" pitchFamily="18" charset="0"/>
                <a:ea typeface="Times New Roman" panose="02020603050405020304" pitchFamily="18" charset="0"/>
                <a:cs typeface="Arial" panose="020B0604020202020204" pitchFamily="34" charset="0"/>
              </a:rPr>
              <a:t>Penalizacja nie naruszenia, lecz narażenia na niebezpieczeństwo dobra prawnego. </a:t>
            </a:r>
          </a:p>
          <a:p>
            <a:pPr marL="0" indent="0" eaLnBrk="1" hangingPunct="1">
              <a:buFont typeface="Wingdings" panose="05000000000000000000" pitchFamily="2" charset="2"/>
              <a:buNone/>
            </a:pPr>
            <a:r>
              <a:rPr lang="pl-PL" altLang="pl-PL" sz="2200" dirty="0">
                <a:solidFill>
                  <a:srgbClr val="C00000"/>
                </a:solidFill>
                <a:latin typeface="Times" panose="02020603050405020304" pitchFamily="18" charset="0"/>
                <a:ea typeface="Times New Roman" panose="02020603050405020304" pitchFamily="18" charset="0"/>
                <a:cs typeface="Arial" panose="020B0604020202020204" pitchFamily="34" charset="0"/>
              </a:rPr>
              <a:t>Przestępstwo materialne – powstanie określonej relacji, sygnał „jasny”, że przyjmuje zlecenie. </a:t>
            </a:r>
          </a:p>
          <a:p>
            <a:pPr marL="0" indent="0" eaLnBrk="1" hangingPunct="1">
              <a:buFont typeface="Wingdings" panose="05000000000000000000" pitchFamily="2" charset="2"/>
              <a:buNone/>
            </a:pPr>
            <a:r>
              <a:rPr lang="pl-PL" altLang="pl-PL" sz="2200" dirty="0">
                <a:solidFill>
                  <a:srgbClr val="C00000"/>
                </a:solidFill>
                <a:latin typeface="Times" panose="02020603050405020304" pitchFamily="18" charset="0"/>
                <a:ea typeface="Times New Roman" panose="02020603050405020304" pitchFamily="18" charset="0"/>
                <a:cs typeface="Arial" panose="020B0604020202020204" pitchFamily="34" charset="0"/>
              </a:rPr>
              <a:t>Zlecenie zabójstwa zlecającego?</a:t>
            </a:r>
          </a:p>
          <a:p>
            <a:pPr marL="0" indent="0" eaLnBrk="1" hangingPunct="1">
              <a:buFont typeface="Wingdings" panose="05000000000000000000" pitchFamily="2" charset="2"/>
              <a:buNone/>
            </a:pPr>
            <a:r>
              <a:rPr lang="pl-PL" altLang="pl-PL" sz="2200" dirty="0">
                <a:solidFill>
                  <a:srgbClr val="C00000"/>
                </a:solidFill>
                <a:latin typeface="Times" panose="02020603050405020304" pitchFamily="18" charset="0"/>
                <a:ea typeface="Times New Roman" panose="02020603050405020304" pitchFamily="18" charset="0"/>
                <a:cs typeface="Arial" panose="020B0604020202020204" pitchFamily="34" charset="0"/>
              </a:rPr>
              <a:t>Korzyść majątkowa – art. 115 par. 4 k.k. </a:t>
            </a:r>
          </a:p>
          <a:p>
            <a:pPr marL="0" indent="0" eaLnBrk="1" hangingPunct="1">
              <a:buFont typeface="Wingdings" panose="05000000000000000000" pitchFamily="2" charset="2"/>
              <a:buNone/>
            </a:pPr>
            <a:r>
              <a:rPr lang="pl-PL" altLang="pl-PL" sz="2200" dirty="0">
                <a:solidFill>
                  <a:srgbClr val="C00000"/>
                </a:solidFill>
                <a:latin typeface="Times" panose="02020603050405020304" pitchFamily="18" charset="0"/>
                <a:ea typeface="Times New Roman" panose="02020603050405020304" pitchFamily="18" charset="0"/>
                <a:cs typeface="Arial" panose="020B0604020202020204" pitchFamily="34" charset="0"/>
              </a:rPr>
              <a:t>Strona podmiotowa – zamiar bezpośredni, brak realnego zamiaru realizacji  zlecenia dekompletuje znamiona.</a:t>
            </a:r>
          </a:p>
          <a:p>
            <a:pPr marL="0" indent="0" eaLnBrk="1" hangingPunct="1">
              <a:buFont typeface="Wingdings" panose="05000000000000000000" pitchFamily="2" charset="2"/>
              <a:buNone/>
            </a:pPr>
            <a:r>
              <a:rPr lang="pl-PL" altLang="pl-PL" sz="2200" dirty="0">
                <a:solidFill>
                  <a:srgbClr val="C00000"/>
                </a:solidFill>
                <a:latin typeface="Times" panose="02020603050405020304" pitchFamily="18" charset="0"/>
                <a:ea typeface="Times New Roman" panose="02020603050405020304" pitchFamily="18" charset="0"/>
                <a:cs typeface="Arial" panose="020B0604020202020204" pitchFamily="34" charset="0"/>
              </a:rPr>
              <a:t>Sankcja taka jak za czynienie przygotowania do zabójstwa.</a:t>
            </a:r>
          </a:p>
          <a:p>
            <a:pPr marL="0" indent="0" eaLnBrk="1" hangingPunct="1">
              <a:buFont typeface="Wingdings" panose="05000000000000000000" pitchFamily="2" charset="2"/>
              <a:buNone/>
            </a:pPr>
            <a:r>
              <a:rPr lang="pl-PL" altLang="pl-PL" sz="2200" dirty="0">
                <a:solidFill>
                  <a:srgbClr val="C00000"/>
                </a:solidFill>
                <a:latin typeface="Times" panose="02020603050405020304" pitchFamily="18" charset="0"/>
                <a:ea typeface="Times New Roman" panose="02020603050405020304" pitchFamily="18" charset="0"/>
                <a:cs typeface="Arial" panose="020B0604020202020204" pitchFamily="34" charset="0"/>
              </a:rPr>
              <a:t>Racjonalność? Brak wyjaśnienia powodów wprowadzenia regulacji; problem zasady proporcjonalności.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22" name="Symbol zastępczy zawartości 2">
            <a:extLst>
              <a:ext uri="{FF2B5EF4-FFF2-40B4-BE49-F238E27FC236}">
                <a16:creationId xmlns:a16="http://schemas.microsoft.com/office/drawing/2014/main" id="{F4E22C79-B1B3-EA1E-8EAA-41CD0F746FB5}"/>
              </a:ext>
            </a:extLst>
          </p:cNvPr>
          <p:cNvSpPr>
            <a:spLocks noGrp="1" noChangeArrowheads="1"/>
          </p:cNvSpPr>
          <p:nvPr>
            <p:ph idx="1"/>
          </p:nvPr>
        </p:nvSpPr>
        <p:spPr>
          <a:xfrm>
            <a:off x="179388" y="260350"/>
            <a:ext cx="8713787" cy="6481763"/>
          </a:xfrm>
        </p:spPr>
        <p:txBody>
          <a:bodyPr/>
          <a:lstStyle/>
          <a:p>
            <a:pPr marL="0" indent="0" eaLnBrk="1" hangingPunct="1">
              <a:buFont typeface="Wingdings" panose="05000000000000000000" pitchFamily="2" charset="2"/>
              <a:buNone/>
            </a:pPr>
            <a:r>
              <a:rPr lang="pl-PL" altLang="pl-PL" sz="3200" dirty="0">
                <a:solidFill>
                  <a:srgbClr val="C00000"/>
                </a:solidFill>
                <a:latin typeface="Times" panose="02020603050405020304" pitchFamily="18" charset="0"/>
                <a:ea typeface="Times New Roman" panose="02020603050405020304" pitchFamily="18" charset="0"/>
                <a:cs typeface="Arial" panose="020B0604020202020204" pitchFamily="34" charset="0"/>
              </a:rPr>
              <a:t>W art. 148a § 2 k.k. - klauzula niekaralności</a:t>
            </a:r>
          </a:p>
          <a:p>
            <a:pPr marL="0" indent="0" eaLnBrk="1" hangingPunct="1">
              <a:buFont typeface="Wingdings" panose="05000000000000000000" pitchFamily="2" charset="2"/>
              <a:buNone/>
            </a:pPr>
            <a:r>
              <a:rPr lang="pl-PL" altLang="pl-PL" sz="3200" dirty="0">
                <a:solidFill>
                  <a:srgbClr val="C00000"/>
                </a:solidFill>
                <a:latin typeface="Times" panose="02020603050405020304" pitchFamily="18" charset="0"/>
                <a:ea typeface="Times New Roman" panose="02020603050405020304" pitchFamily="18" charset="0"/>
                <a:cs typeface="Arial" panose="020B0604020202020204" pitchFamily="34" charset="0"/>
              </a:rPr>
              <a:t>„(…) biorąc pod uwagę charakter tego czynu, którego istota społecznej szkodliwości sprowadza się do rozciągniętego w czasie zagrożenia dla dobra prawnego w postaci ludzkiego życia, a ponadto w celu skłonienia sprawców do tego, aby nie dokonali</a:t>
            </a:r>
          </a:p>
          <a:p>
            <a:pPr marL="0" indent="0" eaLnBrk="1" hangingPunct="1">
              <a:buFont typeface="Wingdings" panose="05000000000000000000" pitchFamily="2" charset="2"/>
              <a:buNone/>
            </a:pPr>
            <a:r>
              <a:rPr lang="pl-PL" altLang="pl-PL" sz="3200" dirty="0">
                <a:solidFill>
                  <a:srgbClr val="C00000"/>
                </a:solidFill>
                <a:latin typeface="Times" panose="02020603050405020304" pitchFamily="18" charset="0"/>
                <a:ea typeface="Times New Roman" panose="02020603050405020304" pitchFamily="18" charset="0"/>
                <a:cs typeface="Arial" panose="020B0604020202020204" pitchFamily="34" charset="0"/>
              </a:rPr>
              <a:t>zabójstwa, projektodawca przewidział w art. 148a § 2 k.k. możliwość wyrażenia przez sprawcę pewnej formy tzw. czynnego żalu.”</a:t>
            </a:r>
          </a:p>
          <a:p>
            <a:pPr marL="0" indent="0" eaLnBrk="1" hangingPunct="1">
              <a:buFont typeface="Wingdings" panose="05000000000000000000" pitchFamily="2" charset="2"/>
              <a:buNone/>
            </a:pPr>
            <a:r>
              <a:rPr lang="pl-PL" altLang="pl-PL" sz="3200" dirty="0">
                <a:solidFill>
                  <a:srgbClr val="C00000"/>
                </a:solidFill>
                <a:latin typeface="Times" panose="02020603050405020304" pitchFamily="18" charset="0"/>
                <a:ea typeface="Times New Roman" panose="02020603050405020304" pitchFamily="18" charset="0"/>
                <a:cs typeface="Arial" panose="020B0604020202020204" pitchFamily="34" charset="0"/>
              </a:rPr>
              <a:t>Presja, nacisk w celu powstania zachowania z art. 148a par. 2 k.k. Czy wyklucza klauzulę?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2370" name="Symbol zastępczy zawartości 2">
            <a:extLst>
              <a:ext uri="{FF2B5EF4-FFF2-40B4-BE49-F238E27FC236}">
                <a16:creationId xmlns:a16="http://schemas.microsoft.com/office/drawing/2014/main" id="{391DA018-B36A-8820-7F25-F1D3EAB57F16}"/>
              </a:ext>
            </a:extLst>
          </p:cNvPr>
          <p:cNvSpPr>
            <a:spLocks noGrp="1" noChangeArrowheads="1"/>
          </p:cNvSpPr>
          <p:nvPr>
            <p:ph idx="1"/>
          </p:nvPr>
        </p:nvSpPr>
        <p:spPr>
          <a:xfrm>
            <a:off x="0" y="0"/>
            <a:ext cx="8893175" cy="6742113"/>
          </a:xfrm>
        </p:spPr>
        <p:txBody>
          <a:bodyPr>
            <a:normAutofit fontScale="92500"/>
          </a:bodyPr>
          <a:lstStyle/>
          <a:p>
            <a:pPr marL="0" indent="0" eaLnBrk="1" hangingPunct="1">
              <a:buFont typeface="Wingdings" panose="05000000000000000000" pitchFamily="2" charset="2"/>
              <a:buNone/>
            </a:pPr>
            <a:r>
              <a:rPr lang="pl-PL" altLang="pl-PL" sz="3600" b="1"/>
              <a:t>„Państwo prawa opiera się na założeniu racjonalności prawodawcy, a warunkiem koniecznym realizacji tego założenia jest przestrzeganie proporcjonalności w procesie stanowienia prawa. </a:t>
            </a:r>
            <a:r>
              <a:rPr lang="pl-PL" altLang="pl-PL" sz="3600" b="1" i="1">
                <a:solidFill>
                  <a:srgbClr val="C00000"/>
                </a:solidFill>
              </a:rPr>
              <a:t>Określona regulacja powinna być więc przyjmowana (odpowiednio – modyfikowana - przyp. D.K.) tylko wówczas, gdy jest niezbędna dla ochrony interesu publicznego, z którym jest powiązana”</a:t>
            </a:r>
            <a:r>
              <a:rPr lang="pl-PL" altLang="pl-PL" sz="3600" b="1"/>
              <a:t> </a:t>
            </a:r>
            <a:r>
              <a:rPr lang="pl-PL" altLang="pl-PL" sz="2000"/>
              <a:t>– TK w uzasadnieniu orzeczenia z 31.01.1996  r. (K 9/95, OTK 1996, nr 1, poz. 2) </a:t>
            </a:r>
          </a:p>
          <a:p>
            <a:pPr marL="0" indent="0" eaLnBrk="1" hangingPunct="1">
              <a:buFont typeface="Wingdings" panose="05000000000000000000" pitchFamily="2" charset="2"/>
              <a:buNone/>
            </a:pPr>
            <a:endParaRPr lang="pl-PL" altLang="pl-PL" sz="3200">
              <a:solidFill>
                <a:srgbClr val="C00000"/>
              </a:solidFill>
              <a:latin typeface="Times" panose="02020603050405020304" pitchFamily="18" charset="0"/>
              <a:ea typeface="Times New Roman" panose="02020603050405020304" pitchFamily="18" charset="0"/>
              <a:cs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2370" name="Symbol zastępczy zawartości 2">
            <a:extLst>
              <a:ext uri="{FF2B5EF4-FFF2-40B4-BE49-F238E27FC236}">
                <a16:creationId xmlns:a16="http://schemas.microsoft.com/office/drawing/2014/main" id="{391DA018-B36A-8820-7F25-F1D3EAB57F16}"/>
              </a:ext>
            </a:extLst>
          </p:cNvPr>
          <p:cNvSpPr>
            <a:spLocks noGrp="1" noChangeArrowheads="1"/>
          </p:cNvSpPr>
          <p:nvPr>
            <p:ph idx="1"/>
          </p:nvPr>
        </p:nvSpPr>
        <p:spPr>
          <a:xfrm>
            <a:off x="0" y="0"/>
            <a:ext cx="8893175" cy="6742113"/>
          </a:xfrm>
        </p:spPr>
        <p:txBody>
          <a:bodyPr>
            <a:normAutofit fontScale="92500" lnSpcReduction="20000"/>
          </a:bodyPr>
          <a:lstStyle/>
          <a:p>
            <a:pPr marL="0" indent="0">
              <a:buNone/>
            </a:pPr>
            <a:r>
              <a:rPr lang="pl-PL" altLang="pl-PL" sz="3200" dirty="0">
                <a:solidFill>
                  <a:srgbClr val="000000"/>
                </a:solidFill>
                <a:latin typeface="Times New Roman" panose="02020603050405020304" pitchFamily="18" charset="0"/>
              </a:rPr>
              <a:t>Piotr J. (ur. 12 listopada 2008 r.) został skazany za to, że w </a:t>
            </a:r>
            <a:r>
              <a:rPr lang="pl-PL" altLang="pl-PL" sz="3200" dirty="0" err="1">
                <a:solidFill>
                  <a:srgbClr val="000000"/>
                </a:solidFill>
                <a:latin typeface="Times New Roman" panose="02020603050405020304" pitchFamily="18" charset="0"/>
              </a:rPr>
              <a:t>W</a:t>
            </a:r>
            <a:r>
              <a:rPr lang="pl-PL" altLang="pl-PL" sz="3200" dirty="0">
                <a:solidFill>
                  <a:srgbClr val="000000"/>
                </a:solidFill>
                <a:latin typeface="Times New Roman" panose="02020603050405020304" pitchFamily="18" charset="0"/>
              </a:rPr>
              <a:t>., po uprzednim przyjęciu w dniu 10 listopada 2023 r. od nieustalonej osoby zlecenia zabójstwa Jana Z., w zamian za udzieloną mu korzyść majątkową w kwocie 5000 zł, w dniu 13 listopada 2023 r., działając w zamiarze bezpośrednim, ze szczególnym okrucieństwem, zadając pokrzywdzonemu 30 ciosów siekierą w głowę i korpus dokonał jego zabójstwa tj. za przestępstwo z art. 148a par. 1 k.k. i art. 148 par. 2 pkt 1 k.k. w zw. z art. 11 par. 2 k.k. Sąd powołał się w tej sprawie na stan z art. 10 par. 2a k.k. Wymierzono oskarżonemu karę 25 lat pozbawienia wolności.  Sąd Okręgowy wyrokował w składzie jeden sędzia i dwóch ławników uznawszy, iż nie jest w realiach tej sprawy możliwe wymierzenie kary dożywotniego pozbawienia wolności. Oceń trafność tego wyroku na płaszczyźnie przepisów prawa karnego materialnego i procesowego. </a:t>
            </a:r>
          </a:p>
          <a:p>
            <a:pPr marL="0" indent="0" eaLnBrk="1" hangingPunct="1">
              <a:buFont typeface="Wingdings" panose="05000000000000000000" pitchFamily="2" charset="2"/>
              <a:buNone/>
            </a:pPr>
            <a:endParaRPr lang="pl-PL" altLang="pl-PL" sz="3200" dirty="0">
              <a:solidFill>
                <a:srgbClr val="C00000"/>
              </a:solidFill>
              <a:latin typeface="Times" panose="02020603050405020304" pitchFamily="18"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8351073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2370" name="Symbol zastępczy zawartości 2">
            <a:extLst>
              <a:ext uri="{FF2B5EF4-FFF2-40B4-BE49-F238E27FC236}">
                <a16:creationId xmlns:a16="http://schemas.microsoft.com/office/drawing/2014/main" id="{391DA018-B36A-8820-7F25-F1D3EAB57F16}"/>
              </a:ext>
            </a:extLst>
          </p:cNvPr>
          <p:cNvSpPr>
            <a:spLocks noGrp="1" noChangeArrowheads="1"/>
          </p:cNvSpPr>
          <p:nvPr>
            <p:ph idx="1"/>
          </p:nvPr>
        </p:nvSpPr>
        <p:spPr>
          <a:xfrm>
            <a:off x="0" y="0"/>
            <a:ext cx="8893175" cy="6742113"/>
          </a:xfrm>
        </p:spPr>
        <p:txBody>
          <a:bodyPr>
            <a:normAutofit lnSpcReduction="10000"/>
          </a:bodyPr>
          <a:lstStyle/>
          <a:p>
            <a:pPr marL="0" indent="0">
              <a:buNone/>
            </a:pPr>
            <a:r>
              <a:rPr lang="pl-PL" sz="3600" dirty="0">
                <a:solidFill>
                  <a:srgbClr val="000000"/>
                </a:solidFill>
                <a:latin typeface="Times New Roman" panose="02020603050405020304" pitchFamily="18" charset="0"/>
              </a:rPr>
              <a:t>Art. 10 § 2a k.k.</a:t>
            </a:r>
          </a:p>
          <a:p>
            <a:pPr marL="0" indent="0">
              <a:buNone/>
            </a:pPr>
            <a:r>
              <a:rPr lang="pl-PL" sz="3600" dirty="0">
                <a:solidFill>
                  <a:srgbClr val="000000"/>
                </a:solidFill>
                <a:latin typeface="Times New Roman" panose="02020603050405020304" pitchFamily="18" charset="0"/>
              </a:rPr>
              <a:t> Nieletni, który po ukończeniu 14 lat, a przed ukończeniem 15 lat, dopuszcza się czynu zabronionego określonego w art. 148 § 2 lub 3, może odpowiadać na zasadach określonych w tym kodeksie, jeżeli okoliczności sprawy oraz stopień rozwoju sprawcy, jego właściwości i warunki osobiste za tym przemawiają oraz zachodzi </a:t>
            </a:r>
            <a:r>
              <a:rPr lang="pl-PL" sz="3600" b="1" dirty="0">
                <a:solidFill>
                  <a:srgbClr val="C00000"/>
                </a:solidFill>
                <a:latin typeface="Times New Roman" panose="02020603050405020304" pitchFamily="18" charset="0"/>
              </a:rPr>
              <a:t>uzasadnione przypuszczenie, </a:t>
            </a:r>
            <a:r>
              <a:rPr lang="pl-PL" sz="3600" b="1" dirty="0">
                <a:solidFill>
                  <a:srgbClr val="000000"/>
                </a:solidFill>
                <a:latin typeface="Times New Roman" panose="02020603050405020304" pitchFamily="18" charset="0"/>
              </a:rPr>
              <a:t>że stosowanie środków wychowawczych lub poprawczych nie jest w stanie zapewnić resocjalizacji nieletniego.”, </a:t>
            </a:r>
            <a:endParaRPr lang="pl-PL" altLang="pl-PL" sz="3600" b="1" dirty="0"/>
          </a:p>
          <a:p>
            <a:pPr marL="0" indent="0" eaLnBrk="1" hangingPunct="1">
              <a:buFont typeface="Wingdings" panose="05000000000000000000" pitchFamily="2" charset="2"/>
              <a:buNone/>
            </a:pPr>
            <a:endParaRPr lang="pl-PL" altLang="pl-PL" sz="3200" dirty="0">
              <a:solidFill>
                <a:srgbClr val="C00000"/>
              </a:solidFill>
              <a:latin typeface="Times" panose="02020603050405020304" pitchFamily="18"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8588603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7128792"/>
          </a:xfrm>
        </p:spPr>
        <p:txBody>
          <a:bodyPr>
            <a:normAutofit fontScale="55000" lnSpcReduction="20000"/>
          </a:bodyPr>
          <a:lstStyle/>
          <a:p>
            <a:r>
              <a:rPr lang="pl-PL" sz="5100" b="1" dirty="0"/>
              <a:t>Czynami nie są zachowania:</a:t>
            </a:r>
          </a:p>
          <a:p>
            <a:endParaRPr lang="pl-PL" sz="5100" dirty="0"/>
          </a:p>
          <a:p>
            <a:r>
              <a:rPr lang="pl-PL" sz="5800" b="1" dirty="0"/>
              <a:t>1) odruchowe bezwarunkowe </a:t>
            </a:r>
            <a:r>
              <a:rPr lang="pl-PL" sz="5800" dirty="0"/>
              <a:t>- reakcja odruchowa przebiega bez uświadomienia, to znaczy, że nerwy wywołują odruch (pobudzają mięśnie) przed powiadomieniem mózgu (zob. T. Rożniatowski (red.), </a:t>
            </a:r>
            <a:r>
              <a:rPr lang="pl-PL" sz="5800" i="1" dirty="0"/>
              <a:t>Mała encyklopedia medycyny</a:t>
            </a:r>
            <a:r>
              <a:rPr lang="pl-PL" sz="5800" dirty="0"/>
              <a:t>, t. 2, Warszawa 1989, s. 815–816). Funkcjonują bez udziału kory mózgowej. W konkretnej sytuacji nie będzie więc spełniało kryteriów czynu miejscowe pobudzenie ruchowe na skutek rażenia prądem -  J. Kosonoga: R. Stefański, R. Zabłocki, Komentarz do k.p.k.</a:t>
            </a:r>
          </a:p>
          <a:p>
            <a:endParaRPr lang="pl-PL" sz="4500" dirty="0"/>
          </a:p>
          <a:p>
            <a:pPr marL="0" indent="0">
              <a:buNone/>
            </a:pPr>
            <a:endParaRPr lang="pl-PL" dirty="0"/>
          </a:p>
          <a:p>
            <a:endParaRPr lang="pl-PL" dirty="0"/>
          </a:p>
        </p:txBody>
      </p:sp>
    </p:spTree>
    <p:extLst>
      <p:ext uri="{BB962C8B-B14F-4D97-AF65-F5344CB8AC3E}">
        <p14:creationId xmlns:p14="http://schemas.microsoft.com/office/powerpoint/2010/main" val="4144020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7128792"/>
          </a:xfrm>
        </p:spPr>
        <p:txBody>
          <a:bodyPr>
            <a:normAutofit fontScale="62500" lnSpcReduction="20000"/>
          </a:bodyPr>
          <a:lstStyle/>
          <a:p>
            <a:r>
              <a:rPr lang="pl-PL" sz="4600" dirty="0"/>
              <a:t>Obrońca oskarżonego, w ramach wstępnej kontroli oskarżenia domagał się umorzenia postępowania na podstawie art. 17 par. 1 pkt 1 k.p.k. wskazując, że jego klient Jan. D. „nie spowodował świadomie wypadku komunikacyjnego z art. 177 par. 1 k.k.,  prowadząc samochód osobowy, gdyż utrata panowania nad kierowanym pojazdem wyniknęła z ukąszenia  go przez osę, co wywołało odruch bezwarunkowy w obrębie lewej ręki, puszczenie kierownicy trzymanej wcześniej obiema dłońmi i w konsekwencji doprowadziło do zdarzenia, którego skutkiem było naruszenie czynności narządu ciała pasażerki pojazdu Janiny U. na okres powyżej 7 dni. Taki stan rzeczy jednoznacznie wynika z wyjaśnień samego oskarżonego oraz trojga świadków, pasażerów pojazdu. </a:t>
            </a:r>
          </a:p>
          <a:p>
            <a:r>
              <a:rPr lang="pl-PL" sz="4600" dirty="0"/>
              <a:t>Oceń zaistniałą sytuację na płaszczyźnie prawnej? </a:t>
            </a:r>
          </a:p>
          <a:p>
            <a:pPr marL="0" indent="0">
              <a:buNone/>
            </a:pPr>
            <a:endParaRPr lang="pl-PL" dirty="0"/>
          </a:p>
          <a:p>
            <a:endParaRPr lang="pl-PL" dirty="0"/>
          </a:p>
        </p:txBody>
      </p:sp>
    </p:spTree>
    <p:extLst>
      <p:ext uri="{BB962C8B-B14F-4D97-AF65-F5344CB8AC3E}">
        <p14:creationId xmlns:p14="http://schemas.microsoft.com/office/powerpoint/2010/main" val="13929540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7128792"/>
          </a:xfrm>
        </p:spPr>
        <p:txBody>
          <a:bodyPr>
            <a:normAutofit/>
          </a:bodyPr>
          <a:lstStyle/>
          <a:p>
            <a:r>
              <a:rPr lang="pl-PL" sz="5400" dirty="0"/>
              <a:t>Ukłucie szpilką, spowodowanie wypadku przez kierowcę na skutek reakcji na użądlenie go przez osę? - J. Kosonoga: R. Stefański, R. Zabłocki, Komentarz do k.p.k.</a:t>
            </a:r>
          </a:p>
          <a:p>
            <a:endParaRPr lang="pl-PL" dirty="0"/>
          </a:p>
        </p:txBody>
      </p:sp>
    </p:spTree>
    <p:extLst>
      <p:ext uri="{BB962C8B-B14F-4D97-AF65-F5344CB8AC3E}">
        <p14:creationId xmlns:p14="http://schemas.microsoft.com/office/powerpoint/2010/main" val="14590659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404664"/>
            <a:ext cx="8626160" cy="5694384"/>
          </a:xfrm>
        </p:spPr>
        <p:txBody>
          <a:bodyPr>
            <a:normAutofit/>
          </a:bodyPr>
          <a:lstStyle/>
          <a:p>
            <a:r>
              <a:rPr lang="pl-PL" dirty="0"/>
              <a:t>2) </a:t>
            </a:r>
            <a:r>
              <a:rPr lang="pl-PL" b="1" dirty="0"/>
              <a:t>dokonywane pod przymusem fizycznym (vis </a:t>
            </a:r>
            <a:r>
              <a:rPr lang="pl-PL" b="1" dirty="0" err="1"/>
              <a:t>absoluta</a:t>
            </a:r>
            <a:r>
              <a:rPr lang="pl-PL" b="1" dirty="0"/>
              <a:t>)</a:t>
            </a:r>
            <a:r>
              <a:rPr lang="pl-PL" dirty="0"/>
              <a:t>– tj. w sytuacji oddziaływania środkami fizycznymi, uniemożliwiającymi lub przełamującymi opór osoby zmuszanej, aby nie dopuścić do powstania lub wykonania jej decyzji woli. </a:t>
            </a:r>
          </a:p>
          <a:p>
            <a:endParaRPr lang="pl-PL" dirty="0"/>
          </a:p>
          <a:p>
            <a:r>
              <a:rPr lang="pl-PL" i="1" dirty="0"/>
              <a:t>Czynem może być tylko zachowanie się człowieka, będące "wytworem jego woli", a zachowania (ruchy), wykonywane wyłącznie pod wpływem siły zewnętrznej - przymusu fizycznego - czynem nie są, o ile sprawca sile tej nie mógł się oprzeć (vis </a:t>
            </a:r>
            <a:r>
              <a:rPr lang="pl-PL" i="1" dirty="0" err="1"/>
              <a:t>absoluta</a:t>
            </a:r>
            <a:r>
              <a:rPr lang="pl-PL" i="1" dirty="0"/>
              <a:t>) – </a:t>
            </a:r>
            <a:r>
              <a:rPr lang="pl-PL" dirty="0"/>
              <a:t>wyrok SA w Warszawie z dnia 23.06.1999 r. II </a:t>
            </a:r>
            <a:r>
              <a:rPr lang="pl-PL" dirty="0" err="1"/>
              <a:t>AKa</a:t>
            </a:r>
            <a:r>
              <a:rPr lang="pl-PL" dirty="0"/>
              <a:t> 154/99</a:t>
            </a:r>
          </a:p>
          <a:p>
            <a:endParaRPr lang="pl-PL" dirty="0"/>
          </a:p>
        </p:txBody>
      </p:sp>
    </p:spTree>
    <p:extLst>
      <p:ext uri="{BB962C8B-B14F-4D97-AF65-F5344CB8AC3E}">
        <p14:creationId xmlns:p14="http://schemas.microsoft.com/office/powerpoint/2010/main" val="12202115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332656"/>
            <a:ext cx="8626160" cy="6048672"/>
          </a:xfrm>
        </p:spPr>
        <p:txBody>
          <a:bodyPr>
            <a:normAutofit fontScale="85000" lnSpcReduction="20000"/>
          </a:bodyPr>
          <a:lstStyle/>
          <a:p>
            <a:r>
              <a:rPr lang="pl-PL" dirty="0"/>
              <a:t>wyrok SA w Warszawie z dnia 23.06.1999 r. II </a:t>
            </a:r>
            <a:r>
              <a:rPr lang="pl-PL" dirty="0" err="1"/>
              <a:t>AKa</a:t>
            </a:r>
            <a:r>
              <a:rPr lang="pl-PL" dirty="0"/>
              <a:t> 154/99 , Z uzasadnienia: Kodeks karny z 1932 r. w </a:t>
            </a:r>
            <a:r>
              <a:rPr lang="pl-PL" dirty="0">
                <a:hlinkClick r:id="rId2"/>
              </a:rPr>
              <a:t>art. 19</a:t>
            </a:r>
            <a:r>
              <a:rPr lang="pl-PL" dirty="0"/>
              <a:t> stwierdzał, że "Nie popełnia przestępstwa, kto dopuszcza się czynu pod wpływem przymusu fizycznego, któremu nie mógł się oprzeć", natomiast obowiązujący obecnie Kodeks karny nie zawiera przepisu o przymusie fizycznym, pozostawiając to zagadnienie nauce i orzecznictwu sądowemu. Doktryna prawa karnego przyjmuje dziś, że "przymus fizyczny odbiera ruchom człowieka charakter czynu, gdyż powoduje, że człowiek, na skutek sił zewnętrznych, jest pozbawiony wolnego wyboru postępowania. To co się stanie pod wpływem przymusu fizycznego, któremu nie można było się oprzeć (vis </a:t>
            </a:r>
            <a:r>
              <a:rPr lang="pl-PL" dirty="0" err="1"/>
              <a:t>absoluta</a:t>
            </a:r>
            <a:r>
              <a:rPr lang="pl-PL" dirty="0"/>
              <a:t>) nie jest przestępstwem, gdyż stało się bez, a nawet wbrew woli człowieka" (W. </a:t>
            </a:r>
            <a:r>
              <a:rPr lang="pl-PL" dirty="0" err="1"/>
              <a:t>Świda</a:t>
            </a:r>
            <a:r>
              <a:rPr lang="pl-PL" dirty="0"/>
              <a:t>: op. cit., s. 109). Jako przykład braku czynu ze względu na zaistnienie przymusu fizycznego autorzy komentarzy podają m.in. rozbicie szyby przez osobę pchniętą w jej kierunku, potrącenie stojącego samochodu przez inny, na który z kolei najechał następny, brak reakcji wartownika, który został skrępowany  (tu vis </a:t>
            </a:r>
            <a:r>
              <a:rPr lang="pl-PL" dirty="0" err="1"/>
              <a:t>absoluta</a:t>
            </a:r>
            <a:r>
              <a:rPr lang="pl-PL" dirty="0"/>
              <a:t> dot. zaniechania).</a:t>
            </a:r>
          </a:p>
        </p:txBody>
      </p:sp>
    </p:spTree>
    <p:extLst>
      <p:ext uri="{BB962C8B-B14F-4D97-AF65-F5344CB8AC3E}">
        <p14:creationId xmlns:p14="http://schemas.microsoft.com/office/powerpoint/2010/main" val="11421621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6120680"/>
          </a:xfrm>
        </p:spPr>
        <p:txBody>
          <a:bodyPr>
            <a:normAutofit fontScale="77500" lnSpcReduction="20000"/>
          </a:bodyPr>
          <a:lstStyle/>
          <a:p>
            <a:r>
              <a:rPr lang="pl-PL" dirty="0"/>
              <a:t>wyrok SA w Warszawie z dnia 23.06.1999 r. II </a:t>
            </a:r>
            <a:r>
              <a:rPr lang="pl-PL" dirty="0" err="1"/>
              <a:t>AKa</a:t>
            </a:r>
            <a:r>
              <a:rPr lang="pl-PL" dirty="0"/>
              <a:t> 154/99 , Z uzasadnienia: Sąd Okręgowy ustalił bowiem, jak już wyżej wspomniano, że "po dobiegnięciu do oskarżonego Grzegorz M. chwycił lub uderzył lewą ręką za skierowaną do góry lufę broni, ściągając ją do dołu. Z uwagi na to, że oskarżony trzymał palec na języku spustowym, a broń była przeładowana i odbezpieczona, padł strzał". Jednocześnie Sąd dał wiarę wyjaśnieniom oskarżonego co do przebiegu zdarzenia, biorąc za podstawę ustaleń te fragmenty, w których stwierdził on m.in., że nie zamierzał użyć broni, nie chciał nawet strzelać na postrach - co w efekcie skutkowało przyjęciem, że "nastąpił niekontrolowany i niezamierzony przez oskarżonego wystrzał". W takim razie sąd I instancji winien był rozważyć, czy w zaistniałej sytuacji faktycznej oskarżony Jan P. w ogóle popełnił czyn w rozumieniu </a:t>
            </a:r>
            <a:r>
              <a:rPr lang="pl-PL" dirty="0">
                <a:hlinkClick r:id="rId2"/>
              </a:rPr>
              <a:t>art. 1</a:t>
            </a:r>
            <a:r>
              <a:rPr lang="pl-PL" dirty="0"/>
              <a:t> § 1 k.k.</a:t>
            </a:r>
          </a:p>
          <a:p>
            <a:r>
              <a:rPr lang="pl-PL" dirty="0"/>
              <a:t>(…)</a:t>
            </a:r>
          </a:p>
          <a:p>
            <a:r>
              <a:rPr lang="pl-PL" dirty="0"/>
              <a:t>W tym stanie rzeczy, uznając za trafny zawarty w apelacji obrońcy oskarżonego zarzut obrazy prawa materialnego w postaci przepisu </a:t>
            </a:r>
            <a:r>
              <a:rPr lang="pl-PL" dirty="0">
                <a:hlinkClick r:id="rId2"/>
              </a:rPr>
              <a:t>art. 1</a:t>
            </a:r>
            <a:r>
              <a:rPr lang="pl-PL" dirty="0"/>
              <a:t> § 1 k.k., przez niesłuszne przypisanie mu popełnienia przestępstwa, podczas gdy jego zachowanie się nie stanowiło czynu w rozumieniu prawa karnego, zaskarżony wyrok należało zmienić i oskarżonego Jana P. - uniewinnić.</a:t>
            </a:r>
          </a:p>
        </p:txBody>
      </p:sp>
    </p:spTree>
    <p:extLst>
      <p:ext uri="{BB962C8B-B14F-4D97-AF65-F5344CB8AC3E}">
        <p14:creationId xmlns:p14="http://schemas.microsoft.com/office/powerpoint/2010/main" val="25321398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16632"/>
            <a:ext cx="8626160" cy="5982416"/>
          </a:xfrm>
        </p:spPr>
        <p:txBody>
          <a:bodyPr>
            <a:normAutofit/>
          </a:bodyPr>
          <a:lstStyle/>
          <a:p>
            <a:r>
              <a:rPr lang="pl-PL" dirty="0"/>
              <a:t>Takiego skutku nie wywiera </a:t>
            </a:r>
            <a:r>
              <a:rPr lang="pl-PL" b="1" dirty="0"/>
              <a:t>przymus psychiczny </a:t>
            </a:r>
            <a:r>
              <a:rPr lang="pl-PL" dirty="0"/>
              <a:t>(vis </a:t>
            </a:r>
            <a:r>
              <a:rPr lang="pl-PL" dirty="0" err="1"/>
              <a:t>compulsiva</a:t>
            </a:r>
            <a:r>
              <a:rPr lang="pl-PL" dirty="0"/>
              <a:t>)  polegający na wywieraniu nacisku na wolę danej osoby, ograniczającego swobodę podjęcia przez nią decyzji:</a:t>
            </a:r>
          </a:p>
          <a:p>
            <a:endParaRPr lang="pl-PL" dirty="0"/>
          </a:p>
          <a:p>
            <a:r>
              <a:rPr lang="pl-PL" dirty="0"/>
              <a:t>- przymus kompulsywny</a:t>
            </a:r>
          </a:p>
          <a:p>
            <a:r>
              <a:rPr lang="pl-PL" dirty="0"/>
              <a:t>- groźba</a:t>
            </a:r>
          </a:p>
          <a:p>
            <a:endParaRPr lang="pl-PL" dirty="0"/>
          </a:p>
          <a:p>
            <a:r>
              <a:rPr lang="pl-PL" dirty="0"/>
              <a:t> Zachowanie się człowieka w warunkach przymusu psychicznego,  pozostaje czynem. Człowiek ten bowiem w tym przypadku nie jest pozbawiony całkowicie wolnego wyboru postępowania i postępuje zgodnie ze swoją, choć wymuszoną, decyzją.</a:t>
            </a:r>
          </a:p>
        </p:txBody>
      </p:sp>
    </p:spTree>
    <p:extLst>
      <p:ext uri="{BB962C8B-B14F-4D97-AF65-F5344CB8AC3E}">
        <p14:creationId xmlns:p14="http://schemas.microsoft.com/office/powerpoint/2010/main" val="1756729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Autofit/>
          </a:bodyPr>
          <a:lstStyle/>
          <a:p>
            <a:r>
              <a:rPr lang="pl-PL" sz="4000" dirty="0"/>
              <a:t>Sprawca wprawdzie dopuszcza się czynu, ale ocena, czy będzie on stanowić przestępstwo, wymaga analizy pozostałych elementów struktury przestępstwa. Takie zachowanie może być uznane za działanie w stanie wyższej konieczności?  Odpowiedzialność karna może być wyłączona z uwagi na brak winy?</a:t>
            </a:r>
          </a:p>
        </p:txBody>
      </p:sp>
    </p:spTree>
    <p:extLst>
      <p:ext uri="{BB962C8B-B14F-4D97-AF65-F5344CB8AC3E}">
        <p14:creationId xmlns:p14="http://schemas.microsoft.com/office/powerpoint/2010/main" val="1742952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16632"/>
            <a:ext cx="8626160" cy="5982416"/>
          </a:xfrm>
        </p:spPr>
        <p:txBody>
          <a:bodyPr>
            <a:normAutofit lnSpcReduction="10000"/>
          </a:bodyPr>
          <a:lstStyle/>
          <a:p>
            <a:r>
              <a:rPr lang="pl-PL" dirty="0"/>
              <a:t>3) w stanie wyłączonej świadomości – czyli w  sytuacji, gdy osoba jest nieprzytomna lub śpi.</a:t>
            </a:r>
          </a:p>
          <a:p>
            <a:r>
              <a:rPr lang="pl-PL" dirty="0"/>
              <a:t> Świadomość  jest funkcją ośrodkowego układu nerwowego człowieka, która polega na odzwierciedlaniu rzeczywistości.</a:t>
            </a:r>
          </a:p>
          <a:p>
            <a:endParaRPr lang="pl-PL" dirty="0"/>
          </a:p>
          <a:p>
            <a:r>
              <a:rPr lang="pl-PL" dirty="0"/>
              <a:t>4) w stanie wyłączającym fizjologiczną możliwość działania – np. paraliż;</a:t>
            </a:r>
          </a:p>
          <a:p>
            <a:endParaRPr lang="pl-PL" dirty="0"/>
          </a:p>
          <a:p>
            <a:r>
              <a:rPr lang="pl-PL" dirty="0"/>
              <a:t>5) w przypadku ruchów czysto somatycznych – ruch somatyczny reakcja na bodźce zewnętrzne, lecz z całkowitym wyłączeniem ośrodkowego układu nerwowego, np. reakcja na porażenie prądem elektrycznym</a:t>
            </a:r>
          </a:p>
          <a:p>
            <a:endParaRPr lang="pl-PL" dirty="0"/>
          </a:p>
        </p:txBody>
      </p:sp>
    </p:spTree>
    <p:extLst>
      <p:ext uri="{BB962C8B-B14F-4D97-AF65-F5344CB8AC3E}">
        <p14:creationId xmlns:p14="http://schemas.microsoft.com/office/powerpoint/2010/main" val="11246918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16632"/>
            <a:ext cx="8626160" cy="6408712"/>
          </a:xfrm>
        </p:spPr>
        <p:txBody>
          <a:bodyPr>
            <a:normAutofit lnSpcReduction="10000"/>
          </a:bodyPr>
          <a:lstStyle/>
          <a:p>
            <a:r>
              <a:rPr lang="pl-PL" sz="3200" dirty="0"/>
              <a:t>6)w innych sytuacjach, które wyłączają możliwość działania – niemożność psychicznego sterowania zachowaniem z powodu braków impulsów woli – np. przerażenie</a:t>
            </a:r>
          </a:p>
          <a:p>
            <a:endParaRPr lang="pl-PL" sz="3200" dirty="0"/>
          </a:p>
          <a:p>
            <a:r>
              <a:rPr lang="pl-PL" sz="3200" dirty="0"/>
              <a:t>Nie będą czynem również odruchy bezwarunkowe, odruchy wywołane stanami patologicznymi – np. atak epileptyczny, stany, nad którymi sprawca nie mógł zapanować – np. zawał serca kierowcy podczas jazdy. J. Kosonoga: R. Stefański, R. Zabłocki, Komentarz do k.p.k.</a:t>
            </a:r>
          </a:p>
          <a:p>
            <a:endParaRPr lang="pl-PL" dirty="0"/>
          </a:p>
        </p:txBody>
      </p:sp>
    </p:spTree>
    <p:extLst>
      <p:ext uri="{BB962C8B-B14F-4D97-AF65-F5344CB8AC3E}">
        <p14:creationId xmlns:p14="http://schemas.microsoft.com/office/powerpoint/2010/main" val="40688488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Art. 17 par. 1 pkt 1 k.p.k. cd. </a:t>
            </a:r>
          </a:p>
        </p:txBody>
      </p:sp>
      <p:sp>
        <p:nvSpPr>
          <p:cNvPr id="3" name="Symbol zastępczy zawartości 2"/>
          <p:cNvSpPr>
            <a:spLocks noGrp="1"/>
          </p:cNvSpPr>
          <p:nvPr>
            <p:ph sz="quarter" idx="1"/>
          </p:nvPr>
        </p:nvSpPr>
        <p:spPr>
          <a:xfrm>
            <a:off x="301752" y="1052736"/>
            <a:ext cx="8503920" cy="5904656"/>
          </a:xfrm>
        </p:spPr>
        <p:txBody>
          <a:bodyPr>
            <a:normAutofit fontScale="70000" lnSpcReduction="20000"/>
          </a:bodyPr>
          <a:lstStyle/>
          <a:p>
            <a:r>
              <a:rPr lang="pl-PL" sz="5200" b="1" dirty="0">
                <a:solidFill>
                  <a:srgbClr val="00B050"/>
                </a:solidFill>
              </a:rPr>
              <a:t>Brak danych dostatecznie uzasadniających podejrzenie popełnienia czynu </a:t>
            </a:r>
          </a:p>
          <a:p>
            <a:pPr>
              <a:buNone/>
            </a:pPr>
            <a:r>
              <a:rPr lang="pl-PL" dirty="0"/>
              <a:t> </a:t>
            </a:r>
          </a:p>
          <a:p>
            <a:pPr marL="0" indent="0">
              <a:buNone/>
            </a:pPr>
            <a:r>
              <a:rPr lang="pl-PL" sz="3600" dirty="0"/>
              <a:t> </a:t>
            </a:r>
          </a:p>
          <a:p>
            <a:r>
              <a:rPr lang="pl-PL" sz="3600" dirty="0"/>
              <a:t>Chodzi o sytuację, gdy nie ustalono, że czynu nie było, chociaż określone okoliczności wskazują, że mógł zaistnieć, ale nie są wystarczające do potwierdzenia tego faktu i istnieją wątpliwości co do tego; </a:t>
            </a:r>
          </a:p>
          <a:p>
            <a:r>
              <a:rPr lang="pl-PL" sz="3600" dirty="0"/>
              <a:t>nie jest wykluczone, że czyn został popełniony.</a:t>
            </a:r>
          </a:p>
          <a:p>
            <a:endParaRPr lang="pl-PL" sz="3600" dirty="0"/>
          </a:p>
          <a:p>
            <a:r>
              <a:rPr lang="pl-PL" sz="3600" dirty="0"/>
              <a:t>Brak dostatecznego prawdopodobieństwa, że czynu dopuścił się oskarżony.</a:t>
            </a:r>
          </a:p>
          <a:p>
            <a:endParaRPr lang="pl-PL" dirty="0"/>
          </a:p>
          <a:p>
            <a:pPr>
              <a:buNone/>
            </a:pPr>
            <a:r>
              <a:rPr lang="pl-PL" dirty="0"/>
              <a:t>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507288" cy="6840760"/>
          </a:xfrm>
        </p:spPr>
        <p:txBody>
          <a:bodyPr>
            <a:normAutofit fontScale="25000" lnSpcReduction="20000"/>
          </a:bodyPr>
          <a:lstStyle/>
          <a:p>
            <a:endParaRPr lang="pl-PL" sz="9600" dirty="0"/>
          </a:p>
          <a:p>
            <a:endParaRPr lang="pl-PL" sz="12300" dirty="0"/>
          </a:p>
          <a:p>
            <a:r>
              <a:rPr lang="pl-PL" sz="12300" dirty="0"/>
              <a:t>Inaczej traktuje się tę przesłankę na etapie postępowania przygotowawczego a inaczej na etapie postępowanie jurysdykcyjnego:</a:t>
            </a:r>
          </a:p>
          <a:p>
            <a:endParaRPr lang="pl-PL" sz="12300" dirty="0"/>
          </a:p>
          <a:p>
            <a:pPr marL="1371600" indent="-1371600">
              <a:buNone/>
            </a:pPr>
            <a:r>
              <a:rPr lang="pl-PL" sz="12300" dirty="0"/>
              <a:t>     A. </a:t>
            </a:r>
            <a:r>
              <a:rPr lang="pl-PL" sz="12300" b="1" dirty="0"/>
              <a:t>postępowanie przygotowawcze</a:t>
            </a:r>
          </a:p>
          <a:p>
            <a:pPr marL="1371600" indent="-1371600">
              <a:buNone/>
            </a:pPr>
            <a:r>
              <a:rPr lang="pl-PL" sz="12300" dirty="0"/>
              <a:t>     (odmowa wszczęcia śledztwa/dochodzenia lub umorzenie śledztwa/dochodzenia </a:t>
            </a:r>
          </a:p>
          <a:p>
            <a:pPr marL="1371600" indent="-1371600">
              <a:buAutoNum type="alphaUcPeriod"/>
            </a:pPr>
            <a:endParaRPr lang="pl-PL" sz="9600" dirty="0"/>
          </a:p>
          <a:p>
            <a:endParaRPr lang="pl-PL" dirty="0">
              <a:solidFill>
                <a:srgbClr val="FF0000"/>
              </a:solidFill>
            </a:endParaRPr>
          </a:p>
          <a:p>
            <a:endParaRPr lang="pl-PL" dirty="0">
              <a:solidFill>
                <a:srgbClr val="FF0000"/>
              </a:solidFill>
            </a:endParaRPr>
          </a:p>
          <a:p>
            <a:endParaRPr lang="pl-PL" dirty="0">
              <a:solidFill>
                <a:srgbClr val="FF0000"/>
              </a:solidFill>
            </a:endParaRPr>
          </a:p>
          <a:p>
            <a:endParaRPr lang="pl-PL" dirty="0"/>
          </a:p>
          <a:p>
            <a:r>
              <a:rPr lang="pl-PL" dirty="0"/>
              <a:t>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260648"/>
            <a:ext cx="8579296" cy="5759152"/>
          </a:xfrm>
        </p:spPr>
        <p:txBody>
          <a:bodyPr>
            <a:normAutofit fontScale="77500" lnSpcReduction="20000"/>
          </a:bodyPr>
          <a:lstStyle/>
          <a:p>
            <a:pPr>
              <a:buNone/>
            </a:pPr>
            <a:endParaRPr lang="pl-PL" sz="2800" dirty="0"/>
          </a:p>
          <a:p>
            <a:pPr>
              <a:buNone/>
            </a:pPr>
            <a:r>
              <a:rPr lang="pl-PL" sz="2800" b="1" dirty="0"/>
              <a:t>B. postępowanie jurysdykcyjne:</a:t>
            </a:r>
          </a:p>
          <a:p>
            <a:endParaRPr lang="pl-PL" sz="2800" dirty="0"/>
          </a:p>
          <a:p>
            <a:r>
              <a:rPr lang="pl-PL" sz="2800" dirty="0"/>
              <a:t>        I. w fazie po wniesieniu aktu oskarżenia aż do rozpoczęcia przewodu sądowego na rozprawie:</a:t>
            </a:r>
          </a:p>
          <a:p>
            <a:endParaRPr lang="pl-PL" sz="2800" dirty="0"/>
          </a:p>
          <a:p>
            <a:pPr>
              <a:buNone/>
            </a:pPr>
            <a:r>
              <a:rPr lang="pl-PL" sz="2800" dirty="0"/>
              <a:t>   - umorzenie postępowanie, </a:t>
            </a:r>
            <a:r>
              <a:rPr lang="pl-PL" sz="2800"/>
              <a:t>ale wyłącznie </a:t>
            </a:r>
            <a:r>
              <a:rPr lang="pl-PL" sz="2800" dirty="0"/>
              <a:t>w sytuacji stwierdzenia </a:t>
            </a:r>
            <a:r>
              <a:rPr lang="pl-PL" sz="2800" dirty="0">
                <a:solidFill>
                  <a:srgbClr val="FF0000"/>
                </a:solidFill>
              </a:rPr>
              <a:t> „oczywistego braku faktycznych podstaw oskarżenia” (art. 339 </a:t>
            </a:r>
            <a:r>
              <a:rPr lang="pl-PL" sz="2800" dirty="0">
                <a:solidFill>
                  <a:srgbClr val="FF0000"/>
                </a:solidFill>
                <a:latin typeface="Times New Roman"/>
                <a:cs typeface="Times New Roman"/>
              </a:rPr>
              <a:t>§ </a:t>
            </a:r>
            <a:r>
              <a:rPr lang="pl-PL" sz="2800" dirty="0">
                <a:solidFill>
                  <a:srgbClr val="FF0000"/>
                </a:solidFill>
              </a:rPr>
              <a:t>3 </a:t>
            </a:r>
            <a:r>
              <a:rPr lang="pl-PL" sz="2800" dirty="0" err="1">
                <a:solidFill>
                  <a:srgbClr val="FF0000"/>
                </a:solidFill>
              </a:rPr>
              <a:t>pkt</a:t>
            </a:r>
            <a:r>
              <a:rPr lang="pl-PL" sz="2800" dirty="0">
                <a:solidFill>
                  <a:srgbClr val="FF0000"/>
                </a:solidFill>
              </a:rPr>
              <a:t> 2  k.p.k.)</a:t>
            </a:r>
            <a:r>
              <a:rPr lang="pl-PL" sz="2800" dirty="0"/>
              <a:t>,</a:t>
            </a:r>
          </a:p>
          <a:p>
            <a:pPr>
              <a:buNone/>
            </a:pPr>
            <a:endParaRPr lang="pl-PL" sz="2800" dirty="0"/>
          </a:p>
          <a:p>
            <a:r>
              <a:rPr lang="pl-PL" sz="2800" dirty="0"/>
              <a:t>339 § 3 k.p.k. Prezes sądu kieruje sprawę na posiedzenie także wtedy, gdy zachodzi potrzeba innego rozstrzygnięcia przekraczającego jego uprawnienia, a zwłaszcza:</a:t>
            </a:r>
          </a:p>
          <a:p>
            <a:endParaRPr lang="pl-PL" sz="2800" dirty="0"/>
          </a:p>
          <a:p>
            <a:r>
              <a:rPr lang="pl-PL" sz="2800" dirty="0"/>
              <a:t>1)	umorzenia postępowania na podstawie art. 17 § 1 </a:t>
            </a:r>
            <a:r>
              <a:rPr lang="pl-PL" sz="2800" dirty="0" err="1"/>
              <a:t>pkt</a:t>
            </a:r>
            <a:r>
              <a:rPr lang="pl-PL" sz="2800" dirty="0"/>
              <a:t> </a:t>
            </a:r>
            <a:r>
              <a:rPr lang="pl-PL" sz="2800" dirty="0">
                <a:solidFill>
                  <a:srgbClr val="FF0000"/>
                </a:solidFill>
              </a:rPr>
              <a:t>2-11</a:t>
            </a:r>
            <a:r>
              <a:rPr lang="pl-PL" sz="2800" dirty="0"/>
              <a:t>,</a:t>
            </a:r>
          </a:p>
          <a:p>
            <a:r>
              <a:rPr lang="pl-PL" sz="2800" dirty="0"/>
              <a:t>2)	umorzenia postępowania z powodu </a:t>
            </a:r>
            <a:r>
              <a:rPr lang="pl-PL" sz="2800" dirty="0">
                <a:solidFill>
                  <a:srgbClr val="FF0000"/>
                </a:solidFill>
              </a:rPr>
              <a:t>oczywistego braku faktycznych podstaw oskarżenia,</a:t>
            </a:r>
          </a:p>
          <a:p>
            <a:pPr>
              <a:buNone/>
            </a:pPr>
            <a:endParaRPr lang="pl-PL" sz="2800" dirty="0"/>
          </a:p>
          <a:p>
            <a:pPr>
              <a:buNone/>
            </a:pPr>
            <a:endParaRPr lang="pl-PL" sz="2800" dirty="0"/>
          </a:p>
          <a:p>
            <a:pPr>
              <a:buNone/>
            </a:pPr>
            <a:endParaRPr lang="pl-PL" sz="2800" dirty="0"/>
          </a:p>
          <a:p>
            <a:pPr>
              <a:buNone/>
            </a:pPr>
            <a:endParaRPr lang="pl-PL" sz="2800" dirty="0"/>
          </a:p>
          <a:p>
            <a:endParaRPr lang="pl-PL"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5838400"/>
          </a:xfrm>
        </p:spPr>
        <p:txBody>
          <a:bodyPr>
            <a:normAutofit lnSpcReduction="10000"/>
          </a:bodyPr>
          <a:lstStyle/>
          <a:p>
            <a:endParaRPr lang="pl-PL" sz="2400" dirty="0"/>
          </a:p>
          <a:p>
            <a:r>
              <a:rPr lang="pl-PL" sz="4400" b="1" dirty="0"/>
              <a:t>Co to znaczy oczywisty brak faktycznych podstaw oskarżenia?</a:t>
            </a:r>
          </a:p>
          <a:p>
            <a:endParaRPr lang="pl-PL" sz="4400" dirty="0"/>
          </a:p>
          <a:p>
            <a:r>
              <a:rPr lang="pl-PL" sz="4400" dirty="0"/>
              <a:t>Jaka jest przyczyna zawężającego potraktowania tej przeszkody procesowej na tym etapie postępowania ?</a:t>
            </a:r>
          </a:p>
          <a:p>
            <a:endParaRPr lang="pl-PL"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260648"/>
            <a:ext cx="8698168" cy="6480720"/>
          </a:xfrm>
        </p:spPr>
        <p:txBody>
          <a:bodyPr>
            <a:normAutofit/>
          </a:bodyPr>
          <a:lstStyle/>
          <a:p>
            <a:pPr fontAlgn="t"/>
            <a:r>
              <a:rPr lang="pl-PL" sz="2800" b="1" dirty="0"/>
              <a:t>postanowienie SA w Katowicach z dnia 12.07.2006 r., w sprawie II </a:t>
            </a:r>
            <a:r>
              <a:rPr lang="pl-PL" sz="2800" b="1" dirty="0" err="1"/>
              <a:t>Akz</a:t>
            </a:r>
            <a:r>
              <a:rPr lang="pl-PL" sz="2800" b="1" dirty="0"/>
              <a:t> 439/06</a:t>
            </a:r>
          </a:p>
          <a:p>
            <a:pPr fontAlgn="t"/>
            <a:r>
              <a:rPr lang="pl-PL" sz="2800" dirty="0"/>
              <a:t>1. </a:t>
            </a:r>
            <a:r>
              <a:rPr lang="pl-PL" sz="2800" dirty="0">
                <a:solidFill>
                  <a:srgbClr val="00B050"/>
                </a:solidFill>
              </a:rPr>
              <a:t>Na gruncie obecnie obowiązującej procedury karnej nie istnieje możliwość, by w trakcie wstępnej kontroli aktu oskarżenia skierować sprawę na posiedzenie a następnie postępowanie umorzyć na zasadzie art. 17 § 1 </a:t>
            </a:r>
            <a:r>
              <a:rPr lang="pl-PL" sz="2800" dirty="0" err="1">
                <a:solidFill>
                  <a:srgbClr val="00B050"/>
                </a:solidFill>
              </a:rPr>
              <a:t>pkt</a:t>
            </a:r>
            <a:r>
              <a:rPr lang="pl-PL" sz="2800" dirty="0">
                <a:solidFill>
                  <a:srgbClr val="00B050"/>
                </a:solidFill>
              </a:rPr>
              <a:t> 1 k.p.k</a:t>
            </a:r>
            <a:r>
              <a:rPr lang="pl-PL" sz="2800" dirty="0">
                <a:solidFill>
                  <a:srgbClr val="92D050"/>
                </a:solidFill>
              </a:rPr>
              <a:t>. </a:t>
            </a:r>
            <a:br>
              <a:rPr lang="pl-PL" sz="2800" dirty="0"/>
            </a:br>
            <a:r>
              <a:rPr lang="pl-PL" sz="2800" dirty="0"/>
              <a:t>  </a:t>
            </a:r>
            <a:r>
              <a:rPr lang="pl-PL" sz="2800" dirty="0">
                <a:solidFill>
                  <a:srgbClr val="FF0000"/>
                </a:solidFill>
              </a:rPr>
              <a:t>2. Oczywisty brak faktycznych podstaw oskarżenia, to zatem tylko taka sytuacja, w której w sposób jednoznaczny, niewątpliwy i widoczny, jasnym jest, iż przedstawione przez skarżącego fakty nie uzasadniają stawianej tezy oskarżenia.</a:t>
            </a:r>
          </a:p>
          <a:p>
            <a:endParaRPr lang="pl-PL" dirty="0">
              <a:solidFill>
                <a:srgbClr val="FF0000"/>
              </a:solidFill>
            </a:endParaRPr>
          </a:p>
          <a:p>
            <a:endParaRPr lang="pl-PL" dirty="0">
              <a:solidFill>
                <a:srgbClr val="FF0000"/>
              </a:solidFill>
            </a:endParaRPr>
          </a:p>
          <a:p>
            <a:endParaRPr lang="pl-PL"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fontScale="77500" lnSpcReduction="20000"/>
          </a:bodyPr>
          <a:lstStyle/>
          <a:p>
            <a:endParaRPr lang="pl-PL" dirty="0"/>
          </a:p>
          <a:p>
            <a:r>
              <a:rPr lang="pl-PL" dirty="0"/>
              <a:t>Z uzasadnienia postanowienia SA w Warszawie z 18 lutego 2000 r. II </a:t>
            </a:r>
            <a:r>
              <a:rPr lang="pl-PL" dirty="0" err="1"/>
              <a:t>Akz</a:t>
            </a:r>
            <a:r>
              <a:rPr lang="pl-PL" dirty="0"/>
              <a:t> 9/00</a:t>
            </a:r>
          </a:p>
          <a:p>
            <a:endParaRPr lang="pl-PL" dirty="0"/>
          </a:p>
          <a:p>
            <a:r>
              <a:rPr lang="pl-PL" dirty="0"/>
              <a:t>„ Do kwestii oczywistego braku faktycznych podstaw oskarżenia Sąd Najwyższy odniósł się wprost w postanowieniu z dnia 7 września 1994 r., III KRN 98/94, OSNKW 1994 r., poz. 72, stwierdzając, że zachodzi on </a:t>
            </a:r>
            <a:r>
              <a:rPr lang="pl-PL" dirty="0">
                <a:solidFill>
                  <a:srgbClr val="FF0000"/>
                </a:solidFill>
              </a:rPr>
              <a:t>w sytuacji braku jakichkolwiek dowodów świadczących o popełnieniu przez oskarżonego przypisywanego mu przestępstwa, a nie może efektem oceny dowodów</a:t>
            </a:r>
            <a:r>
              <a:rPr lang="pl-PL" dirty="0"/>
              <a:t>. W tej sytuacji należy podzielić pogląd zawarty we wniosku skarżącego, że dla rozstrzygnięcia przedmiotowej sprawy konieczne jest skierowanie jej na rozprawę celem merytorycznego rozpoznania.</a:t>
            </a:r>
          </a:p>
          <a:p>
            <a:r>
              <a:rPr lang="pl-PL" dirty="0">
                <a:solidFill>
                  <a:srgbClr val="FF0000"/>
                </a:solidFill>
              </a:rPr>
              <a:t>Nota </a:t>
            </a:r>
            <a:r>
              <a:rPr lang="pl-PL" dirty="0" err="1">
                <a:solidFill>
                  <a:srgbClr val="FF0000"/>
                </a:solidFill>
              </a:rPr>
              <a:t>bene</a:t>
            </a:r>
            <a:r>
              <a:rPr lang="pl-PL" dirty="0">
                <a:solidFill>
                  <a:srgbClr val="FF0000"/>
                </a:solidFill>
              </a:rPr>
              <a:t> nie można tracić z pola widzenia i takiej okoliczności, że skierowanie sprawy do merytorycznego rozstrzygnięcia na rozprawie w przypadku ewentualnego wyroku uniewinniającego stawia oskarżonego w innej zasadniczo sytuacji, niż w przypadku umorzenia postępowania, a jednocześnie zapewnia wewnętrzną zgodność orzeczeń co do wszystkich osób stojących pod tym samym zarzutem</a:t>
            </a:r>
            <a:r>
              <a:rPr lang="pl-PL" dirty="0"/>
              <a:t>”</a:t>
            </a:r>
          </a:p>
          <a:p>
            <a:pPr fontAlgn="t"/>
            <a:endParaRPr lang="pl-PL" dirty="0"/>
          </a:p>
          <a:p>
            <a:endParaRPr lang="pl-PL"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6192688"/>
          </a:xfrm>
        </p:spPr>
        <p:txBody>
          <a:bodyPr>
            <a:normAutofit/>
          </a:bodyPr>
          <a:lstStyle/>
          <a:p>
            <a:endParaRPr lang="pl-PL" dirty="0"/>
          </a:p>
          <a:p>
            <a:r>
              <a:rPr lang="pl-PL" dirty="0"/>
              <a:t>„Kwestia umorzenia z powodu oczywistego braku faktycznych podstaw oskarżenia (§ 3 </a:t>
            </a:r>
            <a:r>
              <a:rPr lang="pl-PL" dirty="0" err="1"/>
              <a:t>pkt</a:t>
            </a:r>
            <a:r>
              <a:rPr lang="pl-PL" dirty="0"/>
              <a:t> 2) to tzw. </a:t>
            </a:r>
            <a:r>
              <a:rPr lang="pl-PL" b="1" dirty="0"/>
              <a:t>oddanie pod sąd </a:t>
            </a:r>
            <a:r>
              <a:rPr lang="pl-PL" i="1" dirty="0"/>
              <a:t>sensu </a:t>
            </a:r>
            <a:r>
              <a:rPr lang="pl-PL" i="1" dirty="0" err="1"/>
              <a:t>stricto</a:t>
            </a:r>
            <a:r>
              <a:rPr lang="pl-PL" dirty="0"/>
              <a:t>, a więc badanie przed rozprawą istnienia w ogóle podstaw do oskarżenia danej osoby dla wyeliminowania możliwie szybko niezasadnych oskarżeń</a:t>
            </a:r>
            <a:r>
              <a:rPr lang="pl-PL" dirty="0">
                <a:solidFill>
                  <a:srgbClr val="92D050"/>
                </a:solidFill>
              </a:rPr>
              <a:t>. </a:t>
            </a:r>
            <a:r>
              <a:rPr lang="pl-PL" dirty="0">
                <a:solidFill>
                  <a:srgbClr val="00B050"/>
                </a:solidFill>
              </a:rPr>
              <a:t>Na posiedzeniu przed rozprawą sąd nie może oceniać dowodów pod względem merytorycznym, a więc w zakresie, czy przesądzają one zasadność oskarżenia; ma jedynie sprawdzić, czy przedstawione na poparcie oskarżenia dowody uprawdopodobniają wysuwany zarzut</a:t>
            </a:r>
            <a:r>
              <a:rPr lang="pl-PL" dirty="0"/>
              <a:t>” (T. Grzegorczyk)</a:t>
            </a:r>
          </a:p>
          <a:p>
            <a:endParaRPr lang="pl-PL"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404664"/>
            <a:ext cx="8626160" cy="6336704"/>
          </a:xfrm>
        </p:spPr>
        <p:txBody>
          <a:bodyPr>
            <a:normAutofit/>
          </a:bodyPr>
          <a:lstStyle/>
          <a:p>
            <a:pPr>
              <a:buNone/>
            </a:pPr>
            <a:r>
              <a:rPr lang="pl-PL" dirty="0"/>
              <a:t>   </a:t>
            </a:r>
            <a:r>
              <a:rPr lang="pl-PL" sz="3200" dirty="0"/>
              <a:t>Możliwość umorzenia postępowania z powodu braku oczywistych podstaw faktycznych ma na celu:</a:t>
            </a:r>
          </a:p>
          <a:p>
            <a:endParaRPr lang="pl-PL" sz="3200" dirty="0"/>
          </a:p>
          <a:p>
            <a:r>
              <a:rPr lang="pl-PL" sz="3200" dirty="0"/>
              <a:t>1) gwarantować ochronę jednostki przed niesłusznym oskarżeniem i publicznym procesem,</a:t>
            </a:r>
          </a:p>
          <a:p>
            <a:pPr>
              <a:buNone/>
            </a:pPr>
            <a:endParaRPr lang="pl-PL" sz="3200" dirty="0"/>
          </a:p>
          <a:p>
            <a:r>
              <a:rPr lang="pl-PL" sz="3200" dirty="0"/>
              <a:t>2) przyczyniać się do racjonalizacji nakładów na wymiar sprawiedliwości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260648"/>
            <a:ext cx="8698168" cy="5838400"/>
          </a:xfrm>
        </p:spPr>
        <p:txBody>
          <a:bodyPr>
            <a:normAutofit fontScale="85000" lnSpcReduction="10000"/>
          </a:bodyPr>
          <a:lstStyle/>
          <a:p>
            <a:pPr>
              <a:buNone/>
            </a:pPr>
            <a:endParaRPr lang="pl-PL" dirty="0"/>
          </a:p>
          <a:p>
            <a:pPr>
              <a:buNone/>
            </a:pPr>
            <a:endParaRPr lang="pl-PL" dirty="0"/>
          </a:p>
          <a:p>
            <a:r>
              <a:rPr lang="pl-PL" dirty="0">
                <a:solidFill>
                  <a:srgbClr val="FF0000"/>
                </a:solidFill>
              </a:rPr>
              <a:t> </a:t>
            </a:r>
            <a:r>
              <a:rPr lang="pl-PL" dirty="0"/>
              <a:t>II. stwierdzenie przesłanki z art. 17 par. 1 </a:t>
            </a:r>
            <a:r>
              <a:rPr lang="pl-PL" dirty="0" err="1"/>
              <a:t>pkt</a:t>
            </a:r>
            <a:r>
              <a:rPr lang="pl-PL" dirty="0"/>
              <a:t> 1 k.p.k. na rozprawie, po rozpoczęciu przewodu sądowego - wyrok uniewinniający </a:t>
            </a:r>
          </a:p>
          <a:p>
            <a:endParaRPr lang="pl-PL" b="1" dirty="0"/>
          </a:p>
          <a:p>
            <a:r>
              <a:rPr lang="pl-PL" b="1" i="1" dirty="0"/>
              <a:t>art. 414.</a:t>
            </a:r>
            <a:r>
              <a:rPr lang="pl-PL" i="1" dirty="0"/>
              <a:t> § 1. </a:t>
            </a:r>
            <a:r>
              <a:rPr lang="pl-PL" i="1" dirty="0">
                <a:solidFill>
                  <a:srgbClr val="FF0000"/>
                </a:solidFill>
              </a:rPr>
              <a:t>W razie stwierdzenia po rozpoczęciu przewodu sądowego </a:t>
            </a:r>
            <a:r>
              <a:rPr lang="pl-PL" i="1" dirty="0"/>
              <a:t>okoliczności wyłączającej ściganie lub danych przemawiających za warunkowym umorzeniem postępowania, sąd wyrokiem umarza postępowanie albo umarza je warunkowo. </a:t>
            </a:r>
            <a:r>
              <a:rPr lang="pl-PL" i="1" dirty="0">
                <a:solidFill>
                  <a:srgbClr val="FF0000"/>
                </a:solidFill>
              </a:rPr>
              <a:t>Jednakże w razie stwierdzenia okoliczności wymienionych w art. 17 § 1 </a:t>
            </a:r>
            <a:r>
              <a:rPr lang="pl-PL" i="1" dirty="0" err="1">
                <a:solidFill>
                  <a:srgbClr val="FF0000"/>
                </a:solidFill>
              </a:rPr>
              <a:t>pkt</a:t>
            </a:r>
            <a:r>
              <a:rPr lang="pl-PL" i="1" dirty="0">
                <a:solidFill>
                  <a:srgbClr val="FF0000"/>
                </a:solidFill>
              </a:rPr>
              <a:t> 1 i 2 sąd wydaje wyrok uniewinniający, chyba że sprawca w chwili czynu był niepoczytalny.</a:t>
            </a:r>
            <a:endParaRPr lang="pl-PL" dirty="0"/>
          </a:p>
          <a:p>
            <a:pPr>
              <a:buNone/>
            </a:pPr>
            <a:endParaRPr lang="pl-PL" dirty="0"/>
          </a:p>
          <a:p>
            <a:pPr>
              <a:buNone/>
            </a:pPr>
            <a:r>
              <a:rPr lang="pl-PL" sz="3200" dirty="0"/>
              <a:t>Jakie jest </a:t>
            </a:r>
            <a:r>
              <a:rPr lang="pl-PL" sz="3200" dirty="0" err="1"/>
              <a:t>ratio</a:t>
            </a:r>
            <a:r>
              <a:rPr lang="pl-PL" sz="3200" dirty="0"/>
              <a:t> </a:t>
            </a:r>
            <a:r>
              <a:rPr lang="pl-PL" sz="3200" dirty="0" err="1"/>
              <a:t>legis</a:t>
            </a:r>
            <a:r>
              <a:rPr lang="pl-PL" sz="3200" dirty="0"/>
              <a:t> przyjęcia takiego rozwiązania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260648"/>
            <a:ext cx="8698168" cy="5838400"/>
          </a:xfrm>
        </p:spPr>
        <p:txBody>
          <a:bodyPr>
            <a:normAutofit fontScale="85000" lnSpcReduction="20000"/>
          </a:bodyPr>
          <a:lstStyle/>
          <a:p>
            <a:r>
              <a:rPr lang="pl-PL" dirty="0"/>
              <a:t>Uniewinnienie jest w powszechnym odczuciu najbardziej wyrazistą, a równocześnie dla oskarżonego najbardziej satysfakcjonującą formą stwierdzenia bezpodstawności zarzutu popełnienia przestępstwa (tak SN w uzasadnieniu wyroku z dnia 15 lipca 1993 r., II KRN 107/93)</a:t>
            </a:r>
          </a:p>
          <a:p>
            <a:endParaRPr lang="pl-PL" dirty="0"/>
          </a:p>
          <a:p>
            <a:r>
              <a:rPr lang="pl-PL" dirty="0"/>
              <a:t>Uniewinnienie ma bowiem "większą wartość społeczną" niż umorzenie postępowania (M. Cieślak, Polska procedura karna, wyd. III, Warszawa 1984, str. 452).</a:t>
            </a:r>
          </a:p>
          <a:p>
            <a:r>
              <a:rPr lang="pl-PL" dirty="0"/>
              <a:t> </a:t>
            </a:r>
          </a:p>
          <a:p>
            <a:r>
              <a:rPr lang="pl-PL" dirty="0"/>
              <a:t>„Uniewinnienie bardziej liczy się w opinii społecznej niż umorzenie" (S. Waltoś, Proces Karny, wyd. III, Warszawa 1996, str. 418),  </a:t>
            </a:r>
          </a:p>
          <a:p>
            <a:endParaRPr lang="pl-PL" dirty="0"/>
          </a:p>
          <a:p>
            <a:r>
              <a:rPr lang="pl-PL" dirty="0"/>
              <a:t>Wyrok umarzający postępowanie – decyzja niezezwalająca na kontynuowanie procesu bez oceny czynu oskarżonego – wyrok uniewinniający – sygnalizuje, że zostało potwierdzone domniemanie niewinności </a:t>
            </a:r>
          </a:p>
          <a:p>
            <a:endParaRPr lang="pl-PL" dirty="0"/>
          </a:p>
          <a:p>
            <a:endParaRPr lang="pl-PL"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301752" y="188640"/>
            <a:ext cx="8503920" cy="5910408"/>
          </a:xfrm>
        </p:spPr>
        <p:txBody>
          <a:bodyPr>
            <a:normAutofit/>
          </a:bodyPr>
          <a:lstStyle/>
          <a:p>
            <a:endParaRPr lang="pl-PL" b="1" dirty="0"/>
          </a:p>
          <a:p>
            <a:pPr marL="0" indent="0">
              <a:buNone/>
            </a:pPr>
            <a:r>
              <a:rPr lang="pl-PL" sz="4800" dirty="0">
                <a:solidFill>
                  <a:srgbClr val="00B050"/>
                </a:solidFill>
              </a:rPr>
              <a:t>Kolejna przesłanka -  art. 17 par. 1 pkt 2 k.p.k. </a:t>
            </a:r>
          </a:p>
          <a:p>
            <a:r>
              <a:rPr lang="pl-PL" sz="4800" dirty="0"/>
              <a:t>czyn nie zawiera znamion czynu zabronionego albo ustawa stanowi, że sprawca nie popełnia przestępstwa  </a:t>
            </a:r>
          </a:p>
          <a:p>
            <a:endParaRPr lang="pl-PL"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301752" y="188640"/>
            <a:ext cx="8503920" cy="5910408"/>
          </a:xfrm>
        </p:spPr>
        <p:txBody>
          <a:bodyPr>
            <a:normAutofit fontScale="85000" lnSpcReduction="10000"/>
          </a:bodyPr>
          <a:lstStyle/>
          <a:p>
            <a:endParaRPr lang="pl-PL" b="1" dirty="0"/>
          </a:p>
          <a:p>
            <a:r>
              <a:rPr lang="pl-PL" sz="5400" dirty="0"/>
              <a:t>Czyn niezabroniony w dacie jego popełnienia, a zabroniony w dacie orzekania? </a:t>
            </a:r>
          </a:p>
          <a:p>
            <a:r>
              <a:rPr lang="pl-PL" sz="5400" dirty="0"/>
              <a:t> Podstawa prawna decyzji procesowej? Tę kwestię reguluje dyspozycja art. 4 par. 1 k.k. czy 1 par. 1 k.k. i art. 42 ust. 1 Konstytucji?</a:t>
            </a:r>
          </a:p>
          <a:p>
            <a:endParaRPr lang="pl-PL" sz="5400" dirty="0"/>
          </a:p>
          <a:p>
            <a:endParaRPr lang="pl-PL" dirty="0"/>
          </a:p>
        </p:txBody>
      </p:sp>
    </p:spTree>
    <p:extLst>
      <p:ext uri="{BB962C8B-B14F-4D97-AF65-F5344CB8AC3E}">
        <p14:creationId xmlns:p14="http://schemas.microsoft.com/office/powerpoint/2010/main" val="19928785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fontScale="92500" lnSpcReduction="10000"/>
          </a:bodyPr>
          <a:lstStyle/>
          <a:p>
            <a:endParaRPr lang="pl-PL" dirty="0"/>
          </a:p>
          <a:p>
            <a:r>
              <a:rPr lang="pl-PL" sz="3000" b="1" dirty="0">
                <a:solidFill>
                  <a:srgbClr val="0070C0"/>
                </a:solidFill>
              </a:rPr>
              <a:t>Przesłanka ta jest związana z oceną prawną czynu.</a:t>
            </a:r>
          </a:p>
          <a:p>
            <a:r>
              <a:rPr lang="pl-PL" sz="3000" dirty="0"/>
              <a:t>Brak znamion czynu zabronionego (art. 17 § 1 pkt 2) oznacza sytuację, gdy czyn wprawdzie zaistniał, lecz nie zawiera on znamion czynu zabronionego. Ocena tej przesłanki związana jest zatem nie tyle z faktyczną podstawą procesu, ile z prawną oceną czynu będącego przedmiotem postępowania. W </a:t>
            </a:r>
            <a:r>
              <a:rPr lang="pl-PL" sz="3000" dirty="0">
                <a:hlinkClick r:id="rId2"/>
              </a:rPr>
              <a:t>art. 17 § 1 pkt 2</a:t>
            </a:r>
            <a:r>
              <a:rPr lang="pl-PL" sz="3000" dirty="0"/>
              <a:t> k.p.k. jest mowa o znamionach czynu zabronionego, a nie o znamionach przestępstwa. Oznacza to, że chodzi o czyn zabroniony w rozumieniu </a:t>
            </a:r>
            <a:r>
              <a:rPr lang="pl-PL" sz="3000" dirty="0">
                <a:hlinkClick r:id="rId3"/>
              </a:rPr>
              <a:t>art. 115 § 1</a:t>
            </a:r>
            <a:r>
              <a:rPr lang="pl-PL" sz="3000" dirty="0"/>
              <a:t> k.k., którym jest zachowanie o znamionach określonych ustawie karnej.</a:t>
            </a:r>
          </a:p>
        </p:txBody>
      </p:sp>
    </p:spTree>
    <p:extLst>
      <p:ext uri="{BB962C8B-B14F-4D97-AF65-F5344CB8AC3E}">
        <p14:creationId xmlns:p14="http://schemas.microsoft.com/office/powerpoint/2010/main" val="18118347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44624"/>
            <a:ext cx="8626160" cy="6054424"/>
          </a:xfrm>
        </p:spPr>
        <p:txBody>
          <a:bodyPr>
            <a:normAutofit/>
          </a:bodyPr>
          <a:lstStyle/>
          <a:p>
            <a:endParaRPr lang="pl-PL" dirty="0"/>
          </a:p>
          <a:p>
            <a:endParaRPr lang="pl-PL" dirty="0"/>
          </a:p>
          <a:p>
            <a:r>
              <a:rPr lang="pl-PL" sz="5400" dirty="0"/>
              <a:t>Art.  115 §  1 k.k. </a:t>
            </a:r>
          </a:p>
          <a:p>
            <a:r>
              <a:rPr lang="pl-PL" sz="5400" dirty="0"/>
              <a:t>Czynem zabronionym jest zachowanie o znamionach określonych w ustawie karnej.</a:t>
            </a:r>
          </a:p>
          <a:p>
            <a:endParaRPr lang="pl-PL" dirty="0"/>
          </a:p>
        </p:txBody>
      </p:sp>
    </p:spTree>
    <p:extLst>
      <p:ext uri="{BB962C8B-B14F-4D97-AF65-F5344CB8AC3E}">
        <p14:creationId xmlns:p14="http://schemas.microsoft.com/office/powerpoint/2010/main" val="3315628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44624"/>
            <a:ext cx="8698168" cy="6054424"/>
          </a:xfrm>
        </p:spPr>
        <p:txBody>
          <a:bodyPr>
            <a:normAutofit fontScale="92500" lnSpcReduction="10000"/>
          </a:bodyPr>
          <a:lstStyle/>
          <a:p>
            <a:endParaRPr lang="pl-PL" dirty="0"/>
          </a:p>
          <a:p>
            <a:endParaRPr lang="pl-PL" dirty="0"/>
          </a:p>
          <a:p>
            <a:r>
              <a:rPr lang="pl-PL" dirty="0"/>
              <a:t>Postanowienie Sądu Apelacyjnego we Wrocławiu</a:t>
            </a:r>
          </a:p>
          <a:p>
            <a:r>
              <a:rPr lang="pl-PL" dirty="0"/>
              <a:t>z dnia 22 stycznia 2008 r., II </a:t>
            </a:r>
            <a:r>
              <a:rPr lang="pl-PL" dirty="0" err="1"/>
              <a:t>AKz</a:t>
            </a:r>
            <a:r>
              <a:rPr lang="pl-PL" dirty="0"/>
              <a:t> 54/08</a:t>
            </a:r>
          </a:p>
          <a:p>
            <a:r>
              <a:rPr lang="pl-PL" dirty="0"/>
              <a:t>Brak znamion czynu zabronionego obejmuje taką sytuację, gdy czyn wprawdzie zaistniał, ale brak jest w nim wszystkich znamion wymaganych przez naruszony rzekomo przepis ustawy. Ocena, czy zachodzi powyższa okoliczność nie może opierać się jedynie na samym tylko opisie czynu i jego kwalifikacji prawnej. Przepis art. 17 § 1 pkt 2 k.p.k. ma zastosowanie do sytuacji, gdy zarówno opis czynu, jak i okoliczności faktyczne, będące podstawą aktu oskarżenia (przytoczone w jego uzasadnieniu), jednoznacznie wskazują, że zachowanie oskarżonego nie wypełniło znamion zarzuconego mu czynu.</a:t>
            </a:r>
          </a:p>
          <a:p>
            <a:endParaRPr lang="pl-PL" dirty="0"/>
          </a:p>
        </p:txBody>
      </p:sp>
    </p:spTree>
    <p:extLst>
      <p:ext uri="{BB962C8B-B14F-4D97-AF65-F5344CB8AC3E}">
        <p14:creationId xmlns:p14="http://schemas.microsoft.com/office/powerpoint/2010/main" val="13755911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fontScale="92500" lnSpcReduction="20000"/>
          </a:bodyPr>
          <a:lstStyle/>
          <a:p>
            <a:r>
              <a:rPr lang="pl-PL" b="1" dirty="0">
                <a:solidFill>
                  <a:srgbClr val="0070C0"/>
                </a:solidFill>
              </a:rPr>
              <a:t>Brak znamion czynu zabronionego</a:t>
            </a:r>
          </a:p>
          <a:p>
            <a:endParaRPr lang="pl-PL" dirty="0"/>
          </a:p>
          <a:p>
            <a:r>
              <a:rPr lang="pl-PL" dirty="0"/>
              <a:t> Brak ustawowych znamion czynu zabronionego = brak zakazu karnego. </a:t>
            </a:r>
          </a:p>
          <a:p>
            <a:endParaRPr lang="pl-PL" dirty="0"/>
          </a:p>
          <a:p>
            <a:r>
              <a:rPr lang="pl-PL" dirty="0"/>
              <a:t>Ustawowe znamiona czynu zabronionego </a:t>
            </a:r>
          </a:p>
          <a:p>
            <a:r>
              <a:rPr lang="pl-PL" dirty="0"/>
              <a:t>„Cechy zewnętrznego zachowania się człowieka, skutku i okoliczności jego zachowania się, jak również stosunku psychicznego do tego zdarzenia oraz cechy samego człowieka jako podmiotu zachowania się, cechy określone w ustawie, których całokształt charakteryzuje przestępstwo, a które muszą być udowodnione w postępowaniu karnym, aby mogło nastąpić prawidłowe skazanie za przestępstwo” (I. Andrejew, </a:t>
            </a:r>
            <a:r>
              <a:rPr lang="pl-PL" i="1" dirty="0"/>
              <a:t>Ustawowe znamiona czynu. Typizacja i kwalifikacja przestępstw</a:t>
            </a:r>
            <a:r>
              <a:rPr lang="pl-PL" dirty="0"/>
              <a:t>, Warszawa 1978).</a:t>
            </a:r>
          </a:p>
          <a:p>
            <a:endParaRPr lang="pl-PL" dirty="0"/>
          </a:p>
        </p:txBody>
      </p:sp>
    </p:spTree>
    <p:extLst>
      <p:ext uri="{BB962C8B-B14F-4D97-AF65-F5344CB8AC3E}">
        <p14:creationId xmlns:p14="http://schemas.microsoft.com/office/powerpoint/2010/main" val="33571567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332656"/>
            <a:ext cx="8698168" cy="5766392"/>
          </a:xfrm>
        </p:spPr>
        <p:txBody>
          <a:bodyPr/>
          <a:lstStyle/>
          <a:p>
            <a:r>
              <a:rPr lang="pl-PL" b="1" dirty="0">
                <a:solidFill>
                  <a:srgbClr val="0070C0"/>
                </a:solidFill>
              </a:rPr>
              <a:t>Znamiona</a:t>
            </a:r>
          </a:p>
          <a:p>
            <a:endParaRPr lang="pl-PL" dirty="0"/>
          </a:p>
          <a:p>
            <a:r>
              <a:rPr lang="pl-PL" dirty="0"/>
              <a:t>- </a:t>
            </a:r>
            <a:r>
              <a:rPr lang="pl-PL" sz="6000" dirty="0"/>
              <a:t>przedmiotu ochrony</a:t>
            </a:r>
          </a:p>
          <a:p>
            <a:r>
              <a:rPr lang="pl-PL" sz="6000" dirty="0"/>
              <a:t>- strony przedmiotowej</a:t>
            </a:r>
          </a:p>
          <a:p>
            <a:r>
              <a:rPr lang="pl-PL" sz="6000" dirty="0"/>
              <a:t>- podmiotu</a:t>
            </a:r>
          </a:p>
          <a:p>
            <a:r>
              <a:rPr lang="pl-PL" sz="6000" dirty="0"/>
              <a:t>- strony podmiotowej</a:t>
            </a:r>
          </a:p>
          <a:p>
            <a:endParaRPr lang="pl-PL" dirty="0"/>
          </a:p>
          <a:p>
            <a:endParaRPr lang="pl-PL" dirty="0"/>
          </a:p>
        </p:txBody>
      </p:sp>
    </p:spTree>
    <p:extLst>
      <p:ext uri="{BB962C8B-B14F-4D97-AF65-F5344CB8AC3E}">
        <p14:creationId xmlns:p14="http://schemas.microsoft.com/office/powerpoint/2010/main" val="15045115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332656"/>
            <a:ext cx="8626160" cy="6192688"/>
          </a:xfrm>
        </p:spPr>
        <p:txBody>
          <a:bodyPr>
            <a:normAutofit/>
          </a:bodyPr>
          <a:lstStyle/>
          <a:p>
            <a:pPr marL="0" indent="0">
              <a:buNone/>
            </a:pPr>
            <a:r>
              <a:rPr lang="pl-PL" sz="3200" dirty="0"/>
              <a:t>Brak ustawowych znamion czynu zabronionego ma miejsce:</a:t>
            </a:r>
          </a:p>
          <a:p>
            <a:pPr marL="0" indent="0">
              <a:buNone/>
            </a:pPr>
            <a:endParaRPr lang="pl-PL" sz="3200" dirty="0"/>
          </a:p>
          <a:p>
            <a:pPr>
              <a:buFontTx/>
              <a:buChar char="-"/>
            </a:pPr>
            <a:r>
              <a:rPr lang="pl-PL" sz="3200" dirty="0"/>
              <a:t>gdy bezspornie zostanie stwierdzone, że nie zostało zrealizowane którekolwiek ze znamion</a:t>
            </a:r>
          </a:p>
          <a:p>
            <a:pPr>
              <a:buFontTx/>
              <a:buChar char="-"/>
            </a:pPr>
            <a:r>
              <a:rPr lang="pl-PL" sz="3200" dirty="0">
                <a:solidFill>
                  <a:srgbClr val="FF0000"/>
                </a:solidFill>
              </a:rPr>
              <a:t>gdy nie zdołano go udowodnić.</a:t>
            </a:r>
          </a:p>
          <a:p>
            <a:pPr marL="0" indent="0">
              <a:buNone/>
            </a:pPr>
            <a:endParaRPr lang="pl-PL" sz="3200" dirty="0"/>
          </a:p>
          <a:p>
            <a:pPr marL="0" indent="0">
              <a:buNone/>
            </a:pPr>
            <a:r>
              <a:rPr lang="pl-PL" sz="3200" dirty="0"/>
              <a:t> Ustawowe znamiona czynu zabronionego podlegają udowodnieniu w postępowaniu karnym.</a:t>
            </a:r>
          </a:p>
        </p:txBody>
      </p:sp>
    </p:spTree>
    <p:extLst>
      <p:ext uri="{BB962C8B-B14F-4D97-AF65-F5344CB8AC3E}">
        <p14:creationId xmlns:p14="http://schemas.microsoft.com/office/powerpoint/2010/main" val="13549095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5910408"/>
          </a:xfrm>
        </p:spPr>
        <p:txBody>
          <a:bodyPr>
            <a:normAutofit/>
          </a:bodyPr>
          <a:lstStyle/>
          <a:p>
            <a:r>
              <a:rPr lang="pl-PL" sz="3600" dirty="0"/>
              <a:t>Postanowienie Sądu Najwyższego z dnia 21 stycznia 2015 r. V KK 275/14</a:t>
            </a:r>
          </a:p>
          <a:p>
            <a:endParaRPr lang="pl-PL" sz="3600" dirty="0"/>
          </a:p>
          <a:p>
            <a:r>
              <a:rPr lang="pl-PL" sz="3600" dirty="0"/>
              <a:t>Sąd odwoławczy w wypadku, gdy ustala brak znamienia strony podmiotowej przestępstwa oszustwa, powinien wydać wyrok uniewinniający bez potrzeby przekazywania sprawy sądowi pierwszej instancji do ponownego rozpoznania.</a:t>
            </a:r>
          </a:p>
        </p:txBody>
      </p:sp>
    </p:spTree>
    <p:extLst>
      <p:ext uri="{BB962C8B-B14F-4D97-AF65-F5344CB8AC3E}">
        <p14:creationId xmlns:p14="http://schemas.microsoft.com/office/powerpoint/2010/main" val="264496747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5910408"/>
          </a:xfrm>
        </p:spPr>
        <p:txBody>
          <a:bodyPr>
            <a:normAutofit/>
          </a:bodyPr>
          <a:lstStyle/>
          <a:p>
            <a:r>
              <a:rPr lang="pl-PL" dirty="0"/>
              <a:t>Wyrok Sądu Apelacyjnego w Gdańsku z dnia 10 stycznia 2013 r. II </a:t>
            </a:r>
            <a:r>
              <a:rPr lang="pl-PL" dirty="0" err="1"/>
              <a:t>AKa</a:t>
            </a:r>
            <a:r>
              <a:rPr lang="pl-PL" dirty="0"/>
              <a:t> 439/12</a:t>
            </a:r>
          </a:p>
          <a:p>
            <a:pPr marL="0" indent="0">
              <a:buNone/>
            </a:pPr>
            <a:endParaRPr lang="pl-PL" dirty="0"/>
          </a:p>
          <a:p>
            <a:r>
              <a:rPr lang="pl-PL" dirty="0"/>
              <a:t>Przypisując sprawcy popełnienie przestępstwa określonego w art. 286 § 1 k.k. należy wykazać, że obejmował on swoją świadomością i zamiarem bezpośrednim (kierunkowym) nie tylko to, że wprowadza w błąd inną osobę (względnie wyzyskuje błąd), ale także i to że doprowadza ją w ten sposób do niekorzystnego rozporządzenia mieniem i jednocześnie chce wypełnienia tych znamion.</a:t>
            </a:r>
          </a:p>
        </p:txBody>
      </p:sp>
    </p:spTree>
    <p:extLst>
      <p:ext uri="{BB962C8B-B14F-4D97-AF65-F5344CB8AC3E}">
        <p14:creationId xmlns:p14="http://schemas.microsoft.com/office/powerpoint/2010/main" val="24277489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7938DEC2-DF74-C91E-E7EF-61588166FFF1}"/>
              </a:ext>
            </a:extLst>
          </p:cNvPr>
          <p:cNvSpPr>
            <a:spLocks noGrp="1" noChangeArrowheads="1"/>
          </p:cNvSpPr>
          <p:nvPr>
            <p:ph type="body" idx="1"/>
          </p:nvPr>
        </p:nvSpPr>
        <p:spPr>
          <a:xfrm>
            <a:off x="107950" y="0"/>
            <a:ext cx="8426450" cy="6019800"/>
          </a:xfrm>
        </p:spPr>
        <p:txBody>
          <a:bodyPr>
            <a:normAutofit lnSpcReduction="10000"/>
          </a:bodyPr>
          <a:lstStyle/>
          <a:p>
            <a:r>
              <a:rPr lang="pl-PL" altLang="pl-PL" sz="7200" i="1">
                <a:solidFill>
                  <a:srgbClr val="FFC000"/>
                </a:solidFill>
              </a:rPr>
              <a:t>(nullum crimen sine lege).</a:t>
            </a:r>
            <a:r>
              <a:rPr lang="pl-PL" altLang="pl-PL" sz="7200"/>
              <a:t> Tę kwestię reguluje dyspozycja art. 1 par. 1 k.k. i art. 42 ust. 1 Konstytucji</a:t>
            </a:r>
          </a:p>
          <a:p>
            <a:pPr eaLnBrk="1" hangingPunct="1">
              <a:lnSpc>
                <a:spcPct val="80000"/>
              </a:lnSpc>
              <a:buFont typeface="Wingdings" panose="05000000000000000000" pitchFamily="2" charset="2"/>
              <a:buNone/>
            </a:pPr>
            <a:endParaRPr lang="pl-PL" altLang="pl-PL" sz="32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AFB23DAA-D5F9-2CDD-F183-34A9BC18942A}"/>
              </a:ext>
            </a:extLst>
          </p:cNvPr>
          <p:cNvSpPr>
            <a:spLocks noGrp="1" noChangeArrowheads="1"/>
          </p:cNvSpPr>
          <p:nvPr>
            <p:ph type="body" idx="1"/>
          </p:nvPr>
        </p:nvSpPr>
        <p:spPr>
          <a:xfrm>
            <a:off x="250825" y="333375"/>
            <a:ext cx="8283575" cy="5686425"/>
          </a:xfrm>
        </p:spPr>
        <p:txBody>
          <a:bodyPr>
            <a:normAutofit fontScale="92500" lnSpcReduction="10000"/>
          </a:bodyPr>
          <a:lstStyle/>
          <a:p>
            <a:pPr eaLnBrk="1" hangingPunct="1">
              <a:lnSpc>
                <a:spcPct val="80000"/>
              </a:lnSpc>
              <a:buFont typeface="Wingdings" panose="05000000000000000000" pitchFamily="2" charset="2"/>
              <a:buNone/>
            </a:pPr>
            <a:r>
              <a:rPr lang="pl-PL" altLang="pl-PL" sz="2800" b="1" dirty="0"/>
              <a:t>Art. 209 par. 1 k.k. </a:t>
            </a:r>
            <a:r>
              <a:rPr lang="pl-PL" altLang="pl-PL" sz="2800" b="1" dirty="0">
                <a:solidFill>
                  <a:srgbClr val="FF0000"/>
                </a:solidFill>
              </a:rPr>
              <a:t>(od 31 maja 2017 r.) </a:t>
            </a:r>
          </a:p>
          <a:p>
            <a:pPr eaLnBrk="1" hangingPunct="1">
              <a:lnSpc>
                <a:spcPct val="80000"/>
              </a:lnSpc>
              <a:buFont typeface="Wingdings" panose="05000000000000000000" pitchFamily="2" charset="2"/>
              <a:buNone/>
            </a:pPr>
            <a:r>
              <a:rPr lang="pl-PL" altLang="pl-PL" sz="2800" dirty="0"/>
              <a:t>Kto uchyla się od wykonania obowiązku alimentacyjnego określonego co do wysokości orzeczeniem sądowym, ugodą zawartą przed sądem albo innym organem albo inną umową, jeżeli łączna wysokość powstałych wskutek tego zaległości stanowi równowartość co najmniej 3 świadczeń okresowych albo jeżeli opóźnienie zaległego świadczenia innego niż okresowe wynosi co najmniej 3 miesiące, podlega grzywnie, karze ograniczenia wolności albo pozbawienia wolności </a:t>
            </a:r>
            <a:r>
              <a:rPr lang="pl-PL" altLang="pl-PL" sz="2800"/>
              <a:t>do roku</a:t>
            </a:r>
            <a:r>
              <a:rPr lang="pl-PL" altLang="pl-PL" sz="2800" dirty="0"/>
              <a:t>.</a:t>
            </a:r>
          </a:p>
          <a:p>
            <a:pPr eaLnBrk="1" hangingPunct="1">
              <a:lnSpc>
                <a:spcPct val="80000"/>
              </a:lnSpc>
              <a:buFont typeface="Wingdings" panose="05000000000000000000" pitchFamily="2" charset="2"/>
              <a:buNone/>
            </a:pPr>
            <a:r>
              <a:rPr lang="pl-PL" altLang="pl-PL" sz="2800" dirty="0"/>
              <a:t>§  1a.  </a:t>
            </a:r>
          </a:p>
          <a:p>
            <a:pPr eaLnBrk="1" hangingPunct="1">
              <a:lnSpc>
                <a:spcPct val="80000"/>
              </a:lnSpc>
              <a:buFont typeface="Wingdings" panose="05000000000000000000" pitchFamily="2" charset="2"/>
              <a:buNone/>
            </a:pPr>
            <a:r>
              <a:rPr lang="pl-PL" altLang="pl-PL" sz="2800" dirty="0"/>
              <a:t> Jeżeli sprawca czynu określonego w § 1 naraża osobę uprawnioną na niemożność zaspokojenia podstawowych potrzeb życiowych, podlega grzywnie, karze ograniczenia wolności albo pozbawienia wolności do lat 2.</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3">
            <a:extLst>
              <a:ext uri="{FF2B5EF4-FFF2-40B4-BE49-F238E27FC236}">
                <a16:creationId xmlns:a16="http://schemas.microsoft.com/office/drawing/2014/main" id="{318AF13B-2869-51C2-19E2-CD742837B40F}"/>
              </a:ext>
            </a:extLst>
          </p:cNvPr>
          <p:cNvSpPr>
            <a:spLocks noGrp="1" noChangeArrowheads="1"/>
          </p:cNvSpPr>
          <p:nvPr>
            <p:ph type="body" idx="1"/>
          </p:nvPr>
        </p:nvSpPr>
        <p:spPr>
          <a:xfrm>
            <a:off x="179388" y="115888"/>
            <a:ext cx="8355012" cy="5903912"/>
          </a:xfrm>
        </p:spPr>
        <p:txBody>
          <a:bodyPr>
            <a:normAutofit lnSpcReduction="10000"/>
          </a:bodyPr>
          <a:lstStyle/>
          <a:p>
            <a:pPr eaLnBrk="1" hangingPunct="1">
              <a:lnSpc>
                <a:spcPct val="80000"/>
              </a:lnSpc>
              <a:buFont typeface="Wingdings" panose="05000000000000000000" pitchFamily="2" charset="2"/>
              <a:buNone/>
            </a:pPr>
            <a:r>
              <a:rPr lang="pl-PL" altLang="pl-PL" sz="4400"/>
              <a:t>Art. 209 par. 1 k.k. </a:t>
            </a:r>
          </a:p>
          <a:p>
            <a:pPr eaLnBrk="1" hangingPunct="1">
              <a:lnSpc>
                <a:spcPct val="80000"/>
              </a:lnSpc>
              <a:buFont typeface="Wingdings" panose="05000000000000000000" pitchFamily="2" charset="2"/>
              <a:buNone/>
            </a:pPr>
            <a:r>
              <a:rPr lang="pl-PL" altLang="pl-PL" sz="4400"/>
              <a:t>Kto </a:t>
            </a:r>
            <a:r>
              <a:rPr lang="pl-PL" altLang="pl-PL" sz="4400" b="1">
                <a:solidFill>
                  <a:srgbClr val="FF0000"/>
                </a:solidFill>
              </a:rPr>
              <a:t>uporczywie uchyla </a:t>
            </a:r>
            <a:r>
              <a:rPr lang="pl-PL" altLang="pl-PL" sz="4400"/>
              <a:t>się od wykonania ciążącego na nim z mocy ustawy lub orzeczenia sądowego obowiązku opieki przez niełożenie na utrzymanie osoby najbliższej lub innej osoby i przez to naraża ją na niemożność zaspokojenia podstawowych potrzeb życiowych.</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3">
            <a:extLst>
              <a:ext uri="{FF2B5EF4-FFF2-40B4-BE49-F238E27FC236}">
                <a16:creationId xmlns:a16="http://schemas.microsoft.com/office/drawing/2014/main" id="{8D50AFC8-CA17-6755-475E-36C442C43204}"/>
              </a:ext>
            </a:extLst>
          </p:cNvPr>
          <p:cNvSpPr>
            <a:spLocks noGrp="1" noChangeArrowheads="1"/>
          </p:cNvSpPr>
          <p:nvPr>
            <p:ph type="body" idx="1"/>
          </p:nvPr>
        </p:nvSpPr>
        <p:spPr>
          <a:xfrm>
            <a:off x="179388" y="115888"/>
            <a:ext cx="8355012" cy="5903912"/>
          </a:xfrm>
        </p:spPr>
        <p:txBody>
          <a:bodyPr>
            <a:normAutofit lnSpcReduction="10000"/>
          </a:bodyPr>
          <a:lstStyle/>
          <a:p>
            <a:pPr eaLnBrk="1" hangingPunct="1">
              <a:lnSpc>
                <a:spcPct val="80000"/>
              </a:lnSpc>
              <a:buFont typeface="Wingdings" panose="05000000000000000000" pitchFamily="2" charset="2"/>
              <a:buNone/>
            </a:pPr>
            <a:r>
              <a:rPr lang="pl-PL" altLang="pl-PL" sz="2800"/>
              <a:t>W związku z wymogiem z </a:t>
            </a:r>
            <a:r>
              <a:rPr lang="pl-PL" altLang="pl-PL" sz="2800">
                <a:hlinkClick r:id="rId3"/>
              </a:rPr>
              <a:t>art. 1 § 1</a:t>
            </a:r>
            <a:r>
              <a:rPr lang="pl-PL" altLang="pl-PL" sz="2800"/>
              <a:t> k.k. Sąd Okręgowy miał natomiast obowiązek zbadać, czy w zakresie fragmentu czynu dotyczącego okresu sprzed wejścia w życie tej nowelizacji czyn przypisany oskarżonemu stanowił czyn zabroniony pod groźbą kary przez ustawę obowiązującą w czasie jego popełnienia. Nie ulega wątpliwości przy tym, że Sąd I instancji powinien był w uzasadnieniu wyroku wykazać, iż fragment czynu popełniony w poprzedzającym wspomnianą nowelizację przepisu </a:t>
            </a:r>
            <a:r>
              <a:rPr lang="pl-PL" altLang="pl-PL" sz="2800">
                <a:hlinkClick r:id="rId4"/>
              </a:rPr>
              <a:t>art. 209 § 1</a:t>
            </a:r>
            <a:r>
              <a:rPr lang="pl-PL" altLang="pl-PL" sz="2800"/>
              <a:t> k.k. okresie realizuje znamię "uporczywego" uchylania się od obowiązku alimentacyjnego oraz to, że zachowanie oskarżonego doprowadziło do narażenia na niemożność zaspokojenia podstawowych potrzeb życiowych pokrzywdzonych </a:t>
            </a:r>
            <a:r>
              <a:rPr lang="pl-PL" altLang="pl-PL" sz="2800">
                <a:solidFill>
                  <a:srgbClr val="FF0000"/>
                </a:solidFill>
              </a:rPr>
              <a:t>(z uzasadnienia wyroku Sądu Najwyższego z dnia 15 września 2022 r., III KK 132/22)</a:t>
            </a:r>
          </a:p>
          <a:p>
            <a:pPr eaLnBrk="1" hangingPunct="1">
              <a:lnSpc>
                <a:spcPct val="80000"/>
              </a:lnSpc>
              <a:buFont typeface="Wingdings" panose="05000000000000000000" pitchFamily="2" charset="2"/>
              <a:buNone/>
            </a:pPr>
            <a:endParaRPr lang="pl-PL" altLang="pl-PL" sz="440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3">
            <a:extLst>
              <a:ext uri="{FF2B5EF4-FFF2-40B4-BE49-F238E27FC236}">
                <a16:creationId xmlns:a16="http://schemas.microsoft.com/office/drawing/2014/main" id="{056FF531-1E4E-8483-7E09-97A02198FEB0}"/>
              </a:ext>
            </a:extLst>
          </p:cNvPr>
          <p:cNvSpPr>
            <a:spLocks noGrp="1" noChangeArrowheads="1"/>
          </p:cNvSpPr>
          <p:nvPr>
            <p:ph type="body" idx="1"/>
          </p:nvPr>
        </p:nvSpPr>
        <p:spPr>
          <a:xfrm>
            <a:off x="179388" y="115888"/>
            <a:ext cx="8355012" cy="5903912"/>
          </a:xfrm>
        </p:spPr>
        <p:txBody>
          <a:bodyPr>
            <a:normAutofit fontScale="92500" lnSpcReduction="10000"/>
          </a:bodyPr>
          <a:lstStyle/>
          <a:p>
            <a:pPr algn="just"/>
            <a:r>
              <a:rPr lang="pl-PL" altLang="pl-PL" sz="2800" b="1"/>
              <a:t>Oskarżonemu zarzucono, że w okresie od 06 października 2012 r. do 07 października 2012 r. w W. doprowadził do niekorzystnego rozporządzenia mieniem własnym N. P. na łączną kwotę strat 1800 zł poprzez wprowadzenie jej w błąd co do faktu zakupu imiennych biletów lotniczych do T. i z powrotem tj. popełnienia przestępstwa z art. 286 par. 1 k.k.</a:t>
            </a:r>
          </a:p>
          <a:p>
            <a:pPr algn="just"/>
            <a:r>
              <a:rPr lang="pl-PL" altLang="pl-PL" sz="2800" b="1"/>
              <a:t>Za tak opisany czyn Sąd Rejonowy w W. skazał oskarżonego na karę bezwzględnego pozbawienia wolności. </a:t>
            </a:r>
          </a:p>
          <a:p>
            <a:pPr algn="just"/>
            <a:r>
              <a:rPr lang="pl-PL" altLang="pl-PL" sz="2800" b="1"/>
              <a:t>Apelacja obrońcy zarzucająca wadliwą ocenę dowodów (art. 7 k.p.k.; wniosek o uniewinnienie).</a:t>
            </a:r>
          </a:p>
          <a:p>
            <a:pPr eaLnBrk="1" hangingPunct="1">
              <a:lnSpc>
                <a:spcPct val="80000"/>
              </a:lnSpc>
              <a:buFont typeface="Wingdings" panose="05000000000000000000" pitchFamily="2" charset="2"/>
              <a:buNone/>
            </a:pPr>
            <a:endParaRPr lang="pl-PL" altLang="pl-PL" sz="240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3">
            <a:extLst>
              <a:ext uri="{FF2B5EF4-FFF2-40B4-BE49-F238E27FC236}">
                <a16:creationId xmlns:a16="http://schemas.microsoft.com/office/drawing/2014/main" id="{C3A2B85A-700E-4F1E-713F-DEBA51D70E60}"/>
              </a:ext>
            </a:extLst>
          </p:cNvPr>
          <p:cNvSpPr>
            <a:spLocks noGrp="1" noChangeArrowheads="1"/>
          </p:cNvSpPr>
          <p:nvPr>
            <p:ph type="body" idx="1"/>
          </p:nvPr>
        </p:nvSpPr>
        <p:spPr>
          <a:xfrm>
            <a:off x="179388" y="115888"/>
            <a:ext cx="8355012" cy="5903912"/>
          </a:xfrm>
        </p:spPr>
        <p:txBody>
          <a:bodyPr>
            <a:normAutofit lnSpcReduction="10000"/>
          </a:bodyPr>
          <a:lstStyle/>
          <a:p>
            <a:r>
              <a:rPr lang="pl-PL" altLang="pl-PL" sz="3600" b="1"/>
              <a:t>Art. 286</a:t>
            </a:r>
            <a:r>
              <a:rPr lang="pl-PL" altLang="pl-PL" sz="3600"/>
              <a:t> § 1 k.k.</a:t>
            </a:r>
          </a:p>
          <a:p>
            <a:r>
              <a:rPr lang="pl-PL" altLang="pl-PL" sz="3600"/>
              <a:t>Kto w celu osiągnięcia korzyści majątkowej, doprowadza inną osobę do niekorzystnego rozporządzenia własnym lub cudzym mieniem za pomocą wprowadzenia jej w błąd albo wyzyskania błędu lub niezdolności do należytego pojmowania przedsiębranego działania,</a:t>
            </a:r>
          </a:p>
          <a:p>
            <a:r>
              <a:rPr lang="pl-PL" altLang="pl-PL" sz="3600"/>
              <a:t>podlega karze pozbawienia wolności od 6 miesięcy do lat 8 (wyłudzenie). </a:t>
            </a:r>
          </a:p>
          <a:p>
            <a:pPr eaLnBrk="1" hangingPunct="1">
              <a:lnSpc>
                <a:spcPct val="80000"/>
              </a:lnSpc>
              <a:buFont typeface="Wingdings" panose="05000000000000000000" pitchFamily="2" charset="2"/>
              <a:buNone/>
            </a:pPr>
            <a:endParaRPr lang="pl-PL" altLang="pl-PL" sz="240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2450" name="Rectangle 3">
            <a:extLst>
              <a:ext uri="{FF2B5EF4-FFF2-40B4-BE49-F238E27FC236}">
                <a16:creationId xmlns:a16="http://schemas.microsoft.com/office/drawing/2014/main" id="{0C93AF19-462B-C80E-E88A-6A49E81E5172}"/>
              </a:ext>
            </a:extLst>
          </p:cNvPr>
          <p:cNvSpPr>
            <a:spLocks noGrp="1" noChangeArrowheads="1"/>
          </p:cNvSpPr>
          <p:nvPr>
            <p:ph type="body" idx="1"/>
          </p:nvPr>
        </p:nvSpPr>
        <p:spPr>
          <a:xfrm>
            <a:off x="179388" y="115888"/>
            <a:ext cx="8355012" cy="6192837"/>
          </a:xfrm>
        </p:spPr>
        <p:txBody>
          <a:bodyPr/>
          <a:lstStyle/>
          <a:p>
            <a:pPr marL="0" indent="0">
              <a:buFont typeface="Wingdings" panose="05000000000000000000" pitchFamily="2" charset="2"/>
              <a:buNone/>
              <a:defRPr/>
            </a:pPr>
            <a:r>
              <a:rPr lang="pl-PL" sz="4000" dirty="0"/>
              <a:t>Art.  440 k.p.k.</a:t>
            </a:r>
          </a:p>
          <a:p>
            <a:pPr marL="0" indent="0">
              <a:buFont typeface="Wingdings" panose="05000000000000000000" pitchFamily="2" charset="2"/>
              <a:buNone/>
              <a:defRPr/>
            </a:pPr>
            <a:r>
              <a:rPr lang="pl-PL" sz="4000" dirty="0"/>
              <a:t>Jeżeli utrzymanie orzeczenia w mocy byłoby rażąco niesprawiedliwe, podlega ono niezależnie od granic zaskarżenia i podniesionych zarzutów zmianie na korzyść oskarżonego albo w sytuacji określonej w art. 437 § 2 zdanie drugie uchyleniu.</a:t>
            </a:r>
          </a:p>
          <a:p>
            <a:pPr eaLnBrk="1" hangingPunct="1">
              <a:lnSpc>
                <a:spcPct val="80000"/>
              </a:lnSpc>
              <a:buFont typeface="Wingdings" panose="05000000000000000000" pitchFamily="2" charset="2"/>
              <a:buNone/>
              <a:defRPr/>
            </a:pPr>
            <a:endParaRPr lang="pl-PL" altLang="pl-PL" sz="2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Symbol zastępczy zawartości 5">
            <a:extLst>
              <a:ext uri="{FF2B5EF4-FFF2-40B4-BE49-F238E27FC236}">
                <a16:creationId xmlns:a16="http://schemas.microsoft.com/office/drawing/2014/main" id="{B13EFD82-4ED1-0E64-AD9E-918AE27B486B}"/>
              </a:ext>
            </a:extLst>
          </p:cNvPr>
          <p:cNvSpPr>
            <a:spLocks noGrp="1"/>
          </p:cNvSpPr>
          <p:nvPr>
            <p:ph sz="half" idx="1"/>
          </p:nvPr>
        </p:nvSpPr>
        <p:spPr>
          <a:xfrm>
            <a:off x="228600" y="188913"/>
            <a:ext cx="8666163" cy="6669087"/>
          </a:xfrm>
        </p:spPr>
        <p:txBody>
          <a:bodyPr>
            <a:normAutofit/>
          </a:bodyPr>
          <a:lstStyle/>
          <a:p>
            <a:pPr marL="265176" indent="-265176">
              <a:buFont typeface="Wingdings 2"/>
              <a:buChar char=""/>
              <a:defRPr/>
            </a:pPr>
            <a:r>
              <a:rPr lang="pl-PL" sz="4000" dirty="0"/>
              <a:t>Przepis kryminalizujący określone zachowanie musi być zgodny z zasadą </a:t>
            </a:r>
            <a:r>
              <a:rPr lang="pl-PL" sz="4000" b="1" dirty="0" err="1">
                <a:solidFill>
                  <a:srgbClr val="FF0000"/>
                </a:solidFill>
              </a:rPr>
              <a:t>nullum</a:t>
            </a:r>
            <a:r>
              <a:rPr lang="pl-PL" sz="4000" b="1" dirty="0">
                <a:solidFill>
                  <a:srgbClr val="FF0000"/>
                </a:solidFill>
              </a:rPr>
              <a:t> </a:t>
            </a:r>
            <a:r>
              <a:rPr lang="pl-PL" sz="4000" b="1" dirty="0" err="1">
                <a:solidFill>
                  <a:srgbClr val="FF0000"/>
                </a:solidFill>
              </a:rPr>
              <a:t>crimen</a:t>
            </a:r>
            <a:r>
              <a:rPr lang="pl-PL" sz="4000" b="1" dirty="0">
                <a:solidFill>
                  <a:srgbClr val="FF0000"/>
                </a:solidFill>
              </a:rPr>
              <a:t> sine lege</a:t>
            </a:r>
            <a:r>
              <a:rPr lang="pl-PL" sz="4000" dirty="0"/>
              <a:t>, w tym z wynikającą z tej zasady  dyrektywą </a:t>
            </a:r>
            <a:r>
              <a:rPr lang="pl-PL" sz="4000" b="1" dirty="0" err="1">
                <a:solidFill>
                  <a:srgbClr val="00B050"/>
                </a:solidFill>
              </a:rPr>
              <a:t>nullum</a:t>
            </a:r>
            <a:r>
              <a:rPr lang="pl-PL" sz="4000" b="1" dirty="0">
                <a:solidFill>
                  <a:srgbClr val="00B050"/>
                </a:solidFill>
              </a:rPr>
              <a:t> </a:t>
            </a:r>
            <a:r>
              <a:rPr lang="pl-PL" sz="4000" b="1" dirty="0" err="1">
                <a:solidFill>
                  <a:srgbClr val="00B050"/>
                </a:solidFill>
              </a:rPr>
              <a:t>crimen</a:t>
            </a:r>
            <a:r>
              <a:rPr lang="pl-PL" sz="4000" b="1" dirty="0">
                <a:solidFill>
                  <a:srgbClr val="00B050"/>
                </a:solidFill>
              </a:rPr>
              <a:t> sine lege certa (postulat maksymalnej określoności typów czynów zabronionych) </a:t>
            </a:r>
          </a:p>
          <a:p>
            <a:pPr marL="265176" indent="-265176">
              <a:buFont typeface="Wingdings 2"/>
              <a:buChar char=""/>
              <a:defRPr/>
            </a:pPr>
            <a:r>
              <a:rPr lang="pl-PL" sz="4000" dirty="0"/>
              <a:t>(art. 1 </a:t>
            </a:r>
            <a:r>
              <a:rPr lang="pl-PL" sz="4000" dirty="0">
                <a:latin typeface="Times New Roman"/>
                <a:cs typeface="Times New Roman"/>
              </a:rPr>
              <a:t>§ </a:t>
            </a:r>
            <a:r>
              <a:rPr lang="pl-PL" sz="4000" dirty="0">
                <a:ea typeface="Verdana" pitchFamily="34" charset="0"/>
                <a:cs typeface="Verdana" pitchFamily="34" charset="0"/>
              </a:rPr>
              <a:t>1 k.k., art. 42 ust. 1 Konstytucji</a:t>
            </a:r>
            <a:r>
              <a:rPr lang="pl-PL" sz="4000" dirty="0">
                <a:latin typeface="Times New Roman"/>
                <a:cs typeface="Times New Roman"/>
              </a:rPr>
              <a:t>)</a:t>
            </a:r>
          </a:p>
          <a:p>
            <a:pPr>
              <a:defRPr/>
            </a:pPr>
            <a:endParaRPr lang="pl-PL" sz="2800" b="1"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Symbol zastępczy zawartości 5">
            <a:extLst>
              <a:ext uri="{FF2B5EF4-FFF2-40B4-BE49-F238E27FC236}">
                <a16:creationId xmlns:a16="http://schemas.microsoft.com/office/drawing/2014/main" id="{A305FDAD-E1AC-AF9B-8A5C-064AD30638DF}"/>
              </a:ext>
            </a:extLst>
          </p:cNvPr>
          <p:cNvSpPr>
            <a:spLocks noGrp="1"/>
          </p:cNvSpPr>
          <p:nvPr>
            <p:ph sz="half" idx="1"/>
          </p:nvPr>
        </p:nvSpPr>
        <p:spPr>
          <a:xfrm>
            <a:off x="228600" y="188913"/>
            <a:ext cx="8666163" cy="6669087"/>
          </a:xfrm>
        </p:spPr>
        <p:txBody>
          <a:bodyPr>
            <a:normAutofit lnSpcReduction="10000"/>
          </a:bodyPr>
          <a:lstStyle/>
          <a:p>
            <a:pPr marL="0" indent="0">
              <a:buFont typeface="Wingdings" panose="05000000000000000000" pitchFamily="2" charset="2"/>
              <a:buNone/>
              <a:defRPr/>
            </a:pPr>
            <a:r>
              <a:rPr lang="pl-PL" sz="4800" u="sng" dirty="0">
                <a:latin typeface="Times New Roman"/>
                <a:cs typeface="Times New Roman"/>
              </a:rPr>
              <a:t>TA DYREKTYWA MA DWA ASPEKTY:</a:t>
            </a:r>
          </a:p>
          <a:p>
            <a:pPr>
              <a:buFont typeface="Wingdings" panose="05000000000000000000" pitchFamily="2" charset="2"/>
              <a:buChar char="Ø"/>
              <a:defRPr/>
            </a:pPr>
            <a:r>
              <a:rPr lang="pl-PL" sz="4800" dirty="0">
                <a:latin typeface="Times New Roman"/>
                <a:cs typeface="Times New Roman"/>
              </a:rPr>
              <a:t>zewnętrzny – człowiek musi umieć odróżnić czyn zabroniony i dozwolony </a:t>
            </a:r>
            <a:r>
              <a:rPr lang="pl-PL" sz="4800" i="1" dirty="0">
                <a:solidFill>
                  <a:srgbClr val="FF0000"/>
                </a:solidFill>
                <a:latin typeface="Times New Roman"/>
                <a:cs typeface="Times New Roman"/>
              </a:rPr>
              <a:t>(prawo granic; ultima ratio)</a:t>
            </a:r>
          </a:p>
          <a:p>
            <a:pPr>
              <a:buFont typeface="Wingdings" panose="05000000000000000000" pitchFamily="2" charset="2"/>
              <a:buChar char="Ø"/>
              <a:defRPr/>
            </a:pPr>
            <a:r>
              <a:rPr lang="pl-PL" sz="4800" dirty="0">
                <a:latin typeface="Times New Roman"/>
                <a:cs typeface="Times New Roman"/>
              </a:rPr>
              <a:t>wewnętrzny – pozwala odróżnić typy czynów zabronionych od siebie. </a:t>
            </a:r>
          </a:p>
          <a:p>
            <a:pPr>
              <a:defRPr/>
            </a:pPr>
            <a:endParaRPr lang="pl-PL" sz="2800" b="1"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Symbol zastępczy zawartości 5">
            <a:extLst>
              <a:ext uri="{FF2B5EF4-FFF2-40B4-BE49-F238E27FC236}">
                <a16:creationId xmlns:a16="http://schemas.microsoft.com/office/drawing/2014/main" id="{53011CDD-D5DF-92A5-C571-4C5145009282}"/>
              </a:ext>
            </a:extLst>
          </p:cNvPr>
          <p:cNvSpPr>
            <a:spLocks noGrp="1"/>
          </p:cNvSpPr>
          <p:nvPr>
            <p:ph sz="half" idx="1"/>
          </p:nvPr>
        </p:nvSpPr>
        <p:spPr>
          <a:xfrm>
            <a:off x="228600" y="188913"/>
            <a:ext cx="8666163" cy="6669087"/>
          </a:xfrm>
        </p:spPr>
        <p:txBody>
          <a:bodyPr>
            <a:normAutofit fontScale="92500" lnSpcReduction="20000"/>
          </a:bodyPr>
          <a:lstStyle/>
          <a:p>
            <a:pPr marL="265113" indent="-265113">
              <a:buFont typeface="Wingdings 2" panose="05020102010507070707" pitchFamily="18" charset="2"/>
              <a:buChar char=""/>
              <a:defRPr/>
            </a:pPr>
            <a:r>
              <a:rPr lang="pl-PL" altLang="pl-PL" sz="4800" b="1" dirty="0"/>
              <a:t>Art. 413 par. 2 pkt 1 k.p.k.</a:t>
            </a:r>
          </a:p>
          <a:p>
            <a:pPr marL="265113" indent="-265113">
              <a:buFont typeface="Wingdings 2" panose="05020102010507070707" pitchFamily="18" charset="2"/>
              <a:buChar char=""/>
              <a:defRPr/>
            </a:pPr>
            <a:endParaRPr lang="pl-PL" altLang="pl-PL" sz="4800" b="1" dirty="0"/>
          </a:p>
          <a:p>
            <a:pPr marL="265113" indent="-265113">
              <a:buFont typeface="Wingdings 2" panose="05020102010507070707" pitchFamily="18" charset="2"/>
              <a:buChar char=""/>
              <a:defRPr/>
            </a:pPr>
            <a:r>
              <a:rPr lang="pl-PL" altLang="pl-PL" sz="4800" b="1" dirty="0"/>
              <a:t>Wyrok skazujący powinien ponadto zawierać:</a:t>
            </a:r>
          </a:p>
          <a:p>
            <a:pPr marL="265113" indent="-265113">
              <a:buFont typeface="Wingdings 2" panose="05020102010507070707" pitchFamily="18" charset="2"/>
              <a:buChar char=""/>
              <a:defRPr/>
            </a:pPr>
            <a:r>
              <a:rPr lang="pl-PL" altLang="pl-PL" sz="4800" b="1" dirty="0"/>
              <a:t>1) dokładne określenie przypisanego oskarżonemu czynu oraz jego kwalifikację prawną </a:t>
            </a:r>
          </a:p>
          <a:p>
            <a:pPr marL="265113" indent="-265113">
              <a:buFont typeface="Wingdings 2" panose="05020102010507070707" pitchFamily="18" charset="2"/>
              <a:buChar char=""/>
              <a:defRPr/>
            </a:pPr>
            <a:r>
              <a:rPr lang="pl-PL" altLang="pl-PL" sz="4800" b="1" dirty="0">
                <a:solidFill>
                  <a:srgbClr val="00B050"/>
                </a:solidFill>
              </a:rPr>
              <a:t>Opis czynu w ustawie nie w uzasadnieniu; zgodny ze znamionami </a:t>
            </a:r>
          </a:p>
          <a:p>
            <a:pPr>
              <a:defRPr/>
            </a:pPr>
            <a:endParaRPr lang="pl-PL" sz="2800" b="1"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Symbol zastępczy zawartości 5">
            <a:extLst>
              <a:ext uri="{FF2B5EF4-FFF2-40B4-BE49-F238E27FC236}">
                <a16:creationId xmlns:a16="http://schemas.microsoft.com/office/drawing/2014/main" id="{A022DFD7-0A8D-0424-7055-D62421E8C333}"/>
              </a:ext>
            </a:extLst>
          </p:cNvPr>
          <p:cNvSpPr>
            <a:spLocks noGrp="1"/>
          </p:cNvSpPr>
          <p:nvPr>
            <p:ph sz="half" idx="1"/>
          </p:nvPr>
        </p:nvSpPr>
        <p:spPr>
          <a:xfrm>
            <a:off x="228600" y="188913"/>
            <a:ext cx="8666163" cy="6669087"/>
          </a:xfrm>
        </p:spPr>
        <p:txBody>
          <a:bodyPr>
            <a:normAutofit fontScale="92500" lnSpcReduction="10000"/>
          </a:bodyPr>
          <a:lstStyle/>
          <a:p>
            <a:pPr>
              <a:defRPr/>
            </a:pPr>
            <a:r>
              <a:rPr lang="pl-PL" sz="4400" b="1" dirty="0"/>
              <a:t>Art. 178a.</a:t>
            </a:r>
            <a:r>
              <a:rPr lang="pl-PL" sz="4400" dirty="0"/>
              <a:t> § 1. Kto, znajdując się w stanie nietrzeźwości lub pod wpływem środka odurzającego, prowadzi pojazd mechaniczny </a:t>
            </a:r>
            <a:r>
              <a:rPr lang="pl-PL" sz="4400" b="1" dirty="0">
                <a:solidFill>
                  <a:srgbClr val="FF0000"/>
                </a:solidFill>
              </a:rPr>
              <a:t>w ruchu lądowym, </a:t>
            </a:r>
            <a:r>
              <a:rPr lang="pl-PL" sz="4400" dirty="0"/>
              <a:t>wodnym lub powietrznym, </a:t>
            </a:r>
          </a:p>
          <a:p>
            <a:pPr>
              <a:defRPr/>
            </a:pPr>
            <a:r>
              <a:rPr lang="pl-PL" sz="4400" dirty="0"/>
              <a:t>podlega grzywnie, karze ograniczenia wolności albo pozbawienia wolności do lat 3.</a:t>
            </a:r>
          </a:p>
          <a:p>
            <a:pPr>
              <a:defRPr/>
            </a:pPr>
            <a:r>
              <a:rPr lang="pl-PL" sz="4400" dirty="0"/>
              <a:t>„prowadził pojazd mechaniczny (…) w Górkach Dużych”. </a:t>
            </a:r>
            <a:endParaRPr lang="pl-PL" sz="2800" b="1"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Symbol zastępczy zawartości 5">
            <a:extLst>
              <a:ext uri="{FF2B5EF4-FFF2-40B4-BE49-F238E27FC236}">
                <a16:creationId xmlns:a16="http://schemas.microsoft.com/office/drawing/2014/main" id="{50915971-32EA-4D10-A1A5-0303B7904688}"/>
              </a:ext>
            </a:extLst>
          </p:cNvPr>
          <p:cNvSpPr>
            <a:spLocks noGrp="1" noChangeArrowheads="1"/>
          </p:cNvSpPr>
          <p:nvPr>
            <p:ph sz="half" idx="1"/>
          </p:nvPr>
        </p:nvSpPr>
        <p:spPr>
          <a:xfrm>
            <a:off x="228600" y="188913"/>
            <a:ext cx="8666163" cy="6669087"/>
          </a:xfrm>
        </p:spPr>
        <p:txBody>
          <a:bodyPr/>
          <a:lstStyle/>
          <a:p>
            <a:r>
              <a:rPr lang="pl-PL" altLang="pl-PL" sz="5400"/>
              <a:t>Art.  278 §  1 k.k. </a:t>
            </a:r>
          </a:p>
          <a:p>
            <a:r>
              <a:rPr lang="pl-PL" altLang="pl-PL" sz="5400"/>
              <a:t>Kto zabiera </a:t>
            </a:r>
            <a:r>
              <a:rPr lang="pl-PL" altLang="pl-PL" sz="5400">
                <a:solidFill>
                  <a:srgbClr val="C00000"/>
                </a:solidFill>
              </a:rPr>
              <a:t>w celu przywłaszczenia </a:t>
            </a:r>
            <a:r>
              <a:rPr lang="pl-PL" altLang="pl-PL" sz="5400"/>
              <a:t>cudzą rzecz ruchomą,podlega karze pozbawienia wolności od 3 miesięcy do lat 5 </a:t>
            </a:r>
            <a:r>
              <a:rPr lang="pl-PL" altLang="pl-PL" sz="5400">
                <a:solidFill>
                  <a:srgbClr val="FF0000"/>
                </a:solidFill>
              </a:rPr>
              <a:t>(kradnie?). </a:t>
            </a:r>
          </a:p>
          <a:p>
            <a:endParaRPr lang="pl-PL" altLang="pl-PL" sz="2800" b="1"/>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Symbol zastępczy zawartości 5">
            <a:extLst>
              <a:ext uri="{FF2B5EF4-FFF2-40B4-BE49-F238E27FC236}">
                <a16:creationId xmlns:a16="http://schemas.microsoft.com/office/drawing/2014/main" id="{33EAF12E-C7F1-25B8-4211-7443785D3950}"/>
              </a:ext>
            </a:extLst>
          </p:cNvPr>
          <p:cNvSpPr>
            <a:spLocks noGrp="1" noChangeArrowheads="1"/>
          </p:cNvSpPr>
          <p:nvPr>
            <p:ph sz="half" idx="1"/>
          </p:nvPr>
        </p:nvSpPr>
        <p:spPr>
          <a:xfrm>
            <a:off x="228600" y="188913"/>
            <a:ext cx="8666163" cy="6669087"/>
          </a:xfrm>
        </p:spPr>
        <p:txBody>
          <a:bodyPr/>
          <a:lstStyle/>
          <a:p>
            <a:r>
              <a:rPr lang="pl-PL" altLang="pl-PL" sz="3600"/>
              <a:t>Art.  190 §  1 k.k. </a:t>
            </a:r>
          </a:p>
          <a:p>
            <a:r>
              <a:rPr lang="pl-PL" altLang="pl-PL" sz="3600"/>
              <a:t>§ 1. Kto grozi innej osobie popełnieniem przestępstwa na jej szkodę lub na szkodę osoby dla niej najbliższej, jeżeli </a:t>
            </a:r>
            <a:r>
              <a:rPr lang="pl-PL" altLang="pl-PL" sz="3600">
                <a:solidFill>
                  <a:srgbClr val="FF0000"/>
                </a:solidFill>
              </a:rPr>
              <a:t>groźba wzbudza w osobie, do której została skierowana lub której dotyczy, uzasadnioną obawę, że będzie spełniona, </a:t>
            </a:r>
            <a:r>
              <a:rPr lang="pl-PL" altLang="pl-PL" sz="3600"/>
              <a:t>podlega karze pozbawienia wolności do lat 3.</a:t>
            </a:r>
          </a:p>
          <a:p>
            <a:r>
              <a:rPr lang="pl-PL" altLang="pl-PL" sz="3600"/>
              <a:t>§  2. Ściganie następuje na wniosek pokrzywdzonego.</a:t>
            </a:r>
          </a:p>
          <a:p>
            <a:endParaRPr lang="pl-PL" altLang="pl-PL" sz="1600"/>
          </a:p>
          <a:p>
            <a:endParaRPr lang="pl-PL" altLang="pl-PL" sz="2800" b="1"/>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Symbol zastępczy zawartości 5">
            <a:extLst>
              <a:ext uri="{FF2B5EF4-FFF2-40B4-BE49-F238E27FC236}">
                <a16:creationId xmlns:a16="http://schemas.microsoft.com/office/drawing/2014/main" id="{8091D0C2-B0DF-446D-5ED0-0C903558AC81}"/>
              </a:ext>
            </a:extLst>
          </p:cNvPr>
          <p:cNvSpPr>
            <a:spLocks noGrp="1" noChangeArrowheads="1"/>
          </p:cNvSpPr>
          <p:nvPr>
            <p:ph sz="half" idx="1"/>
          </p:nvPr>
        </p:nvSpPr>
        <p:spPr>
          <a:xfrm>
            <a:off x="228600" y="188913"/>
            <a:ext cx="8666163" cy="6669087"/>
          </a:xfrm>
        </p:spPr>
        <p:txBody>
          <a:bodyPr/>
          <a:lstStyle/>
          <a:p>
            <a:r>
              <a:rPr lang="pl-PL" altLang="pl-PL">
                <a:solidFill>
                  <a:srgbClr val="000000"/>
                </a:solidFill>
                <a:latin typeface="Times New Roman" panose="02020603050405020304" pitchFamily="18" charset="0"/>
              </a:rPr>
              <a:t>Nowela – 1.10.2023 r. </a:t>
            </a:r>
          </a:p>
          <a:p>
            <a:r>
              <a:rPr lang="pl-PL" altLang="pl-PL">
                <a:solidFill>
                  <a:srgbClr val="000000"/>
                </a:solidFill>
                <a:latin typeface="Times New Roman" panose="02020603050405020304" pitchFamily="18" charset="0"/>
              </a:rPr>
              <a:t>w art. 12 dodaje się § 4 w brzmieniu: </a:t>
            </a:r>
          </a:p>
          <a:p>
            <a:r>
              <a:rPr lang="pl-PL" altLang="pl-PL">
                <a:solidFill>
                  <a:srgbClr val="000000"/>
                </a:solidFill>
                <a:latin typeface="Times New Roman" panose="02020603050405020304" pitchFamily="18" charset="0"/>
              </a:rPr>
              <a:t>„§ 4. W sprawie o przestępstwo z art. 190 § 1 Kodeksu karnego można </a:t>
            </a:r>
            <a:r>
              <a:rPr lang="pl-PL" altLang="pl-PL" b="1">
                <a:solidFill>
                  <a:srgbClr val="000000"/>
                </a:solidFill>
                <a:latin typeface="Times New Roman" panose="02020603050405020304" pitchFamily="18" charset="0"/>
              </a:rPr>
              <a:t>wszcząć i prowadzić </a:t>
            </a:r>
            <a:r>
              <a:rPr lang="pl-PL" altLang="pl-PL">
                <a:solidFill>
                  <a:srgbClr val="000000"/>
                </a:solidFill>
                <a:latin typeface="Times New Roman" panose="02020603050405020304" pitchFamily="18" charset="0"/>
              </a:rPr>
              <a:t>postępowanie pomimo niezłożenia wniosku o ściganie, jeżeli zachodzi duże prawdopodobieństwo, że niezłożenie wniosku wynika z obawy pokrzywdzonego przed </a:t>
            </a:r>
            <a:r>
              <a:rPr lang="pl-PL" altLang="pl-PL">
                <a:solidFill>
                  <a:srgbClr val="FF0000"/>
                </a:solidFill>
                <a:latin typeface="Times New Roman" panose="02020603050405020304" pitchFamily="18" charset="0"/>
              </a:rPr>
              <a:t>odwetem </a:t>
            </a:r>
            <a:r>
              <a:rPr lang="pl-PL" altLang="pl-PL">
                <a:solidFill>
                  <a:srgbClr val="000000"/>
                </a:solidFill>
                <a:latin typeface="Times New Roman" panose="02020603050405020304" pitchFamily="18" charset="0"/>
              </a:rPr>
              <a:t>albo jeżeli przemawia za tym interes społeczny. </a:t>
            </a:r>
            <a:r>
              <a:rPr lang="pl-PL" altLang="pl-PL" b="1">
                <a:solidFill>
                  <a:srgbClr val="000000"/>
                </a:solidFill>
                <a:latin typeface="Times New Roman" panose="02020603050405020304" pitchFamily="18" charset="0"/>
              </a:rPr>
              <a:t>W takim przypadku postępowanie do czasu prawomocnego zakończenia toczy się z urzędu.”;</a:t>
            </a:r>
            <a:endParaRPr lang="pl-PL" altLang="pl-PL" b="1"/>
          </a:p>
          <a:p>
            <a:r>
              <a:rPr lang="pl-PL" altLang="pl-PL" sz="2800" b="1"/>
              <a:t>Brak wskazania podmiotu. Czyj odwet?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Symbol zastępczy zawartości 3">
            <a:extLst>
              <a:ext uri="{FF2B5EF4-FFF2-40B4-BE49-F238E27FC236}">
                <a16:creationId xmlns:a16="http://schemas.microsoft.com/office/drawing/2014/main" id="{150D608C-81AC-803C-6C5D-A32646374FB9}"/>
              </a:ext>
            </a:extLst>
          </p:cNvPr>
          <p:cNvSpPr>
            <a:spLocks noGrp="1" noChangeArrowheads="1"/>
          </p:cNvSpPr>
          <p:nvPr>
            <p:ph sz="half" idx="1"/>
          </p:nvPr>
        </p:nvSpPr>
        <p:spPr>
          <a:xfrm>
            <a:off x="228600" y="115888"/>
            <a:ext cx="8666163" cy="7200900"/>
          </a:xfrm>
        </p:spPr>
        <p:txBody>
          <a:bodyPr/>
          <a:lstStyle/>
          <a:p>
            <a:r>
              <a:rPr lang="pl-PL" altLang="pl-PL" sz="4800"/>
              <a:t>Czy sąd na etapie postępowania jurysdykcyjnego może oceniać zasadność wszczęcia przez prokuratora postępowania z urzędu, w sytuacji, jeśli prokurator taką konieczność wskazał w wydanej decyzji procesowej?</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Symbol zastępczy zawartości 3">
            <a:extLst>
              <a:ext uri="{FF2B5EF4-FFF2-40B4-BE49-F238E27FC236}">
                <a16:creationId xmlns:a16="http://schemas.microsoft.com/office/drawing/2014/main" id="{CDCE6060-E480-20C3-DBF9-A94A163C26E8}"/>
              </a:ext>
            </a:extLst>
          </p:cNvPr>
          <p:cNvSpPr>
            <a:spLocks noGrp="1" noChangeArrowheads="1"/>
          </p:cNvSpPr>
          <p:nvPr>
            <p:ph sz="half" idx="1"/>
          </p:nvPr>
        </p:nvSpPr>
        <p:spPr>
          <a:xfrm>
            <a:off x="228600" y="115888"/>
            <a:ext cx="8666163" cy="7200900"/>
          </a:xfrm>
        </p:spPr>
        <p:txBody>
          <a:bodyPr/>
          <a:lstStyle/>
          <a:p>
            <a:r>
              <a:rPr lang="pl-PL" altLang="pl-PL" sz="4800"/>
              <a:t>Co w sytuacji, jeśli sąd stwierdzi, iż w sprawie z art. 190 par. 1 k.k. wniesiono akt oskarżenia mimo braku wniosku o ściganie i brak jest decyzji procesowej prokuratora o wszczęciu postępowania z urzędu?</a:t>
            </a:r>
          </a:p>
          <a:p>
            <a:endParaRPr lang="pl-PL" altLang="pl-PL" sz="480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Symbol zastępczy zawartości 3">
            <a:extLst>
              <a:ext uri="{FF2B5EF4-FFF2-40B4-BE49-F238E27FC236}">
                <a16:creationId xmlns:a16="http://schemas.microsoft.com/office/drawing/2014/main" id="{731ECCF1-D80F-EC03-61E5-1251C4212605}"/>
              </a:ext>
            </a:extLst>
          </p:cNvPr>
          <p:cNvSpPr>
            <a:spLocks noGrp="1" noChangeArrowheads="1"/>
          </p:cNvSpPr>
          <p:nvPr>
            <p:ph sz="half" idx="1"/>
          </p:nvPr>
        </p:nvSpPr>
        <p:spPr>
          <a:xfrm>
            <a:off x="228600" y="115888"/>
            <a:ext cx="8666163" cy="7200900"/>
          </a:xfrm>
        </p:spPr>
        <p:txBody>
          <a:bodyPr/>
          <a:lstStyle/>
          <a:p>
            <a:r>
              <a:rPr lang="pl-PL" altLang="pl-PL" sz="4800"/>
              <a:t>Co w sytuacji jeśli sąd uprzedził o zmianie kwalifikacji w kierunku art. 190 par. 1 k.k. (musi być wniosek czy aktualizuje się dyspozycja art. 12 par. 4 k.p.k.?).</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Symbol zastępczy zawartości 3">
            <a:extLst>
              <a:ext uri="{FF2B5EF4-FFF2-40B4-BE49-F238E27FC236}">
                <a16:creationId xmlns:a16="http://schemas.microsoft.com/office/drawing/2014/main" id="{A93D1E34-D2A5-C749-9C4C-15D78B9B4996}"/>
              </a:ext>
            </a:extLst>
          </p:cNvPr>
          <p:cNvSpPr>
            <a:spLocks noGrp="1" noChangeArrowheads="1"/>
          </p:cNvSpPr>
          <p:nvPr>
            <p:ph sz="half" idx="1"/>
          </p:nvPr>
        </p:nvSpPr>
        <p:spPr>
          <a:xfrm>
            <a:off x="228600" y="115888"/>
            <a:ext cx="8666163" cy="7200900"/>
          </a:xfrm>
        </p:spPr>
        <p:txBody>
          <a:bodyPr/>
          <a:lstStyle/>
          <a:p>
            <a:r>
              <a:rPr lang="pl-PL" altLang="pl-PL" sz="3600"/>
              <a:t>Art.  60 §  1 k.p.k.</a:t>
            </a:r>
          </a:p>
          <a:p>
            <a:r>
              <a:rPr lang="pl-PL" altLang="pl-PL" sz="3600"/>
              <a:t> W sprawach o przestępstwa ścigane z oskarżenia prywatnego prokurator wszczyna postępowanie albo jako oskarżyciel publiczny wstępuje do postępowania już wszczętego, jeżeli wymaga tego ochrona praworządności lub interes społeczny.</a:t>
            </a:r>
          </a:p>
          <a:p>
            <a:r>
              <a:rPr lang="pl-PL" altLang="pl-PL" sz="3600"/>
              <a:t>§  2. </a:t>
            </a:r>
          </a:p>
          <a:p>
            <a:r>
              <a:rPr lang="pl-PL" altLang="pl-PL" sz="3600"/>
              <a:t>Postępowanie toczy się wówczas z urzędu….</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Symbol zastępczy zawartości 3">
            <a:extLst>
              <a:ext uri="{FF2B5EF4-FFF2-40B4-BE49-F238E27FC236}">
                <a16:creationId xmlns:a16="http://schemas.microsoft.com/office/drawing/2014/main" id="{E9C36308-F593-8121-4608-C8C8493F5C19}"/>
              </a:ext>
            </a:extLst>
          </p:cNvPr>
          <p:cNvSpPr>
            <a:spLocks noGrp="1" noChangeArrowheads="1"/>
          </p:cNvSpPr>
          <p:nvPr>
            <p:ph sz="half" idx="1"/>
          </p:nvPr>
        </p:nvSpPr>
        <p:spPr>
          <a:xfrm>
            <a:off x="228600" y="115888"/>
            <a:ext cx="8666163" cy="7200900"/>
          </a:xfrm>
        </p:spPr>
        <p:txBody>
          <a:bodyPr/>
          <a:lstStyle/>
          <a:p>
            <a:r>
              <a:rPr lang="pl-PL" altLang="pl-PL" sz="3800"/>
              <a:t> art. 465 par. 2a k.p.k.  </a:t>
            </a:r>
          </a:p>
          <a:p>
            <a:r>
              <a:rPr lang="pl-PL" altLang="pl-PL" sz="3800"/>
              <a:t>W sprawach z oskarżenia prywatnego zażalenie na postanowienie prokuratora o odmowie wszczęcia lub o umorzeniu postępowania przygotowawczego rozpoznaje prokurator nadrzędny, jeżeli postanowienie zapadło z uwagi na brak interesu społecznego w ściganiu z urzędu sprawcy.</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Symbol zastępczy zawartości 3">
            <a:extLst>
              <a:ext uri="{FF2B5EF4-FFF2-40B4-BE49-F238E27FC236}">
                <a16:creationId xmlns:a16="http://schemas.microsoft.com/office/drawing/2014/main" id="{713A2F75-8F1D-64C2-A137-7AAD4A3FBA02}"/>
              </a:ext>
            </a:extLst>
          </p:cNvPr>
          <p:cNvSpPr>
            <a:spLocks noGrp="1" noChangeArrowheads="1"/>
          </p:cNvSpPr>
          <p:nvPr>
            <p:ph sz="half" idx="1"/>
          </p:nvPr>
        </p:nvSpPr>
        <p:spPr>
          <a:xfrm>
            <a:off x="228600" y="115888"/>
            <a:ext cx="8666163" cy="7200900"/>
          </a:xfrm>
        </p:spPr>
        <p:txBody>
          <a:bodyPr/>
          <a:lstStyle/>
          <a:p>
            <a:r>
              <a:rPr lang="pl-PL" altLang="pl-PL" sz="4800"/>
              <a:t>Art. 327 par. 4 k.p.k.</a:t>
            </a:r>
          </a:p>
          <a:p>
            <a:r>
              <a:rPr lang="pl-PL" altLang="pl-PL" sz="4800"/>
              <a:t>Po wniesieniu aktu oskarżenia sąd umarza postępowanie, jeżeli stwierdzi, że postępowanie przygotowawcze wznowiono mimo braku podstaw.</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Symbol zastępczy zawartości 5">
            <a:extLst>
              <a:ext uri="{FF2B5EF4-FFF2-40B4-BE49-F238E27FC236}">
                <a16:creationId xmlns:a16="http://schemas.microsoft.com/office/drawing/2014/main" id="{6DA72E85-8E25-3C44-621A-F84E33F20653}"/>
              </a:ext>
            </a:extLst>
          </p:cNvPr>
          <p:cNvSpPr>
            <a:spLocks noGrp="1"/>
          </p:cNvSpPr>
          <p:nvPr>
            <p:ph sz="half" idx="1"/>
          </p:nvPr>
        </p:nvSpPr>
        <p:spPr>
          <a:xfrm>
            <a:off x="107950" y="188913"/>
            <a:ext cx="8786813" cy="6669087"/>
          </a:xfrm>
        </p:spPr>
        <p:txBody>
          <a:bodyPr>
            <a:normAutofit fontScale="92500" lnSpcReduction="20000"/>
          </a:bodyPr>
          <a:lstStyle/>
          <a:p>
            <a:pPr>
              <a:defRPr/>
            </a:pPr>
            <a:r>
              <a:rPr lang="pl-PL" dirty="0"/>
              <a:t>Pociągnięcie do odpowiedzialności karnej uwarunkowane jest nie tylko udowodnieniem, że konkretne zachowanie wyczerpuje znamiona przestępstwa stypizowanego w danym przepisie ustawy karnej, ale i prawidłowym przypisaniem tego czynu w wyroku skazującym. Z zawartego w wyroku opisu przypisanego czynu musi zaś jednoznacznie wynikać, że oskarżony wyczerpał swoim zachowaniem </a:t>
            </a:r>
            <a:r>
              <a:rPr lang="pl-PL" b="1" dirty="0">
                <a:solidFill>
                  <a:srgbClr val="0000FF"/>
                </a:solidFill>
              </a:rPr>
              <a:t>wszystkie znamiona czynu zabronionego</a:t>
            </a:r>
            <a:r>
              <a:rPr lang="pl-PL" dirty="0"/>
              <a:t> określonego w przepisie wskazanym w kwalifikacji prawnej.</a:t>
            </a:r>
          </a:p>
          <a:p>
            <a:pPr>
              <a:defRPr/>
            </a:pPr>
            <a:r>
              <a:rPr lang="pl-PL" dirty="0"/>
              <a:t>Dla konwalidowania braków w opisie czynu zamieszczonego w części dyspozytywnej orzeczenia nie jest przy tym wystarczające przywołanie pełnego opisu czynu w pisemnych motywach orzeczenia. To część dyspozytywna wyroku zawiera bowiem rozstrzygnięcie co do istoty sprawy i w związku z tym </a:t>
            </a:r>
            <a:r>
              <a:rPr lang="pl-PL" b="1" dirty="0">
                <a:solidFill>
                  <a:srgbClr val="0000FF"/>
                </a:solidFill>
              </a:rPr>
              <a:t>uzasadnienie wyroku, które stanowi odrębny i spełniający odmienne funkcje dokument procesowy, nie jest w stanie skutecznie niwelować wad występujących w treści wyroku – </a:t>
            </a:r>
            <a:r>
              <a:rPr lang="pl-PL" sz="2800" b="1" dirty="0">
                <a:solidFill>
                  <a:srgbClr val="C00000"/>
                </a:solidFill>
              </a:rPr>
              <a:t>postanowienie Sądu Najwyższego  z dnia 6 lutego 2019 r., II KK 179/18</a:t>
            </a:r>
          </a:p>
          <a:p>
            <a:pPr>
              <a:defRPr/>
            </a:pPr>
            <a:endParaRPr lang="pl-PL" b="1" dirty="0">
              <a:solidFill>
                <a:srgbClr val="0000FF"/>
              </a:solidFill>
            </a:endParaRPr>
          </a:p>
          <a:p>
            <a:pPr>
              <a:defRPr/>
            </a:pPr>
            <a:endParaRPr lang="pl-PL" b="1"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Symbol zastępczy zawartości 5">
            <a:extLst>
              <a:ext uri="{FF2B5EF4-FFF2-40B4-BE49-F238E27FC236}">
                <a16:creationId xmlns:a16="http://schemas.microsoft.com/office/drawing/2014/main" id="{5E420706-B545-8793-BED4-090C89358C13}"/>
              </a:ext>
            </a:extLst>
          </p:cNvPr>
          <p:cNvSpPr>
            <a:spLocks noGrp="1"/>
          </p:cNvSpPr>
          <p:nvPr>
            <p:ph sz="half" idx="1"/>
          </p:nvPr>
        </p:nvSpPr>
        <p:spPr>
          <a:xfrm>
            <a:off x="107950" y="188913"/>
            <a:ext cx="8786813" cy="6669087"/>
          </a:xfrm>
        </p:spPr>
        <p:txBody>
          <a:bodyPr>
            <a:normAutofit lnSpcReduction="10000"/>
          </a:bodyPr>
          <a:lstStyle/>
          <a:p>
            <a:pPr algn="just">
              <a:defRPr/>
            </a:pPr>
            <a:r>
              <a:rPr lang="pl-PL" sz="3200" dirty="0"/>
              <a:t>Przepis art. 1 k.k. określa wszak podstawowe zasady odpowiedzialności karnej i jakkolwiek nie definiuje on poszczególnych elementów w strukturze przestępstwa, to jednak jego treść w sposób jednoznaczny wyłącznie wskazuje zasadnicze przesłanki pociągnięcia sprawcy do odpowiedzialności karnej. Wysławia również cztery podstawowe zasady, na których taka odpowiedzialność jest oparta: </a:t>
            </a:r>
            <a:r>
              <a:rPr lang="pl-PL" sz="3200" b="1" dirty="0" err="1">
                <a:solidFill>
                  <a:srgbClr val="C00000"/>
                </a:solidFill>
              </a:rPr>
              <a:t>nullum</a:t>
            </a:r>
            <a:r>
              <a:rPr lang="pl-PL" sz="3200" b="1" dirty="0">
                <a:solidFill>
                  <a:srgbClr val="C00000"/>
                </a:solidFill>
              </a:rPr>
              <a:t> </a:t>
            </a:r>
            <a:r>
              <a:rPr lang="pl-PL" sz="3200" b="1" dirty="0" err="1">
                <a:solidFill>
                  <a:srgbClr val="C00000"/>
                </a:solidFill>
              </a:rPr>
              <a:t>crimen</a:t>
            </a:r>
            <a:r>
              <a:rPr lang="pl-PL" sz="3200" b="1" dirty="0">
                <a:solidFill>
                  <a:srgbClr val="C00000"/>
                </a:solidFill>
              </a:rPr>
              <a:t> sine lege, </a:t>
            </a:r>
            <a:r>
              <a:rPr lang="pl-PL" sz="3200" dirty="0" err="1"/>
              <a:t>nulla</a:t>
            </a:r>
            <a:r>
              <a:rPr lang="pl-PL" sz="3200" dirty="0"/>
              <a:t> poena sine lege, </a:t>
            </a:r>
            <a:r>
              <a:rPr lang="pl-PL" sz="3200" dirty="0" err="1"/>
              <a:t>nullum</a:t>
            </a:r>
            <a:r>
              <a:rPr lang="pl-PL" sz="3200" dirty="0"/>
              <a:t> </a:t>
            </a:r>
            <a:r>
              <a:rPr lang="pl-PL" sz="3200" dirty="0" err="1"/>
              <a:t>crimen</a:t>
            </a:r>
            <a:r>
              <a:rPr lang="pl-PL" sz="3200" dirty="0"/>
              <a:t> sine culpa, </a:t>
            </a:r>
            <a:r>
              <a:rPr lang="pl-PL" sz="3200" dirty="0" err="1"/>
              <a:t>nullum</a:t>
            </a:r>
            <a:r>
              <a:rPr lang="pl-PL" sz="3200" dirty="0"/>
              <a:t> </a:t>
            </a:r>
            <a:r>
              <a:rPr lang="pl-PL" sz="3200" dirty="0" err="1"/>
              <a:t>crimen</a:t>
            </a:r>
            <a:r>
              <a:rPr lang="pl-PL" sz="3200" dirty="0"/>
              <a:t> sine </a:t>
            </a:r>
            <a:r>
              <a:rPr lang="pl-PL" sz="3200" dirty="0" err="1"/>
              <a:t>periculo</a:t>
            </a:r>
            <a:r>
              <a:rPr lang="pl-PL" sz="3200" dirty="0"/>
              <a:t> </a:t>
            </a:r>
            <a:r>
              <a:rPr lang="pl-PL" sz="3200" dirty="0" err="1"/>
              <a:t>sociali</a:t>
            </a:r>
            <a:r>
              <a:rPr lang="pl-PL" sz="3200" dirty="0"/>
              <a:t> – postanowienie Sądu Najwyższego z dnia 22 grudnia 2020 r., IV KK 646/19</a:t>
            </a:r>
          </a:p>
          <a:p>
            <a:pPr>
              <a:defRPr/>
            </a:pPr>
            <a:endParaRPr lang="pl-PL" b="1"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16632"/>
            <a:ext cx="8698168" cy="5982416"/>
          </a:xfrm>
        </p:spPr>
        <p:txBody>
          <a:bodyPr>
            <a:normAutofit fontScale="92500"/>
          </a:bodyPr>
          <a:lstStyle/>
          <a:p>
            <a:endParaRPr lang="pl-PL" dirty="0"/>
          </a:p>
          <a:p>
            <a:r>
              <a:rPr lang="pl-PL" sz="3600" dirty="0">
                <a:solidFill>
                  <a:srgbClr val="FF0000"/>
                </a:solidFill>
              </a:rPr>
              <a:t>Ustawa stanowi, że sprawca nie popełnia przestępstwa (art. 17 par. 1 pkt 2 k.p.k.)</a:t>
            </a:r>
          </a:p>
          <a:p>
            <a:endParaRPr lang="pl-PL" dirty="0"/>
          </a:p>
          <a:p>
            <a:r>
              <a:rPr lang="pl-PL" sz="4800" dirty="0"/>
              <a:t>Przesłanka ta związana jest z uchyleniem przestępności czynu </a:t>
            </a:r>
            <a:r>
              <a:rPr lang="pl-PL" sz="4800" b="1" dirty="0">
                <a:solidFill>
                  <a:srgbClr val="0070C0"/>
                </a:solidFill>
              </a:rPr>
              <a:t>z powodu okoliczności wyłączających  bezprawność czynu lub winę.</a:t>
            </a:r>
          </a:p>
        </p:txBody>
      </p:sp>
    </p:spTree>
    <p:extLst>
      <p:ext uri="{BB962C8B-B14F-4D97-AF65-F5344CB8AC3E}">
        <p14:creationId xmlns:p14="http://schemas.microsoft.com/office/powerpoint/2010/main" val="202089148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5910408"/>
          </a:xfrm>
        </p:spPr>
        <p:txBody>
          <a:bodyPr>
            <a:normAutofit/>
          </a:bodyPr>
          <a:lstStyle/>
          <a:p>
            <a:r>
              <a:rPr lang="pl-PL" sz="4000" dirty="0"/>
              <a:t>Okolicznościami wyłączającymi </a:t>
            </a:r>
            <a:r>
              <a:rPr lang="pl-PL" sz="4000" dirty="0">
                <a:solidFill>
                  <a:srgbClr val="FF0000"/>
                </a:solidFill>
              </a:rPr>
              <a:t>bezprawność czynu </a:t>
            </a:r>
            <a:r>
              <a:rPr lang="pl-PL" sz="4000" dirty="0"/>
              <a:t>są takie okoliczności, których zaistnienie powoduje, że zachowanie wyczerpujące formalnie znamiona przestępstwa nie jest bezprawne. </a:t>
            </a:r>
          </a:p>
          <a:p>
            <a:endParaRPr lang="pl-PL" sz="4000" dirty="0"/>
          </a:p>
          <a:p>
            <a:r>
              <a:rPr lang="pl-PL" sz="4000" dirty="0"/>
              <a:t>Okoliczności te nazywa się kontratypami.</a:t>
            </a:r>
          </a:p>
        </p:txBody>
      </p:sp>
    </p:spTree>
    <p:extLst>
      <p:ext uri="{BB962C8B-B14F-4D97-AF65-F5344CB8AC3E}">
        <p14:creationId xmlns:p14="http://schemas.microsoft.com/office/powerpoint/2010/main" val="210041697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332656"/>
            <a:ext cx="8698168" cy="6192688"/>
          </a:xfrm>
        </p:spPr>
        <p:txBody>
          <a:bodyPr>
            <a:noAutofit/>
          </a:bodyPr>
          <a:lstStyle/>
          <a:p>
            <a:r>
              <a:rPr lang="pl-PL" sz="3600" dirty="0"/>
              <a:t>Czyn zabroniony stanowi przestępstwo, o ile nie występuje okoliczność, która legalizuje określone zachowanie z punktu widzenia prawa karnego. </a:t>
            </a:r>
          </a:p>
          <a:p>
            <a:r>
              <a:rPr lang="pl-PL" sz="3600" dirty="0"/>
              <a:t>W celu stwierdzenia bezprawności nie wystarczy zatem sama sprzeczność zachowania z normą sankcjonowaną, ale konieczne jest ponadto ustalenie, że nie wystąpiła okoliczność zezwalająca na naruszenie tej normy, która uchyla bezprawność czynu.  </a:t>
            </a:r>
          </a:p>
        </p:txBody>
      </p:sp>
    </p:spTree>
    <p:extLst>
      <p:ext uri="{BB962C8B-B14F-4D97-AF65-F5344CB8AC3E}">
        <p14:creationId xmlns:p14="http://schemas.microsoft.com/office/powerpoint/2010/main" val="103509152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5838400"/>
          </a:xfrm>
        </p:spPr>
        <p:txBody>
          <a:bodyPr>
            <a:noAutofit/>
          </a:bodyPr>
          <a:lstStyle/>
          <a:p>
            <a:r>
              <a:rPr lang="pl-PL" sz="4800" dirty="0"/>
              <a:t>Kontratypy mogą mieć charakter ustawowy lub pozaustawowy</a:t>
            </a:r>
          </a:p>
          <a:p>
            <a:endParaRPr lang="pl-PL" sz="4800" dirty="0"/>
          </a:p>
          <a:p>
            <a:r>
              <a:rPr lang="pl-PL" sz="4800" dirty="0"/>
              <a:t>Art. 17 par. 1 pkt 2 k.p.k. odnosi się zarówno do kontratypów ustawowych, jak i pozaustawowych</a:t>
            </a:r>
          </a:p>
        </p:txBody>
      </p:sp>
    </p:spTree>
    <p:extLst>
      <p:ext uri="{BB962C8B-B14F-4D97-AF65-F5344CB8AC3E}">
        <p14:creationId xmlns:p14="http://schemas.microsoft.com/office/powerpoint/2010/main" val="195131334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Postanowienie SN z 22.09.2008 r., IV KK 241/08</a:t>
            </a:r>
          </a:p>
        </p:txBody>
      </p:sp>
      <p:sp>
        <p:nvSpPr>
          <p:cNvPr id="3" name="Symbol zastępczy zawartości 2"/>
          <p:cNvSpPr>
            <a:spLocks noGrp="1"/>
          </p:cNvSpPr>
          <p:nvPr>
            <p:ph sz="quarter" idx="1"/>
          </p:nvPr>
        </p:nvSpPr>
        <p:spPr/>
        <p:txBody>
          <a:bodyPr>
            <a:normAutofit fontScale="70000" lnSpcReduction="20000"/>
          </a:bodyPr>
          <a:lstStyle/>
          <a:p>
            <a:r>
              <a:rPr lang="pl-PL" dirty="0"/>
              <a:t>Zawarte w art. 17 par. 1 pkt 2 k.p.k. sformułowanie: "ustawa stanowi, że sprawca nie popełnia przestępstwa" odnosić należy nie tylko do okoliczności wyłączających bezprawność czynu wskazanych wprost w ustawie karnej materialnej tj. obrony koniecznej (art. 25 k.k.), stanu wyższej konieczności (art. 26 § 1 k.k.), dozwolonego ryzyka (art. 27 k.k.), działania w obronie społecznie uzasadnionego interesu oraz prawdziwości zarzutu (art. 213 k.k.) czy działania na rozkaz (art. 318 k.k.), lecz także do tych okoliczności wyłączających bezprawność czynu, których podstawą są inne konkretne normy prawne, jak choćby kontratypu tzw. samopomocy legalnej (art. 432 § 1, art. 343 § 2 i inne k.c.), działania w ramach swoich praw i obowiązków, czynności leczniczych czy przerwania ciąży. Tak więc działanie oskarżonego w ramach przysługującego mu prawa do obrony i wynikających z niego prawa do milczenia (art. 175 k.p.k.) oraz wolności od samooskarżania (art. 74 § 1 k.p.k.), stanowiąc ustawowy kontratyp wyłączający przestępność czynu z art. 233 § 1 k.k., mający swą podstawę we wskazanych wyżej przepisach ustawy karnej procesowej, skutkuje powstaniem negatywnej przesłanki procesowej z art. 17 § 1 pkt 2 k.p.k. a nie z art. 17 § 1 pkt 11 k.p.k.</a:t>
            </a:r>
          </a:p>
        </p:txBody>
      </p:sp>
    </p:spTree>
    <p:extLst>
      <p:ext uri="{BB962C8B-B14F-4D97-AF65-F5344CB8AC3E}">
        <p14:creationId xmlns:p14="http://schemas.microsoft.com/office/powerpoint/2010/main" val="75017505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Kontratypy ustawowe</a:t>
            </a:r>
          </a:p>
        </p:txBody>
      </p:sp>
      <p:sp>
        <p:nvSpPr>
          <p:cNvPr id="3" name="Symbol zastępczy zawartości 2"/>
          <p:cNvSpPr>
            <a:spLocks noGrp="1"/>
          </p:cNvSpPr>
          <p:nvPr>
            <p:ph sz="quarter" idx="1"/>
          </p:nvPr>
        </p:nvSpPr>
        <p:spPr>
          <a:xfrm>
            <a:off x="0" y="987552"/>
            <a:ext cx="8683432" cy="5681808"/>
          </a:xfrm>
        </p:spPr>
        <p:txBody>
          <a:bodyPr>
            <a:normAutofit fontScale="47500" lnSpcReduction="20000"/>
          </a:bodyPr>
          <a:lstStyle/>
          <a:p>
            <a:r>
              <a:rPr lang="pl-PL" sz="6200" dirty="0">
                <a:latin typeface="Times New Roman" panose="02020603050405020304" pitchFamily="18" charset="0"/>
                <a:ea typeface="Microsoft Himalaya" panose="01010100010101010101" pitchFamily="2" charset="0"/>
                <a:cs typeface="Times New Roman" panose="02020603050405020304" pitchFamily="18" charset="0"/>
              </a:rPr>
              <a:t>obrona konieczna (art. 25 § 1 k.k.),</a:t>
            </a:r>
          </a:p>
          <a:p>
            <a:endParaRPr lang="pl-PL" sz="6200" dirty="0">
              <a:latin typeface="Times New Roman" panose="02020603050405020304" pitchFamily="18" charset="0"/>
              <a:ea typeface="Microsoft Himalaya" panose="01010100010101010101" pitchFamily="2" charset="0"/>
              <a:cs typeface="Times New Roman" panose="02020603050405020304" pitchFamily="18" charset="0"/>
            </a:endParaRPr>
          </a:p>
          <a:p>
            <a:r>
              <a:rPr lang="pl-PL" sz="6200" dirty="0">
                <a:latin typeface="Times New Roman" panose="02020603050405020304" pitchFamily="18" charset="0"/>
                <a:ea typeface="Microsoft Himalaya" panose="01010100010101010101" pitchFamily="2" charset="0"/>
                <a:cs typeface="Times New Roman" panose="02020603050405020304" pitchFamily="18" charset="0"/>
              </a:rPr>
              <a:t>stan wyższej konieczności (art. 26 § 1 k.k.),</a:t>
            </a:r>
          </a:p>
          <a:p>
            <a:endParaRPr lang="pl-PL" sz="3200" dirty="0">
              <a:latin typeface="Times New Roman" panose="02020603050405020304" pitchFamily="18" charset="0"/>
              <a:ea typeface="Microsoft Himalaya" panose="01010100010101010101" pitchFamily="2" charset="0"/>
              <a:cs typeface="Times New Roman" panose="02020603050405020304" pitchFamily="18" charset="0"/>
            </a:endParaRPr>
          </a:p>
          <a:p>
            <a:pPr marL="0" indent="0">
              <a:buNone/>
            </a:pPr>
            <a:endParaRPr lang="pl-PL" sz="3200" dirty="0">
              <a:latin typeface="Times New Roman" panose="02020603050405020304" pitchFamily="18" charset="0"/>
              <a:ea typeface="Microsoft Himalaya" panose="01010100010101010101" pitchFamily="2" charset="0"/>
              <a:cs typeface="Times New Roman" panose="02020603050405020304" pitchFamily="18" charset="0"/>
            </a:endParaRPr>
          </a:p>
          <a:p>
            <a:r>
              <a:rPr lang="pl-PL" sz="6200" dirty="0">
                <a:latin typeface="Times New Roman" panose="02020603050405020304" pitchFamily="18" charset="0"/>
                <a:ea typeface="Microsoft Himalaya" panose="01010100010101010101" pitchFamily="2" charset="0"/>
                <a:cs typeface="Times New Roman" panose="02020603050405020304" pitchFamily="18" charset="0"/>
              </a:rPr>
              <a:t>dozwolone ryzyko (art. 27 § 1 k.k.),</a:t>
            </a:r>
          </a:p>
          <a:p>
            <a:endParaRPr lang="pl-PL" sz="3200" dirty="0">
              <a:latin typeface="Times New Roman" panose="02020603050405020304" pitchFamily="18" charset="0"/>
              <a:ea typeface="Microsoft Himalaya" panose="01010100010101010101" pitchFamily="2" charset="0"/>
              <a:cs typeface="Times New Roman" panose="02020603050405020304" pitchFamily="18" charset="0"/>
            </a:endParaRPr>
          </a:p>
          <a:p>
            <a:endParaRPr lang="pl-PL" sz="3200" dirty="0">
              <a:latin typeface="Times New Roman" panose="02020603050405020304" pitchFamily="18" charset="0"/>
              <a:ea typeface="Microsoft Himalaya" panose="01010100010101010101" pitchFamily="2" charset="0"/>
              <a:cs typeface="Times New Roman" panose="02020603050405020304" pitchFamily="18" charset="0"/>
            </a:endParaRPr>
          </a:p>
          <a:p>
            <a:r>
              <a:rPr lang="pl-PL" sz="6200" dirty="0">
                <a:latin typeface="Times New Roman" panose="02020603050405020304" pitchFamily="18" charset="0"/>
                <a:ea typeface="Microsoft Himalaya" panose="01010100010101010101" pitchFamily="2" charset="0"/>
                <a:cs typeface="Times New Roman" panose="02020603050405020304" pitchFamily="18" charset="0"/>
              </a:rPr>
              <a:t>posiadanie przez obywatela polskiego obywatelstwa innego państwa połączonego z zamieszkiwaniem na jego terytorium jako okoliczność wyłączającą przestępstwo przyjęcia obowiązków wojskowych w obcym wojsku lub obcej organizacji wojskowej (art. 141 § 3 k.k.),</a:t>
            </a:r>
          </a:p>
          <a:p>
            <a:pPr marL="0" indent="0">
              <a:buNone/>
            </a:pPr>
            <a:endParaRPr lang="pl-PL" sz="8000" dirty="0">
              <a:latin typeface="Times New Roman" panose="02020603050405020304" pitchFamily="18" charset="0"/>
              <a:ea typeface="Microsoft Himalaya" panose="01010100010101010101" pitchFamily="2" charset="0"/>
              <a:cs typeface="Times New Roman" panose="02020603050405020304" pitchFamily="18" charset="0"/>
            </a:endParaRPr>
          </a:p>
          <a:p>
            <a:endParaRPr lang="pl-PL"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317497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B050"/>
                </a:solidFill>
              </a:rPr>
              <a:t>Kontratypy ustawowe</a:t>
            </a:r>
          </a:p>
        </p:txBody>
      </p:sp>
      <p:sp>
        <p:nvSpPr>
          <p:cNvPr id="3" name="Symbol zastępczy zawartości 2"/>
          <p:cNvSpPr>
            <a:spLocks noGrp="1"/>
          </p:cNvSpPr>
          <p:nvPr>
            <p:ph sz="quarter" idx="1"/>
          </p:nvPr>
        </p:nvSpPr>
        <p:spPr>
          <a:xfrm>
            <a:off x="0" y="987552"/>
            <a:ext cx="8683432" cy="5681808"/>
          </a:xfrm>
        </p:spPr>
        <p:txBody>
          <a:bodyPr>
            <a:normAutofit fontScale="32500" lnSpcReduction="20000"/>
          </a:bodyPr>
          <a:lstStyle/>
          <a:p>
            <a:r>
              <a:rPr lang="pl-PL" sz="8000" dirty="0">
                <a:latin typeface="Times New Roman" panose="02020603050405020304" pitchFamily="18" charset="0"/>
                <a:ea typeface="Microsoft Himalaya" panose="01010100010101010101" pitchFamily="2" charset="0"/>
                <a:cs typeface="Times New Roman" panose="02020603050405020304" pitchFamily="18" charset="0"/>
              </a:rPr>
              <a:t>szczególne okoliczności wyłączające przestępność czynu polegającego na nieudzieleniu pomocy (art. 162 § 2 k.k.),</a:t>
            </a:r>
          </a:p>
          <a:p>
            <a:pPr marL="0" indent="0">
              <a:buNone/>
            </a:pPr>
            <a:endParaRPr lang="pl-PL" sz="8000" dirty="0">
              <a:latin typeface="Times New Roman" panose="02020603050405020304" pitchFamily="18" charset="0"/>
              <a:ea typeface="Microsoft Himalaya" panose="01010100010101010101" pitchFamily="2" charset="0"/>
              <a:cs typeface="Times New Roman" panose="02020603050405020304" pitchFamily="18" charset="0"/>
            </a:endParaRPr>
          </a:p>
          <a:p>
            <a:r>
              <a:rPr lang="pl-PL" sz="8000" dirty="0">
                <a:latin typeface="Times New Roman" panose="02020603050405020304" pitchFamily="18" charset="0"/>
                <a:ea typeface="Microsoft Himalaya" panose="01010100010101010101" pitchFamily="2" charset="0"/>
                <a:cs typeface="Times New Roman" panose="02020603050405020304" pitchFamily="18" charset="0"/>
              </a:rPr>
              <a:t>szczególne okoliczności wyłączające odpowiedzialność za zniesławienie (art. 213 § 1 i 2 k.k.),</a:t>
            </a:r>
            <a:endParaRPr lang="pl-PL" sz="4000" dirty="0">
              <a:latin typeface="Times New Roman" panose="02020603050405020304" pitchFamily="18" charset="0"/>
              <a:ea typeface="Microsoft Himalaya" panose="01010100010101010101" pitchFamily="2" charset="0"/>
              <a:cs typeface="Times New Roman" panose="02020603050405020304" pitchFamily="18" charset="0"/>
            </a:endParaRPr>
          </a:p>
          <a:p>
            <a:r>
              <a:rPr lang="pl-PL" sz="8000" dirty="0">
                <a:latin typeface="Times New Roman" panose="02020603050405020304" pitchFamily="18" charset="0"/>
                <a:ea typeface="Microsoft Himalaya" panose="01010100010101010101" pitchFamily="2" charset="0"/>
                <a:cs typeface="Times New Roman" panose="02020603050405020304" pitchFamily="18" charset="0"/>
              </a:rPr>
              <a:t>szczególne okoliczności wyłączające odpowiedzialność za przestępstwo niezawiadomienia o popełnieniu przestępstwa wymienionego w art. 240 § 1 k.k. (art. 240 § 2 k.k.),</a:t>
            </a:r>
          </a:p>
          <a:p>
            <a:endParaRPr lang="pl-PL" sz="8000" dirty="0">
              <a:latin typeface="Times New Roman" panose="02020603050405020304" pitchFamily="18" charset="0"/>
              <a:ea typeface="Microsoft Himalaya" panose="01010100010101010101" pitchFamily="2" charset="0"/>
              <a:cs typeface="Times New Roman" panose="02020603050405020304" pitchFamily="18" charset="0"/>
            </a:endParaRPr>
          </a:p>
          <a:p>
            <a:r>
              <a:rPr lang="pl-PL" sz="8000" dirty="0">
                <a:latin typeface="Times New Roman" panose="02020603050405020304" pitchFamily="18" charset="0"/>
                <a:ea typeface="Microsoft Himalaya" panose="01010100010101010101" pitchFamily="2" charset="0"/>
                <a:cs typeface="Times New Roman" panose="02020603050405020304" pitchFamily="18" charset="0"/>
              </a:rPr>
              <a:t>wykonanie rozkazu (art. 318 k.k.) oraz</a:t>
            </a:r>
          </a:p>
          <a:p>
            <a:endParaRPr lang="pl-PL" sz="8000" dirty="0">
              <a:latin typeface="Times New Roman" panose="02020603050405020304" pitchFamily="18" charset="0"/>
              <a:ea typeface="Microsoft Himalaya" panose="01010100010101010101" pitchFamily="2" charset="0"/>
              <a:cs typeface="Times New Roman" panose="02020603050405020304" pitchFamily="18" charset="0"/>
            </a:endParaRPr>
          </a:p>
          <a:p>
            <a:r>
              <a:rPr lang="pl-PL" sz="8000" dirty="0">
                <a:latin typeface="Times New Roman" panose="02020603050405020304" pitchFamily="18" charset="0"/>
                <a:ea typeface="Microsoft Himalaya" panose="01010100010101010101" pitchFamily="2" charset="0"/>
                <a:cs typeface="Times New Roman" panose="02020603050405020304" pitchFamily="18" charset="0"/>
              </a:rPr>
              <a:t>ostateczna potrzeba wojskowa (art. 319 k.k.)</a:t>
            </a:r>
          </a:p>
          <a:p>
            <a:pPr marL="0" indent="0">
              <a:buNone/>
            </a:pPr>
            <a:endParaRPr lang="pl-PL" sz="8000" dirty="0">
              <a:latin typeface="Times New Roman" panose="02020603050405020304" pitchFamily="18" charset="0"/>
              <a:ea typeface="Microsoft Himalaya" panose="01010100010101010101" pitchFamily="2" charset="0"/>
              <a:cs typeface="Times New Roman" panose="02020603050405020304" pitchFamily="18" charset="0"/>
            </a:endParaRPr>
          </a:p>
          <a:p>
            <a:endParaRPr lang="pl-PL"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529510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B050"/>
                </a:solidFill>
              </a:rPr>
              <a:t>Kontratypy pozaustawowe</a:t>
            </a:r>
          </a:p>
        </p:txBody>
      </p:sp>
      <p:sp>
        <p:nvSpPr>
          <p:cNvPr id="3" name="Symbol zastępczy zawartości 2"/>
          <p:cNvSpPr>
            <a:spLocks noGrp="1"/>
          </p:cNvSpPr>
          <p:nvPr>
            <p:ph sz="quarter" idx="1"/>
          </p:nvPr>
        </p:nvSpPr>
        <p:spPr>
          <a:xfrm>
            <a:off x="271272" y="836712"/>
            <a:ext cx="8534400" cy="5262336"/>
          </a:xfrm>
        </p:spPr>
        <p:txBody>
          <a:bodyPr/>
          <a:lstStyle/>
          <a:p>
            <a:endParaRPr lang="pl-PL" dirty="0"/>
          </a:p>
          <a:p>
            <a:r>
              <a:rPr lang="pl-PL" sz="4000" dirty="0"/>
              <a:t>działanie w ramach uprawnień lub obowiązków,</a:t>
            </a:r>
          </a:p>
          <a:p>
            <a:r>
              <a:rPr lang="pl-PL" sz="4000" dirty="0"/>
              <a:t> zgoda pokrzywdzonego,</a:t>
            </a:r>
          </a:p>
          <a:p>
            <a:r>
              <a:rPr lang="pl-PL" sz="4000" dirty="0"/>
              <a:t> ryzyko sportowe, </a:t>
            </a:r>
          </a:p>
          <a:p>
            <a:r>
              <a:rPr lang="pl-PL" sz="4000" dirty="0"/>
              <a:t> zwyczaj,</a:t>
            </a:r>
          </a:p>
          <a:p>
            <a:r>
              <a:rPr lang="pl-PL" sz="4000" dirty="0"/>
              <a:t>wychowawcze karcenie nieletnich?</a:t>
            </a:r>
          </a:p>
          <a:p>
            <a:endParaRPr lang="pl-PL" dirty="0"/>
          </a:p>
          <a:p>
            <a:pPr marL="0" indent="0">
              <a:buNone/>
            </a:pPr>
            <a:endParaRPr lang="pl-PL" dirty="0"/>
          </a:p>
        </p:txBody>
      </p:sp>
    </p:spTree>
    <p:extLst>
      <p:ext uri="{BB962C8B-B14F-4D97-AF65-F5344CB8AC3E}">
        <p14:creationId xmlns:p14="http://schemas.microsoft.com/office/powerpoint/2010/main" val="322159738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A1F72BA-BA0C-4F7D-9DFD-10E6DBB2CF4D}"/>
              </a:ext>
            </a:extLst>
          </p:cNvPr>
          <p:cNvSpPr>
            <a:spLocks noGrp="1"/>
          </p:cNvSpPr>
          <p:nvPr>
            <p:ph type="title"/>
          </p:nvPr>
        </p:nvSpPr>
        <p:spPr>
          <a:xfrm>
            <a:off x="323528" y="188640"/>
            <a:ext cx="8363272" cy="6669360"/>
          </a:xfrm>
        </p:spPr>
        <p:txBody>
          <a:bodyPr>
            <a:noAutofit/>
          </a:bodyPr>
          <a:lstStyle/>
          <a:p>
            <a:pPr algn="l"/>
            <a:r>
              <a:rPr lang="pl-PL" sz="4400" b="1" dirty="0">
                <a:solidFill>
                  <a:srgbClr val="FF0000"/>
                </a:solidFill>
              </a:rPr>
              <a:t>Ujęcie (zatrzymanie obywatelskie)</a:t>
            </a:r>
            <a:br>
              <a:rPr lang="pl-PL" sz="4400" b="1" dirty="0">
                <a:solidFill>
                  <a:srgbClr val="FF0000"/>
                </a:solidFill>
              </a:rPr>
            </a:br>
            <a:r>
              <a:rPr lang="pl-PL" sz="3600" dirty="0">
                <a:solidFill>
                  <a:srgbClr val="00B050"/>
                </a:solidFill>
              </a:rPr>
              <a:t>Każdy </a:t>
            </a:r>
            <a:r>
              <a:rPr lang="pl-PL" sz="3600" dirty="0"/>
              <a:t>ma prawo ująć osobę na </a:t>
            </a:r>
            <a:r>
              <a:rPr lang="pl-PL" sz="3600" dirty="0">
                <a:solidFill>
                  <a:srgbClr val="00B050"/>
                </a:solidFill>
              </a:rPr>
              <a:t>gorącym uczynku przestępstwa lub w pościgu podjętym bezpośrednio po popełnieniu przestępstwa, </a:t>
            </a:r>
            <a:r>
              <a:rPr lang="pl-PL" sz="3600" dirty="0"/>
              <a:t>jeżeli zachodzi </a:t>
            </a:r>
            <a:r>
              <a:rPr lang="pl-PL" sz="3600" dirty="0">
                <a:solidFill>
                  <a:srgbClr val="00B050"/>
                </a:solidFill>
              </a:rPr>
              <a:t>obawa ukrycia się tej osoby lub nie można ustalić jej  tożsamości.</a:t>
            </a:r>
            <a:br>
              <a:rPr lang="pl-PL" sz="3600" dirty="0">
                <a:solidFill>
                  <a:srgbClr val="00B050"/>
                </a:solidFill>
              </a:rPr>
            </a:br>
            <a:r>
              <a:rPr lang="pl-PL" sz="4400" dirty="0"/>
              <a:t>Osobę ujętą należy </a:t>
            </a:r>
            <a:r>
              <a:rPr lang="pl-PL" sz="4400" dirty="0">
                <a:solidFill>
                  <a:srgbClr val="00B050"/>
                </a:solidFill>
              </a:rPr>
              <a:t>niezwłocznie </a:t>
            </a:r>
            <a:r>
              <a:rPr lang="pl-PL" sz="4400" dirty="0"/>
              <a:t>oddać w ręce Policji (art. 243 par. 1 i 2 k.p.k.)</a:t>
            </a:r>
          </a:p>
        </p:txBody>
      </p:sp>
    </p:spTree>
    <p:extLst>
      <p:ext uri="{BB962C8B-B14F-4D97-AF65-F5344CB8AC3E}">
        <p14:creationId xmlns:p14="http://schemas.microsoft.com/office/powerpoint/2010/main" val="271430812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A1F72BA-BA0C-4F7D-9DFD-10E6DBB2CF4D}"/>
              </a:ext>
            </a:extLst>
          </p:cNvPr>
          <p:cNvSpPr>
            <a:spLocks noGrp="1"/>
          </p:cNvSpPr>
          <p:nvPr>
            <p:ph type="title"/>
          </p:nvPr>
        </p:nvSpPr>
        <p:spPr>
          <a:xfrm>
            <a:off x="0" y="-459432"/>
            <a:ext cx="8686800" cy="4896544"/>
          </a:xfrm>
        </p:spPr>
        <p:txBody>
          <a:bodyPr>
            <a:noAutofit/>
          </a:bodyPr>
          <a:lstStyle/>
          <a:p>
            <a:pPr algn="l"/>
            <a:r>
              <a:rPr lang="pl-PL" sz="6600" dirty="0">
                <a:solidFill>
                  <a:srgbClr val="00B050"/>
                </a:solidFill>
              </a:rPr>
              <a:t>Jedynie strona przedmiotowa? Co z niepoczytalnością?</a:t>
            </a:r>
          </a:p>
        </p:txBody>
      </p:sp>
    </p:spTree>
    <p:extLst>
      <p:ext uri="{BB962C8B-B14F-4D97-AF65-F5344CB8AC3E}">
        <p14:creationId xmlns:p14="http://schemas.microsoft.com/office/powerpoint/2010/main" val="112045169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404664"/>
            <a:ext cx="8554152" cy="6120680"/>
          </a:xfrm>
        </p:spPr>
        <p:txBody>
          <a:bodyPr/>
          <a:lstStyle/>
          <a:p>
            <a:r>
              <a:rPr lang="pl-PL" sz="2800" dirty="0"/>
              <a:t>Art. 29 k.k.</a:t>
            </a:r>
            <a:br>
              <a:rPr lang="pl-PL" sz="2800" dirty="0"/>
            </a:br>
            <a:r>
              <a:rPr lang="pl-PL" sz="2800" dirty="0"/>
              <a:t>Nie popełnia przestępstwa, kto dopuszcza się czynu zabronionego w usprawiedliwionym błędnym przekonaniu, że zachodzi okoliczność wyłączająca bezprawność albo winę; jeżeli błąd sprawcy jest nieusprawiedliwiony, sąd może zastosować nadzwyczajne złagodzenie kary.</a:t>
            </a:r>
            <a:br>
              <a:rPr lang="pl-PL" sz="2800" dirty="0"/>
            </a:br>
            <a:endParaRPr lang="pl-PL" dirty="0"/>
          </a:p>
        </p:txBody>
      </p:sp>
    </p:spTree>
    <p:extLst>
      <p:ext uri="{BB962C8B-B14F-4D97-AF65-F5344CB8AC3E}">
        <p14:creationId xmlns:p14="http://schemas.microsoft.com/office/powerpoint/2010/main" val="109662850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dirty="0"/>
              <a:t>Art.  96 (1) kroi  (od 1.08.2010)</a:t>
            </a:r>
          </a:p>
          <a:p>
            <a:endParaRPr lang="pl-PL" dirty="0"/>
          </a:p>
          <a:p>
            <a:r>
              <a:rPr lang="pl-PL" dirty="0"/>
              <a:t>Osobom wykonującym władzę rodzicielską oraz sprawującym opiekę lub pieczę nad małoletnim zakazuje się stosowania kar cielesnych.</a:t>
            </a:r>
          </a:p>
        </p:txBody>
      </p:sp>
    </p:spTree>
    <p:extLst>
      <p:ext uri="{BB962C8B-B14F-4D97-AF65-F5344CB8AC3E}">
        <p14:creationId xmlns:p14="http://schemas.microsoft.com/office/powerpoint/2010/main" val="39309449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B050"/>
                </a:solidFill>
              </a:rPr>
              <a:t>Okoliczności wyłączające winę</a:t>
            </a:r>
          </a:p>
        </p:txBody>
      </p:sp>
      <p:sp>
        <p:nvSpPr>
          <p:cNvPr id="3" name="Symbol zastępczy zawartości 2"/>
          <p:cNvSpPr>
            <a:spLocks noGrp="1"/>
          </p:cNvSpPr>
          <p:nvPr>
            <p:ph sz="quarter" idx="1"/>
          </p:nvPr>
        </p:nvSpPr>
        <p:spPr/>
        <p:txBody>
          <a:bodyPr>
            <a:normAutofit fontScale="77500" lnSpcReduction="20000"/>
          </a:bodyPr>
          <a:lstStyle/>
          <a:p>
            <a:r>
              <a:rPr lang="pl-PL" dirty="0"/>
              <a:t>stan wyższej konieczności jako okoliczność wyłączająca winę (art. 26 § 2 k.k.)  - </a:t>
            </a:r>
            <a:r>
              <a:rPr lang="pl-PL" sz="2600" dirty="0"/>
              <a:t>czyn popełniony w ramach </a:t>
            </a:r>
            <a:r>
              <a:rPr lang="pl-PL" sz="2600" dirty="0" err="1"/>
              <a:t>kontratypowego</a:t>
            </a:r>
            <a:r>
              <a:rPr lang="pl-PL" sz="2600" dirty="0"/>
              <a:t> stanu wyższej konieczności jest zgodny z prawem i nie stanowi czynu zabronionego w rozumieniu przepisów kodeksu, natomiast czyn popełniony w ramach stanu wyższej konieczności wyłączającego winę jest czynem zabronionym</a:t>
            </a:r>
          </a:p>
          <a:p>
            <a:r>
              <a:rPr lang="pl-PL" dirty="0"/>
              <a:t>usprawiedliwiony błąd co do okoliczności stanowiącej znamię czynu zabronionego (art. 28 § 1 k.k.),</a:t>
            </a:r>
          </a:p>
          <a:p>
            <a:pPr marL="0" indent="0">
              <a:buNone/>
            </a:pPr>
            <a:endParaRPr lang="pl-PL" dirty="0"/>
          </a:p>
          <a:p>
            <a:r>
              <a:rPr lang="pl-PL" dirty="0"/>
              <a:t>usprawiedliwiony błąd co do kontratypu albo okoliczności wyłączającej winę (art. 29 k.k.),</a:t>
            </a:r>
          </a:p>
          <a:p>
            <a:pPr marL="0" indent="0">
              <a:buNone/>
            </a:pPr>
            <a:endParaRPr lang="pl-PL" dirty="0"/>
          </a:p>
          <a:p>
            <a:r>
              <a:rPr lang="pl-PL" dirty="0"/>
              <a:t>usprawiedliwiony błąd co do bezprawności (art. 30 k.k.) oraz</a:t>
            </a:r>
          </a:p>
          <a:p>
            <a:pPr marL="0" indent="0">
              <a:buNone/>
            </a:pPr>
            <a:endParaRPr lang="pl-PL" dirty="0"/>
          </a:p>
          <a:p>
            <a:r>
              <a:rPr lang="pl-PL" dirty="0"/>
              <a:t>niepoczytalność (art. 31 § 1 k.k.).</a:t>
            </a:r>
          </a:p>
        </p:txBody>
      </p:sp>
    </p:spTree>
    <p:extLst>
      <p:ext uri="{BB962C8B-B14F-4D97-AF65-F5344CB8AC3E}">
        <p14:creationId xmlns:p14="http://schemas.microsoft.com/office/powerpoint/2010/main" val="376105888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188640"/>
            <a:ext cx="8554152" cy="5910408"/>
          </a:xfrm>
        </p:spPr>
        <p:txBody>
          <a:bodyPr>
            <a:normAutofit fontScale="70000" lnSpcReduction="20000"/>
          </a:bodyPr>
          <a:lstStyle/>
          <a:p>
            <a:r>
              <a:rPr lang="pl-PL" dirty="0"/>
              <a:t>Wyrok Sądu Apelacyjnego w Krakowie z dnia 26 kwietnia 2013 r.</a:t>
            </a:r>
          </a:p>
          <a:p>
            <a:endParaRPr lang="pl-PL" dirty="0"/>
          </a:p>
          <a:p>
            <a:r>
              <a:rPr lang="pl-PL" dirty="0"/>
              <a:t>W orzecznictwie przyjmuje się, że nie można usprawiedliwiać stanem wyższej konieczności: </a:t>
            </a:r>
          </a:p>
          <a:p>
            <a:r>
              <a:rPr lang="pl-PL" dirty="0"/>
              <a:t>/1/ kradzieży popełnionej przez osobę znajdującą się w nędzy (zob. wyrok SN z dnia 26 listopada 1935 roku, OSP 1935 poz. 339); </a:t>
            </a:r>
          </a:p>
          <a:p>
            <a:endParaRPr lang="pl-PL" dirty="0"/>
          </a:p>
          <a:p>
            <a:r>
              <a:rPr lang="pl-PL" dirty="0"/>
              <a:t>/2/ zaboru popełnionego w celu wspierania nieefektywnych podmiotów gospodarczych (zob. wyrok SA we Wrocławiu z dnia 20 maja 1995 roku, II </a:t>
            </a:r>
            <a:r>
              <a:rPr lang="pl-PL" dirty="0" err="1"/>
              <a:t>AKr</a:t>
            </a:r>
            <a:r>
              <a:rPr lang="pl-PL" dirty="0"/>
              <a:t> 82/95, OSNPK 9/99 poz. 18;</a:t>
            </a:r>
          </a:p>
          <a:p>
            <a:endParaRPr lang="pl-PL" dirty="0"/>
          </a:p>
          <a:p>
            <a:r>
              <a:rPr lang="pl-PL" dirty="0"/>
              <a:t> /3/ prowadzenia pojazdu mechanicznego z naruszeniem zasad bezpieczeństwa w ruchu, aby szybciej dostarczyć towar i zapobiec stratom (zob. wyrok SN z dnia 15 stycznia 1958 roku, II KK 372/57, OSNPG 10/58 poz. 4); </a:t>
            </a:r>
          </a:p>
          <a:p>
            <a:endParaRPr lang="pl-PL" dirty="0"/>
          </a:p>
          <a:p>
            <a:r>
              <a:rPr lang="pl-PL" dirty="0"/>
              <a:t>/4/ strajku okupacyjnego, polegającego na nielegalnym zajmowaniu pomieszczeń oraz stosowaniu środków przymusu, jeżeli dopuszczającym się takich czynów nie zagrażało bezpośrednie niebezpieczeństwo, którego nie można było odwrócić inaczej (wyrok SN z dnia 21 czerwca 1938 roku, 3 K 2407/37, </a:t>
            </a:r>
            <a:r>
              <a:rPr lang="pl-PL" dirty="0" err="1"/>
              <a:t>RPEiS</a:t>
            </a:r>
            <a:r>
              <a:rPr lang="pl-PL" dirty="0"/>
              <a:t> 1938 nr 4).</a:t>
            </a:r>
          </a:p>
          <a:p>
            <a:endParaRPr lang="pl-PL" dirty="0"/>
          </a:p>
        </p:txBody>
      </p:sp>
    </p:spTree>
    <p:extLst>
      <p:ext uri="{BB962C8B-B14F-4D97-AF65-F5344CB8AC3E}">
        <p14:creationId xmlns:p14="http://schemas.microsoft.com/office/powerpoint/2010/main" val="227202787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260648"/>
            <a:ext cx="8698168" cy="6120680"/>
          </a:xfrm>
        </p:spPr>
        <p:txBody>
          <a:bodyPr>
            <a:normAutofit fontScale="92500" lnSpcReduction="10000"/>
          </a:bodyPr>
          <a:lstStyle/>
          <a:p>
            <a:r>
              <a:rPr lang="pl-PL" dirty="0"/>
              <a:t>Z orzecznictwa: „Gdyby dopuścić trafność poglądu skarżącego, że oskarżony stawał przed wyborem między dwoma dobrami prawnymi, a to z jednej strony utrzymaniem prowadzonej działalności gospodarczej, tworzącej kilkadziesiąt miejsc pracy z wypłacaniem wynagrodzeń pracowników, zapewniających im byt, a z drugiej - realizacją ciążącej na nim jako pracodawcy powinności odprowadzania składek ubezpieczenia społecznego pracowników, to nie można by się zgodzić ze skarżącym, że ratowanemu dobru groziło bezpośrednie niebezpieczeństwo, któremu nie można było zaradzić w żaden inny sposób, niż poświęcając drugie z tych dóbr. Obok pominiętej przez autora oceny proporcji wartości obu tych dóbr, trzeba uwzględnić, że niebezpieczeństwo to musi zagrażać natychmiastową szkodą w zakresie dobra chronionego, której nie można inaczej uniknąć jak poświęcając inne dobro prawne”.</a:t>
            </a:r>
          </a:p>
          <a:p>
            <a:endParaRPr lang="pl-PL" dirty="0"/>
          </a:p>
        </p:txBody>
      </p:sp>
    </p:spTree>
    <p:extLst>
      <p:ext uri="{BB962C8B-B14F-4D97-AF65-F5344CB8AC3E}">
        <p14:creationId xmlns:p14="http://schemas.microsoft.com/office/powerpoint/2010/main" val="120665292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fontScale="70000" lnSpcReduction="20000"/>
          </a:bodyPr>
          <a:lstStyle/>
          <a:p>
            <a:r>
              <a:rPr lang="pl-PL" dirty="0"/>
              <a:t>Wyrok Sądu Apelacyjnego w Krakowie z dnia 26 listopada 2015 r.</a:t>
            </a:r>
          </a:p>
          <a:p>
            <a:r>
              <a:rPr lang="pl-PL" dirty="0"/>
              <a:t>II </a:t>
            </a:r>
            <a:r>
              <a:rPr lang="pl-PL" dirty="0" err="1"/>
              <a:t>AKa</a:t>
            </a:r>
            <a:r>
              <a:rPr lang="pl-PL" dirty="0"/>
              <a:t> 197/15</a:t>
            </a:r>
          </a:p>
          <a:p>
            <a:endParaRPr lang="pl-PL" dirty="0"/>
          </a:p>
          <a:p>
            <a:r>
              <a:rPr lang="pl-PL" dirty="0"/>
              <a:t>Świadomość bezprawności nie oznacza, że sprawca, aby zdawać sobie sprawę z oceny prawnej podejmowanego zachowania, musi myśleć językiem ustawy. Przedmiotem świadomości sprawcy nie ma być konkretny przepis karny zapisany w ustawie. Dla przyjęcia bezprawności czynu nie jest więc konieczne ustalenie, że sprawca znał treść ustawowych znamion czynu zabronionego, gdyż wystarczy ustalenie, że uświadamiał sobie, iż czynem swym naruszył przewidzianą regułę postępowania, do której przestrzegania był zobowiązany.</a:t>
            </a:r>
          </a:p>
          <a:p>
            <a:endParaRPr lang="pl-PL" dirty="0"/>
          </a:p>
          <a:p>
            <a:r>
              <a:rPr lang="pl-PL" dirty="0"/>
              <a:t>2. Jeśli na sprawcy ciążył obowiązek zaznajomienia się z odpowiednimi przepisami (np. w związku z działalnością zawodową), a sprawca w sposób zawiniony obowiązku tego nie wypełnił, to nieświadomość bezprawności będzie nieusprawiedliwiona. Nie można bowiem skutecznie powoływać się na niezawinioną nieznajomość prawa, jeżeli z ustalonych faktów wynika, że sprawca nie tylko nie starał się w sposób należyty zapoznać z obowiązującym uregulowaniem, choć miał możność to uczynić u przedstawicieli właściwych organów, ale wręcz w sposób wyraźny z takiej możliwości zrezygnował.</a:t>
            </a:r>
          </a:p>
        </p:txBody>
      </p:sp>
    </p:spTree>
    <p:extLst>
      <p:ext uri="{BB962C8B-B14F-4D97-AF65-F5344CB8AC3E}">
        <p14:creationId xmlns:p14="http://schemas.microsoft.com/office/powerpoint/2010/main" val="207699985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404664"/>
            <a:ext cx="8626160" cy="5694384"/>
          </a:xfrm>
        </p:spPr>
        <p:txBody>
          <a:bodyPr>
            <a:normAutofit fontScale="92500"/>
          </a:bodyPr>
          <a:lstStyle/>
          <a:p>
            <a:r>
              <a:rPr lang="pl-PL" dirty="0"/>
              <a:t>Wyrok Sądu Najwyższego z dnia 1 lutego 2007 r.</a:t>
            </a:r>
          </a:p>
          <a:p>
            <a:r>
              <a:rPr lang="pl-PL" dirty="0"/>
              <a:t>II KK 71/06</a:t>
            </a:r>
          </a:p>
          <a:p>
            <a:r>
              <a:rPr lang="pl-PL" dirty="0"/>
              <a:t> </a:t>
            </a:r>
          </a:p>
          <a:p>
            <a:r>
              <a:rPr lang="pl-PL" dirty="0"/>
              <a:t>Z samego faktu złożenia oświadczenia lustracyjnego wynika, jako najzupełniej oczywisty wniosek, że Antoni O. był świadomy ciążącego na nim obowiązku wynikającego z ustawy lustracyjnej, a więc, że jest osobą objętą lustracją. Jeśli tak to miał obowiązek zapoznania się z przepisami prawa regulującym tą materię i poznania obowiązujących tu zasad. Nie można skutecznie powoływać się na niezawinioną nieznajomość prawa, jeżeli z ustalonych faktów wynika, że sprawca nawet nie starał się w sposób należyty zapoznać z obowiązującym uregulowaniem choć miał taką możliwość.</a:t>
            </a:r>
          </a:p>
        </p:txBody>
      </p:sp>
    </p:spTree>
    <p:extLst>
      <p:ext uri="{BB962C8B-B14F-4D97-AF65-F5344CB8AC3E}">
        <p14:creationId xmlns:p14="http://schemas.microsoft.com/office/powerpoint/2010/main" val="299835037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260648"/>
            <a:ext cx="8554152" cy="5838400"/>
          </a:xfrm>
        </p:spPr>
        <p:txBody>
          <a:bodyPr>
            <a:normAutofit fontScale="92500"/>
          </a:bodyPr>
          <a:lstStyle/>
          <a:p>
            <a:pPr marL="0" indent="0">
              <a:buNone/>
            </a:pPr>
            <a:endParaRPr lang="pl-PL" dirty="0"/>
          </a:p>
          <a:p>
            <a:r>
              <a:rPr lang="pl-PL" b="1" dirty="0">
                <a:solidFill>
                  <a:srgbClr val="00B050"/>
                </a:solidFill>
              </a:rPr>
              <a:t>Konsekwencje stwierdzenia tej przesłanki:</a:t>
            </a:r>
          </a:p>
          <a:p>
            <a:endParaRPr lang="pl-PL" dirty="0"/>
          </a:p>
          <a:p>
            <a:r>
              <a:rPr lang="pl-PL" dirty="0"/>
              <a:t> - na etapie postępowania przygotowawczego – odmowa wszczęcia postępowania przygotowawczego lub jego umorzenie,</a:t>
            </a:r>
          </a:p>
          <a:p>
            <a:endParaRPr lang="pl-PL" dirty="0"/>
          </a:p>
          <a:p>
            <a:r>
              <a:rPr lang="pl-PL" dirty="0"/>
              <a:t>- na etapie postępowania jurysdykcyjnego:</a:t>
            </a:r>
          </a:p>
          <a:p>
            <a:r>
              <a:rPr lang="pl-PL" dirty="0"/>
              <a:t>          - do rozpoczęcia przewodu sądowego – umorzenie postępowania  - postanowienie (art. 339 par. 3 pkt 1),</a:t>
            </a:r>
          </a:p>
          <a:p>
            <a:r>
              <a:rPr lang="pl-PL" dirty="0"/>
              <a:t>           - po rozpoczęciu przewodu sądowego na rozprawie – wyrok uniewinniający (art. 414 par. 1), chyba że sprawca był niepoczytalny</a:t>
            </a:r>
          </a:p>
          <a:p>
            <a:endParaRPr lang="pl-PL" dirty="0"/>
          </a:p>
        </p:txBody>
      </p:sp>
    </p:spTree>
    <p:extLst>
      <p:ext uri="{BB962C8B-B14F-4D97-AF65-F5344CB8AC3E}">
        <p14:creationId xmlns:p14="http://schemas.microsoft.com/office/powerpoint/2010/main" val="309893110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188640"/>
            <a:ext cx="8554152" cy="6669360"/>
          </a:xfrm>
        </p:spPr>
        <p:txBody>
          <a:bodyPr>
            <a:normAutofit/>
          </a:bodyPr>
          <a:lstStyle/>
          <a:p>
            <a:r>
              <a:rPr lang="pl-PL" sz="4800" dirty="0"/>
              <a:t>Uwaga:</a:t>
            </a:r>
          </a:p>
          <a:p>
            <a:endParaRPr lang="pl-PL" sz="4800" dirty="0"/>
          </a:p>
          <a:p>
            <a:r>
              <a:rPr lang="pl-PL" sz="4800" dirty="0"/>
              <a:t>art. 17 §  3. Niemożność przypisania winy sprawcy czynu nie wyłącza postępowania dotyczącego zastosowania środków zabezpieczających</a:t>
            </a:r>
          </a:p>
        </p:txBody>
      </p:sp>
    </p:spTree>
    <p:extLst>
      <p:ext uri="{BB962C8B-B14F-4D97-AF65-F5344CB8AC3E}">
        <p14:creationId xmlns:p14="http://schemas.microsoft.com/office/powerpoint/2010/main" val="281302330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188640"/>
            <a:ext cx="8554152" cy="5910408"/>
          </a:xfrm>
        </p:spPr>
        <p:txBody>
          <a:bodyPr>
            <a:normAutofit fontScale="92500" lnSpcReduction="20000"/>
          </a:bodyPr>
          <a:lstStyle/>
          <a:p>
            <a:r>
              <a:rPr lang="pl-PL" dirty="0"/>
              <a:t>Postanowienie Sądu Apelacyjnego w Krakowie z dnia 9 stycznia 2013 r., II </a:t>
            </a:r>
            <a:r>
              <a:rPr lang="pl-PL" dirty="0" err="1"/>
              <a:t>AKz</a:t>
            </a:r>
            <a:r>
              <a:rPr lang="pl-PL" dirty="0"/>
              <a:t> 501/12 </a:t>
            </a:r>
          </a:p>
          <a:p>
            <a:endParaRPr lang="pl-PL" dirty="0"/>
          </a:p>
          <a:p>
            <a:r>
              <a:rPr lang="pl-PL" dirty="0"/>
              <a:t>Sąd może umorzyć postępowanie na posiedzeniu w trybie art. 339 § 3 pkt 1 k.p.k. podczas wstępnej kontroli aktu oskarżenia, gdy uzna, że zaistniała sytuacja objęta normą art. 17 § 1 pkt 2 k.p.k. ale tylko wtedy, </a:t>
            </a:r>
            <a:r>
              <a:rPr lang="pl-PL" dirty="0">
                <a:solidFill>
                  <a:srgbClr val="FF0000"/>
                </a:solidFill>
              </a:rPr>
              <a:t>gdy z jednoznacznej treści zgromadzonych dowodów, bez potrzeby dokonywania ich oceny w aspekcie wiarygodności, jak też z opisu czynu i okoliczności faktycznych przytoczonych w uzasadnieniu aktu oskarżenia w sposób oczywisty wynika brak znamion czynu zabronionego.</a:t>
            </a:r>
            <a:r>
              <a:rPr lang="pl-PL" dirty="0"/>
              <a:t> Jednocześnie nie ulega wątpliwości, że podejmując decyzję o umorzeniu postępowania, należy wziąć pod uwagę całość zgromadzonego materiału dowodowego. W przeciwnym wypadku sąd de facto dokonuje oceny dowodów, gdyż odrzuca ich część jako podstawę rozstrzygnięcia.</a:t>
            </a:r>
          </a:p>
          <a:p>
            <a:endParaRPr lang="pl-PL" dirty="0"/>
          </a:p>
          <a:p>
            <a:endParaRPr lang="pl-PL" dirty="0"/>
          </a:p>
        </p:txBody>
      </p:sp>
    </p:spTree>
    <p:extLst>
      <p:ext uri="{BB962C8B-B14F-4D97-AF65-F5344CB8AC3E}">
        <p14:creationId xmlns:p14="http://schemas.microsoft.com/office/powerpoint/2010/main" val="5897923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6192688"/>
          </a:xfrm>
        </p:spPr>
        <p:txBody>
          <a:bodyPr>
            <a:normAutofit/>
          </a:bodyPr>
          <a:lstStyle/>
          <a:p>
            <a:r>
              <a:rPr lang="pl-PL" dirty="0"/>
              <a:t>Postanowienie Sądu Apelacyjnego w Katowicach</a:t>
            </a:r>
          </a:p>
          <a:p>
            <a:r>
              <a:rPr lang="pl-PL" dirty="0"/>
              <a:t>z dnia 31 października 2012 r. II </a:t>
            </a:r>
            <a:r>
              <a:rPr lang="pl-PL" dirty="0" err="1"/>
              <a:t>AKz</a:t>
            </a:r>
            <a:r>
              <a:rPr lang="pl-PL" dirty="0"/>
              <a:t> 626/12</a:t>
            </a:r>
          </a:p>
          <a:p>
            <a:r>
              <a:rPr lang="pl-PL" dirty="0"/>
              <a:t> </a:t>
            </a:r>
          </a:p>
          <a:p>
            <a:r>
              <a:rPr lang="pl-PL" dirty="0"/>
              <a:t>Sąd może umorzyć postępowanie na posiedzeniu w trybie art. 339 § 3 pkt 1 k.p.k. podczas wstępnej kontroli aktu oskarżenia, a więc uznać, że zaistniała sytuacją objęta normą art. 17 § 1 pkt 2 k.p.k. wówczas, gdy z samej treści zgromadzonych dowodów, opisu czynu i okoliczności faktycznych jednoznacznie wynika brak znamion czynu zabronionego.</a:t>
            </a:r>
          </a:p>
        </p:txBody>
      </p:sp>
    </p:spTree>
    <p:extLst>
      <p:ext uri="{BB962C8B-B14F-4D97-AF65-F5344CB8AC3E}">
        <p14:creationId xmlns:p14="http://schemas.microsoft.com/office/powerpoint/2010/main" val="411692190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5766392"/>
          </a:xfrm>
        </p:spPr>
        <p:txBody>
          <a:bodyPr>
            <a:normAutofit/>
          </a:bodyPr>
          <a:lstStyle/>
          <a:p>
            <a:r>
              <a:rPr lang="pl-PL" dirty="0"/>
              <a:t>Postanowienie Sądu Apelacyjnego w Warszawie</a:t>
            </a:r>
          </a:p>
          <a:p>
            <a:r>
              <a:rPr lang="pl-PL" dirty="0"/>
              <a:t>z dnia 4 lutego 2010 r. II </a:t>
            </a:r>
            <a:r>
              <a:rPr lang="pl-PL" dirty="0" err="1"/>
              <a:t>AKz</a:t>
            </a:r>
            <a:r>
              <a:rPr lang="pl-PL" dirty="0"/>
              <a:t> 16/10</a:t>
            </a:r>
          </a:p>
          <a:p>
            <a:r>
              <a:rPr lang="pl-PL" dirty="0"/>
              <a:t> </a:t>
            </a:r>
          </a:p>
          <a:p>
            <a:r>
              <a:rPr lang="pl-PL" dirty="0"/>
              <a:t>Umorzenie postępowania w fazie tzw. wstępnej kontroli aktu oskarżenia może mieć miejsce jedynie wówczas, gdy wymowa materiału dowodowego zebranego w toku postępowania przygotowawczego jest jednoznaczna i oczywista do tego stopnia, że już na tym etapie postępowania możliwe jest przyjęcie oczywistego braku podstaw oskarżenia lub okoliczności z art. 17 § 1 pkt 2 k.p.k.</a:t>
            </a:r>
          </a:p>
        </p:txBody>
      </p:sp>
    </p:spTree>
    <p:extLst>
      <p:ext uri="{BB962C8B-B14F-4D97-AF65-F5344CB8AC3E}">
        <p14:creationId xmlns:p14="http://schemas.microsoft.com/office/powerpoint/2010/main" val="167281762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323528" y="260648"/>
            <a:ext cx="8482144" cy="5838400"/>
          </a:xfrm>
        </p:spPr>
        <p:txBody>
          <a:bodyPr>
            <a:noAutofit/>
          </a:bodyPr>
          <a:lstStyle/>
          <a:p>
            <a:r>
              <a:rPr lang="pl-PL" sz="3600" dirty="0"/>
              <a:t>Posiedzenie przed rozprawą nie służy bowiem poddawaniu merytorycznej ocenie zaprezentowanego przez oskarżenie materiału dowodowego, a eliminacji oskarżeń niezasadnych w sposób oczywisty - to jest widoczny od razu na tzw. "pierwszy rzut oka" lub takich, w których od razu widoczne jest, że zarzucane zachowanie nie zawiera znamion czynu zabronionego bądź, że sprawca nie popełnia przestępstwa.</a:t>
            </a:r>
          </a:p>
        </p:txBody>
      </p:sp>
    </p:spTree>
    <p:extLst>
      <p:ext uri="{BB962C8B-B14F-4D97-AF65-F5344CB8AC3E}">
        <p14:creationId xmlns:p14="http://schemas.microsoft.com/office/powerpoint/2010/main" val="327329011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B050"/>
                </a:solidFill>
              </a:rPr>
              <a:t>Art. 17 par. 1 pkt 3 k.p.k. </a:t>
            </a:r>
          </a:p>
        </p:txBody>
      </p:sp>
      <p:sp>
        <p:nvSpPr>
          <p:cNvPr id="3" name="Symbol zastępczy zawartości 2"/>
          <p:cNvSpPr>
            <a:spLocks noGrp="1"/>
          </p:cNvSpPr>
          <p:nvPr>
            <p:ph sz="quarter" idx="1"/>
          </p:nvPr>
        </p:nvSpPr>
        <p:spPr>
          <a:xfrm>
            <a:off x="271272" y="1268760"/>
            <a:ext cx="8534400" cy="4830288"/>
          </a:xfrm>
        </p:spPr>
        <p:txBody>
          <a:bodyPr>
            <a:normAutofit/>
          </a:bodyPr>
          <a:lstStyle/>
          <a:p>
            <a:r>
              <a:rPr lang="pl-PL" dirty="0"/>
              <a:t>ZNIKOMA SPOŁECZNA SZKODLIWOŚĆ CZYNU</a:t>
            </a:r>
          </a:p>
          <a:p>
            <a:endParaRPr lang="pl-PL" dirty="0"/>
          </a:p>
          <a:p>
            <a:r>
              <a:rPr lang="pl-PL" dirty="0"/>
              <a:t>1) społeczna szkodliwość czynu – materialny substrat przestępstwa </a:t>
            </a:r>
          </a:p>
          <a:p>
            <a:endParaRPr lang="pl-PL" dirty="0"/>
          </a:p>
          <a:p>
            <a:r>
              <a:rPr lang="pl-PL" dirty="0"/>
              <a:t>Art. 1§ 2. Nie stanowi przestępstwa czyn zabroniony, którego społeczna szkodliwość jest znikoma.</a:t>
            </a:r>
          </a:p>
          <a:p>
            <a:endParaRPr lang="pl-PL" dirty="0"/>
          </a:p>
          <a:p>
            <a:r>
              <a:rPr lang="pl-PL" dirty="0"/>
              <a:t>2)  kwantyfikatory społecznej szkodliwości czynu – art. 115 </a:t>
            </a:r>
            <a:r>
              <a:rPr lang="pl-PL" dirty="0">
                <a:latin typeface="Times New Roman"/>
                <a:cs typeface="Times New Roman"/>
              </a:rPr>
              <a:t>§ 2 k.k.</a:t>
            </a:r>
          </a:p>
          <a:p>
            <a:endParaRPr lang="pl-PL" dirty="0">
              <a:latin typeface="Times New Roman"/>
              <a:cs typeface="Times New Roman"/>
            </a:endParaRPr>
          </a:p>
          <a:p>
            <a:endParaRPr lang="pl-PL"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332656"/>
            <a:ext cx="8626160" cy="6336704"/>
          </a:xfrm>
        </p:spPr>
        <p:txBody>
          <a:bodyPr>
            <a:normAutofit lnSpcReduction="10000"/>
          </a:bodyPr>
          <a:lstStyle/>
          <a:p>
            <a:r>
              <a:rPr lang="pl-PL" dirty="0"/>
              <a:t>Art. 115 k.k.</a:t>
            </a:r>
          </a:p>
          <a:p>
            <a:endParaRPr lang="pl-PL" dirty="0"/>
          </a:p>
          <a:p>
            <a:r>
              <a:rPr lang="pl-PL" sz="3200" dirty="0"/>
              <a:t>§ 2. Przy ocenie stopnia społecznej szkodliwości czynu sąd bierze pod uwagę rodzaj i charakter naruszonego lub </a:t>
            </a:r>
            <a:r>
              <a:rPr lang="pl-PL" sz="3200" dirty="0">
                <a:solidFill>
                  <a:srgbClr val="0070C0"/>
                </a:solidFill>
              </a:rPr>
              <a:t>zagrożonego dobra</a:t>
            </a:r>
            <a:r>
              <a:rPr lang="pl-PL" sz="3200" dirty="0"/>
              <a:t>, rozmiary wyrządzonej lub grożącej szkody, sposób i okoliczności popełnienia czynu, wagę naruszonych przez sprawcę obowiązków, jak również postać zamiaru, motywację sprawcy, rodzaj naruszonych reguł ostrożności i stopień ich naruszenia.</a:t>
            </a:r>
          </a:p>
          <a:p>
            <a:pPr marL="0" indent="0">
              <a:buNone/>
            </a:pPr>
            <a:r>
              <a:rPr lang="pl-PL" sz="3200" dirty="0"/>
              <a:t> </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5838400"/>
          </a:xfrm>
        </p:spPr>
        <p:txBody>
          <a:bodyPr>
            <a:normAutofit fontScale="85000" lnSpcReduction="20000"/>
          </a:bodyPr>
          <a:lstStyle/>
          <a:p>
            <a:r>
              <a:rPr lang="pl-PL" dirty="0"/>
              <a:t>Katalog zamknięty,</a:t>
            </a:r>
          </a:p>
          <a:p>
            <a:endParaRPr lang="pl-PL" dirty="0"/>
          </a:p>
          <a:p>
            <a:r>
              <a:rPr lang="pl-PL" dirty="0"/>
              <a:t>Koncepcja przedmiotowo – podmiotowa społecznej szkodliwości czynu (elementy tak o charakterze zewnętrznym, jak i wewnętrznym, ale ściśle z czynem związane), </a:t>
            </a:r>
          </a:p>
          <a:p>
            <a:endParaRPr lang="pl-PL" dirty="0"/>
          </a:p>
          <a:p>
            <a:r>
              <a:rPr lang="pl-PL" dirty="0"/>
              <a:t>Odrzucamy wszystko co leży poza czynem (np. sposób zachowania sprawcy po popełnieniu przestępstwa itd.) </a:t>
            </a:r>
          </a:p>
          <a:p>
            <a:endParaRPr lang="pl-PL" dirty="0"/>
          </a:p>
          <a:p>
            <a:r>
              <a:rPr lang="pl-PL" dirty="0"/>
              <a:t>Jak wskazano w uzasadnieniu projektu kodeksu karnego z 1997 r. – jednym z powodów odejścia od pojęcia „społecznego niebezpieczeństwa czynu” była próba odcięcia się od – ukształtowanych na gruncie poprzedniej ustawy – kierunków interpretacyjnych łączących „karygodność czynu z dotychczasowym życiem sprawcy, jego opinią, karalnością, nagminnością, a więc okolicznościami, które nie mają związku ani z przedmiotową, ani z podmiotową stroną czynu zabronionego”</a:t>
            </a:r>
          </a:p>
          <a:p>
            <a:endParaRPr lang="pl-PL"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188640"/>
            <a:ext cx="8554152" cy="6264696"/>
          </a:xfrm>
        </p:spPr>
        <p:txBody>
          <a:bodyPr>
            <a:normAutofit/>
          </a:bodyPr>
          <a:lstStyle/>
          <a:p>
            <a:r>
              <a:rPr lang="pl-PL" dirty="0"/>
              <a:t>Wyrok Sądu Najwyższego z dnia 11 kwietnia 2011 r.</a:t>
            </a:r>
          </a:p>
          <a:p>
            <a:r>
              <a:rPr lang="pl-PL" dirty="0"/>
              <a:t>IV KK 382/10</a:t>
            </a:r>
          </a:p>
          <a:p>
            <a:pPr marL="0" indent="0">
              <a:buNone/>
            </a:pPr>
            <a:endParaRPr lang="pl-PL" dirty="0"/>
          </a:p>
          <a:p>
            <a:r>
              <a:rPr lang="pl-PL" sz="3200" dirty="0"/>
              <a:t>Bez znaczenia dla oceny stopnia społecznej szkodliwości są dotychczasowa niekaralność sprawcy przestępstwa z art. 207 § 1 k.k., jego dobra opinia, prowadzenie ustabilizowanego trybu życia oraz fakt łożenia na utrzymanie dziecka. W sytuacji, gdy czyn zabroniony stanowi zamach na dwa lub więcej dobra chronione prawem, to zwiększa się jego stopień społecznej szkodliwości.</a:t>
            </a:r>
          </a:p>
        </p:txBody>
      </p:sp>
    </p:spTree>
    <p:extLst>
      <p:ext uri="{BB962C8B-B14F-4D97-AF65-F5344CB8AC3E}">
        <p14:creationId xmlns:p14="http://schemas.microsoft.com/office/powerpoint/2010/main" val="383989519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lstStyle/>
          <a:p>
            <a:endParaRPr lang="pl-PL" dirty="0"/>
          </a:p>
          <a:p>
            <a:endParaRPr lang="pl-PL" dirty="0"/>
          </a:p>
          <a:p>
            <a:r>
              <a:rPr lang="pl-PL" sz="4800" dirty="0"/>
              <a:t>przy ocenie stopnia społecznej szkodliwości czynu należy brać uwagę wszystkie relewantne w danej sprawie   kwantyfikatory społecznej szkodliwości czynu</a:t>
            </a:r>
          </a:p>
          <a:p>
            <a:endParaRPr lang="pl-PL" dirty="0"/>
          </a:p>
        </p:txBody>
      </p:sp>
    </p:spTree>
    <p:extLst>
      <p:ext uri="{BB962C8B-B14F-4D97-AF65-F5344CB8AC3E}">
        <p14:creationId xmlns:p14="http://schemas.microsoft.com/office/powerpoint/2010/main" val="411333463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5910408"/>
          </a:xfrm>
        </p:spPr>
        <p:txBody>
          <a:bodyPr>
            <a:normAutofit/>
          </a:bodyPr>
          <a:lstStyle/>
          <a:p>
            <a:pPr marL="0" indent="0">
              <a:buNone/>
            </a:pPr>
            <a:endParaRPr lang="pl-PL" dirty="0"/>
          </a:p>
          <a:p>
            <a:r>
              <a:rPr lang="pl-PL" sz="4000" dirty="0"/>
              <a:t>Uchwała Sądu Najwyższego z dnia 30 sierpnia 2013 r. SNO 19/13</a:t>
            </a:r>
          </a:p>
          <a:p>
            <a:endParaRPr lang="pl-PL" sz="4000" dirty="0"/>
          </a:p>
          <a:p>
            <a:r>
              <a:rPr lang="pl-PL" sz="4000" dirty="0"/>
              <a:t> Żadna z wymienionych w art. 115 § 2 k.k. okoliczności nie powinna samodzielnie przesądzać o ocenie stopnia społecznej szkodliwości.</a:t>
            </a:r>
          </a:p>
        </p:txBody>
      </p:sp>
    </p:spTree>
    <p:extLst>
      <p:ext uri="{BB962C8B-B14F-4D97-AF65-F5344CB8AC3E}">
        <p14:creationId xmlns:p14="http://schemas.microsoft.com/office/powerpoint/2010/main" val="409241432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ymbol zastępczy zawartości 1"/>
          <p:cNvSpPr>
            <a:spLocks noGrp="1"/>
          </p:cNvSpPr>
          <p:nvPr>
            <p:ph sz="quarter" idx="1"/>
          </p:nvPr>
        </p:nvSpPr>
        <p:spPr>
          <a:xfrm>
            <a:off x="179512" y="260648"/>
            <a:ext cx="8626160" cy="5838400"/>
          </a:xfrm>
        </p:spPr>
        <p:txBody>
          <a:bodyPr>
            <a:normAutofit fontScale="92500"/>
          </a:bodyPr>
          <a:lstStyle/>
          <a:p>
            <a:endParaRPr lang="pl-PL" dirty="0"/>
          </a:p>
          <a:p>
            <a:endParaRPr lang="pl-PL" dirty="0"/>
          </a:p>
          <a:p>
            <a:r>
              <a:rPr lang="pl-PL" dirty="0"/>
              <a:t>Społeczna szkodliwość czynu w:</a:t>
            </a:r>
          </a:p>
          <a:p>
            <a:endParaRPr lang="pl-PL" dirty="0"/>
          </a:p>
          <a:p>
            <a:r>
              <a:rPr lang="pl-PL" dirty="0"/>
              <a:t> ujęciu abstrakcyjnym</a:t>
            </a:r>
          </a:p>
          <a:p>
            <a:r>
              <a:rPr lang="pl-PL" dirty="0"/>
              <a:t> i konkretnym</a:t>
            </a:r>
          </a:p>
          <a:p>
            <a:pPr>
              <a:buNone/>
            </a:pPr>
            <a:endParaRPr lang="pl-PL" dirty="0"/>
          </a:p>
          <a:p>
            <a:pPr>
              <a:buNone/>
            </a:pPr>
            <a:r>
              <a:rPr lang="pl-PL" dirty="0"/>
              <a:t>   Abstrakcyjna społeczna szkodliwość czynu leży u podstaw:</a:t>
            </a:r>
          </a:p>
          <a:p>
            <a:pPr>
              <a:buNone/>
            </a:pPr>
            <a:endParaRPr lang="pl-PL" dirty="0"/>
          </a:p>
          <a:p>
            <a:pPr>
              <a:buFontTx/>
              <a:buChar char="-"/>
            </a:pPr>
            <a:r>
              <a:rPr lang="pl-PL" dirty="0"/>
              <a:t>kryminalizacji określonych zachowań (zachowania, które nie mają przymiotu materialnej bezprawności nie mogą być czynami zabronionymi pod groźbą kary)</a:t>
            </a:r>
          </a:p>
          <a:p>
            <a:pPr marL="0" indent="0">
              <a:buNone/>
            </a:pPr>
            <a:r>
              <a:rPr lang="pl-PL" dirty="0"/>
              <a:t>- wysokości ustawowego zagrożenia </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260648"/>
            <a:ext cx="8698168" cy="5838400"/>
          </a:xfrm>
        </p:spPr>
        <p:txBody>
          <a:bodyPr>
            <a:normAutofit fontScale="85000" lnSpcReduction="20000"/>
          </a:bodyPr>
          <a:lstStyle/>
          <a:p>
            <a:r>
              <a:rPr lang="pl-PL" dirty="0"/>
              <a:t>, „[...] to, co dla danej grupy społecznej jest szkodliwe, musi zostać uznane za złe, to, co dla niej korzystne, za dobre. To, co moralne, oznacza pożyteczne dla wspólnoty, niemoralne należy zaś  rozumieć´ jako «szkodliwe społecznie»”</a:t>
            </a:r>
          </a:p>
          <a:p>
            <a:r>
              <a:rPr lang="pl-PL" dirty="0"/>
              <a:t>Stad˛ wnioskuje się, że każdy czyn zabroniony pod groźbą kary jest in </a:t>
            </a:r>
            <a:r>
              <a:rPr lang="pl-PL" dirty="0" err="1"/>
              <a:t>abstracto</a:t>
            </a:r>
            <a:r>
              <a:rPr lang="pl-PL" dirty="0"/>
              <a:t> społecznie szkodliwy czy tez˙ potencjalnie społecznie szkodliwy.</a:t>
            </a:r>
          </a:p>
          <a:p>
            <a:r>
              <a:rPr lang="pl-PL" dirty="0"/>
              <a:t>Prowadzi to do przyjęcia założenia, iż potrzeba ochrony dobra prawnego,</a:t>
            </a:r>
          </a:p>
          <a:p>
            <a:r>
              <a:rPr lang="pl-PL" dirty="0"/>
              <a:t>uznanego za relewantne ze społecznego punktu widzenia, w związku ˛ z abstrakcyjnie przyjęta˛ społeczną szkodliwością  wynikającą z naruszenia lub zagrożenia takiego dobra, stanowi kryterium kryminalizacji danego zachowania</a:t>
            </a:r>
          </a:p>
          <a:p>
            <a:endParaRPr lang="pl-PL" dirty="0"/>
          </a:p>
          <a:p>
            <a:r>
              <a:rPr lang="pl-PL" dirty="0"/>
              <a:t>Pojęcie społecznej szkodliwości zostało użyte po raz pierwszy w prawodawstwie polskim w uchwalonej dnia 27 kwietnia 1949 r. ustawie o zmianie przepisów Kodeksu postępowania karnego z 1928 r. </a:t>
            </a:r>
          </a:p>
        </p:txBody>
      </p:sp>
    </p:spTree>
    <p:extLst>
      <p:ext uri="{BB962C8B-B14F-4D97-AF65-F5344CB8AC3E}">
        <p14:creationId xmlns:p14="http://schemas.microsoft.com/office/powerpoint/2010/main" val="29808264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260648"/>
            <a:ext cx="8698168" cy="5838400"/>
          </a:xfrm>
        </p:spPr>
        <p:txBody>
          <a:bodyPr>
            <a:normAutofit lnSpcReduction="10000"/>
          </a:bodyPr>
          <a:lstStyle/>
          <a:p>
            <a:endParaRPr lang="pl-PL" dirty="0"/>
          </a:p>
          <a:p>
            <a:endParaRPr lang="pl-PL" dirty="0"/>
          </a:p>
          <a:p>
            <a:r>
              <a:rPr lang="pl-PL" sz="4400" dirty="0"/>
              <a:t>ustawa z dnia 20 lipca 1950 r. o zmianie</a:t>
            </a:r>
          </a:p>
          <a:p>
            <a:r>
              <a:rPr lang="pl-PL" sz="4400" dirty="0"/>
              <a:t>przepisów postepowania karnego, wskutek której pojęcie „szkodliwości społecznej czynu” zastąpiono „niebezpieczeństwem społecznym czynu</a:t>
            </a:r>
          </a:p>
        </p:txBody>
      </p:sp>
    </p:spTree>
    <p:extLst>
      <p:ext uri="{BB962C8B-B14F-4D97-AF65-F5344CB8AC3E}">
        <p14:creationId xmlns:p14="http://schemas.microsoft.com/office/powerpoint/2010/main" val="298550954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5838400"/>
          </a:xfrm>
        </p:spPr>
        <p:txBody>
          <a:bodyPr>
            <a:normAutofit fontScale="92500"/>
          </a:bodyPr>
          <a:lstStyle/>
          <a:p>
            <a:endParaRPr lang="pl-PL" dirty="0"/>
          </a:p>
          <a:p>
            <a:endParaRPr lang="pl-PL" dirty="0"/>
          </a:p>
          <a:p>
            <a:r>
              <a:rPr lang="pl-PL" sz="4400" dirty="0"/>
              <a:t>Do uwzględnienia społecznego niebezpieczeństwa czynu w prawie karnym materialnym, jako ujemnego społecznego pierwiastka definicji przestępstwa, doszło dopiero na gruncie Kodeksu karnego z 1969 r.</a:t>
            </a:r>
          </a:p>
        </p:txBody>
      </p:sp>
    </p:spTree>
    <p:extLst>
      <p:ext uri="{BB962C8B-B14F-4D97-AF65-F5344CB8AC3E}">
        <p14:creationId xmlns:p14="http://schemas.microsoft.com/office/powerpoint/2010/main" val="364808941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ymbol zastępczy zawartości 1"/>
          <p:cNvSpPr>
            <a:spLocks noGrp="1"/>
          </p:cNvSpPr>
          <p:nvPr>
            <p:ph sz="quarter" idx="1"/>
          </p:nvPr>
        </p:nvSpPr>
        <p:spPr>
          <a:xfrm>
            <a:off x="179512" y="332656"/>
            <a:ext cx="8626160" cy="5766392"/>
          </a:xfrm>
        </p:spPr>
        <p:txBody>
          <a:bodyPr>
            <a:noAutofit/>
          </a:bodyPr>
          <a:lstStyle/>
          <a:p>
            <a:r>
              <a:rPr lang="pl-PL" sz="4000" dirty="0">
                <a:latin typeface="Times New Roman" pitchFamily="18" charset="0"/>
                <a:cs typeface="Times New Roman" pitchFamily="18" charset="0"/>
              </a:rPr>
              <a:t>Społeczna szkodliwość czynu w ujęciu konkretnym – odnosi się do określonego wyczerpującego znamiona czynu zabronionego zachowania – art. 1 § 2 k.k.</a:t>
            </a:r>
          </a:p>
          <a:p>
            <a:endParaRPr lang="pl-PL" sz="4000" dirty="0">
              <a:latin typeface="Times New Roman" pitchFamily="18" charset="0"/>
              <a:cs typeface="Times New Roman" pitchFamily="18" charset="0"/>
            </a:endParaRPr>
          </a:p>
          <a:p>
            <a:r>
              <a:rPr lang="pl-PL" sz="4000" dirty="0">
                <a:solidFill>
                  <a:srgbClr val="FF0000"/>
                </a:solidFill>
                <a:latin typeface="Times New Roman" pitchFamily="18" charset="0"/>
                <a:cs typeface="Times New Roman" pitchFamily="18" charset="0"/>
              </a:rPr>
              <a:t>Tym samym za znikomo społecznie szkodliwy może być uznany czyn wyczerpujący znamiona zbrodni </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260648"/>
            <a:ext cx="8554152" cy="5838400"/>
          </a:xfrm>
        </p:spPr>
        <p:txBody>
          <a:bodyPr>
            <a:normAutofit fontScale="92500" lnSpcReduction="20000"/>
          </a:bodyPr>
          <a:lstStyle/>
          <a:p>
            <a:r>
              <a:rPr lang="pl-PL" dirty="0"/>
              <a:t>Wyrok Sądu Apelacyjnego w Gdańsku z dnia 14 marca 2012 r.</a:t>
            </a:r>
          </a:p>
          <a:p>
            <a:r>
              <a:rPr lang="pl-PL" dirty="0"/>
              <a:t>II </a:t>
            </a:r>
            <a:r>
              <a:rPr lang="pl-PL" dirty="0" err="1"/>
              <a:t>AKa</a:t>
            </a:r>
            <a:r>
              <a:rPr lang="pl-PL" dirty="0"/>
              <a:t> 54/12</a:t>
            </a:r>
          </a:p>
          <a:p>
            <a:pPr marL="0" indent="0">
              <a:buNone/>
            </a:pPr>
            <a:endParaRPr lang="pl-PL" dirty="0"/>
          </a:p>
          <a:p>
            <a:r>
              <a:rPr lang="pl-PL" dirty="0"/>
              <a:t>Niezbędnym warunkiem przyjęcia, że mamy do czynienia z przestępstwem jest - między innymi - ustalenie, że czyn człowieka charakteryzował się społeczną szkodliwością w stopniu większym niż znikomy (</a:t>
            </a:r>
            <a:r>
              <a:rPr lang="pl-PL" dirty="0" err="1"/>
              <a:t>nullum</a:t>
            </a:r>
            <a:r>
              <a:rPr lang="pl-PL" dirty="0"/>
              <a:t> </a:t>
            </a:r>
            <a:r>
              <a:rPr lang="pl-PL" dirty="0" err="1"/>
              <a:t>crimen</a:t>
            </a:r>
            <a:r>
              <a:rPr lang="pl-PL" dirty="0"/>
              <a:t> sine </a:t>
            </a:r>
            <a:r>
              <a:rPr lang="pl-PL" dirty="0" err="1"/>
              <a:t>periculo</a:t>
            </a:r>
            <a:r>
              <a:rPr lang="pl-PL" dirty="0"/>
              <a:t> </a:t>
            </a:r>
            <a:r>
              <a:rPr lang="pl-PL" dirty="0" err="1"/>
              <a:t>sociali</a:t>
            </a:r>
            <a:r>
              <a:rPr lang="pl-PL" dirty="0"/>
              <a:t>). Zatem, nie każdy czyn karalny realizujący znamiona czynu zabronionego jest karygodny. Karygodne są tylko takie czyny, które osiągnęły wyższy niż znikomy stopień społecznej szkodliwości. Oznacza to, że więcej niż znikoma społeczna szkodliwość jest warunkiem bytu przestępstwa (art. 1 § 2 k.k.). Brak cech przestępstwa - ze względu na znikomy stopień społecznej szkodliwości - nie jest wykluczony, in concreto, także w przypadku zbrodni z art. 310 § 1 k.k.</a:t>
            </a:r>
          </a:p>
        </p:txBody>
      </p:sp>
    </p:spTree>
    <p:extLst>
      <p:ext uri="{BB962C8B-B14F-4D97-AF65-F5344CB8AC3E}">
        <p14:creationId xmlns:p14="http://schemas.microsoft.com/office/powerpoint/2010/main" val="211573768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fontScale="92500" lnSpcReduction="10000"/>
          </a:bodyPr>
          <a:lstStyle/>
          <a:p>
            <a:r>
              <a:rPr lang="pl-PL" dirty="0"/>
              <a:t>Wyrok Sądu Apelacyjnego w Krakowie z dnia 18 stycznia 2011 r. II </a:t>
            </a:r>
            <a:r>
              <a:rPr lang="pl-PL" dirty="0" err="1"/>
              <a:t>AKa</a:t>
            </a:r>
            <a:r>
              <a:rPr lang="pl-PL" dirty="0"/>
              <a:t> 262/10</a:t>
            </a:r>
          </a:p>
          <a:p>
            <a:r>
              <a:rPr lang="pl-PL" dirty="0"/>
              <a:t> </a:t>
            </a:r>
          </a:p>
          <a:p>
            <a:r>
              <a:rPr lang="pl-PL" dirty="0"/>
              <a:t>Nie można z pola widzenia stracić wartości dwóch zrabowanych papierosów, która nie przekraczała jednego złotego. Ta okoliczność, chociaż sama w sobie nie stanowi przeszkody do przypisania popełnienia przestępstwa rozboju, wpływa na przypisanie zdarzeniu stopnia społecznej szkodliwości nie wyższego niż znikomy. Nie ma przeszkód do przyjęcia znikomego stopnia społecznej szkodliwości w stosunku do przestępstw będących zbrodniami, a więc w tym przypadku do przestępstwa rozboju w typie kwalifikowanym. Jest oczywiste, że na ocenę stopnia społecznej szkodliwości nie wpływa osobowość sprawcy, jego przeszłość, czy negatywny wywiad środowiskowy.</a:t>
            </a:r>
          </a:p>
        </p:txBody>
      </p:sp>
    </p:spTree>
    <p:extLst>
      <p:ext uri="{BB962C8B-B14F-4D97-AF65-F5344CB8AC3E}">
        <p14:creationId xmlns:p14="http://schemas.microsoft.com/office/powerpoint/2010/main" val="46841746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2000" b="1" dirty="0">
                <a:solidFill>
                  <a:srgbClr val="00B050"/>
                </a:solidFill>
                <a:latin typeface="Times New Roman" pitchFamily="18" charset="0"/>
                <a:cs typeface="Times New Roman" pitchFamily="18" charset="0"/>
              </a:rPr>
              <a:t>Błędy przy dokonywaniu oceny społecznej szkodliwości czynu - podstawa zarzutów</a:t>
            </a:r>
          </a:p>
        </p:txBody>
      </p:sp>
      <p:sp>
        <p:nvSpPr>
          <p:cNvPr id="3" name="Symbol zastępczy zawartości 2"/>
          <p:cNvSpPr>
            <a:spLocks noGrp="1"/>
          </p:cNvSpPr>
          <p:nvPr>
            <p:ph sz="quarter" idx="1"/>
          </p:nvPr>
        </p:nvSpPr>
        <p:spPr>
          <a:xfrm>
            <a:off x="271272" y="1196752"/>
            <a:ext cx="8534400" cy="4902296"/>
          </a:xfrm>
        </p:spPr>
        <p:txBody>
          <a:bodyPr>
            <a:normAutofit/>
          </a:bodyPr>
          <a:lstStyle/>
          <a:p>
            <a:endParaRPr lang="pl-PL" dirty="0">
              <a:latin typeface="Times New Roman" pitchFamily="18" charset="0"/>
              <a:cs typeface="Times New Roman" pitchFamily="18" charset="0"/>
            </a:endParaRPr>
          </a:p>
          <a:p>
            <a:r>
              <a:rPr lang="pl-PL" dirty="0">
                <a:latin typeface="Times New Roman" pitchFamily="18" charset="0"/>
                <a:cs typeface="Times New Roman" pitchFamily="18" charset="0"/>
              </a:rPr>
              <a:t>- gdy przy ocenie stopnia społecznej szkodliwości czynu sąd weźmie pod uwagę elementy, które nie zostały wymienione w katalogu z art. 115 § 2 k.k. lub nie uwzględni wszystkich, które w danej sprawie wchodziły w grę</a:t>
            </a:r>
          </a:p>
          <a:p>
            <a:r>
              <a:rPr lang="pl-PL" dirty="0">
                <a:latin typeface="Times New Roman" pitchFamily="18" charset="0"/>
                <a:cs typeface="Times New Roman" pitchFamily="18" charset="0"/>
              </a:rPr>
              <a:t> – obraza przepisów prawa materialnego </a:t>
            </a:r>
          </a:p>
          <a:p>
            <a:pPr>
              <a:buNone/>
            </a:pPr>
            <a:r>
              <a:rPr lang="pl-PL" dirty="0">
                <a:latin typeface="Times New Roman" pitchFamily="18" charset="0"/>
                <a:cs typeface="Times New Roman" pitchFamily="18" charset="0"/>
              </a:rPr>
              <a:t>   art. 438 pkt 1 lub 1a k.p.k. – względna przyczyna odwoławcza </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5838400"/>
          </a:xfrm>
        </p:spPr>
        <p:txBody>
          <a:bodyPr>
            <a:normAutofit fontScale="92500" lnSpcReduction="10000"/>
          </a:bodyPr>
          <a:lstStyle/>
          <a:p>
            <a:pPr>
              <a:buNone/>
            </a:pPr>
            <a:endParaRPr lang="pl-PL" dirty="0"/>
          </a:p>
          <a:p>
            <a:pPr>
              <a:buNone/>
            </a:pPr>
            <a:r>
              <a:rPr lang="pl-PL" dirty="0">
                <a:latin typeface="Times New Roman" pitchFamily="18" charset="0"/>
                <a:cs typeface="Times New Roman" pitchFamily="18" charset="0"/>
              </a:rPr>
              <a:t>   - gdy przy ocenie stopnia społecznej szkodliwości czynu sąd uwzględni wszystkie relewantne w danej sprawie kwantyfikatory społecznej szkodliwości czynu ale przyzna im niewłaściwą rangę – zarzut błędu w ustaleniach faktycznych (względna przyczyna odwoławcza art. 438 </a:t>
            </a:r>
            <a:r>
              <a:rPr lang="pl-PL" dirty="0" err="1">
                <a:latin typeface="Times New Roman" pitchFamily="18" charset="0"/>
                <a:cs typeface="Times New Roman" pitchFamily="18" charset="0"/>
              </a:rPr>
              <a:t>pkt</a:t>
            </a:r>
            <a:r>
              <a:rPr lang="pl-PL" dirty="0">
                <a:latin typeface="Times New Roman" pitchFamily="18" charset="0"/>
                <a:cs typeface="Times New Roman" pitchFamily="18" charset="0"/>
              </a:rPr>
              <a:t> 3 k.p.k.)</a:t>
            </a:r>
          </a:p>
          <a:p>
            <a:pPr>
              <a:buNone/>
            </a:pPr>
            <a:endParaRPr lang="pl-PL" dirty="0"/>
          </a:p>
          <a:p>
            <a:r>
              <a:rPr lang="pl-PL" dirty="0"/>
              <a:t>Postanowienie Sądu Najwyższego z dnia 19 października 2010 r. II KK 199/10</a:t>
            </a:r>
          </a:p>
          <a:p>
            <a:pPr>
              <a:buNone/>
            </a:pPr>
            <a:endParaRPr lang="pl-PL" dirty="0"/>
          </a:p>
          <a:p>
            <a:r>
              <a:rPr lang="pl-PL" i="1" dirty="0"/>
              <a:t>Zarzut, iż poszczególnym okolicznościom określonym w art. 115 § 2 k.k. przydano zbyt dużą lub zbyt małą rangę, mieści się w ramach zarzutu błędu w ustaleniach faktycznych, podnoszenie którego w kasacji jest jednak w świetle art. 523 k.p.k. niedopuszczalne.</a:t>
            </a:r>
          </a:p>
          <a:p>
            <a:pPr>
              <a:buNone/>
            </a:pPr>
            <a:endParaRPr lang="pl-PL"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5838400"/>
          </a:xfrm>
        </p:spPr>
        <p:txBody>
          <a:bodyPr>
            <a:normAutofit/>
          </a:bodyPr>
          <a:lstStyle/>
          <a:p>
            <a:endParaRPr lang="pl-PL" dirty="0"/>
          </a:p>
          <a:p>
            <a:r>
              <a:rPr lang="pl-PL" sz="3200" dirty="0"/>
              <a:t>konsekwencje stwierdzenia znikomej społecznej szkodliwości czynu – </a:t>
            </a:r>
            <a:r>
              <a:rPr lang="pl-PL" sz="3200" dirty="0">
                <a:solidFill>
                  <a:srgbClr val="FF0000"/>
                </a:solidFill>
              </a:rPr>
              <a:t>zawsze umorzenie postępowania </a:t>
            </a:r>
            <a:r>
              <a:rPr lang="pl-PL" sz="3200" dirty="0"/>
              <a:t>(na rozprawie, po otwarciu przewodu sądowego – wyrokiem) </a:t>
            </a:r>
          </a:p>
          <a:p>
            <a:endParaRPr lang="pl-PL" sz="3200" dirty="0"/>
          </a:p>
          <a:p>
            <a:r>
              <a:rPr lang="pl-PL" sz="3200" dirty="0"/>
              <a:t>wątpliwości co do trafności tego rozwiązania – czyn zabroniony, który jest pozbawiony </a:t>
            </a:r>
            <a:r>
              <a:rPr lang="pl-PL" sz="3200" dirty="0" err="1"/>
              <a:t>subminimalnego</a:t>
            </a:r>
            <a:r>
              <a:rPr lang="pl-PL" sz="3200" dirty="0"/>
              <a:t> ładunku społecznej szkodliwości nie stanowi wszak przestępstwa.</a:t>
            </a:r>
          </a:p>
          <a:p>
            <a:pPr>
              <a:buNone/>
            </a:pPr>
            <a:endParaRPr lang="pl-PL" dirty="0"/>
          </a:p>
          <a:p>
            <a:endParaRPr lang="pl-PL"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5838400"/>
          </a:xfrm>
        </p:spPr>
        <p:txBody>
          <a:bodyPr>
            <a:normAutofit fontScale="92500" lnSpcReduction="10000"/>
          </a:bodyPr>
          <a:lstStyle/>
          <a:p>
            <a:pPr>
              <a:buNone/>
            </a:pPr>
            <a:endParaRPr lang="pl-PL" dirty="0"/>
          </a:p>
          <a:p>
            <a:pPr>
              <a:buNone/>
            </a:pPr>
            <a:r>
              <a:rPr lang="pl-PL" dirty="0"/>
              <a:t>Wieloelementowa struktura przestępstwa</a:t>
            </a:r>
          </a:p>
          <a:p>
            <a:endParaRPr lang="pl-PL" dirty="0"/>
          </a:p>
          <a:p>
            <a:r>
              <a:rPr lang="pl-PL" dirty="0"/>
              <a:t>Zachowanie się człowieka</a:t>
            </a:r>
          </a:p>
          <a:p>
            <a:endParaRPr lang="pl-PL" dirty="0"/>
          </a:p>
          <a:p>
            <a:r>
              <a:rPr lang="pl-PL" dirty="0"/>
              <a:t>Zachowanie to jest czynem</a:t>
            </a:r>
          </a:p>
          <a:p>
            <a:endParaRPr lang="pl-PL" dirty="0"/>
          </a:p>
          <a:p>
            <a:r>
              <a:rPr lang="pl-PL" dirty="0"/>
              <a:t>Czyn ten jest czynem zabronionym pod groźbą kary</a:t>
            </a:r>
          </a:p>
          <a:p>
            <a:endParaRPr lang="pl-PL" dirty="0"/>
          </a:p>
          <a:p>
            <a:r>
              <a:rPr lang="pl-PL" dirty="0"/>
              <a:t>Czyn ten jest czynem bezprawnym</a:t>
            </a:r>
          </a:p>
          <a:p>
            <a:endParaRPr lang="pl-PL" dirty="0"/>
          </a:p>
          <a:p>
            <a:r>
              <a:rPr lang="pl-PL" dirty="0"/>
              <a:t>Czyn ten jest </a:t>
            </a:r>
            <a:r>
              <a:rPr lang="pl-PL" dirty="0">
                <a:solidFill>
                  <a:srgbClr val="FF0000"/>
                </a:solidFill>
              </a:rPr>
              <a:t>czynem karygodnym</a:t>
            </a:r>
          </a:p>
          <a:p>
            <a:r>
              <a:rPr lang="pl-PL" dirty="0"/>
              <a:t>Czyn ten jest czynem zawinionym</a:t>
            </a:r>
          </a:p>
          <a:p>
            <a:endParaRPr lang="pl-PL"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5838400"/>
          </a:xfrm>
        </p:spPr>
        <p:txBody>
          <a:bodyPr>
            <a:normAutofit/>
          </a:bodyPr>
          <a:lstStyle/>
          <a:p>
            <a:r>
              <a:rPr lang="pl-PL" dirty="0"/>
              <a:t>UMORZENIE PRZED OTWARCIEM PRZEWODU SĄDOWEGO</a:t>
            </a:r>
          </a:p>
          <a:p>
            <a:endParaRPr lang="pl-PL" dirty="0"/>
          </a:p>
          <a:p>
            <a:r>
              <a:rPr lang="pl-PL" dirty="0"/>
              <a:t>Postanowienie SN z 9.10.2008 r. </a:t>
            </a:r>
          </a:p>
          <a:p>
            <a:endParaRPr lang="pl-PL" dirty="0"/>
          </a:p>
          <a:p>
            <a:r>
              <a:rPr lang="pl-PL" dirty="0"/>
              <a:t>Umorzenie postępowania karnego na rozprawie na podstawie art. 17 § 1 </a:t>
            </a:r>
            <a:r>
              <a:rPr lang="pl-PL" dirty="0" err="1"/>
              <a:t>pkt</a:t>
            </a:r>
            <a:r>
              <a:rPr lang="pl-PL" dirty="0"/>
              <a:t> 3 k.p.k., przed otwarciem przewodu sądowego, czyli bez przeprowadzenia postępowania dowodowego, może nastąpić - analogicznie jak w wypadku warunkowego umorzenia takiego postępowania - jedynie wówczas, gdy okoliczności popełnienia czynu nie budzą wątpliwości.</a:t>
            </a:r>
          </a:p>
          <a:p>
            <a:endParaRPr lang="pl-PL"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16632"/>
            <a:ext cx="8698168" cy="5982416"/>
          </a:xfrm>
        </p:spPr>
        <p:txBody>
          <a:bodyPr/>
          <a:lstStyle/>
          <a:p>
            <a:pPr>
              <a:buNone/>
            </a:pPr>
            <a:endParaRPr lang="pl-PL" dirty="0"/>
          </a:p>
          <a:p>
            <a:pPr>
              <a:buNone/>
            </a:pPr>
            <a:endParaRPr lang="pl-PL" dirty="0"/>
          </a:p>
          <a:p>
            <a:pPr>
              <a:buNone/>
            </a:pPr>
            <a:r>
              <a:rPr lang="pl-PL" sz="4800" dirty="0"/>
              <a:t>Czy umorzenie postępowania z powodu art. 17 </a:t>
            </a:r>
            <a:r>
              <a:rPr lang="pl-PL" sz="4800" dirty="0">
                <a:latin typeface="Times New Roman"/>
                <a:cs typeface="Times New Roman"/>
              </a:rPr>
              <a:t>§</a:t>
            </a:r>
            <a:r>
              <a:rPr lang="pl-PL" sz="4800" dirty="0"/>
              <a:t>1 </a:t>
            </a:r>
            <a:r>
              <a:rPr lang="pl-PL" sz="4800" dirty="0" err="1"/>
              <a:t>pkt</a:t>
            </a:r>
            <a:r>
              <a:rPr lang="pl-PL" sz="4800" dirty="0"/>
              <a:t> 3 k.p.k. może nastąpić w fazie </a:t>
            </a:r>
            <a:r>
              <a:rPr lang="pl-PL" sz="4800" dirty="0" err="1"/>
              <a:t>in</a:t>
            </a:r>
            <a:r>
              <a:rPr lang="pl-PL" sz="4800" dirty="0"/>
              <a:t> rem – czyli przed przedstawieniem określonej osobie zarzutów?</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 </a:t>
            </a:r>
          </a:p>
        </p:txBody>
      </p:sp>
      <p:sp>
        <p:nvSpPr>
          <p:cNvPr id="3" name="Symbol zastępczy zawartości 2"/>
          <p:cNvSpPr>
            <a:spLocks noGrp="1"/>
          </p:cNvSpPr>
          <p:nvPr>
            <p:ph sz="quarter" idx="1"/>
          </p:nvPr>
        </p:nvSpPr>
        <p:spPr>
          <a:xfrm>
            <a:off x="301752" y="228600"/>
            <a:ext cx="8503920" cy="5870448"/>
          </a:xfrm>
        </p:spPr>
        <p:txBody>
          <a:bodyPr>
            <a:normAutofit/>
          </a:bodyPr>
          <a:lstStyle/>
          <a:p>
            <a:r>
              <a:rPr lang="pl-PL" dirty="0"/>
              <a:t>Jeżeli podstawą umorzenia postępowania jest ustalenie znikomej szkodliwości społecznej czynu (art. 17 § 1 </a:t>
            </a:r>
            <a:r>
              <a:rPr lang="pl-PL" dirty="0" err="1"/>
              <a:t>pkt</a:t>
            </a:r>
            <a:r>
              <a:rPr lang="pl-PL" dirty="0"/>
              <a:t> 3 k.p.k.), to - kierując się kryteriami określonymi w art. 115 § 2 k.k. - należy rozważyć, między innymi, postać zamiaru i motywację sprawcy, a to w konsekwencji rodzi wymaganie usytuowania sprawcy w procesowym charakterze podejrzanego (postanowienie SN z dnia </a:t>
            </a:r>
            <a:r>
              <a:rPr lang="pl-PL" sz="2800" dirty="0"/>
              <a:t>8 stycznia 2008 r., V KK 416/07) </a:t>
            </a:r>
          </a:p>
          <a:p>
            <a:endParaRPr lang="pl-PL" sz="2800" dirty="0"/>
          </a:p>
          <a:p>
            <a:r>
              <a:rPr lang="pl-PL" sz="2800" dirty="0"/>
              <a:t>są poglądy przeciwne</a:t>
            </a:r>
            <a:endParaRPr lang="pl-PL"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 </a:t>
            </a:r>
          </a:p>
        </p:txBody>
      </p:sp>
      <p:sp>
        <p:nvSpPr>
          <p:cNvPr id="3" name="Symbol zastępczy zawartości 2"/>
          <p:cNvSpPr>
            <a:spLocks noGrp="1"/>
          </p:cNvSpPr>
          <p:nvPr>
            <p:ph sz="quarter" idx="1"/>
          </p:nvPr>
        </p:nvSpPr>
        <p:spPr>
          <a:xfrm>
            <a:off x="107504" y="228600"/>
            <a:ext cx="8698168" cy="5870448"/>
          </a:xfrm>
        </p:spPr>
        <p:txBody>
          <a:bodyPr>
            <a:normAutofit lnSpcReduction="10000"/>
          </a:bodyPr>
          <a:lstStyle/>
          <a:p>
            <a:r>
              <a:rPr lang="pl-PL" dirty="0"/>
              <a:t>Po rozpoczęciu przewodu sądowego – zgromadzony w trakcie rozprawy materiał dowodowy jest zbyt „słaby” aby przyjąć sprawstwo oskarżonego. Decyzja sądu?</a:t>
            </a:r>
          </a:p>
          <a:p>
            <a:r>
              <a:rPr lang="pl-PL" dirty="0"/>
              <a:t>Po rozpoczęciu przewodu sądowego – zgromadzony w trakcie rozprawy materiał dowodowy wskazuje jednoznacznie, że przestępstwo zaistniało, lecz jego sprawcą nie jest oskarżony Piotr W., lecz Jan D. – decyzja sądu?</a:t>
            </a:r>
          </a:p>
          <a:p>
            <a:r>
              <a:rPr lang="pl-PL" dirty="0"/>
              <a:t>Po rozpoczęciu przewodu sądowego - akt oskarżenia wskazuje, iż oskarżony …..dokonał zaboru trzech kaloryferów wartości 1500 zł na szkodę Jana Kowalskiego tj. dopuścił się czynu z art. 278 par. 1 k.k. i sąd zamierza w tym kształcie przypisać sprawstwo. Trafnie?</a:t>
            </a:r>
          </a:p>
          <a:p>
            <a:endParaRPr lang="pl-PL" dirty="0"/>
          </a:p>
        </p:txBody>
      </p:sp>
    </p:spTree>
    <p:extLst>
      <p:ext uri="{BB962C8B-B14F-4D97-AF65-F5344CB8AC3E}">
        <p14:creationId xmlns:p14="http://schemas.microsoft.com/office/powerpoint/2010/main" val="317768124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 </a:t>
            </a:r>
          </a:p>
        </p:txBody>
      </p:sp>
      <p:sp>
        <p:nvSpPr>
          <p:cNvPr id="3" name="Symbol zastępczy zawartości 2"/>
          <p:cNvSpPr>
            <a:spLocks noGrp="1"/>
          </p:cNvSpPr>
          <p:nvPr>
            <p:ph sz="quarter" idx="1"/>
          </p:nvPr>
        </p:nvSpPr>
        <p:spPr>
          <a:xfrm>
            <a:off x="107504" y="228600"/>
            <a:ext cx="8698168" cy="5870448"/>
          </a:xfrm>
        </p:spPr>
        <p:txBody>
          <a:bodyPr>
            <a:normAutofit/>
          </a:bodyPr>
          <a:lstStyle/>
          <a:p>
            <a:r>
              <a:rPr lang="pl-PL" dirty="0"/>
              <a:t>Po rozpoczęciu przewodu sądowego obrońca domaga się uniewinnienia oskarżonego wobec jednoznacznej i pełnej opinii biegłych psychiatrów wskazującej, że czyn zabroniony, którego miał się dopuścił oskarżony został popełniony w stanie całkowicie zniesionej poczytalności. Jakie stanowisko powinno być zajęte w sprawie?</a:t>
            </a:r>
          </a:p>
          <a:p>
            <a:r>
              <a:rPr lang="pl-PL" dirty="0"/>
              <a:t>Sąd Rejonowy umarza postępowanie z uwagi na znikomą społeczną szkodliwość czynu „mając na uwadze przede wszystkim dotychczasowy nienaganny sposób życia oskarżonego”. Czy są podstawy do wywiedzenia apelacji przez oskarżyciela publicznego? Wskaż zarzut i wniosek odwoławczy.</a:t>
            </a:r>
          </a:p>
          <a:p>
            <a:endParaRPr lang="pl-PL" dirty="0"/>
          </a:p>
        </p:txBody>
      </p:sp>
    </p:spTree>
    <p:extLst>
      <p:ext uri="{BB962C8B-B14F-4D97-AF65-F5344CB8AC3E}">
        <p14:creationId xmlns:p14="http://schemas.microsoft.com/office/powerpoint/2010/main" val="29266703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6336704"/>
          </a:xfrm>
        </p:spPr>
        <p:txBody>
          <a:bodyPr>
            <a:normAutofit fontScale="85000" lnSpcReduction="10000"/>
          </a:bodyPr>
          <a:lstStyle/>
          <a:p>
            <a:r>
              <a:rPr lang="pl-PL" sz="4800" dirty="0">
                <a:solidFill>
                  <a:srgbClr val="00B050"/>
                </a:solidFill>
              </a:rPr>
              <a:t>NIEPODLEGANIE KARZE – art. 17 par. 1 pkt 4 k.p.k.</a:t>
            </a:r>
          </a:p>
          <a:p>
            <a:endParaRPr lang="pl-PL" dirty="0"/>
          </a:p>
          <a:p>
            <a:r>
              <a:rPr lang="pl-PL" sz="3900" dirty="0"/>
              <a:t>sprawca  popełnia przestępstwo ale ustawodawca zapewnia mu bezkarność</a:t>
            </a:r>
          </a:p>
          <a:p>
            <a:endParaRPr lang="pl-PL" sz="3900" dirty="0"/>
          </a:p>
          <a:p>
            <a:r>
              <a:rPr lang="pl-PL" sz="3900" dirty="0"/>
              <a:t>najczęściej dotyczy to przypadków „czynnego żalu”, ale też sytuacji, w których sprawca popełnia przestępstwo znajdując się w szczególnej sytuacji motywacyjnej.</a:t>
            </a:r>
          </a:p>
          <a:p>
            <a:pPr>
              <a:buNone/>
            </a:pPr>
            <a:r>
              <a:rPr lang="pl-PL" dirty="0"/>
              <a:t> </a:t>
            </a:r>
          </a:p>
          <a:p>
            <a:endParaRPr lang="pl-PL" dirty="0"/>
          </a:p>
          <a:p>
            <a:pPr>
              <a:buNone/>
            </a:pPr>
            <a:r>
              <a:rPr lang="pl-PL" dirty="0"/>
              <a:t> </a:t>
            </a:r>
          </a:p>
          <a:p>
            <a:endParaRPr lang="pl-PL"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5766392"/>
          </a:xfrm>
        </p:spPr>
        <p:txBody>
          <a:bodyPr>
            <a:normAutofit fontScale="85000" lnSpcReduction="20000"/>
          </a:bodyPr>
          <a:lstStyle/>
          <a:p>
            <a:r>
              <a:rPr lang="pl-PL" u="sng" dirty="0"/>
              <a:t>Czynny żal </a:t>
            </a:r>
          </a:p>
          <a:p>
            <a:endParaRPr lang="pl-PL" u="sng" dirty="0"/>
          </a:p>
          <a:p>
            <a:endParaRPr lang="pl-PL" i="1" u="sng" dirty="0"/>
          </a:p>
          <a:p>
            <a:r>
              <a:rPr lang="pl-PL" sz="2800" i="1" dirty="0"/>
              <a:t>każde dobrowolne odstąpienie od czynu zabronionego, zapobieżenie wystąpienia skutku przestępnego lub podjęcie istotnych starań w tym zakresie, a także dobrowolne zachowanie się sprawcy - opisane w przepisie szczególnym - po dokonaniu przestępstwa, polegające np. na dobrowolnym naprawieniu szkody wyrządzonej przestępstwem lub ujawnieniu przed organem ścigania określonych informacji.</a:t>
            </a:r>
            <a:endParaRPr lang="pl-PL" sz="2800" i="1" u="sng" dirty="0"/>
          </a:p>
          <a:p>
            <a:endParaRPr lang="pl-PL" dirty="0"/>
          </a:p>
          <a:p>
            <a:r>
              <a:rPr lang="pl-PL" dirty="0"/>
              <a:t>Np.</a:t>
            </a:r>
          </a:p>
          <a:p>
            <a:endParaRPr lang="pl-PL" dirty="0"/>
          </a:p>
          <a:p>
            <a:r>
              <a:rPr lang="pl-PL" b="1" dirty="0"/>
              <a:t>Art. 15. § 1. k.k</a:t>
            </a:r>
            <a:r>
              <a:rPr lang="pl-PL" dirty="0"/>
              <a:t>. Nie podlega karze za usiłowanie, kto </a:t>
            </a:r>
            <a:r>
              <a:rPr lang="pl-PL" dirty="0">
                <a:solidFill>
                  <a:srgbClr val="FF0000"/>
                </a:solidFill>
              </a:rPr>
              <a:t>dobrowolnie</a:t>
            </a:r>
            <a:r>
              <a:rPr lang="pl-PL" dirty="0"/>
              <a:t> odstąpił od dokonania lub zapobiegł skutkowi stanowiącemu znamię czynu zabronionego.</a:t>
            </a:r>
          </a:p>
          <a:p>
            <a:endParaRPr lang="pl-PL" dirty="0"/>
          </a:p>
          <a:p>
            <a:endParaRPr lang="pl-PL"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ymbol zastępczy zawartości 1"/>
          <p:cNvSpPr>
            <a:spLocks noGrp="1"/>
          </p:cNvSpPr>
          <p:nvPr>
            <p:ph sz="quarter" idx="1"/>
          </p:nvPr>
        </p:nvSpPr>
        <p:spPr>
          <a:xfrm>
            <a:off x="179512" y="332656"/>
            <a:ext cx="8626160" cy="6336704"/>
          </a:xfrm>
        </p:spPr>
        <p:txBody>
          <a:bodyPr>
            <a:normAutofit/>
          </a:bodyPr>
          <a:lstStyle/>
          <a:p>
            <a:endParaRPr lang="pl-PL" dirty="0"/>
          </a:p>
          <a:p>
            <a:r>
              <a:rPr lang="pl-PL" dirty="0"/>
              <a:t>w polskim prawie karnym – </a:t>
            </a:r>
            <a:r>
              <a:rPr lang="pl-PL" b="1" dirty="0">
                <a:solidFill>
                  <a:srgbClr val="FF0000"/>
                </a:solidFill>
              </a:rPr>
              <a:t>psychologiczne ujęcie dobrowolności </a:t>
            </a:r>
            <a:r>
              <a:rPr lang="pl-PL" dirty="0"/>
              <a:t>motywy dobrowolnego odstąpienia nie stanowią przesłanki czynnego żalu. </a:t>
            </a:r>
          </a:p>
          <a:p>
            <a:endParaRPr lang="pl-PL" dirty="0"/>
          </a:p>
          <a:p>
            <a:r>
              <a:rPr lang="pl-PL" dirty="0"/>
              <a:t>Tym samym bez znaczenia jest, czy motywy te były pozytywne, czy też negatywne z punktu widzenia etycznych ocen,</a:t>
            </a:r>
          </a:p>
          <a:p>
            <a:endParaRPr lang="pl-PL" dirty="0"/>
          </a:p>
          <a:p>
            <a:r>
              <a:rPr lang="pl-PL" dirty="0"/>
              <a:t> O tym, czy zachowanie sprawcy jest dobrowolne, decyduje zatem jedynie to, </a:t>
            </a:r>
            <a:r>
              <a:rPr lang="pl-PL" dirty="0">
                <a:solidFill>
                  <a:srgbClr val="FF0000"/>
                </a:solidFill>
              </a:rPr>
              <a:t>że wynika ono z decyzji sprawcy, a nie z przymusu zewnętrznego obiektywnie uniemożliwiającego mu dokonanie.</a:t>
            </a:r>
            <a:endParaRPr lang="pl-PL" u="sng" dirty="0">
              <a:solidFill>
                <a:srgbClr val="FF0000"/>
              </a:solidFill>
            </a:endParaRPr>
          </a:p>
          <a:p>
            <a:endParaRPr lang="pl-PL" dirty="0"/>
          </a:p>
          <a:p>
            <a:endParaRPr lang="pl-PL" u="sng" dirty="0"/>
          </a:p>
          <a:p>
            <a:endParaRPr lang="pl-PL"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ymbol zastępczy zawartości 1"/>
          <p:cNvSpPr>
            <a:spLocks noGrp="1"/>
          </p:cNvSpPr>
          <p:nvPr>
            <p:ph sz="quarter" idx="1"/>
          </p:nvPr>
        </p:nvSpPr>
        <p:spPr>
          <a:xfrm>
            <a:off x="179512" y="332656"/>
            <a:ext cx="8626160" cy="5766392"/>
          </a:xfrm>
        </p:spPr>
        <p:txBody>
          <a:bodyPr>
            <a:noAutofit/>
          </a:bodyPr>
          <a:lstStyle/>
          <a:p>
            <a:r>
              <a:rPr lang="pl-PL" sz="4000" dirty="0"/>
              <a:t>Przeciwieństwo – normatywna koncepcja czynnego żalu - zgodnie z którą pojęcie „dobrowolność” ma charakter oceniający i jest oparte na treści przeżyć psychicznych sprawcy okazującego czynny żal, tj. motywach i pobudkach jego zachowania. Istotne przy tym jest, by owe motywy zasługiwały na pozytywną ocenę moralną.</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ymbol zastępczy zawartości 1"/>
          <p:cNvSpPr>
            <a:spLocks noGrp="1"/>
          </p:cNvSpPr>
          <p:nvPr>
            <p:ph sz="quarter" idx="1"/>
          </p:nvPr>
        </p:nvSpPr>
        <p:spPr>
          <a:xfrm>
            <a:off x="179512" y="332656"/>
            <a:ext cx="8626160" cy="5766392"/>
          </a:xfrm>
        </p:spPr>
        <p:txBody>
          <a:bodyPr>
            <a:normAutofit lnSpcReduction="10000"/>
          </a:bodyPr>
          <a:lstStyle/>
          <a:p>
            <a:r>
              <a:rPr lang="pl-PL" sz="4000" dirty="0"/>
              <a:t>Art. 297 § 3. Nie podlega karze, kto </a:t>
            </a:r>
            <a:r>
              <a:rPr lang="pl-PL" sz="4000" dirty="0">
                <a:solidFill>
                  <a:srgbClr val="FF0000"/>
                </a:solidFill>
              </a:rPr>
              <a:t>przed wszczęciem postępowania karnego </a:t>
            </a:r>
            <a:r>
              <a:rPr lang="pl-PL" sz="4000" dirty="0"/>
              <a:t>dobrowolnie zapobiegł wykorzystaniu wsparcia finansowego lub instrumentu płatniczego, określonych w § 1, zrezygnował z dotacji lub zamówienia publicznego albo zaspokoił roszczenia pokrzywdzonego.</a:t>
            </a:r>
          </a:p>
          <a:p>
            <a:endParaRPr lang="pl-PL"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ymbol zastępczy zawartości 1"/>
          <p:cNvSpPr>
            <a:spLocks noGrp="1"/>
          </p:cNvSpPr>
          <p:nvPr>
            <p:ph sz="quarter" idx="1"/>
          </p:nvPr>
        </p:nvSpPr>
        <p:spPr>
          <a:xfrm>
            <a:off x="179512" y="332656"/>
            <a:ext cx="8626160" cy="5766392"/>
          </a:xfrm>
        </p:spPr>
        <p:txBody>
          <a:bodyPr>
            <a:normAutofit fontScale="70000" lnSpcReduction="20000"/>
          </a:bodyPr>
          <a:lstStyle/>
          <a:p>
            <a:r>
              <a:rPr lang="pl-PL" sz="4800" dirty="0"/>
              <a:t>Zachowanie osoby opisanej w art. 297 par. 3 k.k. (Barnaba L.) było wynikiem ciągłego „nękania” go w domu przez żonę, która obawiała się, że cała sprawa się wyda i oboje będą mieli kłopoty finansowe, a może i prawne. Nie mogąc dłużej znieść tego „nękania”, podjął więc stosowne działania przewidziane ww. przepisem, w ramach toczącego się postępowania sprawdzającego (art. 307 k.p.k.). </a:t>
            </a:r>
          </a:p>
          <a:p>
            <a:r>
              <a:rPr lang="pl-PL" sz="4800" dirty="0"/>
              <a:t>Czy doszło do skutecznego zrealizowania czynnego żalu? </a:t>
            </a:r>
          </a:p>
        </p:txBody>
      </p:sp>
    </p:spTree>
    <p:extLst>
      <p:ext uri="{BB962C8B-B14F-4D97-AF65-F5344CB8AC3E}">
        <p14:creationId xmlns:p14="http://schemas.microsoft.com/office/powerpoint/2010/main" val="273694791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ymbol zastępczy zawartości 1"/>
          <p:cNvSpPr>
            <a:spLocks noGrp="1"/>
          </p:cNvSpPr>
          <p:nvPr>
            <p:ph sz="quarter" idx="1"/>
          </p:nvPr>
        </p:nvSpPr>
        <p:spPr>
          <a:xfrm>
            <a:off x="179512" y="332656"/>
            <a:ext cx="8626160" cy="5766392"/>
          </a:xfrm>
        </p:spPr>
        <p:txBody>
          <a:bodyPr>
            <a:noAutofit/>
          </a:bodyPr>
          <a:lstStyle/>
          <a:p>
            <a:r>
              <a:rPr lang="pl-PL" sz="3600" dirty="0"/>
              <a:t>Aby móc mówić, że sprawca zrealizował przesłanki czynnego żalu z </a:t>
            </a:r>
            <a:r>
              <a:rPr lang="pl-PL" sz="3600" dirty="0">
                <a:hlinkClick r:id="rId2"/>
              </a:rPr>
              <a:t>art. 297 § 3</a:t>
            </a:r>
            <a:r>
              <a:rPr lang="pl-PL" sz="3600" dirty="0"/>
              <a:t> k.k., zachowanie, którego rezultatem stało się zapobieżenie wypłacie odszkodowania opisane w </a:t>
            </a:r>
            <a:r>
              <a:rPr lang="pl-PL" sz="3600" dirty="0">
                <a:hlinkClick r:id="rId2"/>
              </a:rPr>
              <a:t>art. 297 § 3</a:t>
            </a:r>
            <a:r>
              <a:rPr lang="pl-PL" sz="3600" dirty="0"/>
              <a:t> k.k., powinno zostać podjęte w normalnej sytuacji motywacyjnej, bez towarzyszącego temu przymusu psychicznego, którego sprawca nie mógłby przemóc (J. Majewski, Komentarz). </a:t>
            </a:r>
          </a:p>
        </p:txBody>
      </p:sp>
    </p:spTree>
    <p:extLst>
      <p:ext uri="{BB962C8B-B14F-4D97-AF65-F5344CB8AC3E}">
        <p14:creationId xmlns:p14="http://schemas.microsoft.com/office/powerpoint/2010/main" val="281723657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5838400"/>
          </a:xfrm>
        </p:spPr>
        <p:txBody>
          <a:bodyPr>
            <a:normAutofit/>
          </a:bodyPr>
          <a:lstStyle/>
          <a:p>
            <a:r>
              <a:rPr lang="pl-PL" dirty="0"/>
              <a:t>Wyrok Sądu Apelacyjnego w Katowicach z dnia 21 stycznia 2004 r. II </a:t>
            </a:r>
            <a:r>
              <a:rPr lang="pl-PL" dirty="0" err="1"/>
              <a:t>AKa</a:t>
            </a:r>
            <a:r>
              <a:rPr lang="pl-PL" dirty="0"/>
              <a:t> 520/03</a:t>
            </a:r>
          </a:p>
          <a:p>
            <a:endParaRPr lang="pl-PL" dirty="0"/>
          </a:p>
          <a:p>
            <a:r>
              <a:rPr lang="pl-PL" dirty="0"/>
              <a:t>1. Oskarżony nie mógł być skazany za przestępstwo z art. 240 § 1 k.k., skoro nie podlegał karze z racji zaistnienia okoliczności z art. 240 § 3 k.k. Jest przecież oczywiste, że zawiadamiając organy ścigania o zabójstwie, narażałby siebie na odpowiedzialność karną z art. 239 § 1 k.k., skoro pomagał w ukryciu zwłok pokrzywdzonej. Zaistniała tym samym negatywna przesłanka procesowa z art. 17 § 1 pkt 4 k.p.k., która skutkować musi umorzeniem postępowania o czyn z art. 240 § 1 k.k.</a:t>
            </a:r>
          </a:p>
          <a:p>
            <a:endParaRPr lang="pl-PL" dirty="0"/>
          </a:p>
          <a:p>
            <a:pPr marL="0" indent="0">
              <a:buNone/>
            </a:pPr>
            <a:endParaRPr lang="pl-PL" dirty="0"/>
          </a:p>
        </p:txBody>
      </p:sp>
    </p:spTree>
    <p:extLst>
      <p:ext uri="{BB962C8B-B14F-4D97-AF65-F5344CB8AC3E}">
        <p14:creationId xmlns:p14="http://schemas.microsoft.com/office/powerpoint/2010/main" val="41461294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ymbol zastępczy zawartości 1"/>
          <p:cNvSpPr>
            <a:spLocks noGrp="1"/>
          </p:cNvSpPr>
          <p:nvPr>
            <p:ph sz="quarter" idx="1"/>
          </p:nvPr>
        </p:nvSpPr>
        <p:spPr>
          <a:xfrm>
            <a:off x="179512" y="188640"/>
            <a:ext cx="8626160" cy="5910408"/>
          </a:xfrm>
        </p:spPr>
        <p:txBody>
          <a:bodyPr/>
          <a:lstStyle/>
          <a:p>
            <a:r>
              <a:rPr lang="pl-PL" sz="4000" u="sng" dirty="0"/>
              <a:t>Szczególna sytuacja motywacyjna</a:t>
            </a:r>
          </a:p>
          <a:p>
            <a:pPr>
              <a:buNone/>
            </a:pPr>
            <a:endParaRPr lang="pl-PL" sz="4000" dirty="0">
              <a:latin typeface="Times New Roman"/>
              <a:cs typeface="Times New Roman"/>
            </a:endParaRPr>
          </a:p>
          <a:p>
            <a:r>
              <a:rPr lang="pl-PL" sz="4000" b="1" dirty="0"/>
              <a:t> art. 240 §  3 k.k. Nie podlega karze, kto zaniechał zawiadomienia z obawy przed odpowiedzialnością karną grożącą jemu samemu lub jego najbliższym.</a:t>
            </a:r>
            <a:endParaRPr lang="pl-PL" sz="4000" dirty="0"/>
          </a:p>
          <a:p>
            <a:endParaRPr lang="pl-PL" dirty="0">
              <a:latin typeface="Times New Roman"/>
              <a:cs typeface="Times New Roman"/>
            </a:endParaRPr>
          </a:p>
          <a:p>
            <a:endParaRPr lang="pl-PL" dirty="0"/>
          </a:p>
          <a:p>
            <a:endParaRPr lang="pl-PL"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16632"/>
            <a:ext cx="8636496" cy="6512768"/>
          </a:xfrm>
        </p:spPr>
        <p:txBody>
          <a:bodyPr>
            <a:normAutofit/>
          </a:bodyPr>
          <a:lstStyle/>
          <a:p>
            <a:r>
              <a:rPr lang="pl-PL" sz="4400" b="1" dirty="0">
                <a:solidFill>
                  <a:srgbClr val="00B050"/>
                </a:solidFill>
              </a:rPr>
              <a:t>śmierć oskarżonego – art. 17 par. 1 pkt 5 k.p.k. </a:t>
            </a:r>
          </a:p>
          <a:p>
            <a:endParaRPr lang="pl-PL" dirty="0"/>
          </a:p>
          <a:p>
            <a:r>
              <a:rPr lang="pl-PL" dirty="0"/>
              <a:t>aktualizuje się dopiero w fazie </a:t>
            </a:r>
            <a:r>
              <a:rPr lang="pl-PL" dirty="0" err="1"/>
              <a:t>in</a:t>
            </a:r>
            <a:r>
              <a:rPr lang="pl-PL" dirty="0"/>
              <a:t> </a:t>
            </a:r>
            <a:r>
              <a:rPr lang="pl-PL" dirty="0" err="1"/>
              <a:t>personam</a:t>
            </a:r>
            <a:endParaRPr lang="pl-PL" dirty="0"/>
          </a:p>
          <a:p>
            <a:endParaRPr lang="pl-PL" dirty="0"/>
          </a:p>
          <a:p>
            <a:r>
              <a:rPr lang="pl-PL" dirty="0"/>
              <a:t>śmierć oskarżonego nie stoi jednak na przeszkodzie prowadzeniu postępowania kasacyjnego w przypadku wniesienia kasacji na korzyść  lub wznowienia postępowania na korzyść oskarżonego  (art. 529 k.p.k.,  545 </a:t>
            </a:r>
            <a:r>
              <a:rPr lang="pl-PL" dirty="0">
                <a:latin typeface="Times New Roman"/>
                <a:cs typeface="Times New Roman"/>
              </a:rPr>
              <a:t>§ </a:t>
            </a:r>
            <a:r>
              <a:rPr lang="pl-PL" dirty="0"/>
              <a:t>1 w zw. z art. 529 k.p.k.)</a:t>
            </a:r>
          </a:p>
          <a:p>
            <a:endParaRPr lang="pl-PL" dirty="0"/>
          </a:p>
          <a:p>
            <a:pPr>
              <a:buNone/>
            </a:pPr>
            <a:endParaRPr lang="pl-PL" dirty="0"/>
          </a:p>
          <a:p>
            <a:endParaRPr lang="pl-PL" dirty="0"/>
          </a:p>
          <a:p>
            <a:endParaRPr lang="pl-PL" dirty="0"/>
          </a:p>
          <a:p>
            <a:endParaRPr lang="pl-PL" dirty="0"/>
          </a:p>
          <a:p>
            <a:endParaRPr lang="pl-PL" dirty="0"/>
          </a:p>
          <a:p>
            <a:endParaRPr lang="pl-PL" dirty="0"/>
          </a:p>
          <a:p>
            <a:endParaRPr lang="pl-PL"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85000" lnSpcReduction="10000"/>
          </a:bodyPr>
          <a:lstStyle/>
          <a:p>
            <a:r>
              <a:rPr lang="pl-PL" dirty="0"/>
              <a:t>Wyrok Sądu Najwyższego z dnia 30 marca 2015 r.</a:t>
            </a:r>
          </a:p>
          <a:p>
            <a:r>
              <a:rPr lang="pl-PL" dirty="0"/>
              <a:t>II KK 76/15</a:t>
            </a:r>
          </a:p>
          <a:p>
            <a:pPr marL="0" indent="0">
              <a:buNone/>
            </a:pPr>
            <a:endParaRPr lang="pl-PL" dirty="0"/>
          </a:p>
          <a:p>
            <a:r>
              <a:rPr lang="pl-PL" dirty="0"/>
              <a:t>Śmierć oskarżonego zawsze stoi na przeszkodzie prowadzeniu postępowania karnego (art. 17 § 1 pkt 5 k.p.k.). Kontynuowanie procesu i wydanie wyroku stanowi uchybienie określone w art. 439 § 1 pkt 9 k.p.k. Fakt, że sąd właściwy nie wiedział o wskazanej przeszkodzie, nie ma znaczenia i nie może uchronić kwestionowanego orzeczenia przed wyeliminowaniem z obrotu prawnego. Śmierć oskarżonego nie stanowi natomiast negatywnej przesłanki postępowania kasacyjnego, jeśli kasacja jest wniesiona na korzyść oskarżonego (</a:t>
            </a:r>
            <a:r>
              <a:rPr lang="pl-PL" dirty="0" err="1"/>
              <a:t>arg</a:t>
            </a:r>
            <a:r>
              <a:rPr lang="pl-PL" dirty="0"/>
              <a:t>. ex art. 529 k.p.k.).</a:t>
            </a:r>
          </a:p>
        </p:txBody>
      </p:sp>
    </p:spTree>
    <p:extLst>
      <p:ext uri="{BB962C8B-B14F-4D97-AF65-F5344CB8AC3E}">
        <p14:creationId xmlns:p14="http://schemas.microsoft.com/office/powerpoint/2010/main" val="389886634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0000" lnSpcReduction="20000"/>
          </a:bodyPr>
          <a:lstStyle/>
          <a:p>
            <a:r>
              <a:rPr lang="pl-PL" dirty="0"/>
              <a:t>Postanowienie Sądu Najwyższego z dnia 9 czerwca 1999 r.</a:t>
            </a:r>
          </a:p>
          <a:p>
            <a:r>
              <a:rPr lang="pl-PL" dirty="0"/>
              <a:t>V KKN 412/97</a:t>
            </a:r>
          </a:p>
          <a:p>
            <a:r>
              <a:rPr lang="pl-PL" dirty="0"/>
              <a:t> </a:t>
            </a:r>
          </a:p>
          <a:p>
            <a:r>
              <a:rPr lang="pl-PL" dirty="0"/>
              <a:t>Śmierć skazanego w toku postępowania kasacyjnego, analogicznie jak w toku zwykłego postępowania instancyjnego, prowadzi do obciążenia Skarbu Państwa kosztami tego postępowania, niezależnie od tego, że wniesiona na jego korzyść kasacja podlega rozpoznaniu. Norma z art. 529 k.p.k., pozwalająca rozpoznać kasację wniesioną na korzyść skazanego mimo jego śmierci, stanowi wyjątek od reguły nakazującej umorzyć postępowanie w takim wypadku. Stąd wolno przyjąć, że zakres działania tej normy odnosi się wyłącznie do sfery rozstrzygania o odpowiedzialności karnej skazanego, natomiast nie dotyczy już zagadnień ubocznych, do jakich należy rozstrzyganie o kosztach procesu. W tej mierze sytuacja jest analogiczna jak w wypadku umorzenia postępowania - koszty procesu ponosi Skarb Państwa. Dotyczy to oczywiście tych składowych kosztów procesu, które nie zostały już przez skazanego przed jego śmiercią uiszczone.</a:t>
            </a:r>
          </a:p>
        </p:txBody>
      </p:sp>
    </p:spTree>
    <p:extLst>
      <p:ext uri="{BB962C8B-B14F-4D97-AF65-F5344CB8AC3E}">
        <p14:creationId xmlns:p14="http://schemas.microsoft.com/office/powerpoint/2010/main" val="30892842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D. Świecki</a:t>
            </a:r>
          </a:p>
        </p:txBody>
      </p:sp>
      <p:sp>
        <p:nvSpPr>
          <p:cNvPr id="3" name="Symbol zastępczy zawartości 2"/>
          <p:cNvSpPr>
            <a:spLocks noGrp="1"/>
          </p:cNvSpPr>
          <p:nvPr>
            <p:ph sz="quarter" idx="1"/>
          </p:nvPr>
        </p:nvSpPr>
        <p:spPr/>
        <p:txBody>
          <a:bodyPr>
            <a:noAutofit/>
          </a:bodyPr>
          <a:lstStyle/>
          <a:p>
            <a:r>
              <a:rPr lang="pl-PL" sz="1800" dirty="0"/>
              <a:t>Zawarty w art. 529 zwrot "rozpoznanie kasacji na korzyść oskarżonego" należy odczytać jako "uwzględnienie kasacji na korzyść oskarżonego". W wypadku wniesienia kasacji od wyroku chodzi tu o dopuszczalność wydania przez sąd kasacyjny wyroku na podstawie art. 537 § 2 in fine, a więc uchylenia zaskarżonego wyroku i uniewinnienia oskarżonego. Jeżeli jednak nie ma ku temu podstaw w instancji kasacyjnej (nie jest spełniony warunek "oczywistej niesłuszności" skazania), a konieczne byłoby ponowne rozpoznanie sprawy, to Sąd Najwyższy nie może uchylić zaskarżonego orzeczenia i przekazać sprawy do ponownego rozpoznania z uwagi na ujemną przesłankę procesową. W takiej sytuacji oznacza to konieczność wydania orzeczenia następczego w postaci umorzenia postępowania (art. 537 § 2 w zw. z art. 17 § 1)</a:t>
            </a:r>
          </a:p>
        </p:txBody>
      </p:sp>
    </p:spTree>
    <p:extLst>
      <p:ext uri="{BB962C8B-B14F-4D97-AF65-F5344CB8AC3E}">
        <p14:creationId xmlns:p14="http://schemas.microsoft.com/office/powerpoint/2010/main" val="210771335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62500" lnSpcReduction="20000"/>
          </a:bodyPr>
          <a:lstStyle/>
          <a:p>
            <a:r>
              <a:rPr lang="pl-PL" dirty="0"/>
              <a:t>. W konsekwencji w wypadku wniesienia kasacji na korzyść oskarżonego, przykładowo pomimo jego śmierci na etapie postępowania kasacyjnego, ta okoliczność nie stoi na przeszkodzie uwzględnienia kasacji. Wymaga to jednak przystąpienia do jej rozpoznania na rozprawie lub posiedzeniu. Jednak stwierdzenie po rozpoznaniu kasacji, że jest ona niezasadna lub oczywiście bezzasadna, oznacza, że nie zostanie ona "rozpoznana na korzyść oskarżonego" w rozumieniu komentowanego przepisu, czyli uwzględniona. Wówczas sąd kasacyjny nie może oddalić kasacji ani oddalić jej jako oczywiście bezzasadnej, skoro z uwagi na okoliczności wskazane w art. 529 może wydać jedynie orzeczenie w przedmiocie kasacji, gdy ją uwzględnia na korzyść oskarżonego. Z komentowanego przepisu nie wynika, jakiej treści orzeczenie powinien wydać sąd kasacyjny, gdy nie uwzględnia kasacji na korzyść oskarżonego. Jednak odwołanie się w tym przepisie do okoliczności "wyłączających ściganie" pozwala - per analogiam - odpowiednio odnieść skutek ich zaistnienia także do innych okoliczności wskazanych w art. 529, które stanowią przeszkodę do rozpoznania kasacji w inny sposób niż przez uwzględnienie na korzyść oskarżonego. Wobec niemożności takiego rozpoznania kasacji sąd kasacyjny powinien umorzyć postępowanie kasacyjne. Jednak przed wydaniem takiego orzeczenia komentowany przepis zobowiązuje zawsze do zbadania kasacji pod kątem jej uwzględnienia na korzyść oskarżonego</a:t>
            </a:r>
          </a:p>
        </p:txBody>
      </p:sp>
    </p:spTree>
    <p:extLst>
      <p:ext uri="{BB962C8B-B14F-4D97-AF65-F5344CB8AC3E}">
        <p14:creationId xmlns:p14="http://schemas.microsoft.com/office/powerpoint/2010/main" val="290312621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L.K. PAPRZYCKI</a:t>
            </a:r>
          </a:p>
        </p:txBody>
      </p:sp>
      <p:sp>
        <p:nvSpPr>
          <p:cNvPr id="3" name="Symbol zastępczy zawartości 2"/>
          <p:cNvSpPr>
            <a:spLocks noGrp="1"/>
          </p:cNvSpPr>
          <p:nvPr>
            <p:ph sz="quarter" idx="1"/>
          </p:nvPr>
        </p:nvSpPr>
        <p:spPr/>
        <p:txBody>
          <a:bodyPr>
            <a:normAutofit fontScale="77500" lnSpcReduction="20000"/>
          </a:bodyPr>
          <a:lstStyle/>
          <a:p>
            <a:r>
              <a:rPr lang="pl-PL" dirty="0"/>
              <a:t>W ocenie Sądu Najwyższego nie do przyjęcia jest pogląd o możliwości wydania jakiegokolwiek wyroku skazującego na łagodniejszą niż uprzednia karę, wówczas gdy oskarżony zmarł, podobnie jak pogląd o możliwości przekazania sprawy do ponownego rozpoznania. W dotychczasowej praktyce kasacyjnej Sąd Najwyższy podtrzymywał powyższe zapatrywanie.</a:t>
            </a:r>
          </a:p>
          <a:p>
            <a:endParaRPr lang="pl-PL" dirty="0"/>
          </a:p>
          <a:p>
            <a:r>
              <a:rPr lang="pl-PL" dirty="0"/>
              <a:t>Stanowisko Sądu Najwyższego spotkało się także z zastrzeżeniami w piśmiennictwie. Zarzucano, że pogląd ten jest zbyt daleko idącym zabiegiem interpretacyjnym, zawęża bowiem pojęcie orzekania "na korzyść" tylko do sytuacji, gdy w uwzględnieniu nadzwyczajnego środka zaskarżenia zapada wyrok uniewinniający oskarżonego. Takie zawężenie możliwości orzekania Sądu Najwyższego wynikać musiałoby z wyraźnego przepisu ustawy, którego jednak brak. Postępowanie w trybie nadzwyczajnego środka zaskarżenia ma na celu naprawienie każdej krzywdy wyrządzonej błędnym orzeczeniem sądowym, a nie tylko rozstrzygnięć co do winy</a:t>
            </a:r>
          </a:p>
        </p:txBody>
      </p:sp>
    </p:spTree>
    <p:extLst>
      <p:ext uri="{BB962C8B-B14F-4D97-AF65-F5344CB8AC3E}">
        <p14:creationId xmlns:p14="http://schemas.microsoft.com/office/powerpoint/2010/main" val="426999890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b="1" dirty="0"/>
              <a:t>Art.  548. K.P.K. </a:t>
            </a:r>
            <a:r>
              <a:rPr lang="pl-PL" dirty="0"/>
              <a:t>Jeżeli postępowanie wznowiono na skutek wniosku na korzyść oskarżonego i toczy się ono po jego śmierci lub jeżeli zachodzi przyczyna zawieszenia postępowania, prezes sądu wyznacza do obrony praw oskarżonego obrońcę z urzędu, chyba że wnioskodawca ustanowił już obrońcę.</a:t>
            </a:r>
          </a:p>
          <a:p>
            <a:endParaRPr lang="pl-PL" dirty="0"/>
          </a:p>
        </p:txBody>
      </p:sp>
    </p:spTree>
    <p:extLst>
      <p:ext uri="{BB962C8B-B14F-4D97-AF65-F5344CB8AC3E}">
        <p14:creationId xmlns:p14="http://schemas.microsoft.com/office/powerpoint/2010/main" val="194963013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normAutofit fontScale="25000" lnSpcReduction="20000"/>
          </a:bodyPr>
          <a:lstStyle/>
          <a:p>
            <a:endParaRPr lang="pl-PL" dirty="0"/>
          </a:p>
          <a:p>
            <a:endParaRPr lang="pl-PL" dirty="0"/>
          </a:p>
          <a:p>
            <a:endParaRPr lang="pl-PL" dirty="0"/>
          </a:p>
          <a:p>
            <a:endParaRPr lang="pl-PL" dirty="0"/>
          </a:p>
          <a:p>
            <a:r>
              <a:rPr lang="pl-PL" sz="6200" dirty="0"/>
              <a:t>śmierć oskarżonego przed uprawomocnieniem się wyroku skazującego wyłącza możliwość toczenia się postępowania ze skutkiem ex </a:t>
            </a:r>
            <a:r>
              <a:rPr lang="pl-PL" sz="6200" dirty="0" err="1"/>
              <a:t>tunc</a:t>
            </a:r>
            <a:r>
              <a:rPr lang="pl-PL" sz="6200" dirty="0"/>
              <a:t>,</a:t>
            </a:r>
          </a:p>
          <a:p>
            <a:endParaRPr lang="pl-PL" sz="6200" dirty="0"/>
          </a:p>
          <a:p>
            <a:r>
              <a:rPr lang="pl-PL" sz="6200" dirty="0"/>
              <a:t>W razie śmierci oskarżonego w toku postępowania odwoławczego, sąd odwoławczy powinien uchylić wyrok sądu pierwszej instancji i umorzyć postępowanie.</a:t>
            </a:r>
          </a:p>
          <a:p>
            <a:pPr>
              <a:buNone/>
            </a:pPr>
            <a:r>
              <a:rPr lang="pl-PL" sz="6200" dirty="0"/>
              <a:t> </a:t>
            </a:r>
          </a:p>
          <a:p>
            <a:r>
              <a:rPr lang="pl-PL" sz="6200" dirty="0"/>
              <a:t>Jeżeli natomiast śmierć oskarżonego nastąpi już po uprawomocnieniu się wyroku, wówczas umorzeniu podlega wyłącznie postępowanie wykonawcze (art. 15 § 1 </a:t>
            </a:r>
            <a:r>
              <a:rPr lang="pl-PL" sz="6200" dirty="0" err="1"/>
              <a:t>k.k.w</a:t>
            </a:r>
            <a:r>
              <a:rPr lang="pl-PL" sz="6200" dirty="0"/>
              <a:t>.).</a:t>
            </a:r>
          </a:p>
          <a:p>
            <a:pPr marL="0" indent="0">
              <a:buNone/>
            </a:pPr>
            <a:endParaRPr lang="pl-PL" sz="6200" dirty="0"/>
          </a:p>
          <a:p>
            <a:endParaRPr lang="pl-PL" sz="6200" dirty="0"/>
          </a:p>
          <a:p>
            <a:endParaRPr lang="pl-PL" dirty="0"/>
          </a:p>
          <a:p>
            <a:endParaRPr lang="pl-PL" dirty="0"/>
          </a:p>
          <a:p>
            <a:endParaRPr lang="pl-PL" dirty="0"/>
          </a:p>
          <a:p>
            <a:endParaRPr lang="pl-PL" dirty="0"/>
          </a:p>
          <a:p>
            <a:endParaRPr lang="pl-PL" dirty="0"/>
          </a:p>
          <a:p>
            <a:endParaRPr lang="pl-PL" dirty="0"/>
          </a:p>
          <a:p>
            <a:endParaRPr lang="pl-PL" dirty="0"/>
          </a:p>
          <a:p>
            <a:endParaRPr lang="pl-PL" dirty="0"/>
          </a:p>
          <a:p>
            <a:endParaRPr lang="pl-PL" dirty="0"/>
          </a:p>
          <a:p>
            <a:endParaRPr lang="pl-PL" dirty="0"/>
          </a:p>
          <a:p>
            <a:endParaRPr lang="pl-PL" dirty="0"/>
          </a:p>
          <a:p>
            <a:r>
              <a:rPr lang="pl-PL" dirty="0"/>
              <a:t> </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36496" cy="6336704"/>
          </a:xfrm>
        </p:spPr>
        <p:txBody>
          <a:bodyPr/>
          <a:lstStyle/>
          <a:p>
            <a:pPr>
              <a:buNone/>
            </a:pPr>
            <a:endParaRPr lang="pl-PL" dirty="0"/>
          </a:p>
          <a:p>
            <a:pPr>
              <a:buNone/>
            </a:pPr>
            <a:r>
              <a:rPr lang="pl-PL" b="1" u="sng" dirty="0">
                <a:solidFill>
                  <a:srgbClr val="00B050"/>
                </a:solidFill>
              </a:rPr>
              <a:t>Przedawnienie karalności – art. 17 par. 1 pkt 6 k.p.k.</a:t>
            </a:r>
          </a:p>
          <a:p>
            <a:pPr>
              <a:buNone/>
            </a:pPr>
            <a:r>
              <a:rPr lang="pl-PL" dirty="0"/>
              <a:t>  </a:t>
            </a:r>
          </a:p>
          <a:p>
            <a:pPr>
              <a:buNone/>
            </a:pPr>
            <a:r>
              <a:rPr lang="pl-PL" dirty="0"/>
              <a:t> - przesłanka  najczęściej zaliczana do przesłanek o charakterze mieszanym, </a:t>
            </a:r>
          </a:p>
          <a:p>
            <a:endParaRPr lang="pl-PL" dirty="0"/>
          </a:p>
          <a:p>
            <a:r>
              <a:rPr lang="pl-PL" dirty="0"/>
              <a:t>terminy przedawnienia określają przepisy prawa karnego materialnego</a:t>
            </a:r>
          </a:p>
          <a:p>
            <a:pPr>
              <a:buNone/>
            </a:pPr>
            <a:endParaRPr lang="pl-PL"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Autofit/>
          </a:bodyPr>
          <a:lstStyle/>
          <a:p>
            <a:r>
              <a:rPr lang="pl-PL" sz="3600" dirty="0"/>
              <a:t>Na przedawnienie karalności jako przesłankę procesową składają się dwa elementy:</a:t>
            </a:r>
          </a:p>
          <a:p>
            <a:endParaRPr lang="pl-PL" sz="3600" dirty="0"/>
          </a:p>
          <a:p>
            <a:r>
              <a:rPr lang="pl-PL" sz="3600" dirty="0"/>
              <a:t>1) przewidziany w ustawie upływ czasu,</a:t>
            </a:r>
          </a:p>
          <a:p>
            <a:endParaRPr lang="pl-PL" sz="3600" dirty="0"/>
          </a:p>
          <a:p>
            <a:r>
              <a:rPr lang="pl-PL" sz="3600" dirty="0"/>
              <a:t>2) uprawdopodobniona w różnym stopniu – w zależności od etapu procesu hipoteza popełniania przestępstwa karalnego w czasie jego popełnienia </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0690" name="Symbol zastępczy zawartości 3">
            <a:extLst>
              <a:ext uri="{FF2B5EF4-FFF2-40B4-BE49-F238E27FC236}">
                <a16:creationId xmlns:a16="http://schemas.microsoft.com/office/drawing/2014/main" id="{5E46DB16-6A16-3788-0DE4-16BC6A6D7C14}"/>
              </a:ext>
            </a:extLst>
          </p:cNvPr>
          <p:cNvSpPr>
            <a:spLocks noGrp="1" noChangeArrowheads="1"/>
          </p:cNvSpPr>
          <p:nvPr>
            <p:ph sz="half" idx="1"/>
          </p:nvPr>
        </p:nvSpPr>
        <p:spPr>
          <a:xfrm>
            <a:off x="0" y="188913"/>
            <a:ext cx="8894763" cy="6669087"/>
          </a:xfrm>
        </p:spPr>
        <p:txBody>
          <a:bodyPr/>
          <a:lstStyle/>
          <a:p>
            <a:r>
              <a:rPr lang="pl-PL" altLang="pl-PL" dirty="0">
                <a:latin typeface="Calibri" panose="020F0502020204030204" pitchFamily="34" charset="0"/>
                <a:ea typeface="Calibri" panose="020F0502020204030204" pitchFamily="34" charset="0"/>
                <a:cs typeface="Times New Roman" panose="02020603050405020304" pitchFamily="18" charset="0"/>
              </a:rPr>
              <a:t>Z uzasadnienia projektu noweli k.k., która weszła w życie 1.10.2023 r. </a:t>
            </a:r>
          </a:p>
          <a:p>
            <a:r>
              <a:rPr lang="pl-PL" altLang="pl-PL" dirty="0">
                <a:latin typeface="Calibri" panose="020F0502020204030204" pitchFamily="34" charset="0"/>
                <a:ea typeface="Calibri" panose="020F0502020204030204" pitchFamily="34" charset="0"/>
                <a:cs typeface="Times New Roman" panose="02020603050405020304" pitchFamily="18" charset="0"/>
              </a:rPr>
              <a:t>Przedawnienie nie jest konstytucyjnie chronionym prawem obywatela, a wydłużenie jego terminów w trakcie biegu przedawnienia czynu nie narusza norm konstytucyjnych, a w szczególności art. 2 i art. 42 Konstytucji. Obywatel ma prawo oczekiwać, że będzie podlegał odpowiedzialności karnej na zasadach określonych w art. 42 ust. 1 Konstytucji, lecz nie może jednocześnie oczekiwać korzyści, które mogłyby dla niego wynikać w związku z naruszeniem prawa ze względu na taką a nie inną politykę karną, bo ta może podlegać modyfikacjom (…) </a:t>
            </a:r>
            <a:endParaRPr lang="pl-PL" altLang="pl-PL" b="1" dirty="0">
              <a:solidFill>
                <a:srgbClr val="C00000"/>
              </a:solidFill>
              <a:ea typeface="Calibri" panose="020F0502020204030204" pitchFamily="34" charset="0"/>
              <a:cs typeface="Times New Roman" panose="02020603050405020304" pitchFamily="18" charset="0"/>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1714" name="Symbol zastępczy zawartości 3">
            <a:extLst>
              <a:ext uri="{FF2B5EF4-FFF2-40B4-BE49-F238E27FC236}">
                <a16:creationId xmlns:a16="http://schemas.microsoft.com/office/drawing/2014/main" id="{BEEB9667-FE10-C634-B012-7ABECFC46BE1}"/>
              </a:ext>
            </a:extLst>
          </p:cNvPr>
          <p:cNvSpPr>
            <a:spLocks noGrp="1" noChangeArrowheads="1"/>
          </p:cNvSpPr>
          <p:nvPr>
            <p:ph sz="half" idx="1"/>
          </p:nvPr>
        </p:nvSpPr>
        <p:spPr>
          <a:xfrm>
            <a:off x="0" y="188913"/>
            <a:ext cx="8894763" cy="6669087"/>
          </a:xfrm>
        </p:spPr>
        <p:txBody>
          <a:bodyPr/>
          <a:lstStyle/>
          <a:p>
            <a:r>
              <a:rPr lang="pl-PL" altLang="pl-PL" sz="4000">
                <a:latin typeface="Calibri" panose="020F0502020204030204" pitchFamily="34" charset="0"/>
                <a:ea typeface="Calibri" panose="020F0502020204030204" pitchFamily="34" charset="0"/>
                <a:cs typeface="Times New Roman" panose="02020603050405020304" pitchFamily="18" charset="0"/>
              </a:rPr>
              <a:t>C.d. (…) Inne podejście do instytucji przedawnienia prowadziłoby do premiowania tych przestępców, którzy wytrwale podejmują działania zmierzające do uniknięcia odpowiedzialności karnej (por. również wyrok TK z 15.10.2008 r., P 32/06, OTK-A 2008, z. 8, poz. 138). </a:t>
            </a:r>
          </a:p>
          <a:p>
            <a:r>
              <a:rPr lang="pl-PL" altLang="pl-PL" sz="4000" b="1">
                <a:solidFill>
                  <a:srgbClr val="C00000"/>
                </a:solidFill>
                <a:latin typeface="Calibri" panose="020F0502020204030204" pitchFamily="34" charset="0"/>
                <a:ea typeface="Calibri" panose="020F0502020204030204" pitchFamily="34" charset="0"/>
                <a:cs typeface="Times New Roman" panose="02020603050405020304" pitchFamily="18" charset="0"/>
              </a:rPr>
              <a:t>Nie jest to nawet ekspektatywa; art. 4 par. 1 k.k. a przedawnienie karalności</a:t>
            </a:r>
            <a:endParaRPr lang="pl-PL" altLang="pl-PL" sz="4000" b="1">
              <a:solidFill>
                <a:srgbClr val="C00000"/>
              </a:solidFill>
              <a:ea typeface="Calibri" panose="020F0502020204030204" pitchFamily="34" charset="0"/>
              <a:cs typeface="Times New Roman" panose="02020603050405020304" pitchFamily="18" charset="0"/>
            </a:endParaRPr>
          </a:p>
          <a:p>
            <a:endParaRPr lang="pl-PL" altLang="pl-PL" b="1">
              <a:solidFill>
                <a:srgbClr val="C00000"/>
              </a:solidFill>
              <a:ea typeface="Calibri" panose="020F0502020204030204" pitchFamily="34" charset="0"/>
              <a:cs typeface="Times New Roman" panose="02020603050405020304" pitchFamily="18" charset="0"/>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a:bodyPr>
          <a:lstStyle/>
          <a:p>
            <a:r>
              <a:rPr lang="pl-PL" b="1" dirty="0"/>
              <a:t> </a:t>
            </a:r>
            <a:r>
              <a:rPr lang="pl-PL" dirty="0"/>
              <a:t>Art.  101 §  1. </a:t>
            </a:r>
          </a:p>
          <a:p>
            <a:r>
              <a:rPr lang="pl-PL" dirty="0"/>
              <a:t>Karalność przestępstwa ustaje, jeżeli od czasu jego popełnienia upłynęło lat:</a:t>
            </a:r>
          </a:p>
          <a:p>
            <a:r>
              <a:rPr lang="pl-PL" dirty="0"/>
              <a:t>1) 40 - gdy czyn stanowi zbrodnię zabójstwa;</a:t>
            </a:r>
          </a:p>
          <a:p>
            <a:r>
              <a:rPr lang="pl-PL" dirty="0"/>
              <a:t>2) 20 - gdy czyn stanowi inną zbrodnię;</a:t>
            </a:r>
          </a:p>
          <a:p>
            <a:r>
              <a:rPr lang="pl-PL" dirty="0"/>
              <a:t>2a) 15 - gdy czyn stanowi występek zagrożony karą pozbawienia wolności przekraczającą 5 lat;</a:t>
            </a:r>
          </a:p>
          <a:p>
            <a:r>
              <a:rPr lang="pl-PL" dirty="0"/>
              <a:t>3) 10 - gdy czyn stanowi występek zagrożony karą pozbawienia wolności przekraczającą 3 lata;</a:t>
            </a:r>
          </a:p>
          <a:p>
            <a:r>
              <a:rPr lang="pl-PL" dirty="0"/>
              <a:t>4) 5 - gdy chodzi o pozostałe występki;</a:t>
            </a:r>
          </a:p>
          <a:p>
            <a:r>
              <a:rPr lang="pl-PL" dirty="0"/>
              <a:t>5) (uchylony).</a:t>
            </a:r>
          </a:p>
          <a:p>
            <a:endParaRPr lang="pl-PL"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476672"/>
            <a:ext cx="8626160" cy="6120680"/>
          </a:xfrm>
        </p:spPr>
        <p:txBody>
          <a:bodyPr>
            <a:normAutofit lnSpcReduction="10000"/>
          </a:bodyPr>
          <a:lstStyle/>
          <a:p>
            <a:r>
              <a:rPr lang="pl-PL" b="1" dirty="0"/>
              <a:t> </a:t>
            </a:r>
            <a:r>
              <a:rPr lang="pl-PL" sz="3200" dirty="0">
                <a:solidFill>
                  <a:schemeClr val="tx1"/>
                </a:solidFill>
              </a:rPr>
              <a:t>§  2. </a:t>
            </a:r>
            <a:br>
              <a:rPr lang="pl-PL" sz="3200" dirty="0">
                <a:solidFill>
                  <a:schemeClr val="tx1"/>
                </a:solidFill>
              </a:rPr>
            </a:br>
            <a:r>
              <a:rPr lang="pl-PL" sz="3200" dirty="0">
                <a:solidFill>
                  <a:schemeClr val="tx1"/>
                </a:solidFill>
              </a:rPr>
              <a:t>Karalność przestępstwa ściganego z oskarżenia prywatnego ustaje z upływem roku od czasu, gdy pokrzywdzony dowiedział się o osobie sprawcy przestępstwa, nie później jednak niż z upływem 3 lat od czasu jego popełnienia.</a:t>
            </a:r>
            <a:br>
              <a:rPr lang="pl-PL" sz="3200" dirty="0">
                <a:solidFill>
                  <a:schemeClr val="tx1"/>
                </a:solidFill>
              </a:rPr>
            </a:br>
            <a:r>
              <a:rPr lang="pl-PL" sz="3200" dirty="0">
                <a:solidFill>
                  <a:schemeClr val="tx1"/>
                </a:solidFill>
              </a:rPr>
              <a:t>§  3. </a:t>
            </a:r>
            <a:br>
              <a:rPr lang="pl-PL" sz="3200" dirty="0">
                <a:solidFill>
                  <a:schemeClr val="tx1"/>
                </a:solidFill>
              </a:rPr>
            </a:br>
            <a:r>
              <a:rPr lang="pl-PL" sz="3200" dirty="0">
                <a:solidFill>
                  <a:schemeClr val="tx1"/>
                </a:solidFill>
              </a:rPr>
              <a:t>Jeżeli dokonanie przestępstwa zależy od nastąpienia określonego w ustawie skutku, bieg przedawnienia rozpoczyna się od czasu, gdy skutek nastąpił.</a:t>
            </a:r>
            <a:br>
              <a:rPr lang="pl-PL" sz="3200" dirty="0">
                <a:solidFill>
                  <a:schemeClr val="tx1"/>
                </a:solidFill>
              </a:rPr>
            </a:br>
            <a:endParaRPr lang="pl-PL" sz="3200" dirty="0"/>
          </a:p>
        </p:txBody>
      </p:sp>
    </p:spTree>
    <p:extLst>
      <p:ext uri="{BB962C8B-B14F-4D97-AF65-F5344CB8AC3E}">
        <p14:creationId xmlns:p14="http://schemas.microsoft.com/office/powerpoint/2010/main" val="15912120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476672"/>
            <a:ext cx="8626160" cy="6120680"/>
          </a:xfrm>
        </p:spPr>
        <p:txBody>
          <a:bodyPr>
            <a:normAutofit fontScale="92500" lnSpcReduction="20000"/>
          </a:bodyPr>
          <a:lstStyle/>
          <a:p>
            <a:r>
              <a:rPr lang="pl-PL" sz="4000" dirty="0">
                <a:solidFill>
                  <a:schemeClr val="tx1"/>
                </a:solidFill>
              </a:rPr>
              <a:t>„</a:t>
            </a:r>
            <a:r>
              <a:rPr lang="pl-PL" sz="4000" dirty="0">
                <a:solidFill>
                  <a:schemeClr val="tx1"/>
                </a:solidFill>
                <a:hlinkClick r:id="rId2">
                  <a:extLst>
                    <a:ext uri="{A12FA001-AC4F-418D-AE19-62706E023703}">
                      <ahyp:hlinkClr xmlns:ahyp="http://schemas.microsoft.com/office/drawing/2018/hyperlinkcolor" val="tx"/>
                    </a:ext>
                  </a:extLst>
                </a:hlinkClick>
              </a:rPr>
              <a:t>Art. 101 § 2</a:t>
            </a:r>
            <a:r>
              <a:rPr lang="pl-PL" sz="4000" dirty="0">
                <a:solidFill>
                  <a:schemeClr val="tx1"/>
                </a:solidFill>
              </a:rPr>
              <a:t> ustawy z dnia 6 czerwca 1997 r. – Kodeks karny [...] w zakresie, w jakim stanowi, że karalność przestępstwa znieważenia, ściganego z oskarżenia prywatnego, ustaje z upływem roku od czasu, gdy pokrzywdzony dowiedział się o osobie sprawcy, jest zgodny z </a:t>
            </a:r>
            <a:r>
              <a:rPr lang="pl-PL" sz="4000" dirty="0">
                <a:solidFill>
                  <a:schemeClr val="tx1"/>
                </a:solidFill>
                <a:hlinkClick r:id="rId3">
                  <a:extLst>
                    <a:ext uri="{A12FA001-AC4F-418D-AE19-62706E023703}">
                      <ahyp:hlinkClr xmlns:ahyp="http://schemas.microsoft.com/office/drawing/2018/hyperlinkcolor" val="tx"/>
                    </a:ext>
                  </a:extLst>
                </a:hlinkClick>
              </a:rPr>
              <a:t>art. 47</a:t>
            </a:r>
            <a:r>
              <a:rPr lang="pl-PL" sz="4000" dirty="0">
                <a:solidFill>
                  <a:schemeClr val="tx1"/>
                </a:solidFill>
              </a:rPr>
              <a:t> w związku z </a:t>
            </a:r>
            <a:r>
              <a:rPr lang="pl-PL" sz="4000" dirty="0">
                <a:solidFill>
                  <a:schemeClr val="tx1"/>
                </a:solidFill>
                <a:hlinkClick r:id="rId4">
                  <a:extLst>
                    <a:ext uri="{A12FA001-AC4F-418D-AE19-62706E023703}">
                      <ahyp:hlinkClr xmlns:ahyp="http://schemas.microsoft.com/office/drawing/2018/hyperlinkcolor" val="tx"/>
                    </a:ext>
                  </a:extLst>
                </a:hlinkClick>
              </a:rPr>
              <a:t>art. 45 ust. 1</a:t>
            </a:r>
            <a:r>
              <a:rPr lang="pl-PL" sz="4000" dirty="0">
                <a:solidFill>
                  <a:schemeClr val="tx1"/>
                </a:solidFill>
              </a:rPr>
              <a:t> i </a:t>
            </a:r>
            <a:r>
              <a:rPr lang="pl-PL" sz="4000" dirty="0">
                <a:solidFill>
                  <a:schemeClr val="tx1"/>
                </a:solidFill>
                <a:hlinkClick r:id="rId5">
                  <a:extLst>
                    <a:ext uri="{A12FA001-AC4F-418D-AE19-62706E023703}">
                      <ahyp:hlinkClr xmlns:ahyp="http://schemas.microsoft.com/office/drawing/2018/hyperlinkcolor" val="tx"/>
                    </a:ext>
                  </a:extLst>
                </a:hlinkClick>
              </a:rPr>
              <a:t>art. 77 ust. 2</a:t>
            </a:r>
            <a:r>
              <a:rPr lang="pl-PL" sz="4000" dirty="0">
                <a:solidFill>
                  <a:schemeClr val="tx1"/>
                </a:solidFill>
              </a:rPr>
              <a:t> Konstytucji Rzeczypospolitej Polskiej” (wyrok TK z 20.04.2017 r., </a:t>
            </a:r>
            <a:r>
              <a:rPr lang="pl-PL" sz="4000" dirty="0">
                <a:solidFill>
                  <a:schemeClr val="tx1"/>
                </a:solidFill>
                <a:hlinkClick r:id="rId6">
                  <a:extLst>
                    <a:ext uri="{A12FA001-AC4F-418D-AE19-62706E023703}">
                      <ahyp:hlinkClr xmlns:ahyp="http://schemas.microsoft.com/office/drawing/2018/hyperlinkcolor" val="tx"/>
                    </a:ext>
                  </a:extLst>
                </a:hlinkClick>
              </a:rPr>
              <a:t>SK 3/16</a:t>
            </a:r>
            <a:r>
              <a:rPr lang="pl-PL" sz="4000" dirty="0">
                <a:solidFill>
                  <a:schemeClr val="tx1"/>
                </a:solidFill>
              </a:rPr>
              <a:t>, OTK-A 2017/32).</a:t>
            </a:r>
            <a:endParaRPr lang="pl-PL" sz="3200" dirty="0"/>
          </a:p>
        </p:txBody>
      </p:sp>
    </p:spTree>
    <p:extLst>
      <p:ext uri="{BB962C8B-B14F-4D97-AF65-F5344CB8AC3E}">
        <p14:creationId xmlns:p14="http://schemas.microsoft.com/office/powerpoint/2010/main" val="342009623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a:bodyPr>
          <a:lstStyle/>
          <a:p>
            <a:r>
              <a:rPr lang="pl-PL" b="1" dirty="0"/>
              <a:t> </a:t>
            </a:r>
            <a:endParaRPr lang="pl-PL" dirty="0"/>
          </a:p>
        </p:txBody>
      </p:sp>
      <p:sp>
        <p:nvSpPr>
          <p:cNvPr id="2" name="Tytuł 1">
            <a:extLst>
              <a:ext uri="{FF2B5EF4-FFF2-40B4-BE49-F238E27FC236}">
                <a16:creationId xmlns:a16="http://schemas.microsoft.com/office/drawing/2014/main" id="{9626014C-5942-C892-C44B-099B06ACF24E}"/>
              </a:ext>
            </a:extLst>
          </p:cNvPr>
          <p:cNvSpPr>
            <a:spLocks noGrp="1"/>
          </p:cNvSpPr>
          <p:nvPr>
            <p:ph type="title"/>
          </p:nvPr>
        </p:nvSpPr>
        <p:spPr>
          <a:xfrm>
            <a:off x="338328" y="260648"/>
            <a:ext cx="8497824" cy="6264696"/>
          </a:xfrm>
        </p:spPr>
        <p:txBody>
          <a:bodyPr>
            <a:noAutofit/>
          </a:bodyPr>
          <a:lstStyle/>
          <a:p>
            <a:pPr algn="l"/>
            <a:r>
              <a:rPr lang="pl-PL" sz="2400" dirty="0">
                <a:solidFill>
                  <a:schemeClr val="tx1"/>
                </a:solidFill>
              </a:rPr>
              <a:t>§  3a. </a:t>
            </a:r>
            <a:br>
              <a:rPr lang="pl-PL" sz="2400" dirty="0">
                <a:solidFill>
                  <a:schemeClr val="tx1"/>
                </a:solidFill>
              </a:rPr>
            </a:br>
            <a:r>
              <a:rPr lang="pl-PL" sz="2400" dirty="0">
                <a:solidFill>
                  <a:schemeClr val="tx1"/>
                </a:solidFill>
              </a:rPr>
              <a:t>W przypadku przestępstwa popełnionego w czasie dłuższym niż jeden dzień bieg przedawnienia rozpoczyna się z upływem ostatniego dnia, w którym sprawca swoim zachowaniem wypełniał znamiona przestępstwa.</a:t>
            </a:r>
            <a:br>
              <a:rPr lang="pl-PL" sz="2400" dirty="0">
                <a:solidFill>
                  <a:schemeClr val="tx1"/>
                </a:solidFill>
              </a:rPr>
            </a:br>
            <a:r>
              <a:rPr lang="pl-PL" sz="2400" dirty="0">
                <a:solidFill>
                  <a:schemeClr val="tx1"/>
                </a:solidFill>
              </a:rPr>
              <a:t>§  4. </a:t>
            </a:r>
            <a:br>
              <a:rPr lang="pl-PL" sz="2400" dirty="0">
                <a:solidFill>
                  <a:schemeClr val="tx1"/>
                </a:solidFill>
              </a:rPr>
            </a:br>
            <a:r>
              <a:rPr lang="pl-PL" sz="2400" dirty="0">
                <a:solidFill>
                  <a:schemeClr val="tx1"/>
                </a:solidFill>
              </a:rPr>
              <a:t>W przypadku przestępstw:</a:t>
            </a:r>
            <a:br>
              <a:rPr lang="pl-PL" sz="2400" dirty="0">
                <a:solidFill>
                  <a:schemeClr val="tx1"/>
                </a:solidFill>
              </a:rPr>
            </a:br>
            <a:r>
              <a:rPr lang="pl-PL" sz="2400" dirty="0">
                <a:solidFill>
                  <a:schemeClr val="tx1"/>
                </a:solidFill>
              </a:rPr>
              <a:t>1) przeciwko życiu i zdrowiu, popełnionych na szkodę małoletniego, zagrożonych karą, której górna granica przekracza 5 lat pozbawienia wolności,</a:t>
            </a:r>
            <a:br>
              <a:rPr lang="pl-PL" sz="2400" dirty="0">
                <a:solidFill>
                  <a:schemeClr val="tx1"/>
                </a:solidFill>
              </a:rPr>
            </a:br>
            <a:r>
              <a:rPr lang="pl-PL" sz="2400" dirty="0">
                <a:solidFill>
                  <a:schemeClr val="tx1"/>
                </a:solidFill>
              </a:rPr>
              <a:t>2) określonych w rozdziale XXV, popełnionych na szkodę małoletniego, albo gdy treści pornograficzne obejmują udział małoletniego,</a:t>
            </a:r>
            <a:br>
              <a:rPr lang="pl-PL" sz="2400" dirty="0">
                <a:solidFill>
                  <a:schemeClr val="tx1"/>
                </a:solidFill>
              </a:rPr>
            </a:br>
            <a:r>
              <a:rPr lang="pl-PL" sz="2400" dirty="0">
                <a:solidFill>
                  <a:schemeClr val="tx1"/>
                </a:solidFill>
              </a:rPr>
              <a:t>3) określonych w art. 156a i art. 191b, popełnionych na szkodę małoletniego</a:t>
            </a:r>
            <a:br>
              <a:rPr lang="pl-PL" sz="2400" dirty="0">
                <a:solidFill>
                  <a:schemeClr val="tx1"/>
                </a:solidFill>
              </a:rPr>
            </a:br>
            <a:r>
              <a:rPr lang="pl-PL" sz="2400" dirty="0">
                <a:solidFill>
                  <a:schemeClr val="tx1"/>
                </a:solidFill>
              </a:rPr>
              <a:t>- przedawnienie karalności przestępstwa nie może nastąpić przed ukończeniem przez niego 40. roku życia.</a:t>
            </a:r>
            <a:br>
              <a:rPr lang="pl-PL" sz="2400" dirty="0">
                <a:solidFill>
                  <a:schemeClr val="tx1"/>
                </a:solidFill>
              </a:rPr>
            </a:br>
            <a:endParaRPr lang="pl-PL" sz="2400" dirty="0">
              <a:solidFill>
                <a:schemeClr val="tx1"/>
              </a:solidFill>
            </a:endParaRPr>
          </a:p>
        </p:txBody>
      </p:sp>
    </p:spTree>
    <p:extLst>
      <p:ext uri="{BB962C8B-B14F-4D97-AF65-F5344CB8AC3E}">
        <p14:creationId xmlns:p14="http://schemas.microsoft.com/office/powerpoint/2010/main" val="216336111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a:bodyPr>
          <a:lstStyle/>
          <a:p>
            <a:r>
              <a:rPr lang="pl-PL" b="1" dirty="0"/>
              <a:t> </a:t>
            </a:r>
            <a:endParaRPr lang="pl-PL" dirty="0"/>
          </a:p>
        </p:txBody>
      </p:sp>
      <p:sp>
        <p:nvSpPr>
          <p:cNvPr id="2" name="Tytuł 1">
            <a:extLst>
              <a:ext uri="{FF2B5EF4-FFF2-40B4-BE49-F238E27FC236}">
                <a16:creationId xmlns:a16="http://schemas.microsoft.com/office/drawing/2014/main" id="{9626014C-5942-C892-C44B-099B06ACF24E}"/>
              </a:ext>
            </a:extLst>
          </p:cNvPr>
          <p:cNvSpPr>
            <a:spLocks noGrp="1"/>
          </p:cNvSpPr>
          <p:nvPr>
            <p:ph type="title"/>
          </p:nvPr>
        </p:nvSpPr>
        <p:spPr>
          <a:xfrm>
            <a:off x="338328" y="260648"/>
            <a:ext cx="8497824" cy="6264696"/>
          </a:xfrm>
        </p:spPr>
        <p:txBody>
          <a:bodyPr>
            <a:noAutofit/>
          </a:bodyPr>
          <a:lstStyle/>
          <a:p>
            <a:pPr algn="l"/>
            <a:r>
              <a:rPr lang="pl-PL" sz="2800" dirty="0">
                <a:solidFill>
                  <a:schemeClr val="tx1"/>
                </a:solidFill>
              </a:rPr>
              <a:t>Art.  102 §  1 k.k.  </a:t>
            </a:r>
            <a:br>
              <a:rPr lang="pl-PL" sz="2800" dirty="0">
                <a:solidFill>
                  <a:schemeClr val="tx1"/>
                </a:solidFill>
              </a:rPr>
            </a:br>
            <a:r>
              <a:rPr lang="pl-PL" sz="2800" dirty="0">
                <a:solidFill>
                  <a:schemeClr val="tx1"/>
                </a:solidFill>
              </a:rPr>
              <a:t>Jeżeli w okresie, o którym mowa w art. 101, wszczęto postępowanie, karalność przestępstw określonych w art. 101 § 1 ustaje z upływem 10 lat, a w pozostałych wypadkach - z upływem 5 lat od zakończenia tego okresu.</a:t>
            </a:r>
            <a:br>
              <a:rPr lang="pl-PL" sz="2800" dirty="0">
                <a:solidFill>
                  <a:schemeClr val="tx1"/>
                </a:solidFill>
              </a:rPr>
            </a:br>
            <a:r>
              <a:rPr lang="pl-PL" sz="2800" dirty="0">
                <a:solidFill>
                  <a:schemeClr val="tx1"/>
                </a:solidFill>
              </a:rPr>
              <a:t>§  2. </a:t>
            </a:r>
            <a:br>
              <a:rPr lang="pl-PL" sz="2800" dirty="0">
                <a:solidFill>
                  <a:schemeClr val="tx1"/>
                </a:solidFill>
              </a:rPr>
            </a:br>
            <a:r>
              <a:rPr lang="pl-PL" sz="2800" dirty="0">
                <a:solidFill>
                  <a:schemeClr val="tx1"/>
                </a:solidFill>
              </a:rPr>
              <a:t>Jeżeli w toku wszczętego postępowania powzięto uzasadnione podejrzenie popełnienia innego przestępstwa, karalność tego przestępstwa ulega przedłużeniu w sposób określony w § 1 z dniem, w którym podjęto pierwszą czynność procesową zmierzającą do ustalenia, czy zostało ono popełnione.</a:t>
            </a:r>
          </a:p>
        </p:txBody>
      </p:sp>
    </p:spTree>
    <p:extLst>
      <p:ext uri="{BB962C8B-B14F-4D97-AF65-F5344CB8AC3E}">
        <p14:creationId xmlns:p14="http://schemas.microsoft.com/office/powerpoint/2010/main" val="255092457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a:bodyPr>
          <a:lstStyle/>
          <a:p>
            <a:pPr marL="0" indent="0">
              <a:buNone/>
            </a:pPr>
            <a:r>
              <a:rPr lang="pl-PL" b="1" dirty="0"/>
              <a:t> </a:t>
            </a:r>
            <a:endParaRPr lang="pl-PL" dirty="0"/>
          </a:p>
        </p:txBody>
      </p:sp>
      <p:sp>
        <p:nvSpPr>
          <p:cNvPr id="2" name="Tytuł 1">
            <a:extLst>
              <a:ext uri="{FF2B5EF4-FFF2-40B4-BE49-F238E27FC236}">
                <a16:creationId xmlns:a16="http://schemas.microsoft.com/office/drawing/2014/main" id="{9626014C-5942-C892-C44B-099B06ACF24E}"/>
              </a:ext>
            </a:extLst>
          </p:cNvPr>
          <p:cNvSpPr>
            <a:spLocks noGrp="1"/>
          </p:cNvSpPr>
          <p:nvPr>
            <p:ph type="title"/>
          </p:nvPr>
        </p:nvSpPr>
        <p:spPr>
          <a:xfrm>
            <a:off x="338328" y="260648"/>
            <a:ext cx="8497824" cy="6264696"/>
          </a:xfrm>
        </p:spPr>
        <p:txBody>
          <a:bodyPr>
            <a:noAutofit/>
          </a:bodyPr>
          <a:lstStyle/>
          <a:p>
            <a:pPr algn="l"/>
            <a:r>
              <a:rPr lang="pl-PL" altLang="pl-PL" sz="2800" dirty="0">
                <a:solidFill>
                  <a:srgbClr val="7030A0"/>
                </a:solidFill>
                <a:latin typeface="Times" panose="02020603050405020304" pitchFamily="18" charset="0"/>
                <a:ea typeface="Times New Roman" panose="02020603050405020304" pitchFamily="18" charset="0"/>
                <a:cs typeface="Arial" panose="020B0604020202020204" pitchFamily="34" charset="0"/>
              </a:rPr>
              <a:t>Z uzasadnienia: </a:t>
            </a:r>
            <a:r>
              <a:rPr lang="pl-PL" altLang="pl-PL" sz="2800" dirty="0">
                <a:solidFill>
                  <a:schemeClr val="tx1"/>
                </a:solidFill>
                <a:latin typeface="Times" panose="02020603050405020304" pitchFamily="18" charset="0"/>
                <a:ea typeface="Times New Roman" panose="02020603050405020304" pitchFamily="18" charset="0"/>
                <a:cs typeface="Arial" panose="020B0604020202020204" pitchFamily="34" charset="0"/>
              </a:rPr>
              <a:t>Aby nie było wątpliwości w kwestii tego, która z takich czynności jest pierwszą, w rozporządzeniu Ministra Sprawiedliwości z dnia 7 kwietnia 2016 r – Regulamin wewnętrznego urzędowania powszechnych jednostek organizacyjnych prokuratury (Dz. U. z 2017 r. poz. 1206, z </a:t>
            </a:r>
            <a:r>
              <a:rPr lang="pl-PL" altLang="pl-PL" sz="2800" dirty="0" err="1">
                <a:solidFill>
                  <a:schemeClr val="tx1"/>
                </a:solidFill>
                <a:latin typeface="Times" panose="02020603050405020304" pitchFamily="18" charset="0"/>
                <a:ea typeface="Times New Roman" panose="02020603050405020304" pitchFamily="18" charset="0"/>
                <a:cs typeface="Arial" panose="020B0604020202020204" pitchFamily="34" charset="0"/>
              </a:rPr>
              <a:t>późn</a:t>
            </a:r>
            <a:r>
              <a:rPr lang="pl-PL" altLang="pl-PL" sz="2800" dirty="0">
                <a:solidFill>
                  <a:schemeClr val="tx1"/>
                </a:solidFill>
                <a:latin typeface="Times" panose="02020603050405020304" pitchFamily="18" charset="0"/>
                <a:ea typeface="Times New Roman" panose="02020603050405020304" pitchFamily="18" charset="0"/>
                <a:cs typeface="Arial" panose="020B0604020202020204" pitchFamily="34" charset="0"/>
              </a:rPr>
              <a:t>. zm.) </a:t>
            </a:r>
            <a:r>
              <a:rPr lang="pl-PL" altLang="pl-PL" sz="2800" b="1" dirty="0">
                <a:solidFill>
                  <a:srgbClr val="C00000"/>
                </a:solidFill>
                <a:latin typeface="Times" panose="02020603050405020304" pitchFamily="18" charset="0"/>
                <a:ea typeface="Times New Roman" panose="02020603050405020304" pitchFamily="18" charset="0"/>
                <a:cs typeface="Arial" panose="020B0604020202020204" pitchFamily="34" charset="0"/>
              </a:rPr>
              <a:t>zostanie dodane unormowanie obligujące prokuratora do odnotowania w formie stosownego dokumentu (wzmianki) podjęcia pierwszej czynności procesowej zmierzającej do ustalenia, czy ww. przestępstwo zostało popełnione, </a:t>
            </a:r>
            <a:r>
              <a:rPr lang="pl-PL" altLang="pl-PL" sz="2800" dirty="0">
                <a:solidFill>
                  <a:schemeClr val="tx1"/>
                </a:solidFill>
                <a:latin typeface="Times" panose="02020603050405020304" pitchFamily="18" charset="0"/>
                <a:ea typeface="Times New Roman" panose="02020603050405020304" pitchFamily="18" charset="0"/>
                <a:cs typeface="Arial" panose="020B0604020202020204" pitchFamily="34" charset="0"/>
              </a:rPr>
              <a:t>co umożliwi sądowi określenie terminu przedłużenia przedawnienia, o którym mowa w projektowanym przepisie. </a:t>
            </a:r>
            <a:br>
              <a:rPr lang="pl-PL" altLang="pl-PL" sz="2800" dirty="0">
                <a:latin typeface="Times" panose="02020603050405020304" pitchFamily="18" charset="0"/>
                <a:ea typeface="Times New Roman" panose="02020603050405020304" pitchFamily="18" charset="0"/>
                <a:cs typeface="Arial" panose="020B0604020202020204" pitchFamily="34" charset="0"/>
              </a:rPr>
            </a:br>
            <a:endParaRPr lang="pl-PL" sz="2800" dirty="0">
              <a:solidFill>
                <a:schemeClr val="tx1"/>
              </a:solidFill>
            </a:endParaRPr>
          </a:p>
        </p:txBody>
      </p:sp>
    </p:spTree>
    <p:extLst>
      <p:ext uri="{BB962C8B-B14F-4D97-AF65-F5344CB8AC3E}">
        <p14:creationId xmlns:p14="http://schemas.microsoft.com/office/powerpoint/2010/main" val="150988707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a:bodyPr>
          <a:lstStyle/>
          <a:p>
            <a:pPr marL="0" indent="0">
              <a:buNone/>
            </a:pPr>
            <a:r>
              <a:rPr lang="pl-PL" b="1" dirty="0"/>
              <a:t> </a:t>
            </a:r>
            <a:endParaRPr lang="pl-PL" dirty="0"/>
          </a:p>
        </p:txBody>
      </p:sp>
      <p:sp>
        <p:nvSpPr>
          <p:cNvPr id="2" name="Tytuł 1">
            <a:extLst>
              <a:ext uri="{FF2B5EF4-FFF2-40B4-BE49-F238E27FC236}">
                <a16:creationId xmlns:a16="http://schemas.microsoft.com/office/drawing/2014/main" id="{9626014C-5942-C892-C44B-099B06ACF24E}"/>
              </a:ext>
            </a:extLst>
          </p:cNvPr>
          <p:cNvSpPr>
            <a:spLocks noGrp="1"/>
          </p:cNvSpPr>
          <p:nvPr>
            <p:ph type="title"/>
          </p:nvPr>
        </p:nvSpPr>
        <p:spPr>
          <a:xfrm>
            <a:off x="338328" y="-315416"/>
            <a:ext cx="8497824" cy="6840760"/>
          </a:xfrm>
        </p:spPr>
        <p:txBody>
          <a:bodyPr>
            <a:noAutofit/>
          </a:bodyPr>
          <a:lstStyle/>
          <a:p>
            <a:pPr algn="l"/>
            <a:r>
              <a:rPr lang="pl-PL" sz="2000" b="1" dirty="0">
                <a:solidFill>
                  <a:schemeClr val="tx1"/>
                </a:solidFill>
              </a:rPr>
              <a:t>Postanowienie SN z 29.06.2017 r., </a:t>
            </a:r>
            <a:r>
              <a:rPr lang="pl-PL" sz="2000" b="1" dirty="0">
                <a:solidFill>
                  <a:schemeClr val="tx1"/>
                </a:solidFill>
                <a:hlinkClick r:id="rId2">
                  <a:extLst>
                    <a:ext uri="{A12FA001-AC4F-418D-AE19-62706E023703}">
                      <ahyp:hlinkClr xmlns:ahyp="http://schemas.microsoft.com/office/drawing/2018/hyperlinkcolor" val="tx"/>
                    </a:ext>
                  </a:extLst>
                </a:hlinkClick>
              </a:rPr>
              <a:t>IV KK 203/17</a:t>
            </a:r>
            <a:r>
              <a:rPr lang="pl-PL" sz="2000" b="1" dirty="0">
                <a:solidFill>
                  <a:schemeClr val="tx1"/>
                </a:solidFill>
              </a:rPr>
              <a:t>, LEX nr 2342179, oraz uchwała SN (7) z 20.09.2018 r., </a:t>
            </a:r>
            <a:r>
              <a:rPr lang="pl-PL" sz="2000" b="1" dirty="0">
                <a:solidFill>
                  <a:schemeClr val="tx1"/>
                </a:solidFill>
                <a:hlinkClick r:id="rId3">
                  <a:extLst>
                    <a:ext uri="{A12FA001-AC4F-418D-AE19-62706E023703}">
                      <ahyp:hlinkClr xmlns:ahyp="http://schemas.microsoft.com/office/drawing/2018/hyperlinkcolor" val="tx"/>
                    </a:ext>
                  </a:extLst>
                </a:hlinkClick>
              </a:rPr>
              <a:t>I KZP 7/18</a:t>
            </a:r>
            <a:r>
              <a:rPr lang="pl-PL" sz="2000" b="1" dirty="0">
                <a:solidFill>
                  <a:schemeClr val="tx1"/>
                </a:solidFill>
              </a:rPr>
              <a:t>, LEX nr 2549481: „W wypadku czynu, wyczerpującego znamiona dwóch albo więcej przepisów ustawy karnej, który stanowi przestępstwo podlegające kumulatywnej kwalifikacji prawnej (</a:t>
            </a:r>
            <a:r>
              <a:rPr lang="pl-PL" sz="2000" b="1" dirty="0">
                <a:solidFill>
                  <a:schemeClr val="tx1"/>
                </a:solidFill>
                <a:hlinkClick r:id="rId4">
                  <a:extLst>
                    <a:ext uri="{A12FA001-AC4F-418D-AE19-62706E023703}">
                      <ahyp:hlinkClr xmlns:ahyp="http://schemas.microsoft.com/office/drawing/2018/hyperlinkcolor" val="tx"/>
                    </a:ext>
                  </a:extLst>
                </a:hlinkClick>
              </a:rPr>
              <a:t>art. 11 § 2</a:t>
            </a:r>
            <a:r>
              <a:rPr lang="pl-PL" sz="2000" b="1" dirty="0">
                <a:solidFill>
                  <a:schemeClr val="tx1"/>
                </a:solidFill>
              </a:rPr>
              <a:t> k.k.), termin przedawnienia jego karalności wyznaczany jest, na podstawie </a:t>
            </a:r>
            <a:r>
              <a:rPr lang="pl-PL" sz="2000" b="1" dirty="0">
                <a:solidFill>
                  <a:schemeClr val="tx1"/>
                </a:solidFill>
                <a:hlinkClick r:id="rId5">
                  <a:extLst>
                    <a:ext uri="{A12FA001-AC4F-418D-AE19-62706E023703}">
                      <ahyp:hlinkClr xmlns:ahyp="http://schemas.microsoft.com/office/drawing/2018/hyperlinkcolor" val="tx"/>
                    </a:ext>
                  </a:extLst>
                </a:hlinkClick>
              </a:rPr>
              <a:t>art. 101</a:t>
            </a:r>
            <a:r>
              <a:rPr lang="pl-PL" sz="2000" b="1" dirty="0">
                <a:solidFill>
                  <a:schemeClr val="tx1"/>
                </a:solidFill>
              </a:rPr>
              <a:t> k.k., w oparciu o wysokość kary grożącej za to przestępstwo określonej w myśl </a:t>
            </a:r>
            <a:r>
              <a:rPr lang="pl-PL" sz="2000" b="1" dirty="0">
                <a:solidFill>
                  <a:schemeClr val="tx1"/>
                </a:solidFill>
                <a:hlinkClick r:id="rId6">
                  <a:extLst>
                    <a:ext uri="{A12FA001-AC4F-418D-AE19-62706E023703}">
                      <ahyp:hlinkClr xmlns:ahyp="http://schemas.microsoft.com/office/drawing/2018/hyperlinkcolor" val="tx"/>
                    </a:ext>
                  </a:extLst>
                </a:hlinkClick>
              </a:rPr>
              <a:t>art. 11 § 3</a:t>
            </a:r>
            <a:r>
              <a:rPr lang="pl-PL" sz="2000" b="1" dirty="0">
                <a:solidFill>
                  <a:schemeClr val="tx1"/>
                </a:solidFill>
              </a:rPr>
              <a:t> k.k. albo inne przesłanki wymienione w przepisach dotyczących terminu przedawnienia, a stosuje się go do całego kumulatywnie kwalifikowanego przestępstwa”. Por. także postanowienie SN z 29.06.2020 r., </a:t>
            </a:r>
            <a:r>
              <a:rPr lang="pl-PL" sz="2000" b="1" dirty="0">
                <a:solidFill>
                  <a:schemeClr val="tx1"/>
                </a:solidFill>
                <a:hlinkClick r:id="rId7">
                  <a:extLst>
                    <a:ext uri="{A12FA001-AC4F-418D-AE19-62706E023703}">
                      <ahyp:hlinkClr xmlns:ahyp="http://schemas.microsoft.com/office/drawing/2018/hyperlinkcolor" val="tx"/>
                    </a:ext>
                  </a:extLst>
                </a:hlinkClick>
              </a:rPr>
              <a:t>II KK 292/19</a:t>
            </a:r>
            <a:r>
              <a:rPr lang="pl-PL" sz="2000" b="1" dirty="0">
                <a:solidFill>
                  <a:schemeClr val="tx1"/>
                </a:solidFill>
              </a:rPr>
              <a:t>, LEX nr 3040327: „Poszczególne zachowania opisane w czynie ciągłym, co do którego zastosowano kumulatywną kwalifikację z </a:t>
            </a:r>
            <a:r>
              <a:rPr lang="pl-PL" sz="2000" b="1" dirty="0">
                <a:solidFill>
                  <a:schemeClr val="tx1"/>
                </a:solidFill>
                <a:hlinkClick r:id="rId4">
                  <a:extLst>
                    <a:ext uri="{A12FA001-AC4F-418D-AE19-62706E023703}">
                      <ahyp:hlinkClr xmlns:ahyp="http://schemas.microsoft.com/office/drawing/2018/hyperlinkcolor" val="tx"/>
                    </a:ext>
                  </a:extLst>
                </a:hlinkClick>
              </a:rPr>
              <a:t>art. 11 § 2</a:t>
            </a:r>
            <a:r>
              <a:rPr lang="pl-PL" sz="2000" b="1" dirty="0">
                <a:solidFill>
                  <a:schemeClr val="tx1"/>
                </a:solidFill>
              </a:rPr>
              <a:t> k.k., nawet jeśli pozwalają na ich «naturalne» wyodrębnienie oraz gdy wypełniają w całości znamiona poszczególnych czynów zabronionych, nie mogą być analizowane w kontekście terminów przedawnienia w oderwaniu od treści </a:t>
            </a:r>
            <a:r>
              <a:rPr lang="pl-PL" sz="2000" b="1" dirty="0">
                <a:solidFill>
                  <a:schemeClr val="tx1"/>
                </a:solidFill>
                <a:hlinkClick r:id="rId6">
                  <a:extLst>
                    <a:ext uri="{A12FA001-AC4F-418D-AE19-62706E023703}">
                      <ahyp:hlinkClr xmlns:ahyp="http://schemas.microsoft.com/office/drawing/2018/hyperlinkcolor" val="tx"/>
                    </a:ext>
                  </a:extLst>
                </a:hlinkClick>
              </a:rPr>
              <a:t>art. 11 § 3</a:t>
            </a:r>
            <a:r>
              <a:rPr lang="pl-PL" sz="2000" b="1" dirty="0">
                <a:solidFill>
                  <a:schemeClr val="tx1"/>
                </a:solidFill>
              </a:rPr>
              <a:t> k.k. oraz </a:t>
            </a:r>
            <a:r>
              <a:rPr lang="pl-PL" sz="2000" b="1" dirty="0">
                <a:solidFill>
                  <a:schemeClr val="tx1"/>
                </a:solidFill>
                <a:hlinkClick r:id="rId5">
                  <a:extLst>
                    <a:ext uri="{A12FA001-AC4F-418D-AE19-62706E023703}">
                      <ahyp:hlinkClr xmlns:ahyp="http://schemas.microsoft.com/office/drawing/2018/hyperlinkcolor" val="tx"/>
                    </a:ext>
                  </a:extLst>
                </a:hlinkClick>
              </a:rPr>
              <a:t>art. 101</a:t>
            </a:r>
            <a:r>
              <a:rPr lang="pl-PL" sz="2000" b="1" dirty="0">
                <a:solidFill>
                  <a:schemeClr val="tx1"/>
                </a:solidFill>
              </a:rPr>
              <a:t> k.k., co sprawia, że następuje przedawnienie całości przestępstwa, a nie jego poszczególnych składników”.</a:t>
            </a:r>
          </a:p>
        </p:txBody>
      </p:sp>
    </p:spTree>
    <p:extLst>
      <p:ext uri="{BB962C8B-B14F-4D97-AF65-F5344CB8AC3E}">
        <p14:creationId xmlns:p14="http://schemas.microsoft.com/office/powerpoint/2010/main" val="84224630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20000"/>
          </a:bodyPr>
          <a:lstStyle/>
          <a:p>
            <a:r>
              <a:rPr lang="pl-PL" sz="4000" b="1" dirty="0"/>
              <a:t>Art. 104.</a:t>
            </a:r>
            <a:r>
              <a:rPr lang="pl-PL" sz="4000" dirty="0"/>
              <a:t> § 1. Przedawnienie nie biegnie, jeżeli przepis ustawy nie pozwala na wszczęcie lub dalsze prowadzenie postępowania karnego; nie dotyczy to jednak braku wniosku albo oskarżenia prywatnego.</a:t>
            </a:r>
          </a:p>
          <a:p>
            <a:endParaRPr lang="pl-PL" sz="4000" dirty="0"/>
          </a:p>
          <a:p>
            <a:endParaRPr lang="pl-PL" dirty="0"/>
          </a:p>
          <a:p>
            <a:r>
              <a:rPr lang="pl-PL" dirty="0"/>
              <a:t> </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0" y="260648"/>
            <a:ext cx="8805672" cy="6597352"/>
          </a:xfrm>
        </p:spPr>
        <p:txBody>
          <a:bodyPr>
            <a:normAutofit fontScale="55000" lnSpcReduction="20000"/>
          </a:bodyPr>
          <a:lstStyle/>
          <a:p>
            <a:r>
              <a:rPr lang="pl-PL" sz="3400" dirty="0"/>
              <a:t>Bieg przedawnienia na podstawie komentowanego przepisu spoczywa wyłącznie wtedy, gdy „przepis ustawy nie pozwala na wszczęcie lub dalsze prowadzenie postępowania karnego”; </a:t>
            </a:r>
            <a:r>
              <a:rPr lang="pl-PL" sz="3400" b="1" dirty="0"/>
              <a:t>jeżeli nie pozwalają na to inne przyczyny, w szczególności przeszkody natury faktycznej </a:t>
            </a:r>
            <a:r>
              <a:rPr lang="pl-PL" sz="3400" dirty="0"/>
              <a:t>(np. ukrywanie się sprawcy)</a:t>
            </a:r>
            <a:r>
              <a:rPr lang="pl-PL" sz="3400" b="1" dirty="0"/>
              <a:t> lub organizacyjnej </a:t>
            </a:r>
            <a:r>
              <a:rPr lang="pl-PL" sz="3400" dirty="0"/>
              <a:t>(brak środków w budżecie organów ścigania na konieczną opinię biegłego), </a:t>
            </a:r>
            <a:r>
              <a:rPr lang="pl-PL" sz="3400" b="1" dirty="0">
                <a:hlinkClick r:id="rId2"/>
              </a:rPr>
              <a:t>art. 104 § 1</a:t>
            </a:r>
            <a:r>
              <a:rPr lang="pl-PL" sz="3400" b="1" dirty="0"/>
              <a:t> k.k. nie ma zastosowania </a:t>
            </a:r>
            <a:r>
              <a:rPr lang="pl-PL" sz="3400" dirty="0"/>
              <a:t>(zob. np. A. Zoll [w:] </a:t>
            </a:r>
            <a:r>
              <a:rPr lang="pl-PL" sz="3400" i="1" dirty="0"/>
              <a:t>Kodeks karny. Część ogólna</a:t>
            </a:r>
            <a:r>
              <a:rPr lang="pl-PL" sz="3400" dirty="0"/>
              <a:t>, t. I..., red. A. Zoll, LEX 2012, art. 104, teza 2; postanowienie SN z 24.11.2016 r., </a:t>
            </a:r>
            <a:r>
              <a:rPr lang="pl-PL" sz="3400" dirty="0">
                <a:hlinkClick r:id="rId3"/>
              </a:rPr>
              <a:t>II KK 296/16</a:t>
            </a:r>
            <a:r>
              <a:rPr lang="pl-PL" sz="3400" dirty="0"/>
              <a:t>, Prok. i Pr.-</a:t>
            </a:r>
            <a:r>
              <a:rPr lang="pl-PL" sz="3400" dirty="0" err="1"/>
              <a:t>wkł</a:t>
            </a:r>
            <a:r>
              <a:rPr lang="pl-PL" sz="3400" dirty="0"/>
              <a:t>. 2017/1, poz. 3).</a:t>
            </a:r>
          </a:p>
          <a:p>
            <a:endParaRPr lang="pl-PL" sz="3400" b="1" dirty="0"/>
          </a:p>
          <a:p>
            <a:r>
              <a:rPr lang="pl-PL" sz="4500" dirty="0"/>
              <a:t>Okoliczności, które sprawiają, że „przepis ustawy nie pozwala na wszczęcie lub dalsze prowadzenie postępowania karnego” to tzw. </a:t>
            </a:r>
            <a:r>
              <a:rPr lang="pl-PL" sz="4500" b="1" dirty="0"/>
              <a:t>przeszkody prawne</a:t>
            </a:r>
            <a:r>
              <a:rPr lang="pl-PL" sz="4500" dirty="0"/>
              <a:t>. </a:t>
            </a:r>
            <a:r>
              <a:rPr lang="pl-PL" sz="4500" b="1" dirty="0"/>
              <a:t>Kategoria ta obejmuje przede wszystkim rożnego rodzaju immunitety formalne chroniące osoby nimi objęte </a:t>
            </a:r>
            <a:r>
              <a:rPr lang="pl-PL" sz="4500" dirty="0"/>
              <a:t>(np. posłów, senatorów, sędziów, prokuratorów)</a:t>
            </a:r>
            <a:r>
              <a:rPr lang="pl-PL" sz="4500" b="1" dirty="0"/>
              <a:t> przed pociągnięciem do odpowiedzialności karnej (J. Majewski, Komentarz….). </a:t>
            </a:r>
            <a:endParaRPr lang="pl-PL" sz="4500" dirty="0"/>
          </a:p>
          <a:p>
            <a:endParaRPr lang="pl-PL" dirty="0"/>
          </a:p>
          <a:p>
            <a:r>
              <a:rPr lang="pl-PL" dirty="0"/>
              <a:t> </a:t>
            </a:r>
          </a:p>
        </p:txBody>
      </p:sp>
    </p:spTree>
    <p:extLst>
      <p:ext uri="{BB962C8B-B14F-4D97-AF65-F5344CB8AC3E}">
        <p14:creationId xmlns:p14="http://schemas.microsoft.com/office/powerpoint/2010/main" val="242121133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301752" y="260648"/>
            <a:ext cx="8503920" cy="5838400"/>
          </a:xfrm>
        </p:spPr>
        <p:txBody>
          <a:bodyPr>
            <a:normAutofit fontScale="77500" lnSpcReduction="20000"/>
          </a:bodyPr>
          <a:lstStyle/>
          <a:p>
            <a:r>
              <a:rPr lang="pl-PL" dirty="0">
                <a:latin typeface="Times New Roman" pitchFamily="18" charset="0"/>
                <a:cs typeface="Times New Roman" pitchFamily="18" charset="0"/>
              </a:rPr>
              <a:t>terminy przedawnienia oblicza się w sposób naturalny (</a:t>
            </a:r>
            <a:r>
              <a:rPr lang="pl-PL" dirty="0" err="1">
                <a:latin typeface="Times New Roman" pitchFamily="18" charset="0"/>
                <a:cs typeface="Times New Roman" pitchFamily="18" charset="0"/>
              </a:rPr>
              <a:t>computatio</a:t>
            </a:r>
            <a:r>
              <a:rPr lang="pl-PL" dirty="0">
                <a:latin typeface="Times New Roman" pitchFamily="18" charset="0"/>
                <a:cs typeface="Times New Roman" pitchFamily="18" charset="0"/>
              </a:rPr>
              <a:t> </a:t>
            </a:r>
            <a:r>
              <a:rPr lang="pl-PL" dirty="0" err="1">
                <a:latin typeface="Times New Roman" pitchFamily="18" charset="0"/>
                <a:cs typeface="Times New Roman" pitchFamily="18" charset="0"/>
              </a:rPr>
              <a:t>naturalis</a:t>
            </a:r>
            <a:r>
              <a:rPr lang="pl-PL" dirty="0">
                <a:latin typeface="Times New Roman" pitchFamily="18" charset="0"/>
                <a:cs typeface="Times New Roman" pitchFamily="18" charset="0"/>
              </a:rPr>
              <a:t>) od czasu (chwili) rozpoczęcia biegu terminu do czasu (chwili) jego zakończenia</a:t>
            </a:r>
          </a:p>
          <a:p>
            <a:pPr>
              <a:buNone/>
            </a:pPr>
            <a:endParaRPr lang="pl-PL" dirty="0">
              <a:latin typeface="Times New Roman" pitchFamily="18" charset="0"/>
              <a:cs typeface="Times New Roman" pitchFamily="18" charset="0"/>
            </a:endParaRPr>
          </a:p>
          <a:p>
            <a:pPr>
              <a:buNone/>
            </a:pPr>
            <a:r>
              <a:rPr lang="pl-PL" dirty="0">
                <a:latin typeface="Times New Roman" pitchFamily="18" charset="0"/>
                <a:cs typeface="Times New Roman" pitchFamily="18" charset="0"/>
              </a:rPr>
              <a:t> - momentem rozpoczęcia terminu jest: </a:t>
            </a:r>
          </a:p>
          <a:p>
            <a:pPr marL="514350" indent="-514350">
              <a:buAutoNum type="alphaLcParenR"/>
            </a:pPr>
            <a:r>
              <a:rPr lang="pl-PL" dirty="0">
                <a:latin typeface="Times New Roman" pitchFamily="18" charset="0"/>
                <a:cs typeface="Times New Roman" pitchFamily="18" charset="0"/>
              </a:rPr>
              <a:t>czas popełnienia przestępstwa – art. 6 § 1 k.k.</a:t>
            </a:r>
          </a:p>
          <a:p>
            <a:pPr marL="514350" indent="-514350">
              <a:buAutoNum type="alphaLcParenR"/>
            </a:pPr>
            <a:endParaRPr lang="pl-PL" dirty="0">
              <a:latin typeface="Times New Roman" pitchFamily="18" charset="0"/>
              <a:cs typeface="Times New Roman" pitchFamily="18" charset="0"/>
            </a:endParaRPr>
          </a:p>
          <a:p>
            <a:pPr>
              <a:buNone/>
            </a:pPr>
            <a:r>
              <a:rPr lang="pl-PL" dirty="0">
                <a:latin typeface="Times New Roman" pitchFamily="18" charset="0"/>
                <a:cs typeface="Times New Roman" pitchFamily="18" charset="0"/>
              </a:rPr>
              <a:t>    Czyn zabroniony uważa się za popełniony w czasie, w którym sprawca działał lub zaniechał działania, do którego był obowiązany)</a:t>
            </a:r>
          </a:p>
          <a:p>
            <a:pPr>
              <a:buNone/>
            </a:pPr>
            <a:endParaRPr lang="pl-PL" dirty="0">
              <a:latin typeface="Times New Roman" pitchFamily="18" charset="0"/>
              <a:cs typeface="Times New Roman" pitchFamily="18" charset="0"/>
            </a:endParaRPr>
          </a:p>
          <a:p>
            <a:pPr>
              <a:buNone/>
            </a:pPr>
            <a:r>
              <a:rPr lang="pl-PL" dirty="0">
                <a:latin typeface="Times New Roman" pitchFamily="18" charset="0"/>
                <a:cs typeface="Times New Roman" pitchFamily="18" charset="0"/>
              </a:rPr>
              <a:t>b) czas wystąpienia skutku</a:t>
            </a:r>
          </a:p>
          <a:p>
            <a:pPr>
              <a:buNone/>
            </a:pPr>
            <a:endParaRPr lang="pl-PL" dirty="0">
              <a:latin typeface="Times New Roman" pitchFamily="18" charset="0"/>
              <a:cs typeface="Times New Roman" pitchFamily="18" charset="0"/>
            </a:endParaRPr>
          </a:p>
          <a:p>
            <a:pPr>
              <a:buFontTx/>
              <a:buChar char="-"/>
            </a:pPr>
            <a:endParaRPr lang="pl-PL" dirty="0">
              <a:latin typeface="Times New Roman" pitchFamily="18" charset="0"/>
              <a:cs typeface="Times New Roman" pitchFamily="18" charset="0"/>
            </a:endParaRPr>
          </a:p>
          <a:p>
            <a:pPr>
              <a:buFontTx/>
              <a:buChar char="-"/>
            </a:pPr>
            <a:r>
              <a:rPr lang="pl-PL" dirty="0">
                <a:latin typeface="Times New Roman" pitchFamily="18" charset="0"/>
                <a:cs typeface="Times New Roman" pitchFamily="18" charset="0"/>
              </a:rPr>
              <a:t>przy przestępstwach materialnych skutkowych –101 § 3 k.k.</a:t>
            </a:r>
            <a:r>
              <a:rPr lang="pl-PL" dirty="0"/>
              <a:t> </a:t>
            </a:r>
          </a:p>
          <a:p>
            <a:pPr>
              <a:buFontTx/>
              <a:buChar char="-"/>
            </a:pPr>
            <a:endParaRPr lang="pl-PL" dirty="0"/>
          </a:p>
          <a:p>
            <a:pPr>
              <a:buNone/>
            </a:pPr>
            <a:r>
              <a:rPr lang="pl-PL" dirty="0"/>
              <a:t>    W wypadkach przewidzianych w § 1 lub 2, jeżeli dokonanie przestępstwa zależy od nastąpienia określonego w ustawie skutku, bieg przedawnienia rozpoczyna się od czasu, gdy skutek nastąpił.</a:t>
            </a:r>
          </a:p>
          <a:p>
            <a:pPr>
              <a:buFontTx/>
              <a:buChar char="-"/>
            </a:pPr>
            <a:endParaRPr lang="pl-PL" dirty="0">
              <a:latin typeface="Times New Roman" pitchFamily="18" charset="0"/>
              <a:cs typeface="Times New Roman" pitchFamily="18" charset="0"/>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301752" y="260648"/>
            <a:ext cx="8503920" cy="5838400"/>
          </a:xfrm>
        </p:spPr>
        <p:txBody>
          <a:bodyPr>
            <a:noAutofit/>
          </a:bodyPr>
          <a:lstStyle/>
          <a:p>
            <a:r>
              <a:rPr lang="pl-PL" sz="4400" dirty="0"/>
              <a:t>Art. 101 par. 3a k.k.  </a:t>
            </a:r>
          </a:p>
          <a:p>
            <a:r>
              <a:rPr lang="pl-PL" sz="4400" dirty="0"/>
              <a:t>W przypadku przestępstwa popełnionego w czasie dłuższym niż jeden dzień bieg przedawnienia rozpoczyna się z upływem ostatniego dnia, w którym sprawca swoim zachowaniem wypełniał znamiona przestępstwa.</a:t>
            </a:r>
            <a:endParaRPr lang="pl-PL" sz="4400" dirty="0">
              <a:latin typeface="Times New Roman" pitchFamily="18" charset="0"/>
              <a:cs typeface="Times New Roman" pitchFamily="18" charset="0"/>
            </a:endParaRPr>
          </a:p>
        </p:txBody>
      </p:sp>
    </p:spTree>
    <p:extLst>
      <p:ext uri="{BB962C8B-B14F-4D97-AF65-F5344CB8AC3E}">
        <p14:creationId xmlns:p14="http://schemas.microsoft.com/office/powerpoint/2010/main" val="253019870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a:bodyPr>
          <a:lstStyle/>
          <a:p>
            <a:r>
              <a:rPr lang="pl-PL" dirty="0"/>
              <a:t>problemy związane z obliczaniem terminu wg zasady </a:t>
            </a:r>
            <a:r>
              <a:rPr lang="pl-PL" dirty="0" err="1"/>
              <a:t>computatio</a:t>
            </a:r>
            <a:r>
              <a:rPr lang="pl-PL" dirty="0"/>
              <a:t> </a:t>
            </a:r>
            <a:r>
              <a:rPr lang="pl-PL" dirty="0" err="1"/>
              <a:t>naturalis</a:t>
            </a:r>
            <a:r>
              <a:rPr lang="pl-PL" dirty="0"/>
              <a:t> (</a:t>
            </a:r>
            <a:r>
              <a:rPr lang="pl-PL" i="1" dirty="0"/>
              <a:t>a </a:t>
            </a:r>
            <a:r>
              <a:rPr lang="pl-PL" i="1" dirty="0" err="1"/>
              <a:t>momento</a:t>
            </a:r>
            <a:r>
              <a:rPr lang="pl-PL" i="1" dirty="0"/>
              <a:t> ad </a:t>
            </a:r>
            <a:r>
              <a:rPr lang="pl-PL" i="1" dirty="0" err="1"/>
              <a:t>momentum</a:t>
            </a:r>
            <a:r>
              <a:rPr lang="pl-PL" dirty="0"/>
              <a:t>) związane są z tym, że zasada ta nakazuje uwzględniać przy obliczaniu biegu terminu nie tylko dzień, lecz także godzinę i minutę popełnienia przestępstwa</a:t>
            </a:r>
          </a:p>
          <a:p>
            <a:r>
              <a:rPr lang="pl-PL" dirty="0"/>
              <a:t>Przestępstwo popełnione w dniu 7 maja 2014 </a:t>
            </a:r>
            <a:r>
              <a:rPr lang="pl-PL" dirty="0" err="1"/>
              <a:t>r.o</a:t>
            </a:r>
            <a:r>
              <a:rPr lang="pl-PL" dirty="0"/>
              <a:t> godz. 19.00 zakładając roczny jest przedawnione w dniu 7 maja 2015 r. o godz. 19.00</a:t>
            </a:r>
          </a:p>
          <a:p>
            <a:r>
              <a:rPr lang="pl-PL" dirty="0"/>
              <a:t>Łatwiej byłoby gdyby terminy obliczać według zasady </a:t>
            </a:r>
            <a:r>
              <a:rPr lang="pl-PL" i="1" dirty="0" err="1"/>
              <a:t>computatio</a:t>
            </a:r>
            <a:r>
              <a:rPr lang="pl-PL" i="1" dirty="0"/>
              <a:t> </a:t>
            </a:r>
            <a:r>
              <a:rPr lang="pl-PL" i="1" dirty="0" err="1"/>
              <a:t>civilis</a:t>
            </a:r>
            <a:r>
              <a:rPr lang="pl-PL" dirty="0"/>
              <a:t> (</a:t>
            </a:r>
            <a:r>
              <a:rPr lang="pl-PL" dirty="0" err="1"/>
              <a:t>dies</a:t>
            </a:r>
            <a:r>
              <a:rPr lang="pl-PL" dirty="0"/>
              <a:t> a quo), która nakazuje przy obliczaniu terminu uwzględniać cały dzień</a:t>
            </a:r>
          </a:p>
          <a:p>
            <a:endParaRPr lang="pl-PL" dirty="0"/>
          </a:p>
          <a:p>
            <a:endParaRPr lang="pl-PL" dirty="0"/>
          </a:p>
          <a:p>
            <a:endParaRPr lang="pl-PL"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Tytuł 1">
            <a:extLst>
              <a:ext uri="{FF2B5EF4-FFF2-40B4-BE49-F238E27FC236}">
                <a16:creationId xmlns:a16="http://schemas.microsoft.com/office/drawing/2014/main" id="{B5A4FADD-F4A6-B979-243A-C59A98B7697C}"/>
              </a:ext>
            </a:extLst>
          </p:cNvPr>
          <p:cNvSpPr>
            <a:spLocks noGrp="1" noChangeArrowheads="1"/>
          </p:cNvSpPr>
          <p:nvPr>
            <p:ph type="title"/>
          </p:nvPr>
        </p:nvSpPr>
        <p:spPr>
          <a:xfrm>
            <a:off x="457200" y="0"/>
            <a:ext cx="8229600" cy="1341438"/>
          </a:xfrm>
        </p:spPr>
        <p:txBody>
          <a:bodyPr/>
          <a:lstStyle/>
          <a:p>
            <a:r>
              <a:rPr lang="pl-PL" altLang="pl-PL">
                <a:solidFill>
                  <a:srgbClr val="FF0000"/>
                </a:solidFill>
              </a:rPr>
              <a:t>Przedawnienie karalności</a:t>
            </a:r>
          </a:p>
        </p:txBody>
      </p:sp>
      <p:sp>
        <p:nvSpPr>
          <p:cNvPr id="3075" name="Symbol zastępczy zawartości 2">
            <a:extLst>
              <a:ext uri="{FF2B5EF4-FFF2-40B4-BE49-F238E27FC236}">
                <a16:creationId xmlns:a16="http://schemas.microsoft.com/office/drawing/2014/main" id="{0B09CD57-127E-5391-823E-394C54572C5C}"/>
              </a:ext>
            </a:extLst>
          </p:cNvPr>
          <p:cNvSpPr>
            <a:spLocks noGrp="1" noChangeArrowheads="1"/>
          </p:cNvSpPr>
          <p:nvPr>
            <p:ph idx="1"/>
          </p:nvPr>
        </p:nvSpPr>
        <p:spPr>
          <a:xfrm>
            <a:off x="457200" y="981075"/>
            <a:ext cx="8229600" cy="4886325"/>
          </a:xfrm>
        </p:spPr>
        <p:txBody>
          <a:bodyPr>
            <a:normAutofit fontScale="92500" lnSpcReduction="20000"/>
          </a:bodyPr>
          <a:lstStyle/>
          <a:p>
            <a:endParaRPr lang="pl-PL" altLang="pl-PL" sz="2800" b="1" dirty="0"/>
          </a:p>
          <a:p>
            <a:r>
              <a:rPr lang="pl-PL" altLang="pl-PL" sz="2800" b="1" dirty="0"/>
              <a:t>Ustanie karalności przestępstwa następuje z mocy prawa w rezultacie samego upływu </a:t>
            </a:r>
            <a:r>
              <a:rPr lang="pl-PL" altLang="pl-PL" sz="2800" b="1" dirty="0">
                <a:solidFill>
                  <a:srgbClr val="0070C0"/>
                </a:solidFill>
              </a:rPr>
              <a:t>czasu kalendarzowego </a:t>
            </a:r>
            <a:r>
              <a:rPr lang="pl-PL" altLang="pl-PL" sz="2800" b="1" dirty="0"/>
              <a:t>odpowiadającego terminowi przedawnienia. Jeżeli termin przedawnienia karalności przestępstwa ściganego z oskarżenia prywatnego upływa w dniu uznanym przez ustawę za wolny od pracy, to wniesienie aktu oskarżenia w następnym dniu nie może spowodować wydłużenia tego terminu - p</a:t>
            </a:r>
            <a:r>
              <a:rPr lang="pl-PL" altLang="pl-PL" sz="2800" b="1" i="1" dirty="0"/>
              <a:t>ostanowienie SN z 18.12.2000 r., III KKN 429/98, OSNKW 2001, nr 3-4, poz. 20; </a:t>
            </a:r>
            <a:r>
              <a:rPr lang="pl-PL" altLang="pl-PL" sz="2400" b="1" i="1" dirty="0"/>
              <a:t>zob. też wyrok SN z 19.02.2014 r., II KK 23/14, OSNKW 2014, poz. 69</a:t>
            </a:r>
            <a:endParaRPr lang="pl-PL" altLang="pl-PL" sz="2400" dirty="0"/>
          </a:p>
          <a:p>
            <a:endParaRPr lang="pl-PL" altLang="pl-PL" dirty="0"/>
          </a:p>
          <a:p>
            <a:endParaRPr lang="pl-PL" altLang="pl-PL" dirty="0"/>
          </a:p>
        </p:txBody>
      </p:sp>
    </p:spTree>
    <p:extLst>
      <p:ext uri="{BB962C8B-B14F-4D97-AF65-F5344CB8AC3E}">
        <p14:creationId xmlns:p14="http://schemas.microsoft.com/office/powerpoint/2010/main" val="263578630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Symbol zastępczy zawartości 2">
            <a:extLst>
              <a:ext uri="{FF2B5EF4-FFF2-40B4-BE49-F238E27FC236}">
                <a16:creationId xmlns:a16="http://schemas.microsoft.com/office/drawing/2014/main" id="{5EF59987-1245-B175-6EB8-88DA9C8E7BE6}"/>
              </a:ext>
            </a:extLst>
          </p:cNvPr>
          <p:cNvSpPr>
            <a:spLocks noGrp="1" noChangeArrowheads="1"/>
          </p:cNvSpPr>
          <p:nvPr>
            <p:ph idx="1"/>
          </p:nvPr>
        </p:nvSpPr>
        <p:spPr>
          <a:xfrm>
            <a:off x="457200" y="404813"/>
            <a:ext cx="8229600" cy="5462587"/>
          </a:xfrm>
        </p:spPr>
        <p:txBody>
          <a:bodyPr>
            <a:normAutofit fontScale="92500"/>
          </a:bodyPr>
          <a:lstStyle/>
          <a:p>
            <a:r>
              <a:rPr lang="pl-PL" altLang="pl-PL" sz="2600" b="1"/>
              <a:t>1. Kodeks karny nie zawiera unormowania określającego sposób obliczania terminów przedawnienia, jednak terminy te mają charakter materialny, a nie procesowy, dlatego do ich obliczania nie stosuje się zasad określonych w Rozdziale 14 Kodeksu postępowania karnego, w tym w art. 123 § 3 k.p.k., jak też rozwiązań przyjętych w Kodeksie cywilnym, albowiem Kodeks karny nie zawiera przepisu odsyłającego. </a:t>
            </a:r>
          </a:p>
          <a:p>
            <a:r>
              <a:rPr lang="pl-PL" altLang="pl-PL" sz="2600" b="1"/>
              <a:t>2. Momentem, od którego rozpoczyna się liczenie upływu okresu przedawnienia w sprawach o przestępstwa z oskarżenia prywatnego, jest dzień, w którym pokrzywdzony dowiedział się o osobie sprawcy. </a:t>
            </a:r>
          </a:p>
        </p:txBody>
      </p:sp>
    </p:spTree>
    <p:extLst>
      <p:ext uri="{BB962C8B-B14F-4D97-AF65-F5344CB8AC3E}">
        <p14:creationId xmlns:p14="http://schemas.microsoft.com/office/powerpoint/2010/main" val="156490891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Symbol zastępczy zawartości 2">
            <a:extLst>
              <a:ext uri="{FF2B5EF4-FFF2-40B4-BE49-F238E27FC236}">
                <a16:creationId xmlns:a16="http://schemas.microsoft.com/office/drawing/2014/main" id="{5EF59987-1245-B175-6EB8-88DA9C8E7BE6}"/>
              </a:ext>
            </a:extLst>
          </p:cNvPr>
          <p:cNvSpPr>
            <a:spLocks noGrp="1" noChangeArrowheads="1"/>
          </p:cNvSpPr>
          <p:nvPr>
            <p:ph idx="1"/>
          </p:nvPr>
        </p:nvSpPr>
        <p:spPr>
          <a:xfrm>
            <a:off x="107504" y="260648"/>
            <a:ext cx="8579296" cy="6336703"/>
          </a:xfrm>
        </p:spPr>
        <p:txBody>
          <a:bodyPr>
            <a:normAutofit fontScale="92500"/>
          </a:bodyPr>
          <a:lstStyle/>
          <a:p>
            <a:r>
              <a:rPr lang="pl-PL" sz="2400" dirty="0"/>
              <a:t>Przepisów art. 101-103 nie stosuje się do:</a:t>
            </a:r>
          </a:p>
          <a:p>
            <a:r>
              <a:rPr lang="pl-PL" sz="2400" dirty="0"/>
              <a:t>1)  zbrodni przeciwko pokojowi, ludzkości i przestępstw wojennych;</a:t>
            </a:r>
          </a:p>
          <a:p>
            <a:r>
              <a:rPr lang="pl-PL" sz="2400" dirty="0"/>
              <a:t>2) umyślnego przestępstwa: zabójstwa, ciężkiego uszkodzenia ciała, ciężkiego uszczerbku na zdrowiu lub pozbawienia wolności łączonego ze szczególnym udręczeniem, popełnionego przez funkcjonariusza publicznego w związku z pełnieniem obowiązków służbowych;</a:t>
            </a:r>
          </a:p>
          <a:p>
            <a:r>
              <a:rPr lang="pl-PL" sz="2400" dirty="0"/>
              <a:t>3) przestępstw określonych w art. 197 § 4 lub 5, popełnionych na szkodę małoletniego poniżej 15 lat;</a:t>
            </a:r>
          </a:p>
          <a:p>
            <a:r>
              <a:rPr lang="pl-PL" sz="2400" dirty="0"/>
              <a:t>4) przestępstw określonych w art. 148 § 2 pkt 2 lub § 3, popełnionych w związku ze zgwałceniem małoletniego poniżej 15 lat lub w związku ze zgwałceniem ze szczególnym okrucieństwem;</a:t>
            </a:r>
          </a:p>
          <a:p>
            <a:r>
              <a:rPr lang="pl-PL" sz="2400" dirty="0"/>
              <a:t>5) przestępstw określonych w art. 197 § 4 lub 5, jeżeli sprawca działał ze szczególnym okrucieństwem;</a:t>
            </a:r>
          </a:p>
          <a:p>
            <a:r>
              <a:rPr lang="pl-PL" sz="2400" dirty="0"/>
              <a:t>6) przestępstwa określonego w art. 156 § 1 i art. 197 § 4 w związku z art. 11 § 2.</a:t>
            </a:r>
          </a:p>
          <a:p>
            <a:endParaRPr lang="pl-PL" altLang="pl-PL" sz="2600" b="1" dirty="0"/>
          </a:p>
        </p:txBody>
      </p:sp>
    </p:spTree>
    <p:extLst>
      <p:ext uri="{BB962C8B-B14F-4D97-AF65-F5344CB8AC3E}">
        <p14:creationId xmlns:p14="http://schemas.microsoft.com/office/powerpoint/2010/main" val="257636439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p:txBody>
          <a:bodyPr/>
          <a:lstStyle/>
          <a:p>
            <a:endParaRPr lang="pl-PL" dirty="0"/>
          </a:p>
          <a:p>
            <a:endParaRPr lang="pl-PL" dirty="0"/>
          </a:p>
          <a:p>
            <a:endParaRPr lang="pl-PL" dirty="0"/>
          </a:p>
          <a:p>
            <a:endParaRPr lang="pl-PL" dirty="0"/>
          </a:p>
          <a:p>
            <a:endParaRPr lang="pl-PL" dirty="0"/>
          </a:p>
          <a:p>
            <a:endParaRPr lang="pl-PL" dirty="0"/>
          </a:p>
          <a:p>
            <a:endParaRPr lang="pl-PL" dirty="0"/>
          </a:p>
        </p:txBody>
      </p:sp>
      <p:sp>
        <p:nvSpPr>
          <p:cNvPr id="4" name="Prostokąt 3"/>
          <p:cNvSpPr/>
          <p:nvPr/>
        </p:nvSpPr>
        <p:spPr>
          <a:xfrm>
            <a:off x="244544" y="260648"/>
            <a:ext cx="8503920" cy="6186309"/>
          </a:xfrm>
          <a:prstGeom prst="rect">
            <a:avLst/>
          </a:prstGeom>
        </p:spPr>
        <p:txBody>
          <a:bodyPr wrap="square">
            <a:spAutoFit/>
          </a:bodyPr>
          <a:lstStyle/>
          <a:p>
            <a:endParaRPr lang="pl-PL" dirty="0"/>
          </a:p>
          <a:p>
            <a:endParaRPr lang="pl-PL" dirty="0"/>
          </a:p>
          <a:p>
            <a:r>
              <a:rPr lang="pl-PL" sz="6000" dirty="0"/>
              <a:t>Co się stanie, gdy termin przedawnienia upłynie tuż po wydaniu wyroku przez sąd I instancji, gdy nie złożono środka odwoławczego.</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6480720"/>
          </a:xfrm>
        </p:spPr>
        <p:txBody>
          <a:bodyPr>
            <a:normAutofit/>
          </a:bodyPr>
          <a:lstStyle/>
          <a:p>
            <a:pPr>
              <a:buNone/>
            </a:pPr>
            <a:r>
              <a:rPr lang="pl-PL" dirty="0"/>
              <a:t> </a:t>
            </a:r>
          </a:p>
          <a:p>
            <a:r>
              <a:rPr lang="pl-PL" dirty="0"/>
              <a:t> W razie upływu okresu przedawnienia karalności tuż po wydaniu wyroku skazującego w pierwszej instancji, który nie został zaskarżony środkami odwoławczymi i uprawomocnił się, umorzeniu postępowania w trybie art. 62 § 1 </a:t>
            </a:r>
            <a:r>
              <a:rPr lang="pl-PL" dirty="0" err="1"/>
              <a:t>k.p.s.w</a:t>
            </a:r>
            <a:r>
              <a:rPr lang="pl-PL" dirty="0"/>
              <a:t>. z powodu negatywnej przesłanki procesowej przewidzianej w art. 5 § 1 </a:t>
            </a:r>
            <a:r>
              <a:rPr lang="pl-PL" dirty="0" err="1"/>
              <a:t>pkt</a:t>
            </a:r>
            <a:r>
              <a:rPr lang="pl-PL" dirty="0"/>
              <a:t> 4 </a:t>
            </a:r>
            <a:r>
              <a:rPr lang="pl-PL" dirty="0" err="1"/>
              <a:t>k.p.s.w</a:t>
            </a:r>
            <a:r>
              <a:rPr lang="pl-PL" dirty="0"/>
              <a:t>. stoi na przeszkodzie powaga rzeczy osądzonej (art. 5 § 1 </a:t>
            </a:r>
            <a:r>
              <a:rPr lang="pl-PL" dirty="0" err="1"/>
              <a:t>pkt</a:t>
            </a:r>
            <a:r>
              <a:rPr lang="pl-PL" dirty="0"/>
              <a:t> 8 </a:t>
            </a:r>
            <a:r>
              <a:rPr lang="pl-PL" dirty="0" err="1"/>
              <a:t>k.p.s.w</a:t>
            </a:r>
            <a:r>
              <a:rPr lang="pl-PL" dirty="0"/>
              <a:t>.) – postanowienie SN z dnia 2 grudnia 2011 r. w sprawie III  KK 209/11</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188640"/>
            <a:ext cx="8554152" cy="5910408"/>
          </a:xfrm>
        </p:spPr>
        <p:txBody>
          <a:bodyPr>
            <a:normAutofit fontScale="92500" lnSpcReduction="10000"/>
          </a:bodyPr>
          <a:lstStyle/>
          <a:p>
            <a:endParaRPr lang="pl-PL" dirty="0"/>
          </a:p>
          <a:p>
            <a:pPr>
              <a:buNone/>
            </a:pPr>
            <a:endParaRPr lang="pl-PL" dirty="0"/>
          </a:p>
          <a:p>
            <a:pPr>
              <a:buNone/>
            </a:pPr>
            <a:endParaRPr lang="pl-PL" dirty="0"/>
          </a:p>
          <a:p>
            <a:pPr>
              <a:buNone/>
            </a:pPr>
            <a:r>
              <a:rPr lang="pl-PL" dirty="0"/>
              <a:t>   </a:t>
            </a:r>
            <a:r>
              <a:rPr lang="pl-PL" sz="5400" dirty="0"/>
              <a:t>O terminie przedawnienia decyduje prawidłowa kwalifikacja prawna – sąd nie jest związany kwalifikacją prawną wskazaną w a/o</a:t>
            </a:r>
          </a:p>
          <a:p>
            <a:pPr>
              <a:buNone/>
            </a:pPr>
            <a:endParaRPr lang="pl-PL"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6408712"/>
          </a:xfrm>
        </p:spPr>
        <p:txBody>
          <a:bodyPr>
            <a:normAutofit/>
          </a:bodyPr>
          <a:lstStyle/>
          <a:p>
            <a:pPr>
              <a:buNone/>
            </a:pPr>
            <a:r>
              <a:rPr lang="pl-PL" dirty="0"/>
              <a:t>Wyrok Sądu Najwyższego z dnia 22 marca 2012 r., III KK 252/11</a:t>
            </a:r>
          </a:p>
          <a:p>
            <a:pPr>
              <a:buNone/>
            </a:pPr>
            <a:r>
              <a:rPr lang="pl-PL" dirty="0"/>
              <a:t>  </a:t>
            </a:r>
          </a:p>
          <a:p>
            <a:pPr>
              <a:buNone/>
            </a:pPr>
            <a:r>
              <a:rPr lang="pl-PL" dirty="0"/>
              <a:t>   </a:t>
            </a:r>
            <a:r>
              <a:rPr lang="pl-PL" sz="3600" dirty="0"/>
              <a:t>Przedawnienie karalności dotyczy czynu kwalifikowanego przez sąd orzekający w sprawie. Sąd zobowiązany jest więc dokonać prawidłowej kwalifikacji prawnej i dopiero wówczas oceniać, czy nie zostały spełnione przesłanki przedawnienia karalności tak zakwalifikowanego przestępstwa.</a:t>
            </a:r>
          </a:p>
          <a:p>
            <a:endParaRPr lang="pl-PL"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ymbol zastępczy zawartości 1"/>
          <p:cNvSpPr>
            <a:spLocks noGrp="1"/>
          </p:cNvSpPr>
          <p:nvPr>
            <p:ph sz="quarter" idx="1"/>
          </p:nvPr>
        </p:nvSpPr>
        <p:spPr>
          <a:xfrm>
            <a:off x="179512" y="260648"/>
            <a:ext cx="8626160" cy="5838400"/>
          </a:xfrm>
        </p:spPr>
        <p:txBody>
          <a:bodyPr>
            <a:normAutofit fontScale="92500" lnSpcReduction="10000"/>
          </a:bodyPr>
          <a:lstStyle/>
          <a:p>
            <a:r>
              <a:rPr lang="pl-PL" dirty="0"/>
              <a:t>Ważne: przedawnienie a art. 4 k.k.</a:t>
            </a:r>
          </a:p>
          <a:p>
            <a:endParaRPr lang="pl-PL" dirty="0"/>
          </a:p>
          <a:p>
            <a:r>
              <a:rPr lang="pl-PL" dirty="0"/>
              <a:t>Postanowienie Sądu Najwyższego z dnia 13 listopada 2007 r., V KK 304/07</a:t>
            </a:r>
          </a:p>
          <a:p>
            <a:r>
              <a:rPr lang="pl-PL" dirty="0"/>
              <a:t> </a:t>
            </a:r>
          </a:p>
          <a:p>
            <a:r>
              <a:rPr lang="pl-PL" dirty="0"/>
              <a:t>1. Artykuł 15 przepisów wprowadzających Kodeks karny wprowadził zasadę bezpośredniego stosowania ustawy nowej, bez względu na to, czy działa to na korzyść sprawcy czy też stanowi to zaostrzenie dotychczasowych warunków przedawnienia karalności.</a:t>
            </a:r>
          </a:p>
          <a:p>
            <a:r>
              <a:rPr lang="pl-PL" dirty="0"/>
              <a:t>2. </a:t>
            </a:r>
            <a:r>
              <a:rPr lang="pl-PL" dirty="0">
                <a:solidFill>
                  <a:srgbClr val="FF0000"/>
                </a:solidFill>
              </a:rPr>
              <a:t>Nie istnieje konstytucyjne prawo do przedawnienia czy choćby </a:t>
            </a:r>
            <a:r>
              <a:rPr lang="pl-PL" dirty="0" err="1">
                <a:solidFill>
                  <a:srgbClr val="FF0000"/>
                </a:solidFill>
              </a:rPr>
              <a:t>ekspektatywa</a:t>
            </a:r>
            <a:r>
              <a:rPr lang="pl-PL" dirty="0">
                <a:solidFill>
                  <a:srgbClr val="FF0000"/>
                </a:solidFill>
              </a:rPr>
              <a:t> takiego prawa</a:t>
            </a:r>
            <a:r>
              <a:rPr lang="pl-PL" dirty="0"/>
              <a:t>. Instytucja przedawnienia kształtowana jest przez ustawodawcę przede wszystkim z uwzględnieniem założeń </a:t>
            </a:r>
            <a:r>
              <a:rPr lang="pl-PL" dirty="0" err="1"/>
              <a:t>kryminalnopolitycznych</a:t>
            </a:r>
            <a:r>
              <a:rPr lang="pl-PL" dirty="0"/>
              <a:t>.</a:t>
            </a:r>
          </a:p>
          <a:p>
            <a:endParaRPr lang="pl-PL"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ymbol zastępczy zawartości 1"/>
          <p:cNvSpPr>
            <a:spLocks noGrp="1"/>
          </p:cNvSpPr>
          <p:nvPr>
            <p:ph sz="quarter" idx="1"/>
          </p:nvPr>
        </p:nvSpPr>
        <p:spPr>
          <a:xfrm>
            <a:off x="107504" y="188640"/>
            <a:ext cx="8698168" cy="6408712"/>
          </a:xfrm>
        </p:spPr>
        <p:txBody>
          <a:bodyPr>
            <a:normAutofit/>
          </a:bodyPr>
          <a:lstStyle/>
          <a:p>
            <a:r>
              <a:rPr lang="pl-PL" dirty="0"/>
              <a:t>Postanowienie Sądu Najwyższego z dnia 5 maja 2005 r., V KK 63/05</a:t>
            </a:r>
          </a:p>
          <a:p>
            <a:pPr>
              <a:buNone/>
            </a:pPr>
            <a:r>
              <a:rPr lang="pl-PL" dirty="0"/>
              <a:t> </a:t>
            </a:r>
          </a:p>
          <a:p>
            <a:r>
              <a:rPr lang="pl-PL" dirty="0"/>
              <a:t>Jeżeli przed dniem 1 września 1998 r., na podstawie dotychczasowych przepisów, to jest art. 105 i 106 k.k. z 1969 r., nie nastąpiło przedawnienie, kwestię przedawnienia karalności ocenia się według art. 101 i 102 k.k., niezależnie od tego, czy do oceny prawnej konkretnego zachowania stosuje się - z uwagi na treść art. 4 § 1 k.k. - przepisy Kodeksu karnego z 1969 r. jako ustawy względniejszej, czy też nie. </a:t>
            </a:r>
          </a:p>
          <a:p>
            <a:endParaRPr lang="pl-PL"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0" y="-309664"/>
            <a:ext cx="8805672" cy="6408712"/>
          </a:xfrm>
        </p:spPr>
        <p:txBody>
          <a:bodyPr>
            <a:normAutofit/>
          </a:bodyPr>
          <a:lstStyle/>
          <a:p>
            <a:pPr marL="0" indent="0">
              <a:buNone/>
            </a:pPr>
            <a:r>
              <a:rPr lang="pl-PL" b="1" dirty="0"/>
              <a:t> </a:t>
            </a:r>
            <a:endParaRPr lang="pl-PL" dirty="0"/>
          </a:p>
        </p:txBody>
      </p:sp>
      <p:sp>
        <p:nvSpPr>
          <p:cNvPr id="2" name="Tytuł 1">
            <a:extLst>
              <a:ext uri="{FF2B5EF4-FFF2-40B4-BE49-F238E27FC236}">
                <a16:creationId xmlns:a16="http://schemas.microsoft.com/office/drawing/2014/main" id="{9626014C-5942-C892-C44B-099B06ACF24E}"/>
              </a:ext>
            </a:extLst>
          </p:cNvPr>
          <p:cNvSpPr>
            <a:spLocks noGrp="1"/>
          </p:cNvSpPr>
          <p:nvPr>
            <p:ph type="title"/>
          </p:nvPr>
        </p:nvSpPr>
        <p:spPr>
          <a:xfrm>
            <a:off x="30480" y="44624"/>
            <a:ext cx="8805672" cy="6408712"/>
          </a:xfrm>
        </p:spPr>
        <p:txBody>
          <a:bodyPr>
            <a:noAutofit/>
          </a:bodyPr>
          <a:lstStyle/>
          <a:p>
            <a:pPr algn="l"/>
            <a:r>
              <a:rPr lang="pl-PL" sz="3000" dirty="0">
                <a:solidFill>
                  <a:schemeClr val="tx1"/>
                </a:solidFill>
              </a:rPr>
              <a:t>Prokurator w dniu 12 maja 2024 r. wszczął postępowanie przygotowawcze in rem co do czynu z art. 217 par. 1 k.k., obejmując ściganiem ten czyn jako prywatnoskargowy (popełniony on został w dniu 12 maja 2023 r. przez Zygfryda U. na szkodę Zenobii L.). Uznał bowiem, że wymaga tego interes społeczny. Po postawieniu Zygfrydowi U. 14 maja 2024 r.  zarzutu, wniósł następnie do sądu akt oskarżenia. Na rozprawie Zenobia L., działając jako oskarżycielka posiłkowa, wniosła, podobnie jak prokurator,  o skazanie oskarżonego. Czy w niniejszej sprawie może zostać wydany wyrok </a:t>
            </a:r>
            <a:r>
              <a:rPr lang="pl-PL" sz="3200" dirty="0">
                <a:solidFill>
                  <a:schemeClr val="tx1"/>
                </a:solidFill>
              </a:rPr>
              <a:t>skazujący? </a:t>
            </a:r>
          </a:p>
        </p:txBody>
      </p:sp>
    </p:spTree>
    <p:extLst>
      <p:ext uri="{BB962C8B-B14F-4D97-AF65-F5344CB8AC3E}">
        <p14:creationId xmlns:p14="http://schemas.microsoft.com/office/powerpoint/2010/main" val="116898738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a:bodyPr>
          <a:lstStyle/>
          <a:p>
            <a:r>
              <a:rPr lang="pl-PL" b="1" dirty="0"/>
              <a:t> </a:t>
            </a:r>
            <a:endParaRPr lang="pl-PL" dirty="0"/>
          </a:p>
        </p:txBody>
      </p:sp>
      <p:sp>
        <p:nvSpPr>
          <p:cNvPr id="2" name="Tytuł 1">
            <a:extLst>
              <a:ext uri="{FF2B5EF4-FFF2-40B4-BE49-F238E27FC236}">
                <a16:creationId xmlns:a16="http://schemas.microsoft.com/office/drawing/2014/main" id="{9626014C-5942-C892-C44B-099B06ACF24E}"/>
              </a:ext>
            </a:extLst>
          </p:cNvPr>
          <p:cNvSpPr>
            <a:spLocks noGrp="1"/>
          </p:cNvSpPr>
          <p:nvPr>
            <p:ph type="title"/>
          </p:nvPr>
        </p:nvSpPr>
        <p:spPr>
          <a:xfrm>
            <a:off x="338328" y="260648"/>
            <a:ext cx="8497824" cy="6408712"/>
          </a:xfrm>
        </p:spPr>
        <p:txBody>
          <a:bodyPr>
            <a:noAutofit/>
          </a:bodyPr>
          <a:lstStyle/>
          <a:p>
            <a:pPr algn="l"/>
            <a:r>
              <a:rPr lang="pl-PL" sz="3600" dirty="0">
                <a:solidFill>
                  <a:schemeClr val="tx1"/>
                </a:solidFill>
              </a:rPr>
              <a:t>Okresy przedawnienia karalności wskazane w </a:t>
            </a:r>
            <a:r>
              <a:rPr lang="pl-PL" sz="3600" dirty="0">
                <a:solidFill>
                  <a:schemeClr val="tx1"/>
                </a:solidFill>
                <a:hlinkClick r:id="rId2">
                  <a:extLst>
                    <a:ext uri="{A12FA001-AC4F-418D-AE19-62706E023703}">
                      <ahyp:hlinkClr xmlns:ahyp="http://schemas.microsoft.com/office/drawing/2018/hyperlinkcolor" val="tx"/>
                    </a:ext>
                  </a:extLst>
                </a:hlinkClick>
              </a:rPr>
              <a:t>art. 101 § 2</a:t>
            </a:r>
            <a:r>
              <a:rPr lang="pl-PL" sz="3600" dirty="0">
                <a:solidFill>
                  <a:schemeClr val="tx1"/>
                </a:solidFill>
              </a:rPr>
              <a:t> k.k. (oraz </a:t>
            </a:r>
            <a:r>
              <a:rPr lang="pl-PL" sz="3600" dirty="0">
                <a:solidFill>
                  <a:schemeClr val="tx1"/>
                </a:solidFill>
                <a:hlinkClick r:id="rId3">
                  <a:extLst>
                    <a:ext uri="{A12FA001-AC4F-418D-AE19-62706E023703}">
                      <ahyp:hlinkClr xmlns:ahyp="http://schemas.microsoft.com/office/drawing/2018/hyperlinkcolor" val="tx"/>
                    </a:ext>
                  </a:extLst>
                </a:hlinkClick>
              </a:rPr>
              <a:t>art. 102</a:t>
            </a:r>
            <a:r>
              <a:rPr lang="pl-PL" sz="3600" dirty="0">
                <a:solidFill>
                  <a:schemeClr val="tx1"/>
                </a:solidFill>
              </a:rPr>
              <a:t> k.k.) przewidziane dla </a:t>
            </a:r>
            <a:r>
              <a:rPr lang="pl-PL" sz="3600" b="1" dirty="0">
                <a:solidFill>
                  <a:schemeClr val="tx1"/>
                </a:solidFill>
              </a:rPr>
              <a:t>przestępstw prywatnoskargowych</a:t>
            </a:r>
            <a:r>
              <a:rPr lang="pl-PL" sz="3600" dirty="0">
                <a:solidFill>
                  <a:schemeClr val="tx1"/>
                </a:solidFill>
              </a:rPr>
              <a:t> obowiązują także wtedy, gdy dojdzie do objęcia takiego przestępstwa ściganiem z urzędu w trybie </a:t>
            </a:r>
            <a:r>
              <a:rPr lang="pl-PL" sz="3600" dirty="0">
                <a:solidFill>
                  <a:schemeClr val="tx1"/>
                </a:solidFill>
                <a:hlinkClick r:id="rId4">
                  <a:extLst>
                    <a:ext uri="{A12FA001-AC4F-418D-AE19-62706E023703}">
                      <ahyp:hlinkClr xmlns:ahyp="http://schemas.microsoft.com/office/drawing/2018/hyperlinkcolor" val="tx"/>
                    </a:ext>
                  </a:extLst>
                </a:hlinkClick>
              </a:rPr>
              <a:t>art. 60 § 1</a:t>
            </a:r>
            <a:r>
              <a:rPr lang="pl-PL" sz="3600" dirty="0">
                <a:solidFill>
                  <a:schemeClr val="tx1"/>
                </a:solidFill>
              </a:rPr>
              <a:t> k.p.k. (zob. np. wyrok SN z 12.04.2018 r., </a:t>
            </a:r>
            <a:r>
              <a:rPr lang="pl-PL" sz="3600" dirty="0">
                <a:solidFill>
                  <a:schemeClr val="tx1"/>
                </a:solidFill>
                <a:hlinkClick r:id="rId5">
                  <a:extLst>
                    <a:ext uri="{A12FA001-AC4F-418D-AE19-62706E023703}">
                      <ahyp:hlinkClr xmlns:ahyp="http://schemas.microsoft.com/office/drawing/2018/hyperlinkcolor" val="tx"/>
                    </a:ext>
                  </a:extLst>
                </a:hlinkClick>
              </a:rPr>
              <a:t>III KK 121/18</a:t>
            </a:r>
            <a:r>
              <a:rPr lang="pl-PL" sz="3600" dirty="0">
                <a:solidFill>
                  <a:schemeClr val="tx1"/>
                </a:solidFill>
              </a:rPr>
              <a:t>, LEX nr 2490902; wyrok SN z 9.01.2019 r., </a:t>
            </a:r>
            <a:r>
              <a:rPr lang="pl-PL" sz="3600" dirty="0">
                <a:solidFill>
                  <a:schemeClr val="tx1"/>
                </a:solidFill>
                <a:hlinkClick r:id="rId6">
                  <a:extLst>
                    <a:ext uri="{A12FA001-AC4F-418D-AE19-62706E023703}">
                      <ahyp:hlinkClr xmlns:ahyp="http://schemas.microsoft.com/office/drawing/2018/hyperlinkcolor" val="tx"/>
                    </a:ext>
                  </a:extLst>
                </a:hlinkClick>
              </a:rPr>
              <a:t>V KK 427/18</a:t>
            </a:r>
            <a:r>
              <a:rPr lang="pl-PL" sz="3600" dirty="0">
                <a:solidFill>
                  <a:schemeClr val="tx1"/>
                </a:solidFill>
              </a:rPr>
              <a:t>, LEX nr 2603541; wyrok SN z 20.12.2021 r., </a:t>
            </a:r>
            <a:r>
              <a:rPr lang="pl-PL" sz="3600" dirty="0">
                <a:solidFill>
                  <a:schemeClr val="tx1"/>
                </a:solidFill>
                <a:hlinkClick r:id="rId7">
                  <a:extLst>
                    <a:ext uri="{A12FA001-AC4F-418D-AE19-62706E023703}">
                      <ahyp:hlinkClr xmlns:ahyp="http://schemas.microsoft.com/office/drawing/2018/hyperlinkcolor" val="tx"/>
                    </a:ext>
                  </a:extLst>
                </a:hlinkClick>
              </a:rPr>
              <a:t>IV KK 687/21</a:t>
            </a:r>
            <a:r>
              <a:rPr lang="pl-PL" sz="3600" dirty="0">
                <a:solidFill>
                  <a:schemeClr val="tx1"/>
                </a:solidFill>
              </a:rPr>
              <a:t>, LEX nr 3324564).</a:t>
            </a:r>
          </a:p>
        </p:txBody>
      </p:sp>
    </p:spTree>
    <p:extLst>
      <p:ext uri="{BB962C8B-B14F-4D97-AF65-F5344CB8AC3E}">
        <p14:creationId xmlns:p14="http://schemas.microsoft.com/office/powerpoint/2010/main" val="32724921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6834" name="Rectangle 3">
            <a:extLst>
              <a:ext uri="{FF2B5EF4-FFF2-40B4-BE49-F238E27FC236}">
                <a16:creationId xmlns:a16="http://schemas.microsoft.com/office/drawing/2014/main" id="{9D5F169E-602B-701A-759C-9B6A2867D87E}"/>
              </a:ext>
            </a:extLst>
          </p:cNvPr>
          <p:cNvSpPr>
            <a:spLocks noGrp="1" noChangeArrowheads="1"/>
          </p:cNvSpPr>
          <p:nvPr>
            <p:ph type="body" idx="1"/>
          </p:nvPr>
        </p:nvSpPr>
        <p:spPr>
          <a:xfrm>
            <a:off x="179388" y="115888"/>
            <a:ext cx="8355012" cy="5903912"/>
          </a:xfrm>
        </p:spPr>
        <p:txBody>
          <a:bodyPr>
            <a:normAutofit lnSpcReduction="10000"/>
          </a:bodyPr>
          <a:lstStyle/>
          <a:p>
            <a:pPr algn="just" eaLnBrk="1" hangingPunct="1">
              <a:lnSpc>
                <a:spcPct val="80000"/>
              </a:lnSpc>
              <a:buFont typeface="Wingdings" panose="05000000000000000000" pitchFamily="2" charset="2"/>
              <a:buNone/>
            </a:pPr>
            <a:r>
              <a:rPr lang="pl-PL" altLang="pl-PL" sz="4800" b="1">
                <a:solidFill>
                  <a:srgbClr val="333333"/>
                </a:solidFill>
                <a:latin typeface="Times New Roman" panose="02020603050405020304" pitchFamily="18" charset="0"/>
                <a:cs typeface="Times New Roman" panose="02020603050405020304" pitchFamily="18" charset="0"/>
              </a:rPr>
              <a:t>Kasacja okazała się zasadna w tym znaczeniu, że musiała skutkować uchyleniem zaskarżonego orzeczenia oraz poprzedzającego go wyroku sądu I instancji w punktach II, III, IV i VI oraz umorzeniem postępowania w sprawie na podstawie art. 17 § 1 pkt 6 k.p.k. z uwagi na przedawnienie.</a:t>
            </a:r>
            <a:endParaRPr lang="pl-PL" altLang="pl-PL" sz="4800">
              <a:latin typeface="Calibri" panose="020F0502020204030204" pitchFamily="34" charset="0"/>
              <a:ea typeface="Calibri" panose="020F0502020204030204" pitchFamily="34" charset="0"/>
              <a:cs typeface="Times New Roman" panose="02020603050405020304" pitchFamily="18" charset="0"/>
            </a:endParaRPr>
          </a:p>
          <a:p>
            <a:pPr eaLnBrk="1" hangingPunct="1">
              <a:lnSpc>
                <a:spcPct val="80000"/>
              </a:lnSpc>
              <a:buFont typeface="Wingdings" panose="05000000000000000000" pitchFamily="2" charset="2"/>
              <a:buNone/>
            </a:pPr>
            <a:endParaRPr lang="pl-PL" altLang="pl-PL" sz="320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882" name="Rectangle 3">
            <a:extLst>
              <a:ext uri="{FF2B5EF4-FFF2-40B4-BE49-F238E27FC236}">
                <a16:creationId xmlns:a16="http://schemas.microsoft.com/office/drawing/2014/main" id="{2BAD5408-D1F9-C2A7-5124-41BE639BB8D8}"/>
              </a:ext>
            </a:extLst>
          </p:cNvPr>
          <p:cNvSpPr>
            <a:spLocks noGrp="1" noChangeArrowheads="1"/>
          </p:cNvSpPr>
          <p:nvPr>
            <p:ph type="body" idx="1"/>
          </p:nvPr>
        </p:nvSpPr>
        <p:spPr>
          <a:xfrm>
            <a:off x="179388" y="115888"/>
            <a:ext cx="8355012" cy="5903912"/>
          </a:xfrm>
        </p:spPr>
        <p:txBody>
          <a:bodyPr>
            <a:normAutofit fontScale="85000" lnSpcReduction="10000"/>
          </a:bodyPr>
          <a:lstStyle/>
          <a:p>
            <a:pPr marL="0" indent="0">
              <a:lnSpc>
                <a:spcPct val="300000"/>
              </a:lnSpc>
              <a:spcAft>
                <a:spcPts val="800"/>
              </a:spcAft>
              <a:buFont typeface="Wingdings" panose="05000000000000000000" pitchFamily="2" charset="2"/>
              <a:buNone/>
            </a:pPr>
            <a:r>
              <a:rPr lang="pl-PL" altLang="pl-PL" sz="2400" b="1">
                <a:solidFill>
                  <a:srgbClr val="333333"/>
                </a:solidFill>
                <a:latin typeface="Times New Roman" panose="02020603050405020304" pitchFamily="18" charset="0"/>
                <a:cs typeface="Times New Roman" panose="02020603050405020304" pitchFamily="18" charset="0"/>
              </a:rPr>
              <a:t>Zgodnie z opisem czynu przypisanego oskarżonemu A. B. w punkcie II wyroku sądu I instancji, czyn ten miał być popełniony w okresie od </a:t>
            </a:r>
            <a:r>
              <a:rPr lang="pl-PL" altLang="pl-PL" sz="2400" b="1" u="sng">
                <a:solidFill>
                  <a:srgbClr val="333333"/>
                </a:solidFill>
                <a:latin typeface="Times New Roman" panose="02020603050405020304" pitchFamily="18" charset="0"/>
                <a:cs typeface="Times New Roman" panose="02020603050405020304" pitchFamily="18" charset="0"/>
              </a:rPr>
              <a:t>15 marca 2002 r. do 28 marca 2002 r. </a:t>
            </a:r>
            <a:endParaRPr lang="pl-PL" altLang="pl-PL" sz="2400" b="1">
              <a:latin typeface="Calibri" panose="020F0502020204030204" pitchFamily="34" charset="0"/>
              <a:ea typeface="Calibri" panose="020F0502020204030204" pitchFamily="34" charset="0"/>
              <a:cs typeface="Times New Roman" panose="02020603050405020304" pitchFamily="18" charset="0"/>
            </a:endParaRPr>
          </a:p>
          <a:p>
            <a:pPr marL="0" indent="0">
              <a:lnSpc>
                <a:spcPct val="300000"/>
              </a:lnSpc>
              <a:spcAft>
                <a:spcPts val="800"/>
              </a:spcAft>
              <a:buFont typeface="Wingdings" panose="05000000000000000000" pitchFamily="2" charset="2"/>
              <a:buNone/>
            </a:pPr>
            <a:r>
              <a:rPr lang="pl-PL" altLang="pl-PL" sz="1800" b="1">
                <a:solidFill>
                  <a:srgbClr val="333333"/>
                </a:solidFill>
                <a:latin typeface="Times New Roman" panose="02020603050405020304" pitchFamily="18" charset="0"/>
                <a:cs typeface="Times New Roman" panose="02020603050405020304" pitchFamily="18" charset="0"/>
              </a:rPr>
              <a:t>Przestępstwo z art. 201 k.k. zarówno w dacie czynu, jak i w dacie wydania wyroku zagrożone było karą pozbawienia wolności od 3 miesięcy do 5 lat, natomiast przestępstwo z art. 200 § 1 k.k. w dacie czynu (sąd zastosował art. 4 § 1 k.k.) było zagrożone karą pozbawienia wolności od roku do 10 lat (12). </a:t>
            </a:r>
            <a:endParaRPr lang="pl-PL" altLang="pl-PL" sz="1800" b="1">
              <a:latin typeface="Calibri" panose="020F0502020204030204" pitchFamily="34" charset="0"/>
              <a:cs typeface="Calibri" panose="020F0502020204030204" pitchFamily="34" charset="0"/>
            </a:endParaRPr>
          </a:p>
          <a:p>
            <a:pPr marL="0" indent="0" eaLnBrk="1" hangingPunct="1">
              <a:lnSpc>
                <a:spcPct val="80000"/>
              </a:lnSpc>
              <a:buFont typeface="Wingdings" panose="05000000000000000000" pitchFamily="2" charset="2"/>
              <a:buNone/>
            </a:pPr>
            <a:endParaRPr lang="pl-PL" altLang="pl-PL" sz="320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0930" name="Rectangle 3">
            <a:extLst>
              <a:ext uri="{FF2B5EF4-FFF2-40B4-BE49-F238E27FC236}">
                <a16:creationId xmlns:a16="http://schemas.microsoft.com/office/drawing/2014/main" id="{1E208CF3-9764-217A-ACFC-469572FA13AF}"/>
              </a:ext>
            </a:extLst>
          </p:cNvPr>
          <p:cNvSpPr>
            <a:spLocks noGrp="1" noChangeArrowheads="1"/>
          </p:cNvSpPr>
          <p:nvPr>
            <p:ph type="body" idx="1"/>
          </p:nvPr>
        </p:nvSpPr>
        <p:spPr>
          <a:xfrm>
            <a:off x="179388" y="115888"/>
            <a:ext cx="8355012" cy="5903912"/>
          </a:xfrm>
        </p:spPr>
        <p:txBody>
          <a:bodyPr/>
          <a:lstStyle/>
          <a:p>
            <a:pPr>
              <a:lnSpc>
                <a:spcPct val="107000"/>
              </a:lnSpc>
              <a:spcAft>
                <a:spcPts val="800"/>
              </a:spcAft>
            </a:pPr>
            <a:r>
              <a:rPr lang="pl-PL" altLang="pl-PL" sz="4000" b="1">
                <a:solidFill>
                  <a:srgbClr val="333333"/>
                </a:solidFill>
                <a:latin typeface="Times New Roman" panose="02020603050405020304" pitchFamily="18" charset="0"/>
                <a:cs typeface="Times New Roman" panose="02020603050405020304" pitchFamily="18" charset="0"/>
              </a:rPr>
              <a:t>Powyższe oznacza, że podstawowy wynikający z art. 101 § 1 pkt 2a k.k.  termin przedawnienia tego przestępstwa wynosił 15 lat i </a:t>
            </a:r>
            <a:r>
              <a:rPr lang="pl-PL" altLang="pl-PL" sz="4000" b="1" u="sng">
                <a:solidFill>
                  <a:srgbClr val="333333"/>
                </a:solidFill>
                <a:latin typeface="Times New Roman" panose="02020603050405020304" pitchFamily="18" charset="0"/>
                <a:cs typeface="Times New Roman" panose="02020603050405020304" pitchFamily="18" charset="0"/>
              </a:rPr>
              <a:t>upłynął w dniu 28 marca 2017 r.</a:t>
            </a:r>
            <a:r>
              <a:rPr lang="pl-PL" altLang="pl-PL" sz="4000" b="1">
                <a:solidFill>
                  <a:srgbClr val="333333"/>
                </a:solidFill>
                <a:latin typeface="Times New Roman" panose="02020603050405020304" pitchFamily="18" charset="0"/>
                <a:cs typeface="Times New Roman" panose="02020603050405020304" pitchFamily="18" charset="0"/>
              </a:rPr>
              <a:t> (art. 101 § 1 pkt 2a k.k. w zw. z art.  2 ustawy z dnia 3 czerwca 2005 r.</a:t>
            </a:r>
            <a:r>
              <a:rPr lang="pl-PL" altLang="pl-PL" sz="4000" b="1">
                <a:solidFill>
                  <a:srgbClr val="333333"/>
                </a:solidFill>
                <a:latin typeface="Calibri" panose="020F0502020204030204" pitchFamily="34" charset="0"/>
                <a:ea typeface="Calibri" panose="020F0502020204030204" pitchFamily="34" charset="0"/>
                <a:cs typeface="Times New Roman" panose="02020603050405020304" pitchFamily="18" charset="0"/>
              </a:rPr>
              <a:t> </a:t>
            </a:r>
            <a:r>
              <a:rPr lang="pl-PL" altLang="pl-PL" sz="4000" b="1">
                <a:solidFill>
                  <a:srgbClr val="333333"/>
                </a:solidFill>
                <a:latin typeface="Times New Roman" panose="02020603050405020304" pitchFamily="18" charset="0"/>
                <a:cs typeface="Times New Roman" panose="02020603050405020304" pitchFamily="18" charset="0"/>
              </a:rPr>
              <a:t>o zmianie ustawy - Kodeks karny).</a:t>
            </a:r>
            <a:endParaRPr lang="pl-PL" altLang="pl-PL" sz="4000">
              <a:latin typeface="Calibri" panose="020F0502020204030204" pitchFamily="34" charset="0"/>
              <a:cs typeface="Calibri" panose="020F0502020204030204" pitchFamily="34" charset="0"/>
            </a:endParaRPr>
          </a:p>
          <a:p>
            <a:pPr eaLnBrk="1" hangingPunct="1">
              <a:lnSpc>
                <a:spcPct val="80000"/>
              </a:lnSpc>
              <a:buFont typeface="Wingdings" panose="05000000000000000000" pitchFamily="2" charset="2"/>
              <a:buNone/>
            </a:pPr>
            <a:endParaRPr lang="pl-PL" altLang="pl-PL" sz="240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2978" name="Rectangle 3">
            <a:extLst>
              <a:ext uri="{FF2B5EF4-FFF2-40B4-BE49-F238E27FC236}">
                <a16:creationId xmlns:a16="http://schemas.microsoft.com/office/drawing/2014/main" id="{192AABF6-41A6-BB24-4CD9-DE0569B67B47}"/>
              </a:ext>
            </a:extLst>
          </p:cNvPr>
          <p:cNvSpPr>
            <a:spLocks noGrp="1" noChangeArrowheads="1"/>
          </p:cNvSpPr>
          <p:nvPr>
            <p:ph type="body" idx="1"/>
          </p:nvPr>
        </p:nvSpPr>
        <p:spPr>
          <a:xfrm>
            <a:off x="179388" y="115888"/>
            <a:ext cx="8355012" cy="5903912"/>
          </a:xfrm>
        </p:spPr>
        <p:txBody>
          <a:bodyPr>
            <a:normAutofit lnSpcReduction="10000"/>
          </a:bodyPr>
          <a:lstStyle/>
          <a:p>
            <a:pPr eaLnBrk="1" hangingPunct="1">
              <a:lnSpc>
                <a:spcPct val="80000"/>
              </a:lnSpc>
              <a:buFont typeface="Wingdings" panose="05000000000000000000" pitchFamily="2" charset="2"/>
              <a:buNone/>
            </a:pPr>
            <a:r>
              <a:rPr lang="pl-PL" altLang="pl-PL" sz="4800" b="1">
                <a:solidFill>
                  <a:srgbClr val="333333"/>
                </a:solidFill>
                <a:latin typeface="Times New Roman" panose="02020603050405020304" pitchFamily="18" charset="0"/>
                <a:cs typeface="Times New Roman" panose="02020603050405020304" pitchFamily="18" charset="0"/>
              </a:rPr>
              <a:t>W przedmiotowej sprawie </a:t>
            </a:r>
            <a:r>
              <a:rPr lang="pl-PL" altLang="pl-PL" sz="4800" b="1" u="sng">
                <a:solidFill>
                  <a:srgbClr val="333333"/>
                </a:solidFill>
                <a:latin typeface="Times New Roman" panose="02020603050405020304" pitchFamily="18" charset="0"/>
                <a:cs typeface="Times New Roman" panose="02020603050405020304" pitchFamily="18" charset="0"/>
              </a:rPr>
              <a:t>nie doszło </a:t>
            </a:r>
            <a:r>
              <a:rPr lang="pl-PL" altLang="pl-PL" sz="4800" b="1">
                <a:solidFill>
                  <a:srgbClr val="333333"/>
                </a:solidFill>
                <a:latin typeface="Times New Roman" panose="02020603050405020304" pitchFamily="18" charset="0"/>
                <a:cs typeface="Times New Roman" panose="02020603050405020304" pitchFamily="18" charset="0"/>
              </a:rPr>
              <a:t>bowiem do wydłużenia okresu terminu przedawnienia na podstawie art. 102 k.k. Postanowienie o wszczęciu śledztwa w tej sprawie zostało wydane </a:t>
            </a:r>
            <a:r>
              <a:rPr lang="pl-PL" altLang="pl-PL" sz="4800" b="1" u="sng">
                <a:solidFill>
                  <a:srgbClr val="333333"/>
                </a:solidFill>
                <a:latin typeface="Times New Roman" panose="02020603050405020304" pitchFamily="18" charset="0"/>
                <a:cs typeface="Times New Roman" panose="02020603050405020304" pitchFamily="18" charset="0"/>
              </a:rPr>
              <a:t>w dniu 5 listopada 2018 r.,</a:t>
            </a:r>
            <a:r>
              <a:rPr lang="pl-PL" altLang="pl-PL" sz="4800" b="1">
                <a:solidFill>
                  <a:srgbClr val="333333"/>
                </a:solidFill>
                <a:latin typeface="Times New Roman" panose="02020603050405020304" pitchFamily="18" charset="0"/>
                <a:cs typeface="Times New Roman" panose="02020603050405020304" pitchFamily="18" charset="0"/>
              </a:rPr>
              <a:t> a więc już po upływie podstawowego okresu przedawnienia.</a:t>
            </a:r>
            <a:endParaRPr lang="pl-PL" altLang="pl-PL" sz="4800">
              <a:latin typeface="Calibri" panose="020F0502020204030204" pitchFamily="34" charset="0"/>
              <a:ea typeface="Calibri" panose="020F0502020204030204" pitchFamily="34" charset="0"/>
              <a:cs typeface="Times New Roman" panose="02020603050405020304" pitchFamily="18" charset="0"/>
            </a:endParaRPr>
          </a:p>
          <a:p>
            <a:pPr eaLnBrk="1" hangingPunct="1">
              <a:lnSpc>
                <a:spcPct val="80000"/>
              </a:lnSpc>
              <a:buFont typeface="Wingdings" panose="05000000000000000000" pitchFamily="2" charset="2"/>
              <a:buNone/>
            </a:pPr>
            <a:endParaRPr lang="pl-PL" altLang="pl-PL" sz="240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5026" name="Rectangle 3">
            <a:extLst>
              <a:ext uri="{FF2B5EF4-FFF2-40B4-BE49-F238E27FC236}">
                <a16:creationId xmlns:a16="http://schemas.microsoft.com/office/drawing/2014/main" id="{70F826C9-405D-88D5-5EAF-E99A4A0453D5}"/>
              </a:ext>
            </a:extLst>
          </p:cNvPr>
          <p:cNvSpPr>
            <a:spLocks noGrp="1" noChangeArrowheads="1"/>
          </p:cNvSpPr>
          <p:nvPr>
            <p:ph type="body" idx="1"/>
          </p:nvPr>
        </p:nvSpPr>
        <p:spPr>
          <a:xfrm>
            <a:off x="107950" y="0"/>
            <a:ext cx="8426450" cy="6019800"/>
          </a:xfrm>
        </p:spPr>
        <p:txBody>
          <a:bodyPr>
            <a:normAutofit lnSpcReduction="10000"/>
          </a:bodyPr>
          <a:lstStyle/>
          <a:p>
            <a:pPr eaLnBrk="1" hangingPunct="1">
              <a:lnSpc>
                <a:spcPct val="80000"/>
              </a:lnSpc>
              <a:buFont typeface="Wingdings" panose="05000000000000000000" pitchFamily="2" charset="2"/>
              <a:buNone/>
            </a:pPr>
            <a:r>
              <a:rPr lang="pl-PL" altLang="pl-PL" sz="4600" b="1">
                <a:solidFill>
                  <a:srgbClr val="333333"/>
                </a:solidFill>
                <a:latin typeface="Times New Roman" panose="02020603050405020304" pitchFamily="18" charset="0"/>
                <a:cs typeface="Times New Roman" panose="02020603050405020304" pitchFamily="18" charset="0"/>
              </a:rPr>
              <a:t>W tym przypadku nie miał również zastosowania przepis art. 101 § 4 k.k. Ani ustawa, która wprowadziła ten przepis (Dz.U.2008.214.1344, </a:t>
            </a:r>
            <a:r>
              <a:rPr lang="pl-PL" altLang="pl-PL" sz="4600" b="1">
                <a:solidFill>
                  <a:srgbClr val="FF0000"/>
                </a:solidFill>
                <a:latin typeface="Times New Roman" panose="02020603050405020304" pitchFamily="18" charset="0"/>
                <a:cs typeface="Times New Roman" panose="02020603050405020304" pitchFamily="18" charset="0"/>
              </a:rPr>
              <a:t>wejście w życie 18.12.2008 r.), </a:t>
            </a:r>
            <a:r>
              <a:rPr lang="pl-PL" altLang="pl-PL" sz="4600" b="1">
                <a:solidFill>
                  <a:srgbClr val="333333"/>
                </a:solidFill>
                <a:latin typeface="Times New Roman" panose="02020603050405020304" pitchFamily="18" charset="0"/>
                <a:cs typeface="Times New Roman" panose="02020603050405020304" pitchFamily="18" charset="0"/>
              </a:rPr>
              <a:t>ani ustawy, które go nowelizowały (</a:t>
            </a:r>
            <a:r>
              <a:rPr lang="pl-PL" altLang="pl-PL" sz="4600" u="sng">
                <a:solidFill>
                  <a:srgbClr val="333333"/>
                </a:solidFill>
                <a:latin typeface="Times New Roman" panose="02020603050405020304" pitchFamily="18" charset="0"/>
                <a:cs typeface="Times New Roman" panose="02020603050405020304" pitchFamily="18" charset="0"/>
                <a:hlinkClick r:id="rId3"/>
              </a:rPr>
              <a:t>Dz.U.2014.538 </a:t>
            </a:r>
            <a:r>
              <a:rPr lang="pl-PL" altLang="pl-PL" sz="4600">
                <a:solidFill>
                  <a:srgbClr val="333333"/>
                </a:solidFill>
                <a:latin typeface="Times New Roman" panose="02020603050405020304" pitchFamily="18" charset="0"/>
                <a:cs typeface="Times New Roman" panose="02020603050405020304" pitchFamily="18" charset="0"/>
              </a:rPr>
              <a:t>  </a:t>
            </a:r>
            <a:r>
              <a:rPr lang="pl-PL" altLang="pl-PL" sz="4600" u="sng">
                <a:solidFill>
                  <a:srgbClr val="0563C1"/>
                </a:solidFill>
                <a:latin typeface="Times New Roman" panose="02020603050405020304" pitchFamily="18" charset="0"/>
                <a:cs typeface="Times New Roman" panose="02020603050405020304" pitchFamily="18" charset="0"/>
              </a:rPr>
              <a:t>Dz.U.2015.39</a:t>
            </a:r>
            <a:r>
              <a:rPr lang="pl-PL" altLang="pl-PL" sz="4600">
                <a:solidFill>
                  <a:srgbClr val="333333"/>
                </a:solidFill>
                <a:latin typeface="Times New Roman" panose="02020603050405020304" pitchFamily="18" charset="0"/>
                <a:cs typeface="Times New Roman" panose="02020603050405020304" pitchFamily="18" charset="0"/>
              </a:rPr>
              <a:t>) </a:t>
            </a:r>
            <a:r>
              <a:rPr lang="pl-PL" altLang="pl-PL" sz="4600" b="1">
                <a:solidFill>
                  <a:srgbClr val="333333"/>
                </a:solidFill>
                <a:latin typeface="Times New Roman" panose="02020603050405020304" pitchFamily="18" charset="0"/>
                <a:cs typeface="Times New Roman" panose="02020603050405020304" pitchFamily="18" charset="0"/>
              </a:rPr>
              <a:t>nie zawierały przepisów wyłączających art. 4 § 1  k.k.</a:t>
            </a:r>
            <a:r>
              <a:rPr lang="pl-PL" altLang="pl-PL" sz="4600">
                <a:solidFill>
                  <a:srgbClr val="333333"/>
                </a:solidFill>
                <a:latin typeface="Times New Roman" panose="02020603050405020304" pitchFamily="18" charset="0"/>
                <a:cs typeface="Times New Roman" panose="02020603050405020304" pitchFamily="18" charset="0"/>
              </a:rPr>
              <a:t> </a:t>
            </a:r>
            <a:r>
              <a:rPr lang="pl-PL" altLang="pl-PL" sz="4600" b="1">
                <a:solidFill>
                  <a:srgbClr val="333333"/>
                </a:solidFill>
                <a:latin typeface="Times New Roman" panose="02020603050405020304" pitchFamily="18" charset="0"/>
                <a:cs typeface="Times New Roman" panose="02020603050405020304" pitchFamily="18" charset="0"/>
              </a:rPr>
              <a:t> w zakresie terminu przedawnienia. </a:t>
            </a:r>
            <a:endParaRPr lang="pl-PL" altLang="pl-PL" sz="4600">
              <a:latin typeface="Calibri" panose="020F0502020204030204" pitchFamily="34" charset="0"/>
              <a:ea typeface="Calibri" panose="020F0502020204030204" pitchFamily="34" charset="0"/>
              <a:cs typeface="Times New Roman" panose="02020603050405020304" pitchFamily="18" charset="0"/>
            </a:endParaRPr>
          </a:p>
          <a:p>
            <a:pPr eaLnBrk="1" hangingPunct="1">
              <a:lnSpc>
                <a:spcPct val="80000"/>
              </a:lnSpc>
              <a:buFont typeface="Wingdings" panose="05000000000000000000" pitchFamily="2" charset="2"/>
              <a:buNone/>
            </a:pPr>
            <a:endParaRPr lang="pl-PL" altLang="pl-PL" sz="240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7074" name="Rectangle 3">
            <a:extLst>
              <a:ext uri="{FF2B5EF4-FFF2-40B4-BE49-F238E27FC236}">
                <a16:creationId xmlns:a16="http://schemas.microsoft.com/office/drawing/2014/main" id="{32546440-6921-393E-8A85-D5B7620A958A}"/>
              </a:ext>
            </a:extLst>
          </p:cNvPr>
          <p:cNvSpPr>
            <a:spLocks noGrp="1" noChangeArrowheads="1"/>
          </p:cNvSpPr>
          <p:nvPr>
            <p:ph type="body" idx="1"/>
          </p:nvPr>
        </p:nvSpPr>
        <p:spPr>
          <a:xfrm>
            <a:off x="179388" y="115888"/>
            <a:ext cx="8355012" cy="5903912"/>
          </a:xfrm>
        </p:spPr>
        <p:txBody>
          <a:bodyPr/>
          <a:lstStyle/>
          <a:p>
            <a:pPr eaLnBrk="1" hangingPunct="1">
              <a:lnSpc>
                <a:spcPct val="80000"/>
              </a:lnSpc>
              <a:buFont typeface="Wingdings" panose="05000000000000000000" pitchFamily="2" charset="2"/>
              <a:buNone/>
            </a:pPr>
            <a:endParaRPr lang="pl-PL" altLang="pl-PL" sz="7200" b="1" dirty="0">
              <a:latin typeface="Calibri" panose="020F0502020204030204" pitchFamily="34" charset="0"/>
              <a:ea typeface="Calibri" panose="020F0502020204030204" pitchFamily="34" charset="0"/>
              <a:cs typeface="Times New Roman" panose="02020603050405020304" pitchFamily="18" charset="0"/>
            </a:endParaRPr>
          </a:p>
          <a:p>
            <a:pPr eaLnBrk="1" hangingPunct="1">
              <a:lnSpc>
                <a:spcPct val="80000"/>
              </a:lnSpc>
              <a:buFont typeface="Wingdings" panose="05000000000000000000" pitchFamily="2" charset="2"/>
              <a:buNone/>
            </a:pPr>
            <a:endParaRPr lang="pl-PL" altLang="pl-PL" sz="7200" b="1" dirty="0">
              <a:latin typeface="Calibri" panose="020F0502020204030204" pitchFamily="34" charset="0"/>
              <a:ea typeface="Calibri" panose="020F0502020204030204" pitchFamily="34" charset="0"/>
              <a:cs typeface="Times New Roman" panose="02020603050405020304" pitchFamily="18" charset="0"/>
            </a:endParaRPr>
          </a:p>
          <a:p>
            <a:pPr eaLnBrk="1" hangingPunct="1">
              <a:lnSpc>
                <a:spcPct val="80000"/>
              </a:lnSpc>
              <a:buFont typeface="Wingdings" panose="05000000000000000000" pitchFamily="2" charset="2"/>
              <a:buNone/>
            </a:pPr>
            <a:r>
              <a:rPr lang="pl-PL" altLang="pl-PL" sz="7200" b="1" dirty="0">
                <a:latin typeface="Calibri" panose="020F0502020204030204" pitchFamily="34" charset="0"/>
                <a:ea typeface="Calibri" panose="020F0502020204030204" pitchFamily="34" charset="0"/>
                <a:cs typeface="Times New Roman" panose="02020603050405020304" pitchFamily="18" charset="0"/>
              </a:rPr>
              <a:t>Podobnie wyrok SN z dnia 27.04.2002 r.,  III KK 276/21</a:t>
            </a:r>
            <a:endParaRPr lang="pl-PL" altLang="pl-PL" sz="7200" dirty="0">
              <a:ea typeface="Calibri" panose="020F0502020204030204" pitchFamily="34" charset="0"/>
              <a:cs typeface="Times New Roman" panose="02020603050405020304" pitchFamily="18" charset="0"/>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62" name="Symbol zastępczy zawartości 3">
            <a:extLst>
              <a:ext uri="{FF2B5EF4-FFF2-40B4-BE49-F238E27FC236}">
                <a16:creationId xmlns:a16="http://schemas.microsoft.com/office/drawing/2014/main" id="{65BCFE47-4516-5896-B97A-909483090654}"/>
              </a:ext>
            </a:extLst>
          </p:cNvPr>
          <p:cNvSpPr>
            <a:spLocks noGrp="1" noChangeArrowheads="1"/>
          </p:cNvSpPr>
          <p:nvPr>
            <p:ph sz="half" idx="1"/>
          </p:nvPr>
        </p:nvSpPr>
        <p:spPr>
          <a:xfrm>
            <a:off x="0" y="-100013"/>
            <a:ext cx="8893175" cy="6958013"/>
          </a:xfrm>
        </p:spPr>
        <p:txBody>
          <a:bodyPr/>
          <a:lstStyle/>
          <a:p>
            <a:r>
              <a:rPr lang="pl-PL" altLang="pl-PL" sz="4800" b="1" dirty="0">
                <a:solidFill>
                  <a:srgbClr val="000000"/>
                </a:solidFill>
                <a:latin typeface="Times New Roman" panose="02020603050405020304" pitchFamily="18" charset="0"/>
              </a:rPr>
              <a:t>Art. 25. </a:t>
            </a:r>
            <a:r>
              <a:rPr lang="pl-PL" altLang="pl-PL" sz="4800" dirty="0">
                <a:solidFill>
                  <a:srgbClr val="000000"/>
                </a:solidFill>
                <a:latin typeface="Times New Roman" panose="02020603050405020304" pitchFamily="18" charset="0"/>
              </a:rPr>
              <a:t>Do czynów popełnionych przed dniem wejścia w życie niniejszej ustawy stosuje się przepisy ustawy zmienianej w art. 1 o przedawnieniu w brzmieniu nadanym niniejszą ustawą, chyba że termin przedawnienia już upłynął. </a:t>
            </a:r>
            <a:endParaRPr lang="pl-PL" altLang="pl-PL" sz="4800" dirty="0">
              <a:solidFill>
                <a:srgbClr val="FFC000"/>
              </a:solidFill>
              <a:ea typeface="Times New Roman" panose="02020603050405020304" pitchFamily="18" charset="0"/>
              <a:cs typeface="Arial" panose="020B0604020202020204" pitchFamily="34" charset="0"/>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chemeClr val="accent1"/>
                </a:solidFill>
              </a:rPr>
              <a:t>Art. 17 par. 1 pkt 7 k.p.k. </a:t>
            </a:r>
          </a:p>
        </p:txBody>
      </p:sp>
      <p:sp>
        <p:nvSpPr>
          <p:cNvPr id="3" name="Symbol zastępczy zawartości 2"/>
          <p:cNvSpPr>
            <a:spLocks noGrp="1"/>
          </p:cNvSpPr>
          <p:nvPr>
            <p:ph sz="quarter" idx="1"/>
          </p:nvPr>
        </p:nvSpPr>
        <p:spPr/>
        <p:txBody>
          <a:bodyPr/>
          <a:lstStyle/>
          <a:p>
            <a:r>
              <a:rPr lang="pl-PL" dirty="0"/>
              <a:t>Postępowanie karne co do tego samego czynu tej  samej osoby:</a:t>
            </a:r>
          </a:p>
          <a:p>
            <a:endParaRPr lang="pl-PL" dirty="0"/>
          </a:p>
          <a:p>
            <a:r>
              <a:rPr lang="pl-PL" dirty="0"/>
              <a:t>1) zostało już prawomocnie zakończone,</a:t>
            </a:r>
          </a:p>
          <a:p>
            <a:r>
              <a:rPr lang="pl-PL" dirty="0"/>
              <a:t>2) wcześniej wszczęte toczy się</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p:txBody>
          <a:bodyPr>
            <a:normAutofit lnSpcReduction="10000"/>
          </a:bodyPr>
          <a:lstStyle/>
          <a:p>
            <a:r>
              <a:rPr lang="pl-PL" dirty="0"/>
              <a:t>Ad. 1</a:t>
            </a:r>
          </a:p>
          <a:p>
            <a:endParaRPr lang="pl-PL" dirty="0"/>
          </a:p>
          <a:p>
            <a:r>
              <a:rPr lang="pl-PL" dirty="0"/>
              <a:t>- ta przesłanka opiera się na dyrektywie </a:t>
            </a:r>
            <a:r>
              <a:rPr lang="pl-PL" dirty="0" err="1"/>
              <a:t>ne</a:t>
            </a:r>
            <a:r>
              <a:rPr lang="pl-PL" dirty="0"/>
              <a:t> bis </a:t>
            </a:r>
            <a:r>
              <a:rPr lang="pl-PL" dirty="0" err="1"/>
              <a:t>in</a:t>
            </a:r>
            <a:r>
              <a:rPr lang="pl-PL" dirty="0"/>
              <a:t> idem, </a:t>
            </a:r>
          </a:p>
          <a:p>
            <a:endParaRPr lang="pl-PL" dirty="0"/>
          </a:p>
          <a:p>
            <a:r>
              <a:rPr lang="pl-PL" dirty="0"/>
              <a:t>- przeszkoda ta powstaje w chwili, gdy przy zachowaniu tożsamości czynu i osoby postępowanie zostaje </a:t>
            </a:r>
            <a:r>
              <a:rPr lang="pl-PL" b="1" dirty="0"/>
              <a:t>prawomocnie </a:t>
            </a:r>
            <a:r>
              <a:rPr lang="pl-PL" dirty="0"/>
              <a:t>zakończone </a:t>
            </a:r>
          </a:p>
          <a:p>
            <a:endParaRPr lang="pl-PL" dirty="0"/>
          </a:p>
          <a:p>
            <a:r>
              <a:rPr lang="pl-PL" dirty="0"/>
              <a:t>Co znaczy prawomocność?</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6408712"/>
          </a:xfrm>
        </p:spPr>
        <p:txBody>
          <a:bodyPr>
            <a:normAutofit/>
          </a:bodyPr>
          <a:lstStyle/>
          <a:p>
            <a:r>
              <a:rPr lang="pl-PL" sz="2800" dirty="0"/>
              <a:t>Prawomocność:</a:t>
            </a:r>
          </a:p>
          <a:p>
            <a:endParaRPr lang="pl-PL" sz="2800" dirty="0"/>
          </a:p>
          <a:p>
            <a:r>
              <a:rPr lang="pl-PL" sz="2800" dirty="0"/>
              <a:t>          a) w aspekcie formalnym – decyzja nie podlega zaskarżeniu za pomocą zwykłych środków zaskarżenia:</a:t>
            </a:r>
          </a:p>
          <a:p>
            <a:pPr>
              <a:buNone/>
            </a:pPr>
            <a:endParaRPr lang="pl-PL" sz="2800" dirty="0"/>
          </a:p>
          <a:p>
            <a:r>
              <a:rPr lang="pl-PL" sz="2800" dirty="0"/>
              <a:t>wyczerpany został tok instancji, </a:t>
            </a:r>
          </a:p>
          <a:p>
            <a:r>
              <a:rPr lang="pl-PL" sz="2800" dirty="0"/>
              <a:t>zaskarżenie decyzji wydanej w pierwszej instancji jest niedopuszczalne,</a:t>
            </a:r>
          </a:p>
          <a:p>
            <a:r>
              <a:rPr lang="pl-PL" sz="2800" dirty="0"/>
              <a:t>strona zrezygnowała z wniesienia środka odwoławczego wydanej przez organ I instancji lub złożony środek odwoławczy skutecznie cofnęła  </a:t>
            </a:r>
          </a:p>
          <a:p>
            <a:endParaRPr lang="pl-PL" dirty="0"/>
          </a:p>
          <a:p>
            <a:pPr>
              <a:buNone/>
            </a:pPr>
            <a:endParaRPr lang="pl-PL"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ymbol zastępczy zawartości 1"/>
          <p:cNvSpPr>
            <a:spLocks noGrp="1"/>
          </p:cNvSpPr>
          <p:nvPr>
            <p:ph sz="quarter" idx="1"/>
          </p:nvPr>
        </p:nvSpPr>
        <p:spPr>
          <a:xfrm>
            <a:off x="179512" y="260648"/>
            <a:ext cx="8626160" cy="5838400"/>
          </a:xfrm>
        </p:spPr>
        <p:txBody>
          <a:bodyPr/>
          <a:lstStyle/>
          <a:p>
            <a:endParaRPr lang="pl-PL" dirty="0"/>
          </a:p>
          <a:p>
            <a:r>
              <a:rPr lang="pl-PL" sz="5400" dirty="0"/>
              <a:t>b) w aspekcie materialnym – nie jest dopuszczalne wszczęcie i prowadzenie od nowa postępowania już prawomocnie (formalnie) zakończonego</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6336704"/>
          </a:xfrm>
        </p:spPr>
        <p:txBody>
          <a:bodyPr>
            <a:normAutofit lnSpcReduction="10000"/>
          </a:bodyPr>
          <a:lstStyle/>
          <a:p>
            <a:pPr>
              <a:buNone/>
            </a:pPr>
            <a:endParaRPr lang="pl-PL" dirty="0"/>
          </a:p>
          <a:p>
            <a:pPr>
              <a:buNone/>
            </a:pPr>
            <a:endParaRPr lang="pl-PL" dirty="0"/>
          </a:p>
          <a:p>
            <a:pPr>
              <a:buNone/>
            </a:pPr>
            <a:r>
              <a:rPr lang="pl-PL" dirty="0"/>
              <a:t>   </a:t>
            </a:r>
            <a:r>
              <a:rPr lang="pl-PL" sz="4400" dirty="0"/>
              <a:t>Omawiana przeszkoda procesowa zachodzi zatem w sytuacji:</a:t>
            </a:r>
          </a:p>
          <a:p>
            <a:pPr marL="514350" indent="-514350">
              <a:buAutoNum type="arabicParenR"/>
            </a:pPr>
            <a:r>
              <a:rPr lang="pl-PL" sz="4400" dirty="0">
                <a:solidFill>
                  <a:srgbClr val="FF0000"/>
                </a:solidFill>
              </a:rPr>
              <a:t>prawomocnego zakończenia postępowania sądowego </a:t>
            </a:r>
            <a:r>
              <a:rPr lang="pl-PL" sz="4400" dirty="0"/>
              <a:t>oraz</a:t>
            </a:r>
          </a:p>
          <a:p>
            <a:pPr marL="514350" indent="-514350">
              <a:buAutoNum type="arabicParenR"/>
            </a:pPr>
            <a:r>
              <a:rPr lang="pl-PL" sz="4400" dirty="0">
                <a:solidFill>
                  <a:srgbClr val="FF0000"/>
                </a:solidFill>
              </a:rPr>
              <a:t>postępowania przygotowawczego umorzonego w fazie ad personam</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lnSpcReduction="10000"/>
          </a:bodyPr>
          <a:lstStyle/>
          <a:p>
            <a:pPr>
              <a:buNone/>
            </a:pPr>
            <a:endParaRPr lang="pl-PL" dirty="0"/>
          </a:p>
          <a:p>
            <a:pPr>
              <a:buNone/>
            </a:pPr>
            <a:endParaRPr lang="pl-PL" dirty="0"/>
          </a:p>
          <a:p>
            <a:pPr>
              <a:buNone/>
            </a:pPr>
            <a:r>
              <a:rPr lang="pl-PL" dirty="0"/>
              <a:t>  </a:t>
            </a:r>
            <a:r>
              <a:rPr lang="pl-PL" sz="4000" dirty="0"/>
              <a:t>Umorzenie postępowania </a:t>
            </a:r>
            <a:r>
              <a:rPr lang="pl-PL" sz="4000" dirty="0">
                <a:solidFill>
                  <a:srgbClr val="FF0000"/>
                </a:solidFill>
              </a:rPr>
              <a:t>przygotowawczego w fazie </a:t>
            </a:r>
            <a:r>
              <a:rPr lang="pl-PL" sz="4000" i="1" dirty="0" err="1">
                <a:solidFill>
                  <a:srgbClr val="FF0000"/>
                </a:solidFill>
              </a:rPr>
              <a:t>in</a:t>
            </a:r>
            <a:r>
              <a:rPr lang="pl-PL" sz="4000" i="1" dirty="0">
                <a:solidFill>
                  <a:srgbClr val="FF0000"/>
                </a:solidFill>
              </a:rPr>
              <a:t> rem</a:t>
            </a:r>
            <a:r>
              <a:rPr lang="pl-PL" sz="4000" dirty="0">
                <a:solidFill>
                  <a:srgbClr val="FF0000"/>
                </a:solidFill>
              </a:rPr>
              <a:t>, które może być podjęte w każdym czasie nie wyczerpuje powagi rzeczy osądzonej</a:t>
            </a:r>
          </a:p>
          <a:p>
            <a:pPr>
              <a:buNone/>
            </a:pPr>
            <a:endParaRPr lang="pl-PL" sz="4000" dirty="0"/>
          </a:p>
          <a:p>
            <a:pPr>
              <a:buNone/>
            </a:pPr>
            <a:r>
              <a:rPr lang="pl-PL" sz="4000" dirty="0"/>
              <a:t>(postanowienie SN z dnia 4.05.2006 r., V KK 384/05)  </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6264696"/>
          </a:xfrm>
        </p:spPr>
        <p:txBody>
          <a:bodyPr>
            <a:normAutofit fontScale="77500" lnSpcReduction="20000"/>
          </a:bodyPr>
          <a:lstStyle/>
          <a:p>
            <a:r>
              <a:rPr lang="pl-PL" b="1" dirty="0"/>
              <a:t>Art. 327.</a:t>
            </a:r>
            <a:r>
              <a:rPr lang="pl-PL" dirty="0"/>
              <a:t> § 1. Umorzone postępowanie przygotowawcze może być w każdym czasie podjęte na nowo na mocy postanowienia prokuratora, jeżeli nie będzie się toczyć przeciw osobie, która w poprzednim postępowaniu występowała w charakterze podejrzanego. Przepis ten stosuje się odpowiednio w sprawie, w której odmówiono wszczęcia śledztwa lub dochodzenia.</a:t>
            </a:r>
          </a:p>
          <a:p>
            <a:r>
              <a:rPr lang="pl-PL" dirty="0"/>
              <a:t>§ 2.  Prawomocnie umorzone postępowanie przygotowawcze wznawia się przeciwko osobie, która występowała w charakterze podejrzanego, na mocy postanowienia prokuratora nadrzędnego nad tym, który wydał lub zatwierdził postanowienie o umorzeniu, tylko wtedy, gdy ujawnią się nowe istotne fakty lub dowody nie znane w poprzednim postępowaniu albo gdy zachodzi okoliczność określona w art. 11 § 3. Przewidziane w ustawie ograniczenia okresu tymczasowego aresztowania stosuje się wówczas do łącznego czasu trwania tego środka.</a:t>
            </a:r>
          </a:p>
          <a:p>
            <a:r>
              <a:rPr lang="pl-PL" dirty="0"/>
              <a:t>§ 3. Przed wydaniem postanowienia o podjęciu lub wznowieniu, prokurator może przedsięwziąć osobiście lub zlecić Policji dokonanie niezbędnych czynności dowodowych w celu sprawdzenia okoliczności uzasadniających wydanie postanowienia.</a:t>
            </a:r>
          </a:p>
          <a:p>
            <a:r>
              <a:rPr lang="pl-PL" dirty="0"/>
              <a:t>§ 4. Po wniesieniu aktu oskarżenia sąd umarza postępowanie, jeżeli stwierdzi, że postępowanie przygotowawcze wznowiono mimo braku podstaw.</a:t>
            </a:r>
          </a:p>
          <a:p>
            <a:endParaRPr lang="pl-PL"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Ale:</a:t>
            </a:r>
          </a:p>
        </p:txBody>
      </p:sp>
      <p:sp>
        <p:nvSpPr>
          <p:cNvPr id="3" name="Symbol zastępczy zawartości 2"/>
          <p:cNvSpPr>
            <a:spLocks noGrp="1"/>
          </p:cNvSpPr>
          <p:nvPr>
            <p:ph sz="quarter" idx="1"/>
          </p:nvPr>
        </p:nvSpPr>
        <p:spPr>
          <a:xfrm>
            <a:off x="271272" y="987552"/>
            <a:ext cx="8534400" cy="5111496"/>
          </a:xfrm>
        </p:spPr>
        <p:txBody>
          <a:bodyPr>
            <a:normAutofit fontScale="92500" lnSpcReduction="20000"/>
          </a:bodyPr>
          <a:lstStyle/>
          <a:p>
            <a:pPr>
              <a:buNone/>
            </a:pPr>
            <a:r>
              <a:rPr lang="pl-PL" dirty="0"/>
              <a:t> </a:t>
            </a:r>
          </a:p>
          <a:p>
            <a:r>
              <a:rPr lang="pl-PL" dirty="0"/>
              <a:t>Wyrok Sądu Najwyższego z dnia 15 lutego 2012 r. II KK 201/11</a:t>
            </a:r>
          </a:p>
          <a:p>
            <a:pPr>
              <a:buNone/>
            </a:pPr>
            <a:r>
              <a:rPr lang="pl-PL" dirty="0"/>
              <a:t>   </a:t>
            </a:r>
          </a:p>
          <a:p>
            <a:pPr>
              <a:buNone/>
            </a:pPr>
            <a:r>
              <a:rPr lang="pl-PL" dirty="0"/>
              <a:t>    </a:t>
            </a:r>
            <a:r>
              <a:rPr lang="pl-PL" i="1" dirty="0"/>
              <a:t>Prawomocne postanowienie prokuratora o umorzeniu postępowania przygotowawczego wydane na podstawie art. 17 § 1 </a:t>
            </a:r>
            <a:r>
              <a:rPr lang="pl-PL" i="1" dirty="0" err="1"/>
              <a:t>pkt</a:t>
            </a:r>
            <a:r>
              <a:rPr lang="pl-PL" i="1" dirty="0"/>
              <a:t> 3 k.p.k., w którym stwierdzono popełnienie przez oznaczoną osobę czynu o znamionach określonych w ustawie karnej, ale o znikomym stopniu społecznej szkodliwości, stwarza stan rzeczy osądzonej w rozumieniu art. 17 § 1 </a:t>
            </a:r>
            <a:r>
              <a:rPr lang="pl-PL" i="1" dirty="0" err="1"/>
              <a:t>pkt</a:t>
            </a:r>
            <a:r>
              <a:rPr lang="pl-PL" i="1" dirty="0"/>
              <a:t> 7 k.p.k. również wtedy, gdy przed wydaniem tego postanowienia osobie tej ani nie przedstawiono zarzutów, ani nie przesłuchano jej w charakterze podejrzanego, dopuszczając się obrazy art. 313 </a:t>
            </a:r>
            <a:r>
              <a:rPr lang="pl-PL" i="1" dirty="0" err="1"/>
              <a:t>k.p.k</a:t>
            </a:r>
            <a:endParaRPr lang="pl-PL" i="1" dirty="0"/>
          </a:p>
          <a:p>
            <a:endParaRPr lang="pl-PL"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6336704"/>
          </a:xfrm>
        </p:spPr>
        <p:txBody>
          <a:bodyPr>
            <a:normAutofit fontScale="92500" lnSpcReduction="20000"/>
          </a:bodyPr>
          <a:lstStyle/>
          <a:p>
            <a:r>
              <a:rPr lang="pl-PL" dirty="0"/>
              <a:t>Postanowienie Sądu Najwyższego z dnia 8 stycznia 2008 r. V KK 416/07 </a:t>
            </a:r>
          </a:p>
          <a:p>
            <a:pPr>
              <a:buNone/>
            </a:pPr>
            <a:endParaRPr lang="pl-PL" dirty="0"/>
          </a:p>
          <a:p>
            <a:r>
              <a:rPr lang="pl-PL" dirty="0"/>
              <a:t>Jeżeli podstawą umorzenia postępowania jest ustalenie znikomej szkodliwości społecznej czynu (art. 17 § 1 </a:t>
            </a:r>
            <a:r>
              <a:rPr lang="pl-PL" dirty="0" err="1"/>
              <a:t>pkt</a:t>
            </a:r>
            <a:r>
              <a:rPr lang="pl-PL" dirty="0"/>
              <a:t> 3 k.p.k.), to - kierując się kryteriami określonymi w art. 115 § 2 k.k. - należy rozważyć, między innymi, postać zamiaru i motywację sprawcy, a to w konsekwencji rodzi wymaganie usytuowania sprawcy w procesowym charakterze podejrzanego. </a:t>
            </a:r>
          </a:p>
          <a:p>
            <a:r>
              <a:rPr lang="pl-PL" dirty="0"/>
              <a:t>Skoro organ procesowy tego nie uczynił (choć powinien), to z tego tytułu, kosztem praw gwarancyjnych określonej osoby, organ ten nie może uzyskać swoistego ułatwienia w postaci możliwości podjęcia w każdym czasie, w trybie art. 327 § 1 k.p.k., umorzonego wcześniej postępowania karnego. </a:t>
            </a:r>
            <a:r>
              <a:rPr lang="pl-PL" dirty="0">
                <a:solidFill>
                  <a:srgbClr val="FF0000"/>
                </a:solidFill>
              </a:rPr>
              <a:t>Negatywna przesłanka procesowa stanowi przeszkodę kontynuacji postępowania, umorzonego postanowieniem prokuratora</a:t>
            </a:r>
            <a:r>
              <a:rPr lang="pl-PL" dirty="0"/>
              <a:t>.</a:t>
            </a:r>
          </a:p>
          <a:p>
            <a:endParaRPr lang="pl-PL"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6336704"/>
          </a:xfrm>
        </p:spPr>
        <p:txBody>
          <a:bodyPr>
            <a:normAutofit lnSpcReduction="10000"/>
          </a:bodyPr>
          <a:lstStyle/>
          <a:p>
            <a:pPr>
              <a:buNone/>
            </a:pPr>
            <a:endParaRPr lang="pl-PL" dirty="0"/>
          </a:p>
          <a:p>
            <a:pPr>
              <a:buNone/>
            </a:pPr>
            <a:r>
              <a:rPr lang="pl-PL" dirty="0"/>
              <a:t>   </a:t>
            </a:r>
            <a:r>
              <a:rPr lang="pl-PL" sz="4000" dirty="0"/>
              <a:t>Przesłanka ta dotyczy także zaskarżalnych decyzji incydentalnych </a:t>
            </a:r>
          </a:p>
          <a:p>
            <a:pPr>
              <a:buNone/>
            </a:pPr>
            <a:r>
              <a:rPr lang="pl-PL" sz="4000" dirty="0"/>
              <a:t>  </a:t>
            </a:r>
          </a:p>
          <a:p>
            <a:pPr>
              <a:buNone/>
            </a:pPr>
            <a:r>
              <a:rPr lang="pl-PL" sz="4000" dirty="0"/>
              <a:t>  (nie można np. dwukrotnie orzekać co do tej samej kwestii prawnej – np. przedłużenia tymczasowego aresztowania, w niezmienionych okolicznościach) </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ytuł 2"/>
          <p:cNvSpPr>
            <a:spLocks noGrp="1"/>
          </p:cNvSpPr>
          <p:nvPr>
            <p:ph type="title"/>
          </p:nvPr>
        </p:nvSpPr>
        <p:spPr/>
        <p:txBody>
          <a:bodyPr/>
          <a:lstStyle/>
          <a:p>
            <a:r>
              <a:rPr lang="pl-PL" dirty="0" err="1"/>
              <a:t>Res</a:t>
            </a:r>
            <a:r>
              <a:rPr lang="pl-PL" dirty="0"/>
              <a:t> </a:t>
            </a:r>
            <a:r>
              <a:rPr lang="pl-PL" dirty="0" err="1"/>
              <a:t>iudicata</a:t>
            </a:r>
            <a:r>
              <a:rPr lang="pl-PL" dirty="0"/>
              <a:t> a czyn ciągły</a:t>
            </a:r>
          </a:p>
        </p:txBody>
      </p:sp>
      <p:sp>
        <p:nvSpPr>
          <p:cNvPr id="2" name="Symbol zastępczy zawartości 1"/>
          <p:cNvSpPr>
            <a:spLocks noGrp="1"/>
          </p:cNvSpPr>
          <p:nvPr>
            <p:ph sz="quarter" idx="1"/>
          </p:nvPr>
        </p:nvSpPr>
        <p:spPr/>
        <p:txBody>
          <a:bodyPr>
            <a:normAutofit/>
          </a:bodyPr>
          <a:lstStyle/>
          <a:p>
            <a:r>
              <a:rPr lang="pl-PL" b="1" dirty="0"/>
              <a:t>Art. 12 par. 1 k.k.</a:t>
            </a:r>
          </a:p>
          <a:p>
            <a:pPr>
              <a:buNone/>
            </a:pPr>
            <a:r>
              <a:rPr lang="pl-PL" b="1" dirty="0"/>
              <a:t> </a:t>
            </a:r>
          </a:p>
          <a:p>
            <a:pPr>
              <a:buNone/>
            </a:pPr>
            <a:r>
              <a:rPr lang="pl-PL" b="1" dirty="0"/>
              <a:t>  </a:t>
            </a:r>
            <a:r>
              <a:rPr lang="pl-PL" dirty="0"/>
              <a:t> Dwa lub więcej zachowań, podjętych w krótkich odstępach czasu w wykonaniu z góry powziętego zamiaru, uważa się za jeden czyn zabroniony; jeżeli przedmiotem zamachu jest dobro osobiste, warunkiem uznania wielości zachowań za jeden czyn zabroniony jest tożsamość pokrzywdzonego.</a:t>
            </a:r>
          </a:p>
          <a:p>
            <a:endParaRPr lang="pl-PL"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a:xfrm>
            <a:off x="301752" y="1412776"/>
            <a:ext cx="8503920" cy="4896544"/>
          </a:xfrm>
        </p:spPr>
        <p:txBody>
          <a:bodyPr>
            <a:noAutofit/>
          </a:bodyPr>
          <a:lstStyle/>
          <a:p>
            <a:r>
              <a:rPr lang="pl-PL" sz="1800" dirty="0"/>
              <a:t>"Czyn ciągły" został uznany w przepisie art. 12 k.k. jako jeden czyn zabroniony i stanowi z punktu widzenia procesu karnego jednolitą całość. Podstawą odpowiedzialności za ten czyn są wszystkie objęte znamieniem ciągłości zachowania, a granice wyznacza początek pierwszego i zakończenie ostatniego z zachowań, jeśli wszystkie zostały podjęte z góry powziętym zamiarem. Przyjęcie tej konstrukcji "czynu ciągłego" przesądza o konieczności stosowania zasady </a:t>
            </a:r>
            <a:r>
              <a:rPr lang="pl-PL" sz="1800" dirty="0" err="1"/>
              <a:t>ne</a:t>
            </a:r>
            <a:r>
              <a:rPr lang="pl-PL" sz="1800" dirty="0"/>
              <a:t> bis </a:t>
            </a:r>
            <a:r>
              <a:rPr lang="pl-PL" sz="1800" dirty="0" err="1"/>
              <a:t>in</a:t>
            </a:r>
            <a:r>
              <a:rPr lang="pl-PL" sz="1800" dirty="0"/>
              <a:t> idem </a:t>
            </a:r>
            <a:r>
              <a:rPr lang="pl-PL" sz="1800" dirty="0" err="1"/>
              <a:t>procedatur</a:t>
            </a:r>
            <a:r>
              <a:rPr lang="pl-PL" sz="1800" dirty="0"/>
              <a:t> wyrażonej w art. 17 § 1 </a:t>
            </a:r>
            <a:r>
              <a:rPr lang="pl-PL" sz="1800" dirty="0" err="1"/>
              <a:t>pkt</a:t>
            </a:r>
            <a:r>
              <a:rPr lang="pl-PL" sz="1800" dirty="0"/>
              <a:t> 7 k.p.k., stwierdzającej, iż nie wszczyna się postępowania, a wszczęte umarza, gdy postępowanie karne co do tego samego czynu tej samej osoby zostało prawomocnie zakończone</a:t>
            </a:r>
          </a:p>
          <a:p>
            <a:r>
              <a:rPr lang="pl-PL" sz="1800" b="1" dirty="0"/>
              <a:t>W związku z tym, Sąd Najwyższy wyraża pogląd, iż prawomocne skazanie za czyn ciągły (art. 12 k.k.) stoi na przeszkodzie, ze względu na treść art. 17 § 1 </a:t>
            </a:r>
            <a:r>
              <a:rPr lang="pl-PL" sz="1800" b="1" dirty="0" err="1"/>
              <a:t>pkt</a:t>
            </a:r>
            <a:r>
              <a:rPr lang="pl-PL" sz="1800" b="1" dirty="0"/>
              <a:t> 7 k.p.k., ponownemu postępowaniu o później ujawnione zachowania, będące elementami tego czynu, które nie były przedmiotem wcześniejszego osądzenia, niezależnie od tego, jak ma się społeczna szkodliwość nowo ujawnionych fragmentów czynu ciągłego do społecznej szkodliwości zachowań uprzednio w ramach tego czynu osądzonych</a:t>
            </a:r>
            <a:r>
              <a:rPr lang="pl-PL" sz="1800" dirty="0"/>
              <a:t> (uchwała SN z 21.11.2011, I KZP 29/01)</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err="1"/>
              <a:t>Res</a:t>
            </a:r>
            <a:r>
              <a:rPr lang="pl-PL" dirty="0"/>
              <a:t> </a:t>
            </a:r>
            <a:r>
              <a:rPr lang="pl-PL" dirty="0" err="1"/>
              <a:t>iudicata</a:t>
            </a:r>
            <a:r>
              <a:rPr lang="pl-PL" dirty="0"/>
              <a:t> w przypadku przestępstw zbiorowych</a:t>
            </a:r>
          </a:p>
        </p:txBody>
      </p:sp>
      <p:sp>
        <p:nvSpPr>
          <p:cNvPr id="3" name="Symbol zastępczy zawartości 2"/>
          <p:cNvSpPr>
            <a:spLocks noGrp="1"/>
          </p:cNvSpPr>
          <p:nvPr>
            <p:ph sz="quarter" idx="1"/>
          </p:nvPr>
        </p:nvSpPr>
        <p:spPr>
          <a:xfrm>
            <a:off x="301752" y="1772816"/>
            <a:ext cx="8503920" cy="4856584"/>
          </a:xfrm>
        </p:spPr>
        <p:txBody>
          <a:bodyPr>
            <a:normAutofit fontScale="55000" lnSpcReduction="20000"/>
          </a:bodyPr>
          <a:lstStyle/>
          <a:p>
            <a:r>
              <a:rPr lang="pl-PL" sz="3400" dirty="0"/>
              <a:t>Wyrok Sądu Najwyższego z dnia 18 kwietnia 2007 r., III KK 471/06</a:t>
            </a:r>
          </a:p>
          <a:p>
            <a:pPr>
              <a:buNone/>
            </a:pPr>
            <a:r>
              <a:rPr lang="pl-PL" sz="3400" dirty="0"/>
              <a:t> </a:t>
            </a:r>
          </a:p>
          <a:p>
            <a:pPr>
              <a:buNone/>
            </a:pPr>
            <a:r>
              <a:rPr lang="pl-PL" sz="3400" dirty="0"/>
              <a:t>    </a:t>
            </a:r>
            <a:r>
              <a:rPr lang="pl-PL" sz="3400" i="1" dirty="0"/>
              <a:t>Sąd Najwyższy wielokrotnie zajmował się problematyką specyficznych relacji, jakie muszą zaistnieć między kolejnymi wyrokami skazującymi sprawcę za przestępstwa tzw. zbiorowe, do których należy przestępstwo z art. 207 k.k., aby można było uznać, iż wcześniejszy, prawomocny wyrok tworzy ujemną przesłankę procesową powagi rzeczy osądzonej, wskazaną w art. 17 § 1 </a:t>
            </a:r>
            <a:r>
              <a:rPr lang="pl-PL" sz="3400" i="1" dirty="0" err="1"/>
              <a:t>pkt</a:t>
            </a:r>
            <a:r>
              <a:rPr lang="pl-PL" sz="3400" i="1" dirty="0"/>
              <a:t> 7 k.p.k. W szczególności stanowczo prezentowane jest stanowisko, że przeszkoda sformułowana w art. 17 § 1 </a:t>
            </a:r>
            <a:r>
              <a:rPr lang="pl-PL" sz="3400" i="1" dirty="0" err="1"/>
              <a:t>pkt</a:t>
            </a:r>
            <a:r>
              <a:rPr lang="pl-PL" sz="3400" i="1" dirty="0"/>
              <a:t> 7 k.p.k. w postaci rei </a:t>
            </a:r>
            <a:r>
              <a:rPr lang="pl-PL" sz="3400" i="1" dirty="0" err="1"/>
              <a:t>iudicatae</a:t>
            </a:r>
            <a:r>
              <a:rPr lang="pl-PL" sz="3400" i="1" dirty="0"/>
              <a:t> w odniesieniu do tego rodzaju przestępstw, zachodzi wówczas, gdy przedmiotem </a:t>
            </a:r>
            <a:r>
              <a:rPr lang="pl-PL" sz="3400" b="1" i="1" dirty="0"/>
              <a:t>uprzednio zakończonego prawomocnie postępowania wobec tej samej osoby jest identyczny okres np.: znęcania się, jak przyjęty w sprawie, bądź jest to okres, wykraczający poza okres przyjęty w sprawie następnej. Jedynie bowiem wtedy można twierdzić, że postępowanie w sprawie kolejnej dotyczy tego samego czynu tej samej osoby, co do którego postępowanie karne zostało prawomocnie zakończone.</a:t>
            </a:r>
          </a:p>
          <a:p>
            <a:endParaRPr lang="pl-PL"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6336704"/>
          </a:xfrm>
        </p:spPr>
        <p:txBody>
          <a:bodyPr/>
          <a:lstStyle/>
          <a:p>
            <a:pPr fontAlgn="t"/>
            <a:r>
              <a:rPr lang="pl-PL" dirty="0"/>
              <a:t>Wyr. SN z 12.09.2012 r., V KK 273/12  </a:t>
            </a:r>
          </a:p>
          <a:p>
            <a:pPr fontAlgn="t"/>
            <a:endParaRPr lang="pl-PL" dirty="0"/>
          </a:p>
          <a:p>
            <a:pPr fontAlgn="t"/>
            <a:r>
              <a:rPr lang="pl-PL" dirty="0"/>
              <a:t> </a:t>
            </a:r>
            <a:r>
              <a:rPr lang="pl-PL" sz="4800" dirty="0"/>
              <a:t>”Wcześniejsze zakończenie innego postępowania niż postępowanie karne, choćby co do tego samego czynu tej samej osoby, nie powoduje stanu rzeczy osądzonej”.</a:t>
            </a:r>
          </a:p>
          <a:p>
            <a:endParaRPr lang="pl-PL"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16632"/>
            <a:ext cx="8698168" cy="5982416"/>
          </a:xfrm>
        </p:spPr>
        <p:txBody>
          <a:bodyPr>
            <a:normAutofit fontScale="70000" lnSpcReduction="20000"/>
          </a:bodyPr>
          <a:lstStyle/>
          <a:p>
            <a:r>
              <a:rPr lang="pl-PL" dirty="0"/>
              <a:t>1) Nie ulega wątpliwości, że w tym to przepisie art. 17 § 1 </a:t>
            </a:r>
            <a:r>
              <a:rPr lang="pl-PL" dirty="0" err="1"/>
              <a:t>pkt</a:t>
            </a:r>
            <a:r>
              <a:rPr lang="pl-PL" dirty="0"/>
              <a:t> 11 k.p.k. ustawodawca zastrzegł, że postępowania nie wszczyna się, a wszczęte umarza, także wtedy, gdy "zachodzi inna okoliczność wyłączająca ściganie", to jest inna niż opisane w </a:t>
            </a:r>
            <a:r>
              <a:rPr lang="pl-PL" dirty="0" err="1"/>
              <a:t>pkt</a:t>
            </a:r>
            <a:r>
              <a:rPr lang="pl-PL" dirty="0"/>
              <a:t> 1-10 tego artykułu. To zastrzeżenie czyni ów katalog przesłanek procesowych wskazanych w tym przepisie nie zamknięty.</a:t>
            </a:r>
          </a:p>
          <a:p>
            <a:r>
              <a:rPr lang="pl-PL" dirty="0"/>
              <a:t>Nie oznacza to jednak jeszcze możliwości swobodnego kreowania przez sąd tej "innej okoliczności wyłączającej ściganie".</a:t>
            </a:r>
          </a:p>
          <a:p>
            <a:r>
              <a:rPr lang="pl-PL" dirty="0"/>
              <a:t>Zasadnie podkreśla się w piśmiennictwie że "inna okoliczność wyłączająca ściąganie" - jako negatywna przesłanka procesowa, może wynikać ze szczególnych norm kodeksu albo z przepisów innych ustaw lub umów międzynarodowych, nie zaś z samego przekonania sądu rozstrzygającego sprawę </a:t>
            </a:r>
          </a:p>
          <a:p>
            <a:r>
              <a:rPr lang="pl-PL" dirty="0"/>
              <a:t>Przesłanka ta ma - co należy podkreślić-charakter procesowy, a to oznacza, że jej wystąpienie powoduje prawną niedopuszczalność postępowania w sprawach o czyny, które w świetle prawa karnego są przestępstwami, a ich sprawcy podlegają karze.</a:t>
            </a:r>
          </a:p>
          <a:p>
            <a:r>
              <a:rPr lang="pl-PL" dirty="0"/>
              <a:t>Wskazanej przez Sąd Okręgowy podstawy umorzenia (abstrahując w tym miejscu od merytorycznej oceny zasadności przekonania które było tegoż podstawą) przy użytej tylko argumentacji odnośnie jej zastosowania, nie sposób aprobować. Nie wolno bowiem - poprzez sięganie do art. 17 § 1 </a:t>
            </a:r>
            <a:r>
              <a:rPr lang="pl-PL" dirty="0" err="1"/>
              <a:t>pkt</a:t>
            </a:r>
            <a:r>
              <a:rPr lang="pl-PL" dirty="0"/>
              <a:t> 11 k.p.k. - konstruować nowych negatywnych przesłanek procesowych, które przy prawidłowej wykładni art. 17 § 1 </a:t>
            </a:r>
            <a:r>
              <a:rPr lang="pl-PL" dirty="0" err="1"/>
              <a:t>pkt</a:t>
            </a:r>
            <a:r>
              <a:rPr lang="pl-PL" dirty="0"/>
              <a:t> 1-10 k.p.k. powinny mieścić się w granicach określonych tymi przepisami. A tak w istocie uczynił, uwzględniając jego argumentację, Sąd Okręgowy.</a:t>
            </a:r>
          </a:p>
          <a:p>
            <a:endParaRPr lang="pl-PL"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5910408"/>
          </a:xfrm>
        </p:spPr>
        <p:txBody>
          <a:bodyPr>
            <a:noAutofit/>
          </a:bodyPr>
          <a:lstStyle/>
          <a:p>
            <a:r>
              <a:rPr lang="pl-PL" sz="3200" dirty="0"/>
              <a:t>Postanowienie Sądu Najwyższego z dnia 29 stycznia 2004 r., I KZP 40/03</a:t>
            </a:r>
          </a:p>
          <a:p>
            <a:pPr>
              <a:buNone/>
            </a:pPr>
            <a:r>
              <a:rPr lang="pl-PL" sz="3200" dirty="0"/>
              <a:t>   </a:t>
            </a:r>
            <a:r>
              <a:rPr lang="pl-PL" sz="3200" i="1" dirty="0"/>
              <a:t>Skoro niedopuszczalność ponownego postępowania zachodzi tylko wówczas, gdy - przy zachowaniu tożsamości osoby i czynu - uprzednie "postępowanie karne" zakończone zostało prawomocnie, to wcześniejsze zakończenie innego postępowania niż postępowanie karne, choćby co do tego samego czynu tej samej osoby, nie powoduje stanu rzeczy osądzonej (art. 17 § 1 </a:t>
            </a:r>
            <a:r>
              <a:rPr lang="pl-PL" sz="3200" i="1" dirty="0" err="1"/>
              <a:t>pkt</a:t>
            </a:r>
            <a:r>
              <a:rPr lang="pl-PL" sz="3200" i="1" dirty="0"/>
              <a:t> 7 k.p.k.).</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5766392"/>
          </a:xfrm>
        </p:spPr>
        <p:txBody>
          <a:bodyPr>
            <a:normAutofit fontScale="92500" lnSpcReduction="10000"/>
          </a:bodyPr>
          <a:lstStyle/>
          <a:p>
            <a:r>
              <a:rPr lang="pl-PL" i="1" dirty="0"/>
              <a:t>Zasady wykładni językowej, a także systemowej i funkcjonalnej, </a:t>
            </a:r>
            <a:r>
              <a:rPr lang="pl-PL" i="1" dirty="0">
                <a:solidFill>
                  <a:srgbClr val="FF0000"/>
                </a:solidFill>
              </a:rPr>
              <a:t>nie pozostawiają cienia wątpliwości, że postępowanie zmierzające do realizacji innej gałęzi prawa niż prawa karnego materialnego nie może być określane mianem postępowania karnego</a:t>
            </a:r>
            <a:r>
              <a:rPr lang="pl-PL" i="1" dirty="0"/>
              <a:t>. Pozostając w kręgu problematyki zakreślonej pytaniem sądu odwoławczego, należy jednoznacznie wskazać - w ślad za Uzasadnieniem do rządowego projektu Kodeksu postępowania w sprawach o wykroczenia z 2001 r. - że postępowanie w sprawach o wykroczenia nie jest postępowaniem karnym, lecz odrębnym postępowaniem dotyczącym orzekania w sprawach innych niż przestępstwa, choć na zasadach zbliżonych do procesu karnego. Postępowanie w sprawach o wykroczenia ma więc charakter w pełni autonomiczny, co bezpośrednio wynika z brzmienia art. 1 § </a:t>
            </a:r>
            <a:r>
              <a:rPr lang="pl-PL" i="1" dirty="0" err="1"/>
              <a:t>1</a:t>
            </a:r>
            <a:r>
              <a:rPr lang="pl-PL" i="1" dirty="0"/>
              <a:t> </a:t>
            </a:r>
            <a:r>
              <a:rPr lang="pl-PL" i="1" dirty="0" err="1"/>
              <a:t>k.p.s.w</a:t>
            </a:r>
            <a:r>
              <a:rPr lang="pl-PL" i="1" dirty="0"/>
              <a:t>. </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404664"/>
            <a:ext cx="8626160" cy="5694384"/>
          </a:xfrm>
        </p:spPr>
        <p:txBody>
          <a:bodyPr/>
          <a:lstStyle/>
          <a:p>
            <a:pPr>
              <a:buNone/>
            </a:pPr>
            <a:r>
              <a:rPr lang="pl-PL" u="sng" dirty="0">
                <a:latin typeface="Times New Roman" pitchFamily="18" charset="0"/>
                <a:cs typeface="Times New Roman" pitchFamily="18" charset="0"/>
              </a:rPr>
              <a:t>Konsekwencje procesowe</a:t>
            </a:r>
            <a:r>
              <a:rPr lang="pl-PL" dirty="0">
                <a:latin typeface="Times New Roman" pitchFamily="18" charset="0"/>
                <a:cs typeface="Times New Roman" pitchFamily="18" charset="0"/>
              </a:rPr>
              <a:t>:</a:t>
            </a:r>
          </a:p>
          <a:p>
            <a:pPr>
              <a:buNone/>
            </a:pPr>
            <a:endParaRPr lang="pl-PL" dirty="0">
              <a:latin typeface="Times New Roman" pitchFamily="18" charset="0"/>
              <a:cs typeface="Times New Roman" pitchFamily="18" charset="0"/>
            </a:endParaRPr>
          </a:p>
          <a:p>
            <a:r>
              <a:rPr lang="pl-PL" dirty="0">
                <a:latin typeface="Times New Roman" pitchFamily="18" charset="0"/>
                <a:cs typeface="Times New Roman" pitchFamily="18" charset="0"/>
              </a:rPr>
              <a:t>- odmowa wszczęcia postępowania </a:t>
            </a:r>
          </a:p>
          <a:p>
            <a:r>
              <a:rPr lang="pl-PL" dirty="0">
                <a:latin typeface="Times New Roman" pitchFamily="18" charset="0"/>
                <a:cs typeface="Times New Roman" pitchFamily="18" charset="0"/>
              </a:rPr>
              <a:t>- umorzenie postępowania (po otwarciu przewodu sądowego wyrokiem)</a:t>
            </a:r>
          </a:p>
          <a:p>
            <a:r>
              <a:rPr lang="pl-PL" dirty="0">
                <a:latin typeface="Times New Roman" pitchFamily="18" charset="0"/>
                <a:cs typeface="Times New Roman" pitchFamily="18" charset="0"/>
              </a:rPr>
              <a:t>wydanie rozstrzygnięcia wbrew tej przesłance – bezwzględna przyczyna odwoławcza (art. 439 § 1 pkt 8 k.p.k.)</a:t>
            </a:r>
          </a:p>
          <a:p>
            <a:r>
              <a:rPr lang="pl-PL" dirty="0">
                <a:latin typeface="Times New Roman" pitchFamily="18" charset="0"/>
                <a:cs typeface="Times New Roman" pitchFamily="18" charset="0"/>
              </a:rPr>
              <a:t>Problem częściowego zazębiania się opisów? Art. 413 par. 2 pkt 1 k.p.k.?</a:t>
            </a:r>
          </a:p>
          <a:p>
            <a:endParaRPr lang="pl-PL" dirty="0">
              <a:latin typeface="Times New Roman" pitchFamily="18" charset="0"/>
              <a:cs typeface="Times New Roman" pitchFamily="18" charset="0"/>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2000" dirty="0"/>
              <a:t>Ne bis </a:t>
            </a:r>
            <a:r>
              <a:rPr lang="pl-PL" sz="2000" dirty="0" err="1"/>
              <a:t>in</a:t>
            </a:r>
            <a:r>
              <a:rPr lang="pl-PL" sz="2000" dirty="0"/>
              <a:t> idem- orzeczenia kończące postępowanie w innych krajach UE</a:t>
            </a:r>
          </a:p>
        </p:txBody>
      </p:sp>
      <p:sp>
        <p:nvSpPr>
          <p:cNvPr id="3" name="Symbol zastępczy zawartości 2"/>
          <p:cNvSpPr>
            <a:spLocks noGrp="1"/>
          </p:cNvSpPr>
          <p:nvPr>
            <p:ph sz="quarter" idx="1"/>
          </p:nvPr>
        </p:nvSpPr>
        <p:spPr/>
        <p:txBody>
          <a:bodyPr>
            <a:normAutofit fontScale="85000" lnSpcReduction="10000"/>
          </a:bodyPr>
          <a:lstStyle/>
          <a:p>
            <a:r>
              <a:rPr lang="pl-PL" dirty="0"/>
              <a:t>art. 54 Konwencji Wykonawczej do Układu z Schengen (Dz. Urz. WE 2000 L, 239/1, polska wersja rozdz. 19, t.2, s. 9)</a:t>
            </a:r>
          </a:p>
          <a:p>
            <a:pPr>
              <a:buNone/>
            </a:pPr>
            <a:endParaRPr lang="pl-PL" b="1" dirty="0"/>
          </a:p>
          <a:p>
            <a:pPr>
              <a:buNone/>
            </a:pPr>
            <a:r>
              <a:rPr lang="pl-PL" b="1" dirty="0"/>
              <a:t>Artykuł 54 </a:t>
            </a:r>
            <a:endParaRPr lang="pl-PL" dirty="0"/>
          </a:p>
          <a:p>
            <a:pPr>
              <a:buNone/>
            </a:pPr>
            <a:endParaRPr lang="pl-PL" dirty="0"/>
          </a:p>
          <a:p>
            <a:pPr>
              <a:buNone/>
            </a:pPr>
            <a:r>
              <a:rPr lang="pl-PL" dirty="0"/>
              <a:t>   </a:t>
            </a:r>
            <a:r>
              <a:rPr lang="pl-PL" i="1" dirty="0"/>
              <a:t>Osoba, której proces zakończył się wydaniem prawomocnego wyroku na obszarze jednej Umawiającej się Strony, nie może być ścigana na obszarze innej Umawiającej się Strony za ten sam czyn, </a:t>
            </a:r>
            <a:r>
              <a:rPr lang="pl-PL" i="1" dirty="0">
                <a:solidFill>
                  <a:srgbClr val="FF0000"/>
                </a:solidFill>
              </a:rPr>
              <a:t>pod warunkiem że została nałożona i wykonana kara lub jest ona w trakcie wykonywania</a:t>
            </a:r>
            <a:r>
              <a:rPr lang="pl-PL" i="1" dirty="0"/>
              <a:t>, lub </a:t>
            </a:r>
            <a:r>
              <a:rPr lang="pl-PL" i="1" dirty="0">
                <a:solidFill>
                  <a:srgbClr val="FF0000"/>
                </a:solidFill>
              </a:rPr>
              <a:t>nie może być już wykonana na mocy przepisów prawnych skazującej Umawiającej się Strony</a:t>
            </a:r>
          </a:p>
          <a:p>
            <a:endParaRPr lang="pl-PL"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260648"/>
            <a:ext cx="8698168" cy="5838400"/>
          </a:xfrm>
        </p:spPr>
        <p:txBody>
          <a:bodyPr/>
          <a:lstStyle/>
          <a:p>
            <a:endParaRPr lang="pl-PL" dirty="0"/>
          </a:p>
          <a:p>
            <a:endParaRPr lang="pl-PL" dirty="0"/>
          </a:p>
          <a:p>
            <a:r>
              <a:rPr lang="pl-PL" sz="4000" dirty="0"/>
              <a:t>- nie ma znaczenia czy orzeczenie wydane w państwie członkowskim zostało wydane przed datą akcesji Polski do UE czy po tej dacie – ważne jest jedynie to czy sąd polski będzie orzekał po 01.05.2004 r. </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404664"/>
            <a:ext cx="8626160" cy="5694384"/>
          </a:xfrm>
        </p:spPr>
        <p:txBody>
          <a:bodyPr>
            <a:normAutofit fontScale="92500" lnSpcReduction="20000"/>
          </a:bodyPr>
          <a:lstStyle/>
          <a:p>
            <a:r>
              <a:rPr lang="pl-PL" dirty="0"/>
              <a:t>Wyrok Sądu Najwyższego z dnia 2 czerwca 2006 r.,  IV KO 23/05</a:t>
            </a:r>
          </a:p>
          <a:p>
            <a:r>
              <a:rPr lang="pl-PL" dirty="0"/>
              <a:t> </a:t>
            </a:r>
          </a:p>
          <a:p>
            <a:r>
              <a:rPr lang="pl-PL" i="1" dirty="0"/>
              <a:t>Zgodnie z art. 54 Konwencji z Schengen żadna osoba, której proces zakończył się wydaniem prawomocnego wyroku na obszarze jednego z państw stron, nie może być ścigana za ten sam czyn. Wydanie prawomocnego wyroku zostało powiązane z koniecznością orzeczenia i wykonania sankcji. Warunek uznania mocy wiążącej takiego wyroku stanowi tu, by nałożona kara była wykonana, była w trakcie wykonywania, lub by nie mogła być już wykonana na mocy przepisów prawnych skazującego państwa. Kara podlegająca warunkowemu zawieszeniu powinna być zrównana z pojęciem kary w trakcie jej wykonywania w rozumieniu art. 54 Konwencji</a:t>
            </a:r>
          </a:p>
          <a:p>
            <a:endParaRPr lang="pl-PL"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 </a:t>
            </a:r>
          </a:p>
        </p:txBody>
      </p:sp>
      <p:sp>
        <p:nvSpPr>
          <p:cNvPr id="3" name="Symbol zastępczy zawartości 2"/>
          <p:cNvSpPr>
            <a:spLocks noGrp="1"/>
          </p:cNvSpPr>
          <p:nvPr>
            <p:ph sz="quarter" idx="1"/>
          </p:nvPr>
        </p:nvSpPr>
        <p:spPr>
          <a:xfrm>
            <a:off x="107504" y="228600"/>
            <a:ext cx="8698168" cy="5870448"/>
          </a:xfrm>
        </p:spPr>
        <p:txBody>
          <a:bodyPr/>
          <a:lstStyle/>
          <a:p>
            <a:endParaRPr lang="pl-PL" dirty="0"/>
          </a:p>
          <a:p>
            <a:pPr>
              <a:buNone/>
            </a:pPr>
            <a:r>
              <a:rPr lang="pl-PL" dirty="0"/>
              <a:t>   </a:t>
            </a:r>
            <a:r>
              <a:rPr lang="pl-PL" sz="5400" dirty="0"/>
              <a:t>Przymiot prawomocności oceniamy według prawa państwa, które jako pierwsze wykorzystało swoją kompetencję do osądzenia danej sprawy</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332656"/>
            <a:ext cx="8626160" cy="5766392"/>
          </a:xfrm>
        </p:spPr>
        <p:txBody>
          <a:bodyPr/>
          <a:lstStyle/>
          <a:p>
            <a:endParaRPr lang="pl-PL" dirty="0"/>
          </a:p>
          <a:p>
            <a:r>
              <a:rPr lang="pl-PL" sz="4000" dirty="0"/>
              <a:t>Zakazu tego nie uruchamia orzeczenie, które nie powoduje definitywnego wygaśnięcia prawa do prowadzenia w danej sprawie postępowania, tj. umorzenie postępowania z powodu przesłanki względnej, czy też umorzenie postępowania w </a:t>
            </a:r>
            <a:r>
              <a:rPr lang="pl-PL" sz="4000" i="1" dirty="0"/>
              <a:t>fazie </a:t>
            </a:r>
            <a:r>
              <a:rPr lang="pl-PL" sz="4000" i="1" dirty="0" err="1"/>
              <a:t>in</a:t>
            </a:r>
            <a:r>
              <a:rPr lang="pl-PL" sz="4000" i="1" dirty="0"/>
              <a:t> rem</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a:xfrm>
            <a:off x="395536" y="260648"/>
            <a:ext cx="8291264" cy="648072"/>
          </a:xfrm>
        </p:spPr>
        <p:txBody>
          <a:bodyPr>
            <a:normAutofit/>
          </a:bodyPr>
          <a:lstStyle/>
          <a:p>
            <a:r>
              <a:rPr lang="pl-PL" sz="2000" dirty="0"/>
              <a:t>Wyrok Trybunału Sprawiedliwości UE z dnia 22.12.2008 r. , C-491/07</a:t>
            </a:r>
          </a:p>
        </p:txBody>
      </p:sp>
      <p:sp>
        <p:nvSpPr>
          <p:cNvPr id="3" name="Symbol zastępczy zawartości 2"/>
          <p:cNvSpPr>
            <a:spLocks noGrp="1"/>
          </p:cNvSpPr>
          <p:nvPr>
            <p:ph sz="quarter" idx="1"/>
          </p:nvPr>
        </p:nvSpPr>
        <p:spPr/>
        <p:txBody>
          <a:bodyPr>
            <a:normAutofit fontScale="85000" lnSpcReduction="10000"/>
          </a:bodyPr>
          <a:lstStyle/>
          <a:p>
            <a:r>
              <a:rPr lang="pl-PL" b="1" dirty="0"/>
              <a:t>Zasady </a:t>
            </a:r>
            <a:r>
              <a:rPr lang="pl-PL" b="1" i="1" dirty="0" err="1"/>
              <a:t>ne</a:t>
            </a:r>
            <a:r>
              <a:rPr lang="pl-PL" b="1" i="1" dirty="0"/>
              <a:t> bis </a:t>
            </a:r>
            <a:r>
              <a:rPr lang="pl-PL" b="1" i="1" dirty="0" err="1"/>
              <a:t>in</a:t>
            </a:r>
            <a:r>
              <a:rPr lang="pl-PL" b="1" i="1" dirty="0"/>
              <a:t> idem, </a:t>
            </a:r>
            <a:r>
              <a:rPr lang="pl-PL" i="1" dirty="0"/>
              <a:t>o której mowa w art. 54 Konwencji wykonawczej do Układu z Schengen z dnia 14 czerwca 1985 r. zawartego między rządami państw Unii Gospodarczej Beneluksu, Republiki Federalnej Niemiec i Republiki Francuskiej w sprawie stopniowego znoszenia kontroli na wspólnych granicach, podpisanej w dniu 19 czerwca 1990 r. w Schengen (Luksemburg</a:t>
            </a:r>
            <a:r>
              <a:rPr lang="pl-PL" b="1" i="1" dirty="0"/>
              <a:t>), nie stosuje się </a:t>
            </a:r>
            <a:r>
              <a:rPr lang="pl-PL" i="1" dirty="0"/>
              <a:t>do orzeczenia, którym organ umawiającego się państwa, po zbadaniu wniesionej do niego sprawy co do istoty, umorzył wszczęte postępowanie karne przed przedstawieniem zarzutów osobie podejrzewanej o popełnienie przestępstwa, jeżeli takie orzeczenie o umorzeniu nie wyłącza definitywnie ścigania, a zatem nie stanowi w tym państwie przeszkody dla nowego ścigania karnego o te same czyny. 	</a:t>
            </a:r>
          </a:p>
          <a:p>
            <a:endParaRPr lang="pl-PL"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 </a:t>
            </a:r>
            <a:endParaRPr lang="pl-PL" dirty="0"/>
          </a:p>
        </p:txBody>
      </p:sp>
      <p:sp>
        <p:nvSpPr>
          <p:cNvPr id="3" name="Symbol zastępczy zawartości 2"/>
          <p:cNvSpPr>
            <a:spLocks noGrp="1"/>
          </p:cNvSpPr>
          <p:nvPr>
            <p:ph sz="quarter" idx="1"/>
          </p:nvPr>
        </p:nvSpPr>
        <p:spPr>
          <a:xfrm>
            <a:off x="301752" y="228600"/>
            <a:ext cx="8503920" cy="6008712"/>
          </a:xfrm>
        </p:spPr>
        <p:txBody>
          <a:bodyPr>
            <a:normAutofit/>
          </a:bodyPr>
          <a:lstStyle/>
          <a:p>
            <a:r>
              <a:rPr lang="pl-PL" dirty="0"/>
              <a:t>Ad. 2</a:t>
            </a:r>
          </a:p>
          <a:p>
            <a:endParaRPr lang="pl-PL" dirty="0"/>
          </a:p>
          <a:p>
            <a:r>
              <a:rPr lang="pl-PL" dirty="0"/>
              <a:t>Zawisłość sprawy/zawisłość sporu/lis </a:t>
            </a:r>
            <a:r>
              <a:rPr lang="pl-PL" dirty="0" err="1"/>
              <a:t>pendens</a:t>
            </a:r>
            <a:r>
              <a:rPr lang="pl-PL" dirty="0"/>
              <a:t> – rozpoczyna się z chwilą wszczęcia postępowania karnego przeciwko osobie</a:t>
            </a:r>
          </a:p>
          <a:p>
            <a:pPr>
              <a:buNone/>
            </a:pPr>
            <a:r>
              <a:rPr lang="pl-PL" dirty="0"/>
              <a:t>   (czyli z chwilą przedstawienia zarzutów) i trwa do chwili uprawomocnienia się orzeczenia kończącego postępowanie,</a:t>
            </a:r>
          </a:p>
          <a:p>
            <a:r>
              <a:rPr lang="pl-PL" dirty="0"/>
              <a:t>Cel: wyeliminowanie sytuacji równoległego prowadzenia niezależnie od siebie dwóch postępowań o to samo</a:t>
            </a:r>
          </a:p>
          <a:p>
            <a:r>
              <a:rPr lang="pl-PL" dirty="0"/>
              <a:t>Postępowanie wcześniejsze to to, w którym wcześniej przedstawiono zarzuty </a:t>
            </a:r>
          </a:p>
          <a:p>
            <a:endParaRPr lang="pl-PL" dirty="0"/>
          </a:p>
          <a:p>
            <a:endParaRPr lang="pl-PL"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a:bodyPr>
          <a:lstStyle/>
          <a:p>
            <a:r>
              <a:rPr lang="pl-PL" b="1" dirty="0"/>
              <a:t>Wyrok Sądu Najwyższego z dnia 14 czerwca 2013 r., II KK 135/13</a:t>
            </a:r>
          </a:p>
          <a:p>
            <a:pPr>
              <a:buNone/>
            </a:pPr>
            <a:endParaRPr lang="pl-PL" dirty="0"/>
          </a:p>
          <a:p>
            <a:r>
              <a:rPr lang="pl-PL" sz="4000" dirty="0"/>
              <a:t>Zawisłość sprawy rozpoczyna się z chwilą skierowania postępowania przeciwko konkretnej osobie, a więc z chwilą przedstawienia jej zarzutów, wraz z pojawieniem się w postępowaniu podejrzanego w rozumieniu art. 71 § 1 k.p.k.</a:t>
            </a:r>
          </a:p>
          <a:p>
            <a:endParaRPr lang="pl-PL"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b="1" dirty="0">
                <a:solidFill>
                  <a:srgbClr val="00B050"/>
                </a:solidFill>
              </a:rPr>
              <a:t>Niepodleganie orzecznictwu polskich sądów karnych – art. 17 par. 1 pkt 8 k.p.k. </a:t>
            </a:r>
          </a:p>
        </p:txBody>
      </p:sp>
      <p:sp>
        <p:nvSpPr>
          <p:cNvPr id="3" name="Symbol zastępczy zawartości 2"/>
          <p:cNvSpPr>
            <a:spLocks noGrp="1"/>
          </p:cNvSpPr>
          <p:nvPr>
            <p:ph sz="quarter" idx="1"/>
          </p:nvPr>
        </p:nvSpPr>
        <p:spPr>
          <a:xfrm>
            <a:off x="179512" y="1124744"/>
            <a:ext cx="8626160" cy="5544616"/>
          </a:xfrm>
        </p:spPr>
        <p:txBody>
          <a:bodyPr>
            <a:normAutofit fontScale="92500"/>
          </a:bodyPr>
          <a:lstStyle/>
          <a:p>
            <a:endParaRPr lang="pl-PL" dirty="0"/>
          </a:p>
          <a:p>
            <a:endParaRPr lang="pl-PL" dirty="0"/>
          </a:p>
          <a:p>
            <a:r>
              <a:rPr lang="pl-PL" dirty="0"/>
              <a:t>Przesłanka ta wiązana jest z immunitetami (materialnymi, immunitetami o charakterze mieszanym)</a:t>
            </a:r>
          </a:p>
          <a:p>
            <a:endParaRPr lang="pl-PL" dirty="0"/>
          </a:p>
          <a:p>
            <a:r>
              <a:rPr lang="pl-PL" dirty="0"/>
              <a:t>Choć ujęta od strony podmiotowej „sprawca nie podlega orzecznictwu polskich sądów karnych” ale owo niepodleganie może być następstwem przymiotów samego sprawcy, jak i faktu dopuszczenia się przez sprawcę czynu, który orzecznictwu polskich sądów karnych nie podlega</a:t>
            </a:r>
          </a:p>
          <a:p>
            <a:endParaRPr lang="pl-PL" dirty="0"/>
          </a:p>
          <a:p>
            <a:pPr>
              <a:buNone/>
            </a:pPr>
            <a:r>
              <a:rPr lang="pl-PL" dirty="0"/>
              <a:t> </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lstStyle/>
          <a:p>
            <a:r>
              <a:rPr lang="pl-PL" dirty="0"/>
              <a:t>Przesłanki tej nie należy jednak mylić z podległością sprawy sądom karnym – to bowiem jedynie zagadnienie właściwości sądów w ramach ich jurysdykcji</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62500" lnSpcReduction="20000"/>
          </a:bodyPr>
          <a:lstStyle/>
          <a:p>
            <a:pPr>
              <a:buNone/>
            </a:pPr>
            <a:r>
              <a:rPr lang="pl-PL" dirty="0"/>
              <a:t>     Z uwagi na immunitety orzecznictwu polskich sądów karnych nie podlegają:</a:t>
            </a:r>
          </a:p>
          <a:p>
            <a:endParaRPr lang="pl-PL" dirty="0"/>
          </a:p>
          <a:p>
            <a:pPr>
              <a:buNone/>
            </a:pPr>
            <a:r>
              <a:rPr lang="pl-PL" dirty="0"/>
              <a:t>1) Prezydent RP, który za popełnione przestępstwa odpowiada przed Trybunałem Stanu</a:t>
            </a:r>
          </a:p>
          <a:p>
            <a:pPr>
              <a:buNone/>
            </a:pPr>
            <a:r>
              <a:rPr lang="pl-PL" b="1" dirty="0"/>
              <a:t>     Art. 145 Konstytucji</a:t>
            </a:r>
            <a:r>
              <a:rPr lang="pl-PL" dirty="0"/>
              <a:t> </a:t>
            </a:r>
          </a:p>
          <a:p>
            <a:r>
              <a:rPr lang="pl-PL" dirty="0"/>
              <a:t>1. Prezydent Rzeczypospolitej za naruszenie Konstytucji, ustawy lub za popełnienie przestępstwa może być pociągnięty do odpowiedzialności przed Trybunałem Stanu.</a:t>
            </a:r>
          </a:p>
          <a:p>
            <a:r>
              <a:rPr lang="pl-PL" dirty="0"/>
              <a:t>2. Postawienie Prezydenta Rzeczypospolitej w stan oskarżenia może nastąpić uchwałą Zgromadzenia Narodowego, podjętą większością co najmniej 2/3 głosów ustawowej liczby członków Zgromadzenia Narodowego na wniosek co najmniej 140 członków Zgromadzenia Narodowego.</a:t>
            </a:r>
          </a:p>
          <a:p>
            <a:r>
              <a:rPr lang="pl-PL" dirty="0"/>
              <a:t>3. Z dniem podjęcia uchwały o postawieniu Prezydenta Rzeczypospolitej w stan oskarżenia przed Trybunałem Stanu sprawowanie urzędu przez Prezydenta Rzeczypospolitej ulega zawieszeniu. Przepis art. 131 stosuje się odpowiednio.</a:t>
            </a:r>
          </a:p>
          <a:p>
            <a:endParaRPr lang="pl-PL"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899592" y="1124744"/>
            <a:ext cx="7787208" cy="5256584"/>
          </a:xfrm>
        </p:spPr>
        <p:txBody>
          <a:bodyPr>
            <a:normAutofit fontScale="77500" lnSpcReduction="20000"/>
          </a:bodyPr>
          <a:lstStyle/>
          <a:p>
            <a:endParaRPr lang="pl-PL" dirty="0"/>
          </a:p>
          <a:p>
            <a:endParaRPr lang="pl-PL" dirty="0"/>
          </a:p>
          <a:p>
            <a:r>
              <a:rPr lang="pl-PL" dirty="0"/>
              <a:t>2) osoby korzystające z immunitetu dyplomatycznego </a:t>
            </a:r>
          </a:p>
          <a:p>
            <a:pPr>
              <a:buNone/>
            </a:pPr>
            <a:endParaRPr lang="pl-PL" b="1" dirty="0"/>
          </a:p>
          <a:p>
            <a:pPr>
              <a:buNone/>
            </a:pPr>
            <a:r>
              <a:rPr lang="pl-PL" b="1" dirty="0"/>
              <a:t>     Art. 578 k.p.k.</a:t>
            </a:r>
            <a:r>
              <a:rPr lang="pl-PL" dirty="0"/>
              <a:t> </a:t>
            </a:r>
            <a:r>
              <a:rPr lang="pl-PL" dirty="0">
                <a:solidFill>
                  <a:srgbClr val="FF0000"/>
                </a:solidFill>
              </a:rPr>
              <a:t>Nie podlegają orzecznictwu polskich sądów karnych:</a:t>
            </a:r>
          </a:p>
          <a:p>
            <a:r>
              <a:rPr lang="pl-PL" dirty="0"/>
              <a:t>1)   uwierzytelnieni w Rzeczypospolitej Polskiej szefowie przedstawicielstw dyplomatycznych państw obcych,</a:t>
            </a:r>
          </a:p>
          <a:p>
            <a:r>
              <a:rPr lang="pl-PL" dirty="0"/>
              <a:t>2)   osoby należące do personelu dyplomatycznego tych przedstawicielstw,</a:t>
            </a:r>
          </a:p>
          <a:p>
            <a:r>
              <a:rPr lang="pl-PL" dirty="0"/>
              <a:t>3)   osoby należące do personelu administracyjnego i technicznego tych przedstawicielstw,</a:t>
            </a:r>
          </a:p>
          <a:p>
            <a:r>
              <a:rPr lang="pl-PL" dirty="0"/>
              <a:t>4)   członkowie rodzin osób wymienionych w </a:t>
            </a:r>
            <a:r>
              <a:rPr lang="pl-PL" dirty="0" err="1"/>
              <a:t>pkt</a:t>
            </a:r>
            <a:r>
              <a:rPr lang="pl-PL" dirty="0"/>
              <a:t> 1-3, jeżeli pozostają z nimi we wspólnocie domowej,</a:t>
            </a:r>
          </a:p>
          <a:p>
            <a:r>
              <a:rPr lang="pl-PL" dirty="0"/>
              <a:t>5)   inne osoby korzystające z immunitetów dyplomatycznych na podstawie ustaw, umów lub powszechnie uznanych zwyczajów międzynarodowych</a:t>
            </a:r>
          </a:p>
          <a:p>
            <a:endParaRPr lang="pl-PL" dirty="0"/>
          </a:p>
          <a:p>
            <a:endParaRPr lang="pl-PL" dirty="0"/>
          </a:p>
          <a:p>
            <a:endParaRPr lang="pl-PL" dirty="0"/>
          </a:p>
          <a:p>
            <a:endParaRPr lang="pl-PL"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r>
              <a:rPr lang="pl-PL" dirty="0"/>
              <a:t>3) osoby  korzystające z immunitetu  konsularnego w zakresie tego immunitetu</a:t>
            </a:r>
          </a:p>
          <a:p>
            <a:endParaRPr lang="pl-PL" dirty="0"/>
          </a:p>
          <a:p>
            <a:pPr>
              <a:buNone/>
            </a:pPr>
            <a:r>
              <a:rPr lang="pl-PL" b="1" dirty="0"/>
              <a:t>    Art. 579.</a:t>
            </a:r>
            <a:r>
              <a:rPr lang="pl-PL" dirty="0"/>
              <a:t> § 1. Nie podlegają orzecznictwu polskich sądów karnych </a:t>
            </a:r>
            <a:r>
              <a:rPr lang="pl-PL" dirty="0">
                <a:solidFill>
                  <a:srgbClr val="FF0000"/>
                </a:solidFill>
              </a:rPr>
              <a:t>w zakresie czynności pełnionych podczas i w związku z wykonywaniem ich funkcji urzędowych, a na zasadzie wzajemności w pozostałym zakresie</a:t>
            </a:r>
            <a:r>
              <a:rPr lang="pl-PL" dirty="0"/>
              <a:t>:</a:t>
            </a:r>
          </a:p>
          <a:p>
            <a:r>
              <a:rPr lang="pl-PL" dirty="0"/>
              <a:t>1)   kierownicy urzędów konsularnych i inni urzędnicy konsularni państw obcych,</a:t>
            </a:r>
          </a:p>
          <a:p>
            <a:r>
              <a:rPr lang="pl-PL" dirty="0"/>
              <a:t>2)   osoby zrównane z nimi na podstawie umów lub powszechnie uznanych zwyczajów międzynarodowych.</a:t>
            </a:r>
          </a:p>
          <a:p>
            <a:pPr>
              <a:buNone/>
            </a:pPr>
            <a:endParaRPr lang="pl-PL" dirty="0"/>
          </a:p>
          <a:p>
            <a:endParaRPr lang="pl-PL"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normAutofit fontScale="92500" lnSpcReduction="20000"/>
          </a:bodyPr>
          <a:lstStyle/>
          <a:p>
            <a:endParaRPr lang="pl-PL" dirty="0"/>
          </a:p>
          <a:p>
            <a:r>
              <a:rPr lang="pl-PL" dirty="0"/>
              <a:t>Państwo wysyłające może zrzec się immunitetu</a:t>
            </a:r>
          </a:p>
          <a:p>
            <a:endParaRPr lang="pl-PL" dirty="0"/>
          </a:p>
          <a:p>
            <a:endParaRPr lang="pl-PL" dirty="0"/>
          </a:p>
          <a:p>
            <a:r>
              <a:rPr lang="pl-PL" b="1" dirty="0"/>
              <a:t>Art. 580.</a:t>
            </a:r>
            <a:r>
              <a:rPr lang="pl-PL" dirty="0"/>
              <a:t> § 1. Przepisów art. 578 i 579 nie stosuje się, gdy </a:t>
            </a:r>
            <a:r>
              <a:rPr lang="pl-PL" dirty="0">
                <a:solidFill>
                  <a:srgbClr val="FF0000"/>
                </a:solidFill>
              </a:rPr>
              <a:t>państwo wysyłające </a:t>
            </a:r>
            <a:r>
              <a:rPr lang="pl-PL" dirty="0"/>
              <a:t>zrzeknie się w sposób wyraźny immunitetu w stosunku do osoby wymienionej w tych przepisach.</a:t>
            </a:r>
          </a:p>
          <a:p>
            <a:endParaRPr lang="pl-PL" dirty="0"/>
          </a:p>
          <a:p>
            <a:r>
              <a:rPr lang="pl-PL" dirty="0"/>
              <a:t>§ 2. W stosunku do funkcjonariuszy organizacji międzynarodowych korzystających z immunitetu o zrzeczeniu, o którym mowa w § 1, rozstrzyga właściwa organizacja międzynarodowa.</a:t>
            </a:r>
          </a:p>
          <a:p>
            <a:endParaRPr lang="pl-PL"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7500" lnSpcReduction="20000"/>
          </a:bodyPr>
          <a:lstStyle/>
          <a:p>
            <a:r>
              <a:rPr lang="pl-PL" dirty="0"/>
              <a:t>1) uprawnione do zrzeczenia – wyłącznie państwo wysyłające (nie dyplomata/urzędnik konsularny, immunitet należy do państwa wysyłającego)</a:t>
            </a:r>
          </a:p>
          <a:p>
            <a:endParaRPr lang="pl-PL" dirty="0"/>
          </a:p>
          <a:p>
            <a:r>
              <a:rPr lang="pl-PL" dirty="0"/>
              <a:t>2) zrzeczenie się jest fakultatywne </a:t>
            </a:r>
          </a:p>
          <a:p>
            <a:endParaRPr lang="pl-PL" dirty="0"/>
          </a:p>
          <a:p>
            <a:r>
              <a:rPr lang="pl-PL" dirty="0"/>
              <a:t>3) zrzeczenie się dotyczy zawsze konkretnej osoby i konkretnego przypadku</a:t>
            </a:r>
          </a:p>
          <a:p>
            <a:pPr>
              <a:buNone/>
            </a:pPr>
            <a:endParaRPr lang="pl-PL" dirty="0"/>
          </a:p>
          <a:p>
            <a:pPr>
              <a:buNone/>
            </a:pPr>
            <a:r>
              <a:rPr lang="pl-PL" dirty="0"/>
              <a:t>    (niedopuszczalne jest generalne zrzeczenie się immunitetu dotyczące wszystkich członków misji lub też wszystkich – w tym i wszystkich spraw)</a:t>
            </a:r>
          </a:p>
          <a:p>
            <a:pPr>
              <a:buNone/>
            </a:pPr>
            <a:r>
              <a:rPr lang="pl-PL" dirty="0"/>
              <a:t>    </a:t>
            </a:r>
          </a:p>
          <a:p>
            <a:pPr>
              <a:buNone/>
            </a:pPr>
            <a:r>
              <a:rPr lang="pl-PL" dirty="0"/>
              <a:t>  4) zrzeczenie się musi być wyraźne</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85000" lnSpcReduction="20000"/>
          </a:bodyPr>
          <a:lstStyle/>
          <a:p>
            <a:pPr>
              <a:buNone/>
            </a:pPr>
            <a:r>
              <a:rPr lang="pl-PL" dirty="0"/>
              <a:t>4 ) posłowie i senatorowie w zakresie, w jakim korzystają z immunitetu materialnego </a:t>
            </a:r>
          </a:p>
          <a:p>
            <a:pPr>
              <a:buNone/>
            </a:pPr>
            <a:r>
              <a:rPr lang="pl-PL" dirty="0"/>
              <a:t>    </a:t>
            </a:r>
          </a:p>
          <a:p>
            <a:pPr>
              <a:buNone/>
            </a:pPr>
            <a:r>
              <a:rPr lang="pl-PL" dirty="0"/>
              <a:t>Immunitet parlamentarny 105 ust. 1 Konstytucji - posłowie (art. 105 ust. 1 Konstytucji w zw. z 108 Konstytucji - senatorowie)</a:t>
            </a:r>
          </a:p>
          <a:p>
            <a:endParaRPr lang="pl-PL" dirty="0"/>
          </a:p>
          <a:p>
            <a:r>
              <a:rPr lang="pl-PL" dirty="0"/>
              <a:t>Poseł nie może być pociągnięty do odpowiedzialności za swoją działalność wchodzącą w zakres sprawowania mandatu poselskiego ani w czasie jego trwania, ani po jego wygaśnięciu. Za taką działalność poseł odpowiada wyłącznie przed Sejmem, a w przypadku naruszenia praw osób trzecich może być pociągnięty do odpowiedzialności sądowej tylko za zgodą Sejmu.</a:t>
            </a:r>
          </a:p>
          <a:p>
            <a:pPr>
              <a:buNone/>
            </a:pPr>
            <a:r>
              <a:rPr lang="pl-PL" dirty="0"/>
              <a:t> </a:t>
            </a:r>
          </a:p>
          <a:p>
            <a:endParaRPr lang="pl-PL"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sz="2400" dirty="0"/>
              <a:t>Ustawa z dnia 9 maja 1996 r. o wykonywaniu mandatu posła i senatora</a:t>
            </a:r>
          </a:p>
        </p:txBody>
      </p:sp>
      <p:sp>
        <p:nvSpPr>
          <p:cNvPr id="3" name="Symbol zastępczy zawartości 2"/>
          <p:cNvSpPr>
            <a:spLocks noGrp="1"/>
          </p:cNvSpPr>
          <p:nvPr>
            <p:ph sz="quarter" idx="1"/>
          </p:nvPr>
        </p:nvSpPr>
        <p:spPr/>
        <p:txBody>
          <a:bodyPr>
            <a:normAutofit fontScale="62500" lnSpcReduction="20000"/>
          </a:bodyPr>
          <a:lstStyle/>
          <a:p>
            <a:r>
              <a:rPr lang="pl-PL" sz="2800" b="1" dirty="0"/>
              <a:t>Art. 6.</a:t>
            </a:r>
            <a:r>
              <a:rPr lang="pl-PL" sz="2800" dirty="0"/>
              <a:t> 1. Poseł lub senator nie może być pociągnięty do odpowiedzialności za </a:t>
            </a:r>
          </a:p>
          <a:p>
            <a:r>
              <a:rPr lang="pl-PL" sz="2800" dirty="0"/>
              <a:t>swoją działalność wchodzącą w zakres sprawowania mandatu ani w czasie jego trwania, ani po jego wygaśnięciu, z zastrzeżeniem art. 6a. Za taką działalność poseł lub senator odpowiada tylko przed Sejmem lub Senatem.</a:t>
            </a:r>
          </a:p>
          <a:p>
            <a:r>
              <a:rPr lang="pl-PL" sz="2800" dirty="0"/>
              <a:t>2. Działalność, o której mowa w ust. 1, obejmuje zgłaszanie wniosków, wystąpienia lub głosowania na posiedzeniach Sejmu, Senatu lub Zgromadzenia Narodowego oraz ich organów, na posiedzeniach klubów, kół i zespołów poselskich, senackich lub parlamentarnych, a także inną działalność związaną nieodłącznie ze sprawowaniem mandatu.</a:t>
            </a:r>
          </a:p>
          <a:p>
            <a:r>
              <a:rPr lang="pl-PL" sz="2800" dirty="0"/>
              <a:t>3. Za działalność, o której mowa w ust. 1, poseł lub senator ponosi odpowiedzialność dyscyplinarną lub finansową na zasadach określonych w ustawie oraz w regulaminach Sejmu lub Senatu.</a:t>
            </a:r>
          </a:p>
          <a:p>
            <a:r>
              <a:rPr lang="pl-PL" sz="2800" dirty="0"/>
              <a:t> </a:t>
            </a:r>
          </a:p>
          <a:p>
            <a:r>
              <a:rPr lang="pl-PL" sz="2800" b="1" dirty="0"/>
              <a:t>Art. 6a.</a:t>
            </a:r>
            <a:r>
              <a:rPr lang="pl-PL" sz="2800" dirty="0"/>
              <a:t> Poseł lub senator, który, podejmując działania wchodzące w zakres sprawowania mandatu, narusza prawa osób trzecich, może być pociągnięty do odpowiedzialności sądowej tylko za zgodą Sejmu lub Senatu.</a:t>
            </a:r>
          </a:p>
          <a:p>
            <a:r>
              <a:rPr lang="pl-PL" sz="2800" dirty="0"/>
              <a:t> </a:t>
            </a:r>
          </a:p>
          <a:p>
            <a:endParaRPr lang="pl-PL"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lnSpcReduction="10000"/>
          </a:bodyPr>
          <a:lstStyle/>
          <a:p>
            <a:r>
              <a:rPr lang="pl-PL" dirty="0"/>
              <a:t>5) </a:t>
            </a:r>
            <a:r>
              <a:rPr lang="pl-PL" dirty="0" err="1"/>
              <a:t>eurodeputowani</a:t>
            </a:r>
            <a:r>
              <a:rPr lang="pl-PL" dirty="0"/>
              <a:t> </a:t>
            </a:r>
          </a:p>
          <a:p>
            <a:endParaRPr lang="pl-PL" dirty="0"/>
          </a:p>
          <a:p>
            <a:pPr fontAlgn="t"/>
            <a:r>
              <a:rPr lang="pl-PL" b="1" dirty="0"/>
              <a:t>Artykuł 9 </a:t>
            </a:r>
            <a:r>
              <a:rPr lang="pl-PL" dirty="0"/>
              <a:t>Protokołu z 8.4. 1965 r. o przywilejach i  immunitetach Wspólnot Europejskich</a:t>
            </a:r>
          </a:p>
          <a:p>
            <a:pPr fontAlgn="t"/>
            <a:endParaRPr lang="pl-PL" dirty="0"/>
          </a:p>
          <a:p>
            <a:pPr fontAlgn="t"/>
            <a:r>
              <a:rPr lang="pl-PL" dirty="0"/>
              <a:t>Wobec członków Zgromadzenia nie można prowadzić dochodzenia, postępowania sądowego, ani też ich zatrzymywać z powodu ich opinii lub stanowiska zajętego przez nich w głosowaniu w czasie wykonywania przez nich obowiązków służbowych.</a:t>
            </a:r>
          </a:p>
          <a:p>
            <a:endParaRPr lang="pl-PL"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r>
              <a:rPr lang="pl-PL" dirty="0"/>
              <a:t>6) prokuratorzy, adwokaci, radcowie prawni i rzecznicy patentowi, w zakresie chroniącego ich immunitetu związanego z wolnością słowa </a:t>
            </a:r>
          </a:p>
          <a:p>
            <a:endParaRPr lang="pl-PL" dirty="0"/>
          </a:p>
          <a:p>
            <a:endParaRPr lang="pl-PL" dirty="0"/>
          </a:p>
          <a:p>
            <a:r>
              <a:rPr lang="pl-PL" dirty="0"/>
              <a:t>Art. 137 par. 4 ustawy Prawo o prokuraturze: Za </a:t>
            </a:r>
            <a:r>
              <a:rPr lang="pl-PL" i="1" dirty="0"/>
              <a:t>nadużycie</a:t>
            </a:r>
            <a:r>
              <a:rPr lang="pl-PL" dirty="0"/>
              <a:t> wolności słowa przy wykonywaniu obowiązków służbowych, stanowiące ściganą z oskarżenia prywatnego zniewagę strony, jej pełnomocnika lub obrońcy, kuratora, świadka, biegłego lub tłumacza, prokurator odpowiada tylko dyscyplinarnie.</a:t>
            </a:r>
          </a:p>
          <a:p>
            <a:endParaRPr lang="pl-PL"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normAutofit fontScale="92500"/>
          </a:bodyPr>
          <a:lstStyle/>
          <a:p>
            <a:r>
              <a:rPr lang="pl-PL" dirty="0"/>
              <a:t>b)</a:t>
            </a:r>
            <a:r>
              <a:rPr lang="pl-PL" b="1" dirty="0"/>
              <a:t> Art. 11 ustawy z dnia 6 lipca 1982 r. o radcach prawnych</a:t>
            </a:r>
          </a:p>
          <a:p>
            <a:pPr>
              <a:buNone/>
            </a:pPr>
            <a:r>
              <a:rPr lang="pl-PL" b="1" dirty="0"/>
              <a:t> </a:t>
            </a:r>
            <a:r>
              <a:rPr lang="pl-PL" dirty="0"/>
              <a:t>1. Radca prawny przy wykonywaniu czynności zawodowych korzysta z wolności słowa i pisma w granicach określonych przepisami prawa i rzeczową potrzebą.</a:t>
            </a:r>
          </a:p>
          <a:p>
            <a:r>
              <a:rPr lang="pl-PL" dirty="0"/>
              <a:t>2. Nadużycie wolności, o której mowa w ust. 1, stanowiące ściganą z oskarżenia prywatnego </a:t>
            </a:r>
            <a:r>
              <a:rPr lang="pl-PL" dirty="0">
                <a:solidFill>
                  <a:srgbClr val="00B0F0"/>
                </a:solidFill>
              </a:rPr>
              <a:t>zniewagę lub zniesławienie</a:t>
            </a:r>
            <a:r>
              <a:rPr lang="pl-PL" dirty="0"/>
              <a:t> strony, jej pełnomocnika lub obrońcy, kuratora, świadka, biegłego lub tłumacza, podlega ściganiu tylko w drodze dyscyplinarnej.</a:t>
            </a:r>
          </a:p>
          <a:p>
            <a:endParaRPr lang="pl-PL"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16632"/>
            <a:ext cx="8626160" cy="5982416"/>
          </a:xfrm>
        </p:spPr>
        <p:txBody>
          <a:bodyPr>
            <a:normAutofit/>
          </a:bodyPr>
          <a:lstStyle/>
          <a:p>
            <a:endParaRPr lang="pl-PL" dirty="0"/>
          </a:p>
          <a:p>
            <a:r>
              <a:rPr lang="pl-PL" b="1" dirty="0">
                <a:hlinkClick r:id="rId2"/>
              </a:rPr>
              <a:t>II DSI 28/19, Kara dyscyplinarna dla radcy prawnego. Wolność wypowiedzi radcy prawnego. - Postanowienie Sądu Najwyższego </a:t>
            </a:r>
            <a:endParaRPr lang="pl-PL" dirty="0"/>
          </a:p>
          <a:p>
            <a:r>
              <a:rPr lang="pl-PL" dirty="0"/>
              <a:t>OSNID 2020/3  -  postanowienie  z dnia  17 lipca 2019  r. </a:t>
            </a:r>
          </a:p>
          <a:p>
            <a:r>
              <a:rPr lang="pl-PL" dirty="0"/>
              <a:t>TEZA  | aktualna</a:t>
            </a:r>
          </a:p>
          <a:p>
            <a:r>
              <a:rPr lang="pl-PL" dirty="0"/>
              <a:t>Radca prawny powinien dążyć do tego by nawet w sytuacjach kolizyjnych, gdy działa się pod wpływem emocji - dobór słów był zawsze bardzo staranny i o ile to możliwe nacechowany pewną elegancją.</a:t>
            </a:r>
          </a:p>
          <a:p>
            <a:endParaRPr lang="pl-PL" dirty="0"/>
          </a:p>
        </p:txBody>
      </p:sp>
    </p:spTree>
    <p:extLst>
      <p:ext uri="{BB962C8B-B14F-4D97-AF65-F5344CB8AC3E}">
        <p14:creationId xmlns:p14="http://schemas.microsoft.com/office/powerpoint/2010/main" val="3911156646"/>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16632"/>
            <a:ext cx="8626160" cy="5982416"/>
          </a:xfrm>
        </p:spPr>
        <p:txBody>
          <a:bodyPr>
            <a:normAutofit lnSpcReduction="10000"/>
          </a:bodyPr>
          <a:lstStyle/>
          <a:p>
            <a:endParaRPr lang="pl-PL" dirty="0"/>
          </a:p>
          <a:p>
            <a:r>
              <a:rPr lang="pl-PL" b="1" dirty="0">
                <a:hlinkClick r:id="rId2"/>
              </a:rPr>
              <a:t>II ZK 56/22, Granice „rzeczowej potrzeby” - Wyrok Sądu Najwyższego </a:t>
            </a:r>
            <a:endParaRPr lang="pl-PL" dirty="0"/>
          </a:p>
          <a:p>
            <a:r>
              <a:rPr lang="pl-PL" dirty="0"/>
              <a:t>LEX nr 3574113  -  wyrok  z dnia  20 czerwca 2023  r. </a:t>
            </a:r>
          </a:p>
          <a:p>
            <a:r>
              <a:rPr lang="pl-PL" dirty="0"/>
              <a:t>TEZA  | aktualna</a:t>
            </a:r>
          </a:p>
          <a:p>
            <a:r>
              <a:rPr lang="pl-PL" dirty="0"/>
              <a:t>Tylko bowiem wówczas, gdy wypowiedź sformułowana w piśmie sporządzonym przez radcę prawnego w imieniu mandanta wykracza poza granice "rzeczowej potrzeby", może stanowić przedmiot przypisania deliktu w postępowaniu dyscyplinarnym. Tym samym o popełnieniu deliktu dyscyplinarnego nie decyduje samodzielnie niezgodność wypowiedzi z Kodeksem Etyki Radcy Prawnego. Ustalenia nie mogą być uczynione in </a:t>
            </a:r>
            <a:r>
              <a:rPr lang="pl-PL" dirty="0" err="1"/>
              <a:t>abstracto</a:t>
            </a:r>
            <a:r>
              <a:rPr lang="pl-PL" dirty="0"/>
              <a:t>.</a:t>
            </a:r>
          </a:p>
          <a:p>
            <a:endParaRPr lang="pl-PL" dirty="0"/>
          </a:p>
        </p:txBody>
      </p:sp>
    </p:spTree>
    <p:extLst>
      <p:ext uri="{BB962C8B-B14F-4D97-AF65-F5344CB8AC3E}">
        <p14:creationId xmlns:p14="http://schemas.microsoft.com/office/powerpoint/2010/main" val="2221361224"/>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16632"/>
            <a:ext cx="8626160" cy="5982416"/>
          </a:xfrm>
        </p:spPr>
        <p:txBody>
          <a:bodyPr>
            <a:normAutofit lnSpcReduction="10000"/>
          </a:bodyPr>
          <a:lstStyle/>
          <a:p>
            <a:endParaRPr lang="pl-PL" dirty="0"/>
          </a:p>
          <a:p>
            <a:endParaRPr lang="pl-PL" dirty="0"/>
          </a:p>
          <a:p>
            <a:r>
              <a:rPr lang="pl-PL" b="1" dirty="0">
                <a:hlinkClick r:id="rId2"/>
              </a:rPr>
              <a:t>V </a:t>
            </a:r>
            <a:r>
              <a:rPr lang="pl-PL" b="1" dirty="0" err="1">
                <a:hlinkClick r:id="rId2"/>
              </a:rPr>
              <a:t>ACa</a:t>
            </a:r>
            <a:r>
              <a:rPr lang="pl-PL" b="1" dirty="0">
                <a:hlinkClick r:id="rId2"/>
              </a:rPr>
              <a:t> 61/22, Immunitet radcowski - Wyrok Sądu Apelacyjnego w Warszawie</a:t>
            </a:r>
            <a:r>
              <a:rPr lang="pl-PL" dirty="0">
                <a:hlinkClick r:id="rId2"/>
              </a:rPr>
              <a:t> </a:t>
            </a:r>
            <a:endParaRPr lang="pl-PL" dirty="0"/>
          </a:p>
          <a:p>
            <a:r>
              <a:rPr lang="pl-PL" dirty="0"/>
              <a:t>LEX nr 3451130  -  wyrok  z dnia  26 października 2022  r. </a:t>
            </a:r>
          </a:p>
          <a:p>
            <a:r>
              <a:rPr lang="pl-PL" dirty="0"/>
              <a:t>TEZA  | aktualna</a:t>
            </a:r>
          </a:p>
          <a:p>
            <a:r>
              <a:rPr lang="pl-PL" dirty="0"/>
              <a:t>Z samej istoty zachowania, o którym traktuje art. 11 ustawy z 1982 r. o radcach prawnych wynika, że może się ono przejawić w toku trwającego przed sądem (innym organem) sporu, a pokrzywdzonym może być jedynie osoba uczestnicząca w tym postępowaniu - w jednej z ról procesowych określonych w art. 11 ust. 2 ustawy - w chwili popełnienia czynu.</a:t>
            </a:r>
          </a:p>
          <a:p>
            <a:endParaRPr lang="pl-PL" dirty="0"/>
          </a:p>
        </p:txBody>
      </p:sp>
    </p:spTree>
    <p:extLst>
      <p:ext uri="{BB962C8B-B14F-4D97-AF65-F5344CB8AC3E}">
        <p14:creationId xmlns:p14="http://schemas.microsoft.com/office/powerpoint/2010/main" val="2225249914"/>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r>
              <a:rPr lang="pl-PL" dirty="0"/>
              <a:t>c) art. 8 ustawy z dnia 26 maja 1982 r. Prawo o adwokaturze</a:t>
            </a:r>
          </a:p>
          <a:p>
            <a:endParaRPr lang="pl-PL" dirty="0"/>
          </a:p>
          <a:p>
            <a:r>
              <a:rPr lang="pl-PL" b="1" dirty="0"/>
              <a:t>Art. 8.</a:t>
            </a:r>
            <a:r>
              <a:rPr lang="pl-PL" dirty="0"/>
              <a:t> 1. Adwokat przy wykonywaniu zawodu adwokackiego korzysta z wolności słowa i pisma w granicach określonych przez zadania adwokatury i przepisy prawa.</a:t>
            </a:r>
          </a:p>
          <a:p>
            <a:r>
              <a:rPr lang="pl-PL" dirty="0"/>
              <a:t>2. Nadużycie tej wolności, stanowiące ściganą z oskarżenia prywatnego </a:t>
            </a:r>
            <a:r>
              <a:rPr lang="pl-PL" dirty="0">
                <a:solidFill>
                  <a:srgbClr val="FF0000"/>
                </a:solidFill>
              </a:rPr>
              <a:t>zniewagę lub zniesławienie </a:t>
            </a:r>
            <a:r>
              <a:rPr lang="pl-PL" dirty="0"/>
              <a:t>strony, jej pełnomocnika lub obrońcy, kuratora, świadka, biegłego lub tłumacza, podlega ściganiu tylko w drodze dyscyplinarnej</a:t>
            </a:r>
          </a:p>
          <a:p>
            <a:endParaRPr lang="pl-PL"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ytuł 2"/>
          <p:cNvSpPr>
            <a:spLocks noGrp="1"/>
          </p:cNvSpPr>
          <p:nvPr>
            <p:ph type="title"/>
          </p:nvPr>
        </p:nvSpPr>
        <p:spPr/>
        <p:txBody>
          <a:bodyPr/>
          <a:lstStyle/>
          <a:p>
            <a:endParaRPr lang="pl-PL"/>
          </a:p>
        </p:txBody>
      </p:sp>
      <p:sp>
        <p:nvSpPr>
          <p:cNvPr id="2" name="Symbol zastępczy zawartości 1"/>
          <p:cNvSpPr>
            <a:spLocks noGrp="1"/>
          </p:cNvSpPr>
          <p:nvPr>
            <p:ph sz="quarter" idx="1"/>
          </p:nvPr>
        </p:nvSpPr>
        <p:spPr/>
        <p:txBody>
          <a:bodyPr>
            <a:normAutofit lnSpcReduction="10000"/>
          </a:bodyPr>
          <a:lstStyle/>
          <a:p>
            <a:r>
              <a:rPr lang="pl-PL" dirty="0"/>
              <a:t>D) art. 11 ust. 1 i 2 ustawy  z dnia 11 kwietnia 2001 r. o rzecznikach patentowych </a:t>
            </a:r>
          </a:p>
          <a:p>
            <a:r>
              <a:rPr lang="pl-PL" b="1" dirty="0"/>
              <a:t>Art. 11.</a:t>
            </a:r>
            <a:r>
              <a:rPr lang="pl-PL" dirty="0"/>
              <a:t> 1. Rzecznik patentowy przy wykonywaniu czynności zawodowych korzysta z wolności słowa i pisma w granicach określonych przepisami prawa i rzeczową potrzebą.</a:t>
            </a:r>
          </a:p>
          <a:p>
            <a:r>
              <a:rPr lang="pl-PL" dirty="0"/>
              <a:t>2. Nadużycie wolności, o której mowa w ust. 1, stanowiące ściganą z oskarżenia prywatnego </a:t>
            </a:r>
            <a:r>
              <a:rPr lang="pl-PL" dirty="0">
                <a:solidFill>
                  <a:srgbClr val="FF0000"/>
                </a:solidFill>
              </a:rPr>
              <a:t>zniewagę lub zniesławienie </a:t>
            </a:r>
            <a:r>
              <a:rPr lang="pl-PL" dirty="0"/>
              <a:t>strony lub jej pełnomocnika, świadka, biegłego albo tłumacza, podlega wyłącznie odpowiedzialności dyscyplinarnej.</a:t>
            </a:r>
          </a:p>
          <a:p>
            <a:endParaRPr lang="pl-PL"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r>
              <a:rPr lang="pl-PL" b="1" dirty="0"/>
              <a:t>Uchwała</a:t>
            </a:r>
            <a:r>
              <a:rPr lang="pl-PL" dirty="0"/>
              <a:t> Sądu Najwyższego z dnia 24 lutego 1998 r. </a:t>
            </a:r>
            <a:r>
              <a:rPr lang="pl-PL" b="1" dirty="0"/>
              <a:t>I KZP 36/97</a:t>
            </a:r>
            <a:endParaRPr lang="pl-PL" dirty="0"/>
          </a:p>
          <a:p>
            <a:pPr>
              <a:buNone/>
            </a:pPr>
            <a:r>
              <a:rPr lang="pl-PL" dirty="0"/>
              <a:t> </a:t>
            </a:r>
          </a:p>
          <a:p>
            <a:r>
              <a:rPr lang="pl-PL" dirty="0"/>
              <a:t>Nadużycie przez adwokata przy wykonywaniu zawodu wolności słowa i pisma, stanowiące ściganą z oskarżenia prywatnego zniewagę lub zniesławienie osoby nie należącej do kręgu osób wymienionych w art. 8 ust. 2 ustawy z dnia 26 maja 1982 r. - Prawo o adwokaturze (Dz. U. Nr 16, poz. 124 ze zm.), w tym osoby, która </a:t>
            </a:r>
            <a:r>
              <a:rPr lang="pl-PL" dirty="0">
                <a:solidFill>
                  <a:srgbClr val="FF0000"/>
                </a:solidFill>
              </a:rPr>
              <a:t>dopiero w przyszłości </a:t>
            </a:r>
            <a:r>
              <a:rPr lang="pl-PL" dirty="0"/>
              <a:t>może uzyskać status strony, pociąga za sobą odpowiedzialność zarówno dyscyplinarną jak i karną. </a:t>
            </a:r>
          </a:p>
          <a:p>
            <a:endParaRPr lang="pl-PL"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endParaRPr lang="pl-PL" dirty="0"/>
          </a:p>
          <a:p>
            <a:endParaRPr lang="pl-PL" dirty="0"/>
          </a:p>
          <a:p>
            <a:r>
              <a:rPr lang="pl-PL" dirty="0"/>
              <a:t>Czy immunitet materialny adwokata/radcy prawnego może być unicestwiony  przez ingerencję prokuratora podjętą na podstawie art. 60 </a:t>
            </a:r>
            <a:r>
              <a:rPr lang="pl-PL" dirty="0">
                <a:latin typeface="Times New Roman"/>
                <a:cs typeface="Times New Roman"/>
              </a:rPr>
              <a:t>§</a:t>
            </a:r>
            <a:r>
              <a:rPr lang="pl-PL" dirty="0"/>
              <a:t> 1 k.p.k.?</a:t>
            </a:r>
          </a:p>
          <a:p>
            <a:endParaRPr lang="pl-PL" dirty="0"/>
          </a:p>
          <a:p>
            <a:r>
              <a:rPr lang="pl-PL" b="1" dirty="0"/>
              <a:t>Art. 60.</a:t>
            </a:r>
            <a:r>
              <a:rPr lang="pl-PL" dirty="0"/>
              <a:t> </a:t>
            </a:r>
            <a:r>
              <a:rPr lang="pl-PL"/>
              <a:t>§ 1 </a:t>
            </a:r>
            <a:r>
              <a:rPr lang="pl-PL" dirty="0"/>
              <a:t>W sprawach o przestępstwa ścigane z oskarżenia prywatnego prokurator wszczyna postępowanie albo jako oskarżyciel publiczny wstępuje do postępowania już wszczętego, jeżeli wymaga tego ochrona praworządności lub interes społeczny.</a:t>
            </a: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301752" y="116632"/>
            <a:ext cx="8503920" cy="6408712"/>
          </a:xfrm>
        </p:spPr>
        <p:txBody>
          <a:bodyPr>
            <a:normAutofit fontScale="70000" lnSpcReduction="20000"/>
          </a:bodyPr>
          <a:lstStyle/>
          <a:p>
            <a:r>
              <a:rPr lang="pl-PL" dirty="0"/>
              <a:t>7) sędziowie i prokuratorzy w zakresie wykroczeń – co do zasady</a:t>
            </a:r>
          </a:p>
          <a:p>
            <a:pPr>
              <a:buNone/>
            </a:pPr>
            <a:r>
              <a:rPr lang="pl-PL" b="1" dirty="0"/>
              <a:t>Podstawowe regulacje:</a:t>
            </a:r>
          </a:p>
          <a:p>
            <a:pPr>
              <a:buNone/>
            </a:pPr>
            <a:r>
              <a:rPr lang="pl-PL" b="1" dirty="0"/>
              <a:t>   Art. 81 ustawy z dnia 27 lipca 2001 r. Prawo o ustroju sądów powszechnych</a:t>
            </a:r>
          </a:p>
          <a:p>
            <a:r>
              <a:rPr lang="pl-PL" b="1" dirty="0"/>
              <a:t>  </a:t>
            </a:r>
            <a:r>
              <a:rPr lang="pl-PL" dirty="0"/>
              <a:t> Art.  81.  [Odpowiedzialność sędziego za wykroczenia]</a:t>
            </a:r>
          </a:p>
          <a:p>
            <a:r>
              <a:rPr lang="pl-PL" dirty="0"/>
              <a:t>§  1. </a:t>
            </a:r>
          </a:p>
          <a:p>
            <a:r>
              <a:rPr lang="pl-PL" dirty="0"/>
              <a:t>Za wykroczenie sędzia odpowiada tylko dyscyplinarnie, z zastrzeżeniem § 2.</a:t>
            </a:r>
          </a:p>
          <a:p>
            <a:r>
              <a:rPr lang="pl-PL" dirty="0"/>
              <a:t>§  2. </a:t>
            </a:r>
          </a:p>
          <a:p>
            <a:r>
              <a:rPr lang="pl-PL" dirty="0"/>
              <a:t>Sędzia może wyrazić zgodę na pociągnięcie go do odpowiedzialności karnej za wykroczenia, o których mowa w § 3, w trybie określonym w tym przepisie.</a:t>
            </a:r>
          </a:p>
          <a:p>
            <a:r>
              <a:rPr lang="pl-PL" dirty="0"/>
              <a:t>§  3. </a:t>
            </a:r>
          </a:p>
          <a:p>
            <a:r>
              <a:rPr lang="pl-PL" dirty="0"/>
              <a:t>W przypadku popełnienia przez sędziego wykroczenia, o którym mowa w rozdziale XI ustawy z dnia 20 maja 1971 r. - Kodeks wykroczeń (Dz. U. z 2015 r. poz. 1094, 1485, 1634 i 1707 oraz z 2017 r. poz. 966 i 1941), przyjęcie przez sędziego mandatu karnego albo uiszczenie grzywny, w przypadku ukarania mandatem karnym zaocznym, o którym mowa w art. 98 § 1 pkt 3 ustawy z dnia 24 sierpnia 2001 r. - Kodeks postępowania w sprawach o wykroczenia (Dz. U. z 2016 r. poz. 1713, z </a:t>
            </a:r>
            <a:r>
              <a:rPr lang="pl-PL" dirty="0" err="1"/>
              <a:t>późn</a:t>
            </a:r>
            <a:r>
              <a:rPr lang="pl-PL" dirty="0"/>
              <a:t>. zm.), stanowi oświadczenie o wyrażeniu przez niego zgody na pociągnięcie go do odpowiedzialności w tej formie.</a:t>
            </a:r>
          </a:p>
          <a:p>
            <a:r>
              <a:rPr lang="pl-PL" dirty="0">
                <a:solidFill>
                  <a:srgbClr val="FF0000"/>
                </a:solidFill>
              </a:rPr>
              <a:t>§  4.  </a:t>
            </a:r>
          </a:p>
          <a:p>
            <a:r>
              <a:rPr lang="pl-PL" dirty="0">
                <a:solidFill>
                  <a:srgbClr val="FF0000"/>
                </a:solidFill>
              </a:rPr>
              <a:t> Wyrażenie przez sędziego zgody na pociągnięcie go do odpowiedzialności karnej w trybie określonym w § 3 wyłącza odpowiedzialność dyscyplinarną.</a:t>
            </a: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ytuł 1">
            <a:extLst>
              <a:ext uri="{FF2B5EF4-FFF2-40B4-BE49-F238E27FC236}">
                <a16:creationId xmlns:a16="http://schemas.microsoft.com/office/drawing/2014/main" id="{2A10C071-E388-4FF8-015B-6964F50E7BE6}"/>
              </a:ext>
            </a:extLst>
          </p:cNvPr>
          <p:cNvSpPr>
            <a:spLocks noGrp="1"/>
          </p:cNvSpPr>
          <p:nvPr>
            <p:ph sz="quarter" idx="1"/>
          </p:nvPr>
        </p:nvSpPr>
        <p:spPr>
          <a:xfrm>
            <a:off x="179388" y="260350"/>
            <a:ext cx="8626475" cy="6481018"/>
          </a:xfrm>
        </p:spPr>
        <p:txBody>
          <a:bodyPr>
            <a:normAutofit fontScale="70000" lnSpcReduction="20000"/>
          </a:bodyPr>
          <a:lstStyle/>
          <a:p>
            <a:r>
              <a:rPr lang="pl-PL" dirty="0"/>
              <a:t>Art.  138. Prawo o prokuraturze</a:t>
            </a:r>
          </a:p>
          <a:p>
            <a:r>
              <a:rPr lang="pl-PL" dirty="0"/>
              <a:t>§  1. </a:t>
            </a:r>
          </a:p>
          <a:p>
            <a:r>
              <a:rPr lang="pl-PL" dirty="0"/>
              <a:t>Za wykroczenie prokurator odpowiada tylko dyscyplinarnie, z zastrzeżeniem § 3-5.</a:t>
            </a:r>
          </a:p>
          <a:p>
            <a:r>
              <a:rPr lang="pl-PL" dirty="0"/>
              <a:t>§  2. </a:t>
            </a:r>
          </a:p>
          <a:p>
            <a:r>
              <a:rPr lang="pl-PL" dirty="0"/>
              <a:t>Do prokuratora będącego, uczestnikiem lub świadkiem w postępowaniu sądowym stosuje się </a:t>
            </a:r>
            <a:r>
              <a:rPr lang="pl-PL" dirty="0">
                <a:hlinkClick r:id="rId2"/>
              </a:rPr>
              <a:t>art. 51 § 1</a:t>
            </a:r>
            <a:r>
              <a:rPr lang="pl-PL" dirty="0"/>
              <a:t> ustawy z dnia 27 lipca 2001 r. - Prawo o ustroju sądów powszechnych.</a:t>
            </a:r>
          </a:p>
          <a:p>
            <a:r>
              <a:rPr lang="pl-PL" dirty="0"/>
              <a:t>§  3. </a:t>
            </a:r>
          </a:p>
          <a:p>
            <a:r>
              <a:rPr lang="pl-PL" dirty="0"/>
              <a:t>Prokurator może wyrazić zgodę na pociągnięcie go do odpowiedzialności karnej za wykroczenia, o których mowa w § 4, w trybie określonym w tym przepisie.</a:t>
            </a:r>
          </a:p>
          <a:p>
            <a:r>
              <a:rPr lang="pl-PL" dirty="0"/>
              <a:t>§  4. </a:t>
            </a:r>
          </a:p>
          <a:p>
            <a:r>
              <a:rPr lang="pl-PL" dirty="0"/>
              <a:t>W przypadku popełnienia przez prokuratora wykroczenia, o którym mowa w </a:t>
            </a:r>
            <a:r>
              <a:rPr lang="pl-PL" dirty="0">
                <a:hlinkClick r:id="rId3"/>
              </a:rPr>
              <a:t>rozdziale XI</a:t>
            </a:r>
            <a:r>
              <a:rPr lang="pl-PL" dirty="0"/>
              <a:t> ustawy z dnia 20 maja 1971 r. - Kodeks wykroczeń (Dz. U. z 2023 r. poz. 2119), przyjęcie przez prokuratora mandatu karnego albo uiszczenie grzywny, w przypadku ukarania mandatem karnym zaocznym, o którym mowa w </a:t>
            </a:r>
            <a:r>
              <a:rPr lang="pl-PL" dirty="0">
                <a:hlinkClick r:id="rId4"/>
              </a:rPr>
              <a:t>art. 98 § 1 pkt 3</a:t>
            </a:r>
            <a:r>
              <a:rPr lang="pl-PL" dirty="0"/>
              <a:t> ustawy z dnia 24 sierpnia 2001 r. - Kodeks postępowania w sprawach o wykroczenia (Dz. U. z 2022 r. poz. 1124 oraz z 2023 r. poz. 1963), stanowi oświadczenie o wyrażeniu przez niego zgody na pociągnięcie go do odpowiedzialności w tej formie.</a:t>
            </a:r>
          </a:p>
          <a:p>
            <a:r>
              <a:rPr lang="pl-PL" dirty="0"/>
              <a:t>§  5. </a:t>
            </a:r>
          </a:p>
          <a:p>
            <a:r>
              <a:rPr lang="pl-PL" dirty="0"/>
              <a:t>Wyrażenie przez prokuratora zgody na pociągnięcie go do odpowiedzialności karnej w trybie określonym w § 4 wyłącza odpowiedzialność dyscyplinarną.</a:t>
            </a:r>
          </a:p>
          <a:p>
            <a:endParaRPr lang="pl-PL"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normAutofit/>
          </a:bodyPr>
          <a:lstStyle/>
          <a:p>
            <a:pPr fontAlgn="t">
              <a:buNone/>
            </a:pPr>
            <a:r>
              <a:rPr lang="pl-PL" dirty="0"/>
              <a:t> </a:t>
            </a:r>
          </a:p>
          <a:p>
            <a:pPr fontAlgn="t"/>
            <a:r>
              <a:rPr lang="pl-PL" dirty="0"/>
              <a:t>wyrok SN z 13.04. 2006 r., SNO 17/06  </a:t>
            </a:r>
          </a:p>
          <a:p>
            <a:pPr fontAlgn="t">
              <a:buNone/>
            </a:pPr>
            <a:endParaRPr lang="pl-PL" dirty="0"/>
          </a:p>
          <a:p>
            <a:pPr fontAlgn="t"/>
            <a:r>
              <a:rPr lang="pl-PL" dirty="0"/>
              <a:t>W postępowaniu dyscyplinarnym odpowiednie zastosowanie ma również przepis art. 17 § 1 </a:t>
            </a:r>
            <a:r>
              <a:rPr lang="pl-PL" dirty="0" err="1"/>
              <a:t>pkt</a:t>
            </a:r>
            <a:r>
              <a:rPr lang="pl-PL" dirty="0"/>
              <a:t> 8 k.p.k., co oznacza, że nie wszczyna się postępowania dyscyplinarnego, a wszczęte umarza jeżeli obwiniony nie podlega orzecznictwu sądu dyscyplinarnego.</a:t>
            </a:r>
          </a:p>
          <a:p>
            <a:endParaRPr lang="pl-PL"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a:xfrm>
            <a:off x="301752" y="188640"/>
            <a:ext cx="8534400" cy="936104"/>
          </a:xfrm>
        </p:spPr>
        <p:txBody>
          <a:bodyPr>
            <a:normAutofit fontScale="90000"/>
          </a:bodyPr>
          <a:lstStyle/>
          <a:p>
            <a:r>
              <a:rPr lang="pl-PL" b="1" dirty="0">
                <a:solidFill>
                  <a:srgbClr val="00B050"/>
                </a:solidFill>
              </a:rPr>
              <a:t>Brak skargi uprawnionego oskarżyciela </a:t>
            </a:r>
            <a:br>
              <a:rPr lang="pl-PL" b="1" dirty="0">
                <a:solidFill>
                  <a:srgbClr val="00B050"/>
                </a:solidFill>
              </a:rPr>
            </a:br>
            <a:endParaRPr lang="pl-PL" b="1" dirty="0">
              <a:solidFill>
                <a:srgbClr val="00B050"/>
              </a:solidFill>
            </a:endParaRPr>
          </a:p>
        </p:txBody>
      </p:sp>
      <p:sp>
        <p:nvSpPr>
          <p:cNvPr id="3" name="Symbol zastępczy zawartości 2"/>
          <p:cNvSpPr>
            <a:spLocks noGrp="1"/>
          </p:cNvSpPr>
          <p:nvPr>
            <p:ph sz="quarter" idx="1"/>
          </p:nvPr>
        </p:nvSpPr>
        <p:spPr/>
        <p:txBody>
          <a:bodyPr>
            <a:normAutofit/>
          </a:bodyPr>
          <a:lstStyle/>
          <a:p>
            <a:r>
              <a:rPr lang="pl-PL" dirty="0"/>
              <a:t>Art. 17 par. 1 </a:t>
            </a:r>
            <a:r>
              <a:rPr lang="pl-PL" dirty="0" err="1"/>
              <a:t>pkt</a:t>
            </a:r>
            <a:r>
              <a:rPr lang="pl-PL" dirty="0"/>
              <a:t> 9 </a:t>
            </a:r>
          </a:p>
          <a:p>
            <a:pPr>
              <a:buNone/>
            </a:pPr>
            <a:endParaRPr lang="pl-PL" dirty="0"/>
          </a:p>
          <a:p>
            <a:pPr>
              <a:buNone/>
            </a:pPr>
            <a:endParaRPr lang="pl-PL" dirty="0"/>
          </a:p>
          <a:p>
            <a:pPr>
              <a:buFontTx/>
              <a:buChar char="-"/>
            </a:pPr>
            <a:r>
              <a:rPr lang="pl-PL" dirty="0"/>
              <a:t>Przesłanka ta odnosi się do postępowania jurysdykcyjnego</a:t>
            </a:r>
          </a:p>
          <a:p>
            <a:pPr>
              <a:buFontTx/>
              <a:buChar char="-"/>
            </a:pPr>
            <a:endParaRPr lang="pl-PL" i="1" dirty="0"/>
          </a:p>
          <a:p>
            <a:pPr>
              <a:buFontTx/>
              <a:buChar char="-"/>
            </a:pPr>
            <a:r>
              <a:rPr lang="pl-PL" b="1" i="1" dirty="0"/>
              <a:t>Art. 14.</a:t>
            </a:r>
            <a:r>
              <a:rPr lang="pl-PL" i="1" dirty="0"/>
              <a:t> § 1. Wszczęcie postępowania sądowego następuje na żądanie uprawnionego oskarżyciela lub innego uprawnionego podmiotu.</a:t>
            </a:r>
          </a:p>
          <a:p>
            <a:pPr>
              <a:buFontTx/>
              <a:buChar char="-"/>
            </a:pPr>
            <a:endParaRPr lang="pl-PL"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normAutofit/>
          </a:bodyPr>
          <a:lstStyle/>
          <a:p>
            <a:endParaRPr lang="pl-PL" dirty="0"/>
          </a:p>
          <a:p>
            <a:endParaRPr lang="pl-PL" dirty="0"/>
          </a:p>
          <a:p>
            <a:r>
              <a:rPr lang="pl-PL" dirty="0"/>
              <a:t>Najważniejszą i jednocześnie najczęściej występującą skargą zasadniczą jest oczywiście akt oskarżenia </a:t>
            </a:r>
          </a:p>
          <a:p>
            <a:endParaRPr lang="pl-PL" dirty="0"/>
          </a:p>
          <a:p>
            <a:pPr>
              <a:buNone/>
            </a:pPr>
            <a:r>
              <a:rPr lang="pl-PL" dirty="0"/>
              <a:t>Akt oskarżenia – zwyczajny</a:t>
            </a:r>
          </a:p>
          <a:p>
            <a:pPr>
              <a:buNone/>
            </a:pPr>
            <a:r>
              <a:rPr lang="pl-PL" dirty="0"/>
              <a:t>Akty oskarżenia szczególne – subsydiarny akt oskarżenia, prywatny akt oskarżenia, wpadkowy akt oskarżenia (art. 398 k.p.k.)</a:t>
            </a: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p:txBody>
          <a:bodyPr>
            <a:normAutofit/>
          </a:bodyPr>
          <a:lstStyle/>
          <a:p>
            <a:endParaRPr lang="pl-PL" dirty="0"/>
          </a:p>
          <a:p>
            <a:endParaRPr lang="pl-PL" dirty="0"/>
          </a:p>
        </p:txBody>
      </p:sp>
      <p:sp>
        <p:nvSpPr>
          <p:cNvPr id="5" name="pole tekstowe 4">
            <a:extLst>
              <a:ext uri="{FF2B5EF4-FFF2-40B4-BE49-F238E27FC236}">
                <a16:creationId xmlns:a16="http://schemas.microsoft.com/office/drawing/2014/main" id="{68A3E188-09EA-2C15-7A64-80066CBFDEAB}"/>
              </a:ext>
            </a:extLst>
          </p:cNvPr>
          <p:cNvSpPr txBox="1"/>
          <p:nvPr/>
        </p:nvSpPr>
        <p:spPr>
          <a:xfrm>
            <a:off x="338328" y="1307561"/>
            <a:ext cx="8626160" cy="4832092"/>
          </a:xfrm>
          <a:prstGeom prst="rect">
            <a:avLst/>
          </a:prstGeom>
          <a:noFill/>
        </p:spPr>
        <p:txBody>
          <a:bodyPr wrap="square">
            <a:spAutoFit/>
          </a:bodyPr>
          <a:lstStyle/>
          <a:p>
            <a:r>
              <a:rPr lang="pl-PL" sz="2800" dirty="0"/>
              <a:t>Art.  398.  §  1. </a:t>
            </a:r>
          </a:p>
          <a:p>
            <a:r>
              <a:rPr lang="pl-PL" sz="2800" dirty="0"/>
              <a:t>Jeżeli na podstawie okoliczności, które wyszły na jaw w toku rozprawy, oskarżyciel zarzucił oskarżonemu inny czyn oprócz objętego aktem oskarżenia, sąd może za zgodą oskarżonego rozpoznać nowe oskarżenie na tej samej rozprawie, chyba że zachodzi konieczność przeprowadzenia postępowania przygotowawczego co do nowego czynu.</a:t>
            </a:r>
          </a:p>
          <a:p>
            <a:r>
              <a:rPr lang="pl-PL" sz="2800" dirty="0"/>
              <a:t>§  2. </a:t>
            </a:r>
          </a:p>
          <a:p>
            <a:r>
              <a:rPr lang="pl-PL" sz="2800" dirty="0"/>
              <a:t>W razie odroczenia rozprawy oskarżyciel wnosi nowy lub dodatkowy akt oskarżenia.</a:t>
            </a:r>
          </a:p>
        </p:txBody>
      </p:sp>
    </p:spTree>
    <p:extLst>
      <p:ext uri="{BB962C8B-B14F-4D97-AF65-F5344CB8AC3E}">
        <p14:creationId xmlns:p14="http://schemas.microsoft.com/office/powerpoint/2010/main" val="3690514270"/>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ytuł 2"/>
          <p:cNvSpPr>
            <a:spLocks noGrp="1"/>
          </p:cNvSpPr>
          <p:nvPr>
            <p:ph type="title"/>
          </p:nvPr>
        </p:nvSpPr>
        <p:spPr/>
        <p:txBody>
          <a:bodyPr/>
          <a:lstStyle/>
          <a:p>
            <a:endParaRPr lang="pl-PL"/>
          </a:p>
        </p:txBody>
      </p:sp>
      <p:sp>
        <p:nvSpPr>
          <p:cNvPr id="2" name="Symbol zastępczy zawartości 1"/>
          <p:cNvSpPr>
            <a:spLocks noGrp="1"/>
          </p:cNvSpPr>
          <p:nvPr>
            <p:ph sz="quarter" idx="1"/>
          </p:nvPr>
        </p:nvSpPr>
        <p:spPr/>
        <p:txBody>
          <a:bodyPr/>
          <a:lstStyle/>
          <a:p>
            <a:pPr>
              <a:buNone/>
            </a:pPr>
            <a:endParaRPr lang="pl-PL" dirty="0"/>
          </a:p>
          <a:p>
            <a:r>
              <a:rPr lang="pl-PL" b="1" dirty="0"/>
              <a:t>Art. 487.</a:t>
            </a:r>
            <a:r>
              <a:rPr lang="pl-PL" dirty="0"/>
              <a:t> Akt oskarżenia może ograniczyć się do oznaczenia osoby oskarżonego, zarzucanego mu czynu oraz wskazania dowodów, na których opiera się oskarżenie.</a:t>
            </a:r>
          </a:p>
          <a:p>
            <a:endParaRPr lang="pl-PL" dirty="0"/>
          </a:p>
          <a:p>
            <a:r>
              <a:rPr lang="pl-PL" dirty="0"/>
              <a:t>Czy oskarżyciel prywatny musi wskazać imię i nazwisko oskarżonego?</a:t>
            </a: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ytuł 2"/>
          <p:cNvSpPr>
            <a:spLocks noGrp="1"/>
          </p:cNvSpPr>
          <p:nvPr>
            <p:ph type="title"/>
          </p:nvPr>
        </p:nvSpPr>
        <p:spPr/>
        <p:txBody>
          <a:bodyPr/>
          <a:lstStyle/>
          <a:p>
            <a:endParaRPr lang="pl-PL"/>
          </a:p>
        </p:txBody>
      </p:sp>
      <p:sp>
        <p:nvSpPr>
          <p:cNvPr id="2" name="Symbol zastępczy zawartości 1"/>
          <p:cNvSpPr>
            <a:spLocks noGrp="1"/>
          </p:cNvSpPr>
          <p:nvPr>
            <p:ph sz="quarter" idx="1"/>
          </p:nvPr>
        </p:nvSpPr>
        <p:spPr/>
        <p:txBody>
          <a:bodyPr>
            <a:normAutofit fontScale="85000" lnSpcReduction="20000"/>
          </a:bodyPr>
          <a:lstStyle/>
          <a:p>
            <a:r>
              <a:rPr lang="pl-PL" b="1" dirty="0"/>
              <a:t>Art. 488.</a:t>
            </a:r>
            <a:r>
              <a:rPr lang="pl-PL" dirty="0"/>
              <a:t> § 1. Policja na żądanie pokrzywdzonego przyjmuje ustną lub pisemną skargę i w razie potrzeby zabezpiecza dowody, po czym przesyła skargę do właściwego sądu.</a:t>
            </a:r>
          </a:p>
          <a:p>
            <a:r>
              <a:rPr lang="pl-PL" dirty="0"/>
              <a:t>§ 2. Na polecenie sądu Policja dokonuje określonych przez sąd czynności dowodowych, po czym ich wyniki przekazuje sądowi. Przepis art. 308 stosuje się odpowiednio.</a:t>
            </a:r>
          </a:p>
          <a:p>
            <a:endParaRPr lang="pl-PL" b="1" dirty="0"/>
          </a:p>
          <a:p>
            <a:r>
              <a:rPr lang="pl-PL" b="1" dirty="0"/>
              <a:t>Art. 97.</a:t>
            </a:r>
            <a:r>
              <a:rPr lang="pl-PL" dirty="0"/>
              <a:t>  Jeżeli zachodzi potrzeba sprawdzenia okoliczności faktycznych przed wydaniem orzeczenia na posiedzeniu, sąd dokonuje tego sam albo w tym celu wyznacza sędziego ze składu orzekającego bądź zwraca się o wykonanie określonych czynności do sądu miejscowo właściwego. Jeżeli czynność nie wymaga przeprowadzenia dowodu, może ją wykonać także referendarz sądowy.</a:t>
            </a:r>
          </a:p>
          <a:p>
            <a:endParaRPr lang="pl-PL" dirty="0"/>
          </a:p>
          <a:p>
            <a:endParaRPr lang="pl-PL"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ymbol zastępczy zawartości 1"/>
          <p:cNvSpPr>
            <a:spLocks noGrp="1"/>
          </p:cNvSpPr>
          <p:nvPr>
            <p:ph sz="quarter" idx="1"/>
          </p:nvPr>
        </p:nvSpPr>
        <p:spPr>
          <a:xfrm>
            <a:off x="179512" y="260648"/>
            <a:ext cx="8626160" cy="5838400"/>
          </a:xfrm>
        </p:spPr>
        <p:txBody>
          <a:bodyPr>
            <a:normAutofit/>
          </a:bodyPr>
          <a:lstStyle/>
          <a:p>
            <a:endParaRPr lang="pl-PL" dirty="0"/>
          </a:p>
          <a:p>
            <a:r>
              <a:rPr lang="pl-PL" dirty="0"/>
              <a:t>Art.  55.  [Subsydiarny oskarżyciel posiłkowy]</a:t>
            </a:r>
          </a:p>
          <a:p>
            <a:r>
              <a:rPr lang="pl-PL" dirty="0"/>
              <a:t>§  1. </a:t>
            </a:r>
          </a:p>
          <a:p>
            <a:r>
              <a:rPr lang="pl-PL" dirty="0"/>
              <a:t>Pokrzywdzony, o którym mowa w art. 330 § 2 zdanie trzecie, w terminie miesiąca od doręczenia mu zawiadomienia o postanowieniu prokuratora nadrzędnego o utrzymaniu w mocy zaskarżonego postanowienia, może wnieść akt oskarżenia do sądu, dołączając po jednym odpisie dla każdego oskarżonego oraz dla prokuratora. Przepis art. 488 § 2 stosuje się odpowiednio. Przepisów art. 339 § 3 pkt 3a i art. 396a nie stosuje się.</a:t>
            </a:r>
          </a:p>
          <a:p>
            <a:endParaRPr lang="pl-PL" dirty="0"/>
          </a:p>
        </p:txBody>
      </p:sp>
    </p:spTree>
    <p:extLst>
      <p:ext uri="{BB962C8B-B14F-4D97-AF65-F5344CB8AC3E}">
        <p14:creationId xmlns:p14="http://schemas.microsoft.com/office/powerpoint/2010/main" val="2580920185"/>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ymbol zastępczy zawartości 1"/>
          <p:cNvSpPr>
            <a:spLocks noGrp="1"/>
          </p:cNvSpPr>
          <p:nvPr>
            <p:ph sz="quarter" idx="1"/>
          </p:nvPr>
        </p:nvSpPr>
        <p:spPr>
          <a:xfrm>
            <a:off x="107504" y="44624"/>
            <a:ext cx="8698168" cy="6624736"/>
          </a:xfrm>
        </p:spPr>
        <p:txBody>
          <a:bodyPr>
            <a:normAutofit fontScale="85000" lnSpcReduction="20000"/>
          </a:bodyPr>
          <a:lstStyle/>
          <a:p>
            <a:endParaRPr lang="pl-PL" dirty="0"/>
          </a:p>
          <a:p>
            <a:r>
              <a:rPr lang="pl-PL" dirty="0"/>
              <a:t>Art.  330.  [Subsydiarny akt oskarżenia – tryb postępowania]</a:t>
            </a:r>
          </a:p>
          <a:p>
            <a:r>
              <a:rPr lang="pl-PL" dirty="0"/>
              <a:t>§  1. </a:t>
            </a:r>
          </a:p>
          <a:p>
            <a:r>
              <a:rPr lang="pl-PL" dirty="0"/>
              <a:t>Uchylając postanowienie o umorzeniu postępowania przygotowawczego lub odmowie jego wszczęcia, sąd wskazuje powody uchylenia, a w miarę potrzeby także okoliczności, które należy wyjaśnić, lub czynności, które należy przeprowadzić. Wskazania te są dla organu prowadzącego postępowanie przygotowawcze wiążące.</a:t>
            </a:r>
          </a:p>
          <a:p>
            <a:r>
              <a:rPr lang="pl-PL" dirty="0"/>
              <a:t>§  2. </a:t>
            </a:r>
          </a:p>
          <a:p>
            <a:r>
              <a:rPr lang="pl-PL" dirty="0"/>
              <a:t>Jeżeli organ prowadzący postępowanie nadal nie znajduje podstaw do wniesienia aktu oskarżenia, wydaje postanowienie o umorzeniu postępowania lub odmowie jego wszczęcia. Postanowienie to podlega zaskarżeniu tylko do prokuratora nadrzędnego. W razie utrzymania w mocy zaskarżonego postanowienia pokrzywdzony, który co najmniej dwukrotnie wykorzystał uprawnienia przewidziane w art. 306 § 1 lub 1a, w tym zaskarżył postanowienie utrzymane w mocy przez prokuratora nadrzędnego, może wnieść akt oskarżenia określony w art. 55 § 1.</a:t>
            </a:r>
          </a:p>
          <a:p>
            <a:endParaRPr lang="pl-PL" dirty="0"/>
          </a:p>
        </p:txBody>
      </p:sp>
    </p:spTree>
    <p:extLst>
      <p:ext uri="{BB962C8B-B14F-4D97-AF65-F5344CB8AC3E}">
        <p14:creationId xmlns:p14="http://schemas.microsoft.com/office/powerpoint/2010/main" val="833366831"/>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ymbol zastępczy zawartości 1"/>
          <p:cNvSpPr>
            <a:spLocks noGrp="1"/>
          </p:cNvSpPr>
          <p:nvPr>
            <p:ph sz="quarter" idx="1"/>
          </p:nvPr>
        </p:nvSpPr>
        <p:spPr>
          <a:xfrm>
            <a:off x="107504" y="44624"/>
            <a:ext cx="8698168" cy="6624736"/>
          </a:xfrm>
        </p:spPr>
        <p:txBody>
          <a:bodyPr>
            <a:normAutofit/>
          </a:bodyPr>
          <a:lstStyle/>
          <a:p>
            <a:endParaRPr lang="pl-PL" dirty="0"/>
          </a:p>
          <a:p>
            <a:r>
              <a:rPr lang="pl-PL" dirty="0"/>
              <a:t>§  2a. </a:t>
            </a:r>
          </a:p>
          <a:p>
            <a:r>
              <a:rPr lang="pl-PL" dirty="0"/>
              <a:t>W razie utrzymania w mocy postanowienia o umorzeniu postępowania przygotowawczego lub odmowie jego wszczęcia, prokurator nadrzędny przesyła pokrzywdzonemu, który spełnia warunki określone w § 2 zdanie trzecie, zawiadomienie o utrzymaniu w mocy zaskarżonego postanowienia wraz z pouczeniem o treści art. 55 § 1 oraz odpis postanowienia o utrzymaniu w mocy zaskarżonego postanowienia. Innego skarżącego powiadamia się o utrzymaniu w mocy postanowienia o umorzeniu postępowania przygotowawczego lub odmowie jego wszczęcia.</a:t>
            </a:r>
          </a:p>
          <a:p>
            <a:endParaRPr lang="pl-PL" dirty="0"/>
          </a:p>
        </p:txBody>
      </p:sp>
    </p:spTree>
    <p:extLst>
      <p:ext uri="{BB962C8B-B14F-4D97-AF65-F5344CB8AC3E}">
        <p14:creationId xmlns:p14="http://schemas.microsoft.com/office/powerpoint/2010/main" val="158017954"/>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ytuł 2"/>
          <p:cNvSpPr>
            <a:spLocks noGrp="1"/>
          </p:cNvSpPr>
          <p:nvPr>
            <p:ph type="title"/>
          </p:nvPr>
        </p:nvSpPr>
        <p:spPr/>
        <p:txBody>
          <a:bodyPr/>
          <a:lstStyle/>
          <a:p>
            <a:endParaRPr lang="pl-PL"/>
          </a:p>
        </p:txBody>
      </p:sp>
      <p:sp>
        <p:nvSpPr>
          <p:cNvPr id="2" name="Symbol zastępczy zawartości 1"/>
          <p:cNvSpPr>
            <a:spLocks noGrp="1"/>
          </p:cNvSpPr>
          <p:nvPr>
            <p:ph sz="quarter" idx="1"/>
          </p:nvPr>
        </p:nvSpPr>
        <p:spPr/>
        <p:txBody>
          <a:bodyPr/>
          <a:lstStyle/>
          <a:p>
            <a:r>
              <a:rPr lang="pl-PL" dirty="0"/>
              <a:t>w procesie karnym mamy jednak także do czynienia z surogatami a/o – np. wniosek o warunkowe umorzenie postępowania</a:t>
            </a: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normAutofit/>
          </a:bodyPr>
          <a:lstStyle/>
          <a:p>
            <a:endParaRPr lang="pl-PL" dirty="0"/>
          </a:p>
          <a:p>
            <a:r>
              <a:rPr lang="pl-PL" dirty="0"/>
              <a:t>akt oskarżenia</a:t>
            </a:r>
          </a:p>
          <a:p>
            <a:pPr>
              <a:buNone/>
            </a:pPr>
            <a:endParaRPr lang="pl-PL" dirty="0"/>
          </a:p>
          <a:p>
            <a:pPr>
              <a:buNone/>
            </a:pPr>
            <a:r>
              <a:rPr lang="pl-PL" dirty="0"/>
              <a:t>   Skarga musi pochodzić od uprawnionego oskarżyciela ( posiadającego legitymację  procesową i zdolność do czynności procesowych)</a:t>
            </a:r>
          </a:p>
          <a:p>
            <a:pPr>
              <a:buNone/>
            </a:pPr>
            <a:endParaRPr lang="pl-PL" dirty="0"/>
          </a:p>
          <a:p>
            <a:pPr fontAlgn="t"/>
            <a:r>
              <a:rPr lang="pl-PL" sz="1500" i="1" dirty="0"/>
              <a:t>IV KK 42/13 , wyrok SN 2013.03.20 </a:t>
            </a:r>
            <a:r>
              <a:rPr lang="pl-PL" sz="1500" i="1" dirty="0">
                <a:hlinkClick r:id="rId2"/>
              </a:rPr>
              <a:t>LEX nr 1292224</a:t>
            </a:r>
            <a:r>
              <a:rPr lang="pl-PL" sz="1500" i="1" dirty="0"/>
              <a:t>  </a:t>
            </a:r>
          </a:p>
          <a:p>
            <a:pPr fontAlgn="t"/>
            <a:r>
              <a:rPr lang="pl-PL" sz="1500" i="1" dirty="0"/>
              <a:t>Wniesienie aktu oskarżenia w sprawie o czyn ścigany z oskarżenia publicznego przez pokrzywdzonego, pomimo że nie zachodzą warunki przewidziane w art. 55 § 1 k.p.k. powoduje, że zachodzi ujemna przesłanka procesowa z art. 17 § 1 </a:t>
            </a:r>
            <a:r>
              <a:rPr lang="pl-PL" sz="1500" i="1" dirty="0" err="1"/>
              <a:t>pkt</a:t>
            </a:r>
            <a:r>
              <a:rPr lang="pl-PL" sz="1500" i="1" dirty="0"/>
              <a:t> 9 k.p.k. w postaci braku skargi uprawnionego oskarżyciela.</a:t>
            </a:r>
          </a:p>
          <a:p>
            <a:pPr>
              <a:buNone/>
            </a:pPr>
            <a:endParaRPr lang="pl-PL"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normAutofit fontScale="62500" lnSpcReduction="20000"/>
          </a:bodyPr>
          <a:lstStyle/>
          <a:p>
            <a:r>
              <a:rPr lang="pl-PL" dirty="0"/>
              <a:t>Inne skargi:</a:t>
            </a:r>
          </a:p>
          <a:p>
            <a:pPr>
              <a:buNone/>
            </a:pPr>
            <a:endParaRPr lang="pl-PL" dirty="0"/>
          </a:p>
          <a:p>
            <a:r>
              <a:rPr lang="pl-PL" dirty="0"/>
              <a:t>- skargi etapowe ( np. apelacja, kasacja)</a:t>
            </a:r>
          </a:p>
          <a:p>
            <a:r>
              <a:rPr lang="pl-PL" dirty="0"/>
              <a:t>- skargi incydentalne (np. wniosek o zastosowanie tymczasowego aresztowania)</a:t>
            </a:r>
          </a:p>
          <a:p>
            <a:r>
              <a:rPr lang="pl-PL" dirty="0"/>
              <a:t>Ważne!</a:t>
            </a:r>
          </a:p>
          <a:p>
            <a:endParaRPr lang="pl-PL" dirty="0"/>
          </a:p>
          <a:p>
            <a:r>
              <a:rPr lang="pl-PL" dirty="0"/>
              <a:t>Brak tych skarg nie powoduje umorzenia postępowania w ogóle, ale wyłącznie:</a:t>
            </a:r>
          </a:p>
          <a:p>
            <a:endParaRPr lang="pl-PL" dirty="0"/>
          </a:p>
          <a:p>
            <a:r>
              <a:rPr lang="pl-PL" dirty="0"/>
              <a:t>   - brak skargi etapowej – niedopuszczalność prowadzenia postępowania właśnie na danym etapie</a:t>
            </a:r>
          </a:p>
          <a:p>
            <a:endParaRPr lang="pl-PL" dirty="0"/>
          </a:p>
          <a:p>
            <a:r>
              <a:rPr lang="pl-PL" dirty="0"/>
              <a:t>   - brak skargi incydentalnej – niedopuszczalność prowadzenia postępowania incydentalnego</a:t>
            </a:r>
          </a:p>
          <a:p>
            <a:endParaRPr lang="pl-PL" dirty="0"/>
          </a:p>
          <a:p>
            <a:r>
              <a:rPr lang="pl-PL" dirty="0"/>
              <a:t>Pytanie o treść orzeczenia w wypadku braku skargi incydentalnej (pozostawienie wniosku bez rozpoznania, czy umorzenie postępowania incydentalnego)</a:t>
            </a: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lstStyle/>
          <a:p>
            <a:endParaRPr lang="pl-PL" dirty="0"/>
          </a:p>
          <a:p>
            <a:r>
              <a:rPr lang="pl-PL" dirty="0"/>
              <a:t>Co zrobić, gdy w toku postępowania jurysdykcyjnego, sąd dochodzi do przekonania, iż czyn, który zarzucił w akcie oskarżenia oskarżyciel publiczny nie jest tak jak to wskazano w akcie oskarżenia przestępstwem ściganym z oskarżenia publicznego ale z oskarżenia prywatnego? </a:t>
            </a: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normAutofit fontScale="92500" lnSpcReduction="10000"/>
          </a:bodyPr>
          <a:lstStyle/>
          <a:p>
            <a:pPr fontAlgn="t">
              <a:buNone/>
            </a:pPr>
            <a:endParaRPr lang="pl-PL" dirty="0"/>
          </a:p>
          <a:p>
            <a:pPr fontAlgn="t"/>
            <a:r>
              <a:rPr lang="pl-PL" dirty="0"/>
              <a:t>wyrok SN 21.10. 2010, V KK 287/10 </a:t>
            </a:r>
          </a:p>
          <a:p>
            <a:pPr fontAlgn="t">
              <a:buNone/>
            </a:pPr>
            <a:r>
              <a:rPr lang="pl-PL" dirty="0"/>
              <a:t>    </a:t>
            </a:r>
          </a:p>
          <a:p>
            <a:pPr fontAlgn="t">
              <a:buNone/>
            </a:pPr>
            <a:r>
              <a:rPr lang="pl-PL" dirty="0"/>
              <a:t>   Prawidłowe postępowanie - w razie ustalenia przez sąd możliwości oceny prawnej czynu, zarzucanego jako przestępstwo ścigane z oskarżenia publicznego, według przepisu stanowiącego o jego ściganiu z oskarżenia prywatnego - powinno polegać na odebraniu od prokuratora wyraźnego oświadczenia w przedmiocie ewentualnego popierania oskarżenia o taki czyn, a w razie jego rezygnacji, na odebraniu jednoznacznego stanowiska od pokrzywdzonego.</a:t>
            </a:r>
          </a:p>
          <a:p>
            <a:endParaRPr lang="pl-PL"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ytuł 2"/>
          <p:cNvSpPr>
            <a:spLocks noGrp="1"/>
          </p:cNvSpPr>
          <p:nvPr>
            <p:ph type="title"/>
          </p:nvPr>
        </p:nvSpPr>
        <p:spPr/>
        <p:txBody>
          <a:bodyPr/>
          <a:lstStyle/>
          <a:p>
            <a:endParaRPr lang="pl-PL"/>
          </a:p>
        </p:txBody>
      </p:sp>
      <p:sp>
        <p:nvSpPr>
          <p:cNvPr id="2" name="Symbol zastępczy zawartości 1"/>
          <p:cNvSpPr>
            <a:spLocks noGrp="1"/>
          </p:cNvSpPr>
          <p:nvPr>
            <p:ph sz="quarter" idx="1"/>
          </p:nvPr>
        </p:nvSpPr>
        <p:spPr/>
        <p:txBody>
          <a:bodyPr>
            <a:normAutofit fontScale="92500" lnSpcReduction="20000"/>
          </a:bodyPr>
          <a:lstStyle/>
          <a:p>
            <a:r>
              <a:rPr lang="pl-PL" dirty="0"/>
              <a:t>Od 01.07.2015 r. – oskarżyciel publiczny uzyskuje prawo do wiążącego sąd cofnięcia aktu oskarżenia </a:t>
            </a:r>
          </a:p>
          <a:p>
            <a:endParaRPr lang="pl-PL" i="1" dirty="0"/>
          </a:p>
          <a:p>
            <a:r>
              <a:rPr lang="pl-PL" i="1" dirty="0"/>
              <a:t>Art. 14 </a:t>
            </a:r>
            <a:r>
              <a:rPr lang="pl-PL" i="1" dirty="0">
                <a:latin typeface="Times New Roman"/>
                <a:cs typeface="Times New Roman"/>
              </a:rPr>
              <a:t>§ 2 k.p.k.</a:t>
            </a:r>
          </a:p>
          <a:p>
            <a:pPr>
              <a:buNone/>
            </a:pPr>
            <a:r>
              <a:rPr lang="pl-PL" i="1" dirty="0">
                <a:latin typeface="Times New Roman"/>
                <a:cs typeface="Times New Roman"/>
              </a:rPr>
              <a:t>    </a:t>
            </a:r>
            <a:r>
              <a:rPr lang="pl-PL" i="1" dirty="0"/>
              <a:t>Oskarżyciel publiczny może cofnąć akt oskarżenia do czasu rozpoczęcia przewodu sądowego na pierwszej rozprawie głównej. W toku przewodu sądowego przed sądem pierwszej instancji cofnięcie aktu oskarżenia dopuszczalne jest jedynie za zgodą oskarżonego. Ponowne wniesienie aktu oskarżenia przeciwko tej samej osobie o ten sam czyn jest niedopuszczalne.</a:t>
            </a:r>
          </a:p>
          <a:p>
            <a:pPr>
              <a:buNone/>
            </a:pPr>
            <a:endParaRPr lang="pl-PL" i="1" dirty="0"/>
          </a:p>
          <a:p>
            <a:pPr>
              <a:buNone/>
            </a:pPr>
            <a:r>
              <a:rPr lang="pl-PL" dirty="0"/>
              <a:t>     </a:t>
            </a:r>
            <a:endParaRPr lang="pl-PL" dirty="0">
              <a:solidFill>
                <a:srgbClr val="FF0000"/>
              </a:solidFill>
            </a:endParaRPr>
          </a:p>
          <a:p>
            <a:pPr>
              <a:buNone/>
            </a:pPr>
            <a:endParaRPr lang="pl-PL" dirty="0"/>
          </a:p>
          <a:p>
            <a:pPr>
              <a:buNone/>
            </a:pPr>
            <a:endParaRPr lang="pl-PL" i="1" dirty="0"/>
          </a:p>
          <a:p>
            <a:pPr>
              <a:buNone/>
            </a:pPr>
            <a:endParaRPr lang="pl-PL" i="1" dirty="0"/>
          </a:p>
          <a:p>
            <a:pPr>
              <a:buNone/>
            </a:pPr>
            <a:endParaRPr lang="pl-PL" i="1" dirty="0"/>
          </a:p>
          <a:p>
            <a:pPr>
              <a:buNone/>
            </a:pPr>
            <a:endParaRPr lang="pl-PL" i="1" dirty="0"/>
          </a:p>
          <a:p>
            <a:endParaRPr lang="pl-PL"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ymbol zastępczy zawartości 1"/>
          <p:cNvSpPr>
            <a:spLocks noGrp="1"/>
          </p:cNvSpPr>
          <p:nvPr>
            <p:ph sz="quarter" idx="1"/>
          </p:nvPr>
        </p:nvSpPr>
        <p:spPr>
          <a:xfrm>
            <a:off x="107504" y="116632"/>
            <a:ext cx="8698168" cy="6552728"/>
          </a:xfrm>
        </p:spPr>
        <p:txBody>
          <a:bodyPr>
            <a:normAutofit fontScale="92500" lnSpcReduction="10000"/>
          </a:bodyPr>
          <a:lstStyle/>
          <a:p>
            <a:pPr>
              <a:buNone/>
            </a:pPr>
            <a:r>
              <a:rPr lang="pl-PL" i="1" dirty="0"/>
              <a:t>Akt oskarżenia wyznacza ramy podmiotowe i przedmiotowe postępowania jurysdykcyjnego.</a:t>
            </a:r>
          </a:p>
          <a:p>
            <a:pPr>
              <a:buNone/>
            </a:pPr>
            <a:r>
              <a:rPr lang="pl-PL" i="1" dirty="0"/>
              <a:t>Kwalifikacja prawna i opis czynu z </a:t>
            </a:r>
            <a:r>
              <a:rPr lang="pl-PL" i="1" dirty="0" err="1"/>
              <a:t>a.o</a:t>
            </a:r>
            <a:r>
              <a:rPr lang="pl-PL" i="1" dirty="0"/>
              <a:t>. nie wiąże sądu, ale ten musi się zmieścić z nową kwalifikacją i opisem w granicach zdarzenia historycznego określonego skargą oskarżyciela. </a:t>
            </a:r>
          </a:p>
          <a:p>
            <a:r>
              <a:rPr lang="pl-PL" dirty="0"/>
              <a:t>Art.  399.  [Zmiana kwalifikacji prawnej czynu]</a:t>
            </a:r>
          </a:p>
          <a:p>
            <a:r>
              <a:rPr lang="pl-PL" dirty="0"/>
              <a:t>§  1. </a:t>
            </a:r>
          </a:p>
          <a:p>
            <a:r>
              <a:rPr lang="pl-PL" dirty="0"/>
              <a:t>Jeżeli w toku rozprawy okaże się, że </a:t>
            </a:r>
            <a:r>
              <a:rPr lang="pl-PL" b="1" dirty="0">
                <a:solidFill>
                  <a:srgbClr val="00B050"/>
                </a:solidFill>
              </a:rPr>
              <a:t>nie wychodząc poza granice oskarżenia</a:t>
            </a:r>
            <a:r>
              <a:rPr lang="pl-PL" dirty="0"/>
              <a:t> można czyn zakwalifikować według innego przepisu prawnego, sąd uprzedza o tym obecne na rozprawie strony.</a:t>
            </a:r>
          </a:p>
          <a:p>
            <a:r>
              <a:rPr lang="pl-PL" dirty="0"/>
              <a:t>§  2. </a:t>
            </a:r>
          </a:p>
          <a:p>
            <a:r>
              <a:rPr lang="pl-PL" dirty="0"/>
              <a:t>Na wniosek oskarżonego można przerwać rozprawę w celu umożliwienia mu przygotowania się do obrony.</a:t>
            </a:r>
          </a:p>
          <a:p>
            <a:pPr>
              <a:buNone/>
            </a:pPr>
            <a:endParaRPr lang="pl-PL" i="1" dirty="0"/>
          </a:p>
          <a:p>
            <a:pPr>
              <a:buNone/>
            </a:pPr>
            <a:r>
              <a:rPr lang="pl-PL" dirty="0"/>
              <a:t>     </a:t>
            </a:r>
            <a:endParaRPr lang="pl-PL" dirty="0">
              <a:solidFill>
                <a:srgbClr val="FF0000"/>
              </a:solidFill>
            </a:endParaRPr>
          </a:p>
          <a:p>
            <a:pPr>
              <a:buNone/>
            </a:pPr>
            <a:endParaRPr lang="pl-PL" dirty="0"/>
          </a:p>
          <a:p>
            <a:pPr>
              <a:buNone/>
            </a:pPr>
            <a:endParaRPr lang="pl-PL" i="1" dirty="0"/>
          </a:p>
          <a:p>
            <a:pPr>
              <a:buNone/>
            </a:pPr>
            <a:endParaRPr lang="pl-PL" i="1" dirty="0"/>
          </a:p>
          <a:p>
            <a:pPr>
              <a:buNone/>
            </a:pPr>
            <a:endParaRPr lang="pl-PL" i="1" dirty="0"/>
          </a:p>
          <a:p>
            <a:pPr>
              <a:buNone/>
            </a:pPr>
            <a:endParaRPr lang="pl-PL" i="1" dirty="0"/>
          </a:p>
          <a:p>
            <a:endParaRPr lang="pl-PL" dirty="0"/>
          </a:p>
        </p:txBody>
      </p:sp>
    </p:spTree>
    <p:extLst>
      <p:ext uri="{BB962C8B-B14F-4D97-AF65-F5344CB8AC3E}">
        <p14:creationId xmlns:p14="http://schemas.microsoft.com/office/powerpoint/2010/main" val="244910389"/>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332656"/>
            <a:ext cx="8708504" cy="5724128"/>
          </a:xfrm>
        </p:spPr>
        <p:txBody>
          <a:bodyPr>
            <a:normAutofit/>
          </a:bodyPr>
          <a:lstStyle/>
          <a:p>
            <a:pPr>
              <a:buNone/>
            </a:pPr>
            <a:endParaRPr lang="pl-PL" dirty="0"/>
          </a:p>
          <a:p>
            <a:pPr>
              <a:buNone/>
            </a:pPr>
            <a:endParaRPr lang="pl-PL" dirty="0"/>
          </a:p>
        </p:txBody>
      </p:sp>
      <p:sp>
        <p:nvSpPr>
          <p:cNvPr id="5" name="pole tekstowe 4">
            <a:extLst>
              <a:ext uri="{FF2B5EF4-FFF2-40B4-BE49-F238E27FC236}">
                <a16:creationId xmlns:a16="http://schemas.microsoft.com/office/drawing/2014/main" id="{57C851CA-5599-4895-A0F8-5000365F7790}"/>
              </a:ext>
            </a:extLst>
          </p:cNvPr>
          <p:cNvSpPr txBox="1"/>
          <p:nvPr/>
        </p:nvSpPr>
        <p:spPr>
          <a:xfrm>
            <a:off x="327992" y="188640"/>
            <a:ext cx="8708504" cy="6647974"/>
          </a:xfrm>
          <a:prstGeom prst="rect">
            <a:avLst/>
          </a:prstGeom>
          <a:noFill/>
        </p:spPr>
        <p:txBody>
          <a:bodyPr wrap="square">
            <a:spAutoFit/>
          </a:bodyPr>
          <a:lstStyle/>
          <a:p>
            <a:r>
              <a:rPr lang="pl-PL" sz="3600" b="1" dirty="0">
                <a:solidFill>
                  <a:srgbClr val="00B050"/>
                </a:solidFill>
              </a:rPr>
              <a:t>Art. 17 par. 1 pkt 10 k.p.k. </a:t>
            </a:r>
          </a:p>
          <a:p>
            <a:r>
              <a:rPr lang="pl-PL" sz="3600" b="1" dirty="0">
                <a:solidFill>
                  <a:srgbClr val="00B050"/>
                </a:solidFill>
              </a:rPr>
              <a:t>Brak wniosku o ściganie – art. 12 k.p.k.</a:t>
            </a:r>
            <a:endParaRPr lang="pl-PL" sz="3600" dirty="0"/>
          </a:p>
          <a:p>
            <a:endParaRPr lang="pl-PL" dirty="0"/>
          </a:p>
          <a:p>
            <a:r>
              <a:rPr lang="pl-PL" sz="2000" dirty="0"/>
              <a:t>Art.  12.  §  1 k.p.k. </a:t>
            </a:r>
          </a:p>
          <a:p>
            <a:r>
              <a:rPr lang="pl-PL" sz="2000" dirty="0"/>
              <a:t>W sprawach o przestępstwa ścigane na wniosek postępowanie z chwilą złożenia wniosku toczy się z urzędu. Organ ścigania poucza osobę uprawnioną do złożenia wniosku o przysługującym jej uprawnieniu.</a:t>
            </a:r>
          </a:p>
          <a:p>
            <a:r>
              <a:rPr lang="pl-PL" sz="2000" dirty="0"/>
              <a:t>§  1a. </a:t>
            </a:r>
          </a:p>
          <a:p>
            <a:r>
              <a:rPr lang="pl-PL" sz="2000" dirty="0"/>
              <a:t>Uzyskanie wniosku o ściganie należy do oskarżyciela. Jeżeli powodem uzyskania wniosku jest wyłącznie uprzedzenie przez sąd stron o możliwości zakwalifikowania czynu według innego przepisu prawnego, przewidującego ściganie na wniosek, uzyskanie wniosku o ściganie należy do sądu.</a:t>
            </a:r>
          </a:p>
          <a:p>
            <a:r>
              <a:rPr lang="pl-PL" sz="2000" dirty="0"/>
              <a:t>§  2. </a:t>
            </a:r>
          </a:p>
          <a:p>
            <a:r>
              <a:rPr lang="pl-PL" sz="2000" dirty="0"/>
              <a:t>W razie złożenia wniosku o ściganie niektórych tylko sprawców obowiązek ścigania obejmuje również inne osoby, których czyny pozostają w ścisłym związku z czynem osoby wskazanej we wniosku, o czym należy uprzedzić składającego wniosek. Przepisu tego nie stosuje się do najbliższych osoby składającej wniosek.</a:t>
            </a: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332656"/>
            <a:ext cx="8708504" cy="5724128"/>
          </a:xfrm>
        </p:spPr>
        <p:txBody>
          <a:bodyPr>
            <a:normAutofit/>
          </a:bodyPr>
          <a:lstStyle/>
          <a:p>
            <a:pPr>
              <a:buNone/>
            </a:pPr>
            <a:endParaRPr lang="pl-PL" dirty="0"/>
          </a:p>
          <a:p>
            <a:pPr>
              <a:buNone/>
            </a:pPr>
            <a:endParaRPr lang="pl-PL" dirty="0"/>
          </a:p>
        </p:txBody>
      </p:sp>
      <p:sp>
        <p:nvSpPr>
          <p:cNvPr id="5" name="pole tekstowe 4">
            <a:extLst>
              <a:ext uri="{FF2B5EF4-FFF2-40B4-BE49-F238E27FC236}">
                <a16:creationId xmlns:a16="http://schemas.microsoft.com/office/drawing/2014/main" id="{57C851CA-5599-4895-A0F8-5000365F7790}"/>
              </a:ext>
            </a:extLst>
          </p:cNvPr>
          <p:cNvSpPr txBox="1"/>
          <p:nvPr/>
        </p:nvSpPr>
        <p:spPr>
          <a:xfrm>
            <a:off x="327992" y="188640"/>
            <a:ext cx="8708504" cy="6093976"/>
          </a:xfrm>
          <a:prstGeom prst="rect">
            <a:avLst/>
          </a:prstGeom>
          <a:noFill/>
        </p:spPr>
        <p:txBody>
          <a:bodyPr wrap="square">
            <a:spAutoFit/>
          </a:bodyPr>
          <a:lstStyle/>
          <a:p>
            <a:r>
              <a:rPr lang="pl-PL" sz="3600" b="1" dirty="0">
                <a:solidFill>
                  <a:srgbClr val="00B050"/>
                </a:solidFill>
              </a:rPr>
              <a:t>Brak wniosku o ściganie – art. 12 k.p.k. cd. </a:t>
            </a:r>
            <a:endParaRPr lang="pl-PL" sz="3600" dirty="0"/>
          </a:p>
          <a:p>
            <a:r>
              <a:rPr lang="pl-PL" sz="2000" dirty="0"/>
              <a:t>§  3. </a:t>
            </a:r>
          </a:p>
          <a:p>
            <a:r>
              <a:rPr lang="pl-PL" sz="2000" dirty="0"/>
              <a:t>Wniosek może być cofnięty w postępowaniu przygotowawczym za zgodą prokuratora, a w postępowaniu sądowym za zgodą sądu - aż do zamknięcia przewodu sądowego na pierwszej rozprawie głównej. W sprawach, w których akt oskarżenia wniósł oskarżyciel publiczny, cofnięcie wniosku po rozpoczęciu przewodu sądowego jest skuteczne, jeżeli nie sprzeciwi się temu oskarżyciel publiczny obecny na rozprawie lub posiedzeniu. Ponowne złożenie wniosku jest niedopuszczalne.</a:t>
            </a:r>
          </a:p>
          <a:p>
            <a:r>
              <a:rPr lang="pl-PL" sz="2000" dirty="0"/>
              <a:t>§  4. </a:t>
            </a:r>
          </a:p>
          <a:p>
            <a:r>
              <a:rPr lang="pl-PL" sz="2000" dirty="0"/>
              <a:t>W sprawie o przestępstwo z </a:t>
            </a:r>
            <a:r>
              <a:rPr lang="pl-PL" sz="2000" dirty="0">
                <a:hlinkClick r:id="rId2"/>
              </a:rPr>
              <a:t>art. 190 § 1</a:t>
            </a:r>
            <a:r>
              <a:rPr lang="pl-PL" sz="2000" dirty="0"/>
              <a:t> Kodeksu karnego można wszcząć i prowadzić postępowanie pomimo niezłożenia wniosku o ściganie, jeżeli zachodzi duże prawdopodobieństwo, że niezłożenie wniosku wynika z obawy pokrzywdzonego przed odwetem albo jeżeli przemawia za tym interes społeczny. W takim przypadku postępowanie do czasu prawomocnego zakończenia toczy się z urzędu.</a:t>
            </a:r>
          </a:p>
          <a:p>
            <a:endParaRPr lang="pl-PL" dirty="0"/>
          </a:p>
        </p:txBody>
      </p:sp>
    </p:spTree>
    <p:extLst>
      <p:ext uri="{BB962C8B-B14F-4D97-AF65-F5344CB8AC3E}">
        <p14:creationId xmlns:p14="http://schemas.microsoft.com/office/powerpoint/2010/main" val="544556570"/>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332656"/>
            <a:ext cx="8708504" cy="5724128"/>
          </a:xfrm>
        </p:spPr>
        <p:txBody>
          <a:bodyPr>
            <a:normAutofit/>
          </a:bodyPr>
          <a:lstStyle/>
          <a:p>
            <a:pPr>
              <a:buNone/>
            </a:pPr>
            <a:endParaRPr lang="pl-PL" dirty="0"/>
          </a:p>
          <a:p>
            <a:pPr>
              <a:buNone/>
            </a:pPr>
            <a:endParaRPr lang="pl-PL" dirty="0"/>
          </a:p>
        </p:txBody>
      </p:sp>
      <p:sp>
        <p:nvSpPr>
          <p:cNvPr id="5" name="pole tekstowe 4">
            <a:extLst>
              <a:ext uri="{FF2B5EF4-FFF2-40B4-BE49-F238E27FC236}">
                <a16:creationId xmlns:a16="http://schemas.microsoft.com/office/drawing/2014/main" id="{57C851CA-5599-4895-A0F8-5000365F7790}"/>
              </a:ext>
            </a:extLst>
          </p:cNvPr>
          <p:cNvSpPr txBox="1"/>
          <p:nvPr/>
        </p:nvSpPr>
        <p:spPr>
          <a:xfrm>
            <a:off x="327992" y="188640"/>
            <a:ext cx="8708504" cy="6740307"/>
          </a:xfrm>
          <a:prstGeom prst="rect">
            <a:avLst/>
          </a:prstGeom>
          <a:noFill/>
        </p:spPr>
        <p:txBody>
          <a:bodyPr wrap="square">
            <a:spAutoFit/>
          </a:bodyPr>
          <a:lstStyle/>
          <a:p>
            <a:endParaRPr lang="pl-PL" dirty="0"/>
          </a:p>
          <a:p>
            <a:r>
              <a:rPr lang="pl-PL" altLang="pl-PL" sz="3600" dirty="0"/>
              <a:t>Sąd Okręgowy  w G. po rozpoznaniu apelacji od wyroku Sądu Rejonowego w G. stwierdził brak wniosku o ściganie. Wobec powyższego, powołując się na treść art. 439 par. 1 pkt 9 k.p.k. w zw. z art. 17 par. 1 pkt 10 k.p.k. uchylił zaskarżony wyrok i umorzył postępowanie. Oceń trafność stanowiska sądu odwoławczego jako pełnomocnik oskarżyciela posiłkowego.  </a:t>
            </a:r>
          </a:p>
          <a:p>
            <a:endParaRPr lang="pl-PL" sz="3600" dirty="0"/>
          </a:p>
          <a:p>
            <a:endParaRPr lang="pl-PL" dirty="0"/>
          </a:p>
          <a:p>
            <a:endParaRPr lang="pl-PL" dirty="0"/>
          </a:p>
          <a:p>
            <a:endParaRPr lang="pl-PL" dirty="0"/>
          </a:p>
        </p:txBody>
      </p:sp>
    </p:spTree>
    <p:extLst>
      <p:ext uri="{BB962C8B-B14F-4D97-AF65-F5344CB8AC3E}">
        <p14:creationId xmlns:p14="http://schemas.microsoft.com/office/powerpoint/2010/main" val="1123973676"/>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332656"/>
            <a:ext cx="8708504" cy="5724128"/>
          </a:xfrm>
        </p:spPr>
        <p:txBody>
          <a:bodyPr>
            <a:normAutofit/>
          </a:bodyPr>
          <a:lstStyle/>
          <a:p>
            <a:pPr>
              <a:buNone/>
            </a:pPr>
            <a:endParaRPr lang="pl-PL" dirty="0"/>
          </a:p>
          <a:p>
            <a:pPr>
              <a:buNone/>
            </a:pPr>
            <a:endParaRPr lang="pl-PL" dirty="0"/>
          </a:p>
        </p:txBody>
      </p:sp>
      <p:sp>
        <p:nvSpPr>
          <p:cNvPr id="5" name="pole tekstowe 4">
            <a:extLst>
              <a:ext uri="{FF2B5EF4-FFF2-40B4-BE49-F238E27FC236}">
                <a16:creationId xmlns:a16="http://schemas.microsoft.com/office/drawing/2014/main" id="{57C851CA-5599-4895-A0F8-5000365F7790}"/>
              </a:ext>
            </a:extLst>
          </p:cNvPr>
          <p:cNvSpPr txBox="1"/>
          <p:nvPr/>
        </p:nvSpPr>
        <p:spPr>
          <a:xfrm>
            <a:off x="327992" y="188640"/>
            <a:ext cx="8708504" cy="7048083"/>
          </a:xfrm>
          <a:prstGeom prst="rect">
            <a:avLst/>
          </a:prstGeom>
          <a:noFill/>
        </p:spPr>
        <p:txBody>
          <a:bodyPr wrap="square">
            <a:spAutoFit/>
          </a:bodyPr>
          <a:lstStyle/>
          <a:p>
            <a:endParaRPr lang="pl-PL" dirty="0"/>
          </a:p>
          <a:p>
            <a:r>
              <a:rPr lang="pl-PL" sz="3200" dirty="0"/>
              <a:t>Wyrok Sądu Najwyższego z dnia 23 listopada 2011 r.</a:t>
            </a:r>
          </a:p>
          <a:p>
            <a:r>
              <a:rPr lang="pl-PL" sz="3200" dirty="0"/>
              <a:t> II KK 279/11</a:t>
            </a:r>
          </a:p>
          <a:p>
            <a:endParaRPr lang="pl-PL" sz="3200" dirty="0"/>
          </a:p>
          <a:p>
            <a:r>
              <a:rPr lang="pl-PL" sz="3200" dirty="0"/>
              <a:t>Charakter ujemnej przesłanki procesowej z art. 17 § 1 pkt 10 k.p.k. - jej względność, wobec możliwości złożenia wniosku o ściganie aż do upływu okresu przedawnienia, </a:t>
            </a:r>
            <a:r>
              <a:rPr lang="pl-PL" sz="3200" b="1" dirty="0"/>
              <a:t>nie implikuje umorzenia postępowania w następstwie rozpoznania kasacji w zakresie czynu z art. 118 ust. 1 </a:t>
            </a:r>
            <a:r>
              <a:rPr lang="pl-PL" sz="3200" b="1" dirty="0" err="1"/>
              <a:t>u.p.a.p.p</a:t>
            </a:r>
            <a:r>
              <a:rPr lang="pl-PL" sz="3200" b="1" dirty="0"/>
              <a:t>., a uzasadnia przekazanie sprawy do ponownego rozpoznania.</a:t>
            </a:r>
          </a:p>
          <a:p>
            <a:endParaRPr lang="pl-PL" dirty="0"/>
          </a:p>
        </p:txBody>
      </p:sp>
    </p:spTree>
    <p:extLst>
      <p:ext uri="{BB962C8B-B14F-4D97-AF65-F5344CB8AC3E}">
        <p14:creationId xmlns:p14="http://schemas.microsoft.com/office/powerpoint/2010/main" val="3817037982"/>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332656"/>
            <a:ext cx="8708504" cy="5724128"/>
          </a:xfrm>
        </p:spPr>
        <p:txBody>
          <a:bodyPr>
            <a:normAutofit fontScale="92500" lnSpcReduction="20000"/>
          </a:bodyPr>
          <a:lstStyle/>
          <a:p>
            <a:pPr>
              <a:buNone/>
            </a:pPr>
            <a:endParaRPr lang="pl-PL" dirty="0"/>
          </a:p>
          <a:p>
            <a:pPr>
              <a:buNone/>
            </a:pPr>
            <a:r>
              <a:rPr lang="pl-PL" dirty="0"/>
              <a:t>Wniosek o ściganie </a:t>
            </a:r>
          </a:p>
          <a:p>
            <a:pPr>
              <a:buNone/>
            </a:pPr>
            <a:endParaRPr lang="pl-PL" dirty="0"/>
          </a:p>
          <a:p>
            <a:r>
              <a:rPr lang="pl-PL" dirty="0"/>
              <a:t>- przestępstwa bezwzględnie wnioskowe</a:t>
            </a:r>
          </a:p>
          <a:p>
            <a:r>
              <a:rPr lang="pl-PL" dirty="0"/>
              <a:t>- przestępstwa względnie wnioskowe – np. przestępstwo kradzieży</a:t>
            </a:r>
          </a:p>
          <a:p>
            <a:endParaRPr lang="pl-PL" dirty="0"/>
          </a:p>
          <a:p>
            <a:r>
              <a:rPr lang="pl-PL" dirty="0"/>
              <a:t>Art. 278 § 4 k.k.</a:t>
            </a:r>
          </a:p>
          <a:p>
            <a:endParaRPr lang="pl-PL" dirty="0"/>
          </a:p>
          <a:p>
            <a:pPr>
              <a:buNone/>
            </a:pPr>
            <a:r>
              <a:rPr lang="pl-PL" dirty="0"/>
              <a:t>    Jeżeli kradzież popełniono na szkodę osoby najbliższej, ściganie następuje na wniosek pokrzywdzonego.</a:t>
            </a:r>
          </a:p>
          <a:p>
            <a:endParaRPr lang="pl-PL" dirty="0"/>
          </a:p>
          <a:p>
            <a:endParaRPr lang="pl-PL" dirty="0"/>
          </a:p>
          <a:p>
            <a:r>
              <a:rPr lang="pl-PL" dirty="0"/>
              <a:t>W jakiej formie powinien być złożony wniosek o ściganie?</a:t>
            </a:r>
          </a:p>
        </p:txBody>
      </p:sp>
    </p:spTree>
    <p:extLst>
      <p:ext uri="{BB962C8B-B14F-4D97-AF65-F5344CB8AC3E}">
        <p14:creationId xmlns:p14="http://schemas.microsoft.com/office/powerpoint/2010/main" val="1509764060"/>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332656"/>
            <a:ext cx="8708504" cy="5724128"/>
          </a:xfrm>
        </p:spPr>
        <p:txBody>
          <a:bodyPr>
            <a:normAutofit fontScale="92500" lnSpcReduction="10000"/>
          </a:bodyPr>
          <a:lstStyle/>
          <a:p>
            <a:pPr>
              <a:buNone/>
            </a:pPr>
            <a:endParaRPr lang="pl-PL" dirty="0"/>
          </a:p>
          <a:p>
            <a:pPr>
              <a:buNone/>
            </a:pPr>
            <a:r>
              <a:rPr lang="pl-PL" altLang="pl-PL" sz="2800" dirty="0"/>
              <a:t>Sąd Okręgowy w B. stwierdziwszy brak wniosku o ściganie,  powołując się na treść art. 439 par. 1 pkt 9 k.p.k. w zw. z art. 17 par. 1 pkt 10 k.p.k. uchylił zaskarżony wyrok i umorzył postępowanie.  W kasacji od tego wyroku prokurator podnosił rażące i mogące mieć istotny wpływ na treść wyroku naruszenie </a:t>
            </a:r>
            <a:r>
              <a:rPr lang="pl-PL" altLang="pl-PL" sz="2800" dirty="0" err="1"/>
              <a:t>w.w</a:t>
            </a:r>
            <a:r>
              <a:rPr lang="pl-PL" altLang="pl-PL" sz="2800" dirty="0"/>
              <a:t>. przepisów prawa procesowego, gdyż wniosek ten w istocie był, a sprowadzał się do stanowiska </a:t>
            </a:r>
            <a:r>
              <a:rPr lang="pl-PL" altLang="pl-PL" sz="2800"/>
              <a:t>oskarżycielki posiłkowej </a:t>
            </a:r>
            <a:r>
              <a:rPr lang="pl-PL" altLang="pl-PL" sz="2800" dirty="0"/>
              <a:t>wyrażonego w głosach stron, a sprowadzającego się do zdania „przychylam się do stanowiska prokuratora domagającego się uznania winy oskarżonego i wymierzenia mu kary bezwzględnego pozbawienia wolności”. Oceń zaistniałą sytuację procesową. </a:t>
            </a:r>
          </a:p>
          <a:p>
            <a:pPr>
              <a:buNone/>
            </a:pPr>
            <a:endParaRPr lang="pl-PL" dirty="0"/>
          </a:p>
        </p:txBody>
      </p:sp>
    </p:spTree>
    <p:extLst>
      <p:ext uri="{BB962C8B-B14F-4D97-AF65-F5344CB8AC3E}">
        <p14:creationId xmlns:p14="http://schemas.microsoft.com/office/powerpoint/2010/main" val="1652992158"/>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16632"/>
            <a:ext cx="8698168" cy="5982416"/>
          </a:xfrm>
        </p:spPr>
        <p:txBody>
          <a:bodyPr>
            <a:normAutofit/>
          </a:bodyPr>
          <a:lstStyle/>
          <a:p>
            <a:pPr fontAlgn="t">
              <a:buNone/>
            </a:pPr>
            <a:endParaRPr lang="pl-PL" dirty="0"/>
          </a:p>
          <a:p>
            <a:pPr fontAlgn="t"/>
            <a:r>
              <a:rPr lang="pl-PL" dirty="0"/>
              <a:t>Wyrok Sądu Apelacyjnego w Krakowie z 14.07.2005 r. w Krakowie, II Aka 140/05</a:t>
            </a:r>
          </a:p>
          <a:p>
            <a:pPr fontAlgn="t">
              <a:buNone/>
            </a:pPr>
            <a:r>
              <a:rPr lang="pl-PL" dirty="0"/>
              <a:t> </a:t>
            </a:r>
          </a:p>
          <a:p>
            <a:pPr fontAlgn="t"/>
            <a:r>
              <a:rPr lang="pl-PL" dirty="0"/>
              <a:t>Wniosek o ściganie przestępstwa stanowiący wyraz woli uprawnionego podmiotu może być wyrażony w dowolnej formie: przy zawiadomieniu o popełnieniu przestępstwa, w zeznaniach świadka, w odrębnym dokumencie bądź piśmie procesowym, byle z treści dokumentu procesowego </a:t>
            </a:r>
            <a:r>
              <a:rPr lang="pl-PL" dirty="0">
                <a:solidFill>
                  <a:srgbClr val="FF0000"/>
                </a:solidFill>
              </a:rPr>
              <a:t>wynikało żądanie pokrzywdzonego ścigania sprawców. </a:t>
            </a:r>
            <a:r>
              <a:rPr lang="pl-PL" dirty="0"/>
              <a:t>Wniosek wywiera skutki prawne niezwłocznie po złożeniu go i odtąd postępowanie toczy się z urzędu. </a:t>
            </a:r>
          </a:p>
          <a:p>
            <a:endParaRPr lang="pl-PL"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35496" y="116632"/>
            <a:ext cx="8770176" cy="6624736"/>
          </a:xfrm>
        </p:spPr>
        <p:txBody>
          <a:bodyPr>
            <a:normAutofit lnSpcReduction="10000"/>
          </a:bodyPr>
          <a:lstStyle/>
          <a:p>
            <a:endParaRPr lang="pl-PL" dirty="0"/>
          </a:p>
          <a:p>
            <a:r>
              <a:rPr lang="pl-PL" sz="3600" dirty="0"/>
              <a:t>Zenon K. został oskarżony o dokonanie przestępstwa kradzieży na szkodę Joanny Z.</a:t>
            </a:r>
          </a:p>
          <a:p>
            <a:r>
              <a:rPr lang="pl-PL" sz="3600" dirty="0"/>
              <a:t>W toku postępowania sądowego, po rozpoczęciu przewodu sądowego Joanna Z. oświadczyła, iż wczoraj wyszła za mąż za Zenona K. i nie chce, by został ukarany – jak powinien postąpić sąd? Jakie stanowisko powinien zająć w tej sprawie obrońca oskarżonego pytany o to przez sąd przed podjęciem decyzji procesowej. </a:t>
            </a: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5838400"/>
          </a:xfrm>
        </p:spPr>
        <p:txBody>
          <a:bodyPr>
            <a:normAutofit fontScale="92500" lnSpcReduction="20000"/>
          </a:bodyPr>
          <a:lstStyle/>
          <a:p>
            <a:r>
              <a:rPr lang="pl-PL" dirty="0"/>
              <a:t>Uznać zatem należy, że instytucja ścigania pewnych przestępstw </a:t>
            </a:r>
            <a:r>
              <a:rPr lang="pl-PL" b="1" dirty="0"/>
              <a:t>na wniosek ma charakter procesowy, a nie </a:t>
            </a:r>
            <a:r>
              <a:rPr lang="pl-PL" b="1" dirty="0" err="1"/>
              <a:t>materialnoprawny</a:t>
            </a:r>
            <a:r>
              <a:rPr lang="pl-PL" b="1" dirty="0"/>
              <a:t>, brak wniosku od uprawnionej osoby uniemożliwia tylko prowadzenie postępowania, a nie przesądza o braku przestępności czynu</a:t>
            </a:r>
            <a:r>
              <a:rPr lang="pl-PL" dirty="0"/>
              <a:t>. </a:t>
            </a:r>
          </a:p>
          <a:p>
            <a:r>
              <a:rPr lang="pl-PL" dirty="0"/>
              <a:t>Przyjąć trzeba, że brak wniosku osoby uprawnionej uniemożliwia nie tylko wszczęcie postępowania, ale także jego prowadzenie, aż do prawomocnego zakończenia. Wskazuje na to treść art. 17 § 1 k.p.k., który nakazuje w razie wystąpienia wymienionych w nim przesłanek nie wszczynać postępowania, a wszczęte umorzyć. Pośrednio wskazuje na to również możliwość cofnięcia wniosku w określonych sytuacjach, które to cofnięcie może powodować umorzenie postępowania. Złożenie wniosku dopiero w toku postępowania sądowego, nawet w toku postępowania odwoławczego, umożliwia przy tym dalsze prowadzenie postępowania. </a:t>
            </a: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260648"/>
            <a:ext cx="8554152" cy="5838400"/>
          </a:xfrm>
        </p:spPr>
        <p:txBody>
          <a:bodyPr>
            <a:normAutofit/>
          </a:bodyPr>
          <a:lstStyle/>
          <a:p>
            <a:endParaRPr lang="pl-PL" dirty="0"/>
          </a:p>
          <a:p>
            <a:r>
              <a:rPr lang="pl-PL" dirty="0"/>
              <a:t>Osoba sprawcy, a właściwie rodzaj relacji pomiędzy sprawcą a pokrzywdzonym, a nie rodzaj przestępstwa, decyduje o oddaniu inicjatywy ścigania w ręce pokrzywdzonego. Bezwzględne ściganie osoby najbliższej łączyłoby się niejednokrotnie z dalszymi przykrościami dla pokrzywdzonego (…)  Państwo rezygnuje więc w określonych w ustawie przypadkach z realizacji normy prawa materialnego w momencie ustalenia szczególnego stosunku łączącego sprawcę z pokrzywdzonym, jeżeli ten nie wyraża zainteresowania ściganiem  </a:t>
            </a:r>
          </a:p>
          <a:p>
            <a:endParaRPr lang="pl-PL"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fontScale="85000" lnSpcReduction="10000"/>
          </a:bodyPr>
          <a:lstStyle/>
          <a:p>
            <a:r>
              <a:rPr lang="pl-PL" b="1" dirty="0"/>
              <a:t>Jeśli wniosek jest instytucją o charakterze przede wszystkim procesowym, </a:t>
            </a:r>
            <a:r>
              <a:rPr lang="pl-PL" dirty="0"/>
              <a:t>związanego z pojęciem osoby najbliższej  </a:t>
            </a:r>
            <a:r>
              <a:rPr lang="pl-PL" b="1" dirty="0">
                <a:solidFill>
                  <a:srgbClr val="FF0000"/>
                </a:solidFill>
              </a:rPr>
              <a:t>to chwilą istotną dla ustalenia, czy sprawca przestępstwa jest dla pokrzywdzonego osobą najbliższą, jest nie tylko chwila popełnienia przestępstwa lub stwierdzenia, kto jest jego sprawcą, ale także chwila ewentualnego powstania stosunku rodzinnego </a:t>
            </a:r>
            <a:r>
              <a:rPr lang="pl-PL" dirty="0"/>
              <a:t>także po popełnieniu przestępstwa, również już w toku postępowania, byleby przed jego prawomocnym zakończeniem </a:t>
            </a:r>
            <a:r>
              <a:rPr lang="pl-PL" dirty="0">
                <a:solidFill>
                  <a:srgbClr val="7030A0"/>
                </a:solidFill>
              </a:rPr>
              <a:t>Organ procesowy, po ustaleniu w przypadku przestępstw względnie wnioskowych, iż sprawca przestępstwa jest lub </a:t>
            </a:r>
            <a:r>
              <a:rPr lang="pl-PL" dirty="0">
                <a:solidFill>
                  <a:srgbClr val="FF0000"/>
                </a:solidFill>
              </a:rPr>
              <a:t>stał się osobą najbliższą </a:t>
            </a:r>
            <a:r>
              <a:rPr lang="pl-PL" dirty="0">
                <a:solidFill>
                  <a:srgbClr val="7030A0"/>
                </a:solidFill>
              </a:rPr>
              <a:t>dla pokrzywdzonego, powinien zwrócić się do pokrzywdzonego o oświadczenie, czy składa wniosek o ściganie, a jeśli ten wniosku nie złoży, postępowanie należy umorzyć</a:t>
            </a:r>
            <a:r>
              <a:rPr lang="pl-PL" dirty="0">
                <a:solidFill>
                  <a:srgbClr val="FFFF00"/>
                </a:solidFill>
              </a:rPr>
              <a:t> </a:t>
            </a:r>
            <a:r>
              <a:rPr lang="pl-PL" dirty="0"/>
              <a:t>– Wyrok Sądu Najwyższego</a:t>
            </a:r>
          </a:p>
          <a:p>
            <a:r>
              <a:rPr lang="pl-PL" dirty="0"/>
              <a:t> z dnia 27 sierpnia 2008 r. II KK 56/08 – odmiennie J. Grajewski</a:t>
            </a:r>
          </a:p>
          <a:p>
            <a:endParaRPr lang="pl-PL" dirty="0"/>
          </a:p>
          <a:p>
            <a:endParaRPr lang="pl-PL" dirty="0"/>
          </a:p>
          <a:p>
            <a:endParaRPr lang="pl-PL"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260648"/>
            <a:ext cx="8698168" cy="5838400"/>
          </a:xfrm>
        </p:spPr>
        <p:txBody>
          <a:bodyPr>
            <a:noAutofit/>
          </a:bodyPr>
          <a:lstStyle/>
          <a:p>
            <a:r>
              <a:rPr lang="pl-PL" sz="3600" dirty="0"/>
              <a:t>Na rozprawie Sąd dochodzi do przekonania, iż czyn zarzucony oskarżonemu należy zakwalifikować z dwóch przepisów – poza przepisem wskazanym przez prokuratora w a/o należy w kwalifikacji prawnej powołać również przepis </a:t>
            </a:r>
            <a:r>
              <a:rPr lang="pl-PL" sz="3600" dirty="0" err="1"/>
              <a:t>kryminalizujący</a:t>
            </a:r>
            <a:r>
              <a:rPr lang="pl-PL" sz="3600" dirty="0"/>
              <a:t> przestępstwo ścigane na wniosek w kumulatywnej kwalifikacji prawnej.</a:t>
            </a:r>
          </a:p>
          <a:p>
            <a:r>
              <a:rPr lang="pl-PL" sz="3600" dirty="0"/>
              <a:t>Czy i co powinien zrobić w tej sprawie sąd?</a:t>
            </a: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6264696"/>
          </a:xfrm>
        </p:spPr>
        <p:txBody>
          <a:bodyPr>
            <a:normAutofit/>
          </a:bodyPr>
          <a:lstStyle/>
          <a:p>
            <a:pPr fontAlgn="t">
              <a:buNone/>
            </a:pPr>
            <a:endParaRPr lang="pl-PL" dirty="0"/>
          </a:p>
          <a:p>
            <a:pPr fontAlgn="t"/>
            <a:r>
              <a:rPr lang="pl-PL" dirty="0"/>
              <a:t>wyrok SN z 14.06. 2002 r.,  II KKN 267/01 </a:t>
            </a:r>
          </a:p>
          <a:p>
            <a:pPr fontAlgn="t"/>
            <a:endParaRPr lang="pl-PL" dirty="0"/>
          </a:p>
          <a:p>
            <a:pPr fontAlgn="t">
              <a:buNone/>
            </a:pPr>
            <a:r>
              <a:rPr lang="pl-PL" dirty="0"/>
              <a:t>   Nie jest dopuszczalne przyjęcie tzw. kumulatywnej kwalifikacji prawnej czynu sprawcy, z przepisu przewidującego ściganie z urzędu oraz przepisu przewidującego ściganie na wniosek, a nawet nie jest dopuszczalne ujęcie w opisie czynu przypisanego temu sprawcy elementów faktycznych należących do istoty przestępstwa ściganego na wniosek w sytuacji, gdy brak jest wniosku o ściganie tego przestępstwa.</a:t>
            </a:r>
          </a:p>
          <a:p>
            <a:endParaRPr lang="pl-PL"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6480720"/>
          </a:xfrm>
        </p:spPr>
        <p:txBody>
          <a:bodyPr>
            <a:normAutofit/>
          </a:bodyPr>
          <a:lstStyle/>
          <a:p>
            <a:pPr fontAlgn="t">
              <a:buNone/>
            </a:pPr>
            <a:r>
              <a:rPr lang="pl-PL" dirty="0"/>
              <a:t> </a:t>
            </a:r>
          </a:p>
          <a:p>
            <a:pPr fontAlgn="t"/>
            <a:r>
              <a:rPr lang="pl-PL" dirty="0"/>
              <a:t>wyrok Sądu Apelacyjnego w Białymstoku 13.03.2003 r., II </a:t>
            </a:r>
            <a:r>
              <a:rPr lang="pl-PL" dirty="0" err="1"/>
              <a:t>AKa</a:t>
            </a:r>
            <a:r>
              <a:rPr lang="pl-PL" dirty="0"/>
              <a:t> 41/03</a:t>
            </a:r>
          </a:p>
          <a:p>
            <a:pPr fontAlgn="t"/>
            <a:endParaRPr lang="pl-PL" dirty="0"/>
          </a:p>
          <a:p>
            <a:pPr fontAlgn="t"/>
            <a:r>
              <a:rPr lang="pl-PL" dirty="0"/>
              <a:t> </a:t>
            </a:r>
            <a:r>
              <a:rPr lang="pl-PL" sz="3600" dirty="0"/>
              <a:t>Jeżeli w toku procesu o przestępstwo ścigane z urzędu powstanie możliwość zakwalifikowania czynu oskarżonego jako przestępstwa ściganego na wniosek, organ procesowy ma obowiązek umożliwienia pokrzywdzonemu wyrażenia woli ścigania sprawcy przez złożenie wniosku.</a:t>
            </a:r>
          </a:p>
          <a:p>
            <a:endParaRPr lang="pl-PL"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sz="2000" dirty="0">
                <a:solidFill>
                  <a:srgbClr val="FF0000"/>
                </a:solidFill>
              </a:rPr>
              <a:t>art. 17 par. 1 </a:t>
            </a:r>
            <a:r>
              <a:rPr lang="pl-PL" sz="2000" dirty="0" err="1">
                <a:solidFill>
                  <a:srgbClr val="FF0000"/>
                </a:solidFill>
              </a:rPr>
              <a:t>pkt</a:t>
            </a:r>
            <a:r>
              <a:rPr lang="pl-PL" sz="2000" dirty="0">
                <a:solidFill>
                  <a:srgbClr val="FF0000"/>
                </a:solidFill>
              </a:rPr>
              <a:t> 11 – zachodzi inna okoliczność wyłączająca ściganie</a:t>
            </a:r>
          </a:p>
        </p:txBody>
      </p:sp>
      <p:sp>
        <p:nvSpPr>
          <p:cNvPr id="3" name="Symbol zastępczy zawartości 2"/>
          <p:cNvSpPr>
            <a:spLocks noGrp="1"/>
          </p:cNvSpPr>
          <p:nvPr>
            <p:ph sz="quarter" idx="1"/>
          </p:nvPr>
        </p:nvSpPr>
        <p:spPr/>
        <p:txBody>
          <a:bodyPr>
            <a:normAutofit/>
          </a:bodyPr>
          <a:lstStyle/>
          <a:p>
            <a:pPr>
              <a:buNone/>
            </a:pPr>
            <a:endParaRPr lang="pl-PL" dirty="0"/>
          </a:p>
          <a:p>
            <a:endParaRPr lang="pl-PL" dirty="0"/>
          </a:p>
          <a:p>
            <a:pPr>
              <a:buNone/>
            </a:pPr>
            <a:r>
              <a:rPr lang="pl-PL" dirty="0"/>
              <a:t>   Abolicja (przesłanka o charakterze mieszanym – choć wyrasta z prawa karnego materialnego, to funkcjonuje tak jak typowe instytucje prawa karnego procesowego )</a:t>
            </a:r>
          </a:p>
          <a:p>
            <a:endParaRPr lang="pl-PL" dirty="0"/>
          </a:p>
          <a:p>
            <a:endParaRPr lang="pl-PL" dirty="0"/>
          </a:p>
          <a:p>
            <a:endParaRPr lang="pl-PL" dirty="0"/>
          </a:p>
          <a:p>
            <a:endParaRPr lang="pl-PL" dirty="0"/>
          </a:p>
          <a:p>
            <a:endParaRPr lang="pl-PL" dirty="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dirty="0"/>
              <a:t>Abolicja (łac. </a:t>
            </a:r>
            <a:r>
              <a:rPr lang="pl-PL" dirty="0" err="1"/>
              <a:t>abolitio</a:t>
            </a:r>
            <a:r>
              <a:rPr lang="pl-PL" dirty="0"/>
              <a:t>, </a:t>
            </a:r>
            <a:r>
              <a:rPr lang="pl-PL" dirty="0" err="1"/>
              <a:t>fr</a:t>
            </a:r>
            <a:r>
              <a:rPr lang="pl-PL" dirty="0"/>
              <a:t>. </a:t>
            </a:r>
            <a:r>
              <a:rPr lang="pl-PL" dirty="0" err="1"/>
              <a:t>abolition</a:t>
            </a:r>
            <a:r>
              <a:rPr lang="pl-PL" dirty="0"/>
              <a:t> – umorzenie, usunięcie) tradycyjnie w nauce prawa karnego określana jest jako zbiorowe lub </a:t>
            </a:r>
            <a:r>
              <a:rPr lang="pl-PL" dirty="0">
                <a:solidFill>
                  <a:srgbClr val="FF0000"/>
                </a:solidFill>
              </a:rPr>
              <a:t>indywidualne z mocy aktu łaski* </a:t>
            </a:r>
            <a:r>
              <a:rPr lang="pl-PL" dirty="0"/>
              <a:t>darowanie kary przed jej orzeczeniem); zakaz wszczynania i nakaz umorzenia postępowania karnego, można ją stosować do uprawomocnienia się wyroku skazującego;</a:t>
            </a:r>
          </a:p>
          <a:p>
            <a:endParaRPr lang="pl-PL" dirty="0"/>
          </a:p>
          <a:p>
            <a:r>
              <a:rPr lang="pl-PL" dirty="0"/>
              <a:t>z reguły jej stosowanie jest nieodwołalne</a:t>
            </a: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5766392"/>
          </a:xfrm>
        </p:spPr>
        <p:txBody>
          <a:bodyPr/>
          <a:lstStyle/>
          <a:p>
            <a:endParaRPr lang="pl-PL" dirty="0"/>
          </a:p>
          <a:p>
            <a:endParaRPr lang="pl-PL" dirty="0"/>
          </a:p>
          <a:p>
            <a:r>
              <a:rPr lang="pl-PL" sz="6000" dirty="0"/>
              <a:t>Spory czy dopuszczalne jest stosowanie prawa łaski w formie indywidualnej abolicji?</a:t>
            </a:r>
          </a:p>
          <a:p>
            <a:endParaRPr lang="pl-PL" dirty="0"/>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188640"/>
            <a:ext cx="8626160" cy="5910408"/>
          </a:xfrm>
        </p:spPr>
        <p:txBody>
          <a:bodyPr>
            <a:normAutofit lnSpcReduction="10000"/>
          </a:bodyPr>
          <a:lstStyle/>
          <a:p>
            <a:r>
              <a:rPr lang="pl-PL" dirty="0"/>
              <a:t> Czyny </a:t>
            </a:r>
            <a:r>
              <a:rPr lang="pl-PL" dirty="0" err="1"/>
              <a:t>współukarane</a:t>
            </a:r>
            <a:r>
              <a:rPr lang="pl-PL" dirty="0"/>
              <a:t> </a:t>
            </a:r>
          </a:p>
          <a:p>
            <a:endParaRPr lang="pl-PL" b="1" dirty="0"/>
          </a:p>
          <a:p>
            <a:endParaRPr lang="pl-PL" b="1" dirty="0"/>
          </a:p>
          <a:p>
            <a:r>
              <a:rPr lang="pl-PL" dirty="0"/>
              <a:t>Wyrok Sądu Najwyższego z dnia 16 listopada 2009 r.   w sprawie IV KK 98/09</a:t>
            </a:r>
          </a:p>
          <a:p>
            <a:endParaRPr lang="pl-PL" dirty="0"/>
          </a:p>
          <a:p>
            <a:r>
              <a:rPr lang="pl-PL" i="1" dirty="0"/>
              <a:t>Jeżeli dokonany przez oskarżonego fałsz materialny dokumentów rzeczoznawcy, stanowił środek do celu, jakim było wyłudzenie kredytu i został on uprzednio skazany za ten drugi czyn, to tego rodzaju sytuacja stanowi inną okoliczność wyłączającą ściganie w rozumieniu art. 17 § 1 </a:t>
            </a:r>
            <a:r>
              <a:rPr lang="pl-PL" i="1" dirty="0" err="1"/>
              <a:t>pkt</a:t>
            </a:r>
            <a:r>
              <a:rPr lang="pl-PL" i="1" dirty="0"/>
              <a:t> 11 k.p.k. za przestępstwo fałszu materialnego albowiem stanowi ono tzw. </a:t>
            </a:r>
            <a:r>
              <a:rPr lang="pl-PL" i="1" dirty="0" err="1"/>
              <a:t>współukarane</a:t>
            </a:r>
            <a:r>
              <a:rPr lang="pl-PL" i="1" dirty="0"/>
              <a:t> przestępstwo uprzednie.</a:t>
            </a:r>
          </a:p>
          <a:p>
            <a:endParaRPr lang="pl-PL" b="1" dirty="0"/>
          </a:p>
          <a:p>
            <a:endParaRPr lang="pl-PL" dirty="0"/>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404664"/>
            <a:ext cx="8698168" cy="5694384"/>
          </a:xfrm>
        </p:spPr>
        <p:txBody>
          <a:bodyPr>
            <a:normAutofit fontScale="92500" lnSpcReduction="10000"/>
          </a:bodyPr>
          <a:lstStyle/>
          <a:p>
            <a:r>
              <a:rPr lang="pl-PL" b="1" dirty="0"/>
              <a:t>Uchwała </a:t>
            </a:r>
            <a:r>
              <a:rPr lang="pl-PL" dirty="0"/>
              <a:t>Sądu Najwyższego z dnia 26 września 2002 r. </a:t>
            </a:r>
            <a:r>
              <a:rPr lang="pl-PL" b="1" dirty="0"/>
              <a:t>I KZP 23/02</a:t>
            </a:r>
          </a:p>
          <a:p>
            <a:r>
              <a:rPr lang="pl-PL" dirty="0"/>
              <a:t> </a:t>
            </a:r>
          </a:p>
          <a:p>
            <a:r>
              <a:rPr lang="pl-PL" dirty="0"/>
              <a:t>1. W sytuacji gdy postanowienie o odmowie wszczęcia śledztwa lub dochodzenia albo o jego umorzeniu zostało zaskarżone wyłącznie na korzyść podejrzanego, obowiązuje zakaz </a:t>
            </a:r>
            <a:r>
              <a:rPr lang="pl-PL" dirty="0" err="1"/>
              <a:t>reformationis</a:t>
            </a:r>
            <a:r>
              <a:rPr lang="pl-PL" dirty="0"/>
              <a:t> </a:t>
            </a:r>
            <a:r>
              <a:rPr lang="pl-PL" dirty="0" err="1"/>
              <a:t>in</a:t>
            </a:r>
            <a:r>
              <a:rPr lang="pl-PL" dirty="0"/>
              <a:t> </a:t>
            </a:r>
            <a:r>
              <a:rPr lang="pl-PL" dirty="0" err="1"/>
              <a:t>peius</a:t>
            </a:r>
            <a:r>
              <a:rPr lang="pl-PL" dirty="0"/>
              <a:t> , przewidziany w art. 434 § 1 oraz w art. 443 k.p.k.</a:t>
            </a:r>
          </a:p>
          <a:p>
            <a:endParaRPr lang="pl-PL" dirty="0"/>
          </a:p>
          <a:p>
            <a:r>
              <a:rPr lang="pl-PL" dirty="0"/>
              <a:t>2. W wypadku wniesienia przez prokuratora aktu oskarżenia, mimo że - ze względu na zakaz </a:t>
            </a:r>
            <a:r>
              <a:rPr lang="pl-PL" dirty="0" err="1"/>
              <a:t>reformationis</a:t>
            </a:r>
            <a:r>
              <a:rPr lang="pl-PL" dirty="0"/>
              <a:t> </a:t>
            </a:r>
            <a:r>
              <a:rPr lang="pl-PL" dirty="0" err="1"/>
              <a:t>in</a:t>
            </a:r>
            <a:r>
              <a:rPr lang="pl-PL" dirty="0"/>
              <a:t> </a:t>
            </a:r>
            <a:r>
              <a:rPr lang="pl-PL" dirty="0" err="1"/>
              <a:t>peius</a:t>
            </a:r>
            <a:r>
              <a:rPr lang="pl-PL" dirty="0"/>
              <a:t> - dochodzenie lub śledztwo powinno być umorzone, postępowanie sądowe ulega umorzeniu na podstawie art. 17 § 1 </a:t>
            </a:r>
            <a:r>
              <a:rPr lang="pl-PL" dirty="0" err="1"/>
              <a:t>pkt</a:t>
            </a:r>
            <a:r>
              <a:rPr lang="pl-PL" dirty="0"/>
              <a:t> 11 k.p.k.</a:t>
            </a:r>
          </a:p>
          <a:p>
            <a:endParaRPr lang="pl-PL" dirty="0"/>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a:bodyPr>
          <a:lstStyle/>
          <a:p>
            <a:r>
              <a:rPr lang="pl-PL" dirty="0"/>
              <a:t>Zbieg przesłanek procesowych</a:t>
            </a:r>
          </a:p>
        </p:txBody>
      </p:sp>
      <p:sp>
        <p:nvSpPr>
          <p:cNvPr id="3" name="Symbol zastępczy zawartości 2"/>
          <p:cNvSpPr>
            <a:spLocks noGrp="1"/>
          </p:cNvSpPr>
          <p:nvPr>
            <p:ph sz="quarter" idx="1"/>
          </p:nvPr>
        </p:nvSpPr>
        <p:spPr/>
        <p:txBody>
          <a:bodyPr>
            <a:normAutofit lnSpcReduction="10000"/>
          </a:bodyPr>
          <a:lstStyle/>
          <a:p>
            <a:r>
              <a:rPr lang="pl-PL" dirty="0"/>
              <a:t>1. wszystkie zbiegające się przesłanki mogą stanowić wspólną podstawę prawną decyzji kończącej postępowanie, jeśli każda z nich pociąga za sobą identyczne następstwa prawne,</a:t>
            </a:r>
          </a:p>
          <a:p>
            <a:endParaRPr lang="pl-PL" dirty="0"/>
          </a:p>
          <a:p>
            <a:r>
              <a:rPr lang="pl-PL" dirty="0"/>
              <a:t>2. w razie zbiegu przesłanki uniewinnienia z inną przesłanką powodującą umorzenie należy postępowanie umorzyć, gdyż o winie można rozstrzygać jedynie w dopuszczalnym procesie karnym, ale ta zasada obowiązuje tylko do otwarcia przewodu sądowego na rozprawie głównej </a:t>
            </a:r>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79512" y="260648"/>
            <a:ext cx="8626160" cy="5838400"/>
          </a:xfrm>
        </p:spPr>
        <p:txBody>
          <a:bodyPr>
            <a:normAutofit/>
          </a:bodyPr>
          <a:lstStyle/>
          <a:p>
            <a:pPr fontAlgn="t"/>
            <a:r>
              <a:rPr lang="pl-PL" dirty="0"/>
              <a:t>I KZP 27/ 10  </a:t>
            </a:r>
          </a:p>
          <a:p>
            <a:pPr fontAlgn="t"/>
            <a:r>
              <a:rPr lang="pl-PL" dirty="0" err="1"/>
              <a:t>postanow</a:t>
            </a:r>
            <a:r>
              <a:rPr lang="pl-PL" dirty="0"/>
              <a:t>. SN2011.01.27 OSNKW 2011/1/5 </a:t>
            </a:r>
          </a:p>
          <a:p>
            <a:pPr fontAlgn="t"/>
            <a:r>
              <a:rPr lang="pl-PL" i="1" dirty="0"/>
              <a:t>  W wypadku stwierdzenia zbiegu negatywnych przesłanek procesowych, określonych w art. 17 § 1 </a:t>
            </a:r>
            <a:r>
              <a:rPr lang="pl-PL" i="1" dirty="0" err="1"/>
              <a:t>pkt</a:t>
            </a:r>
            <a:r>
              <a:rPr lang="pl-PL" i="1" dirty="0"/>
              <a:t> 1 i 2 k.p.k. oraz art. 17 § 1 </a:t>
            </a:r>
            <a:r>
              <a:rPr lang="pl-PL" i="1" dirty="0" err="1"/>
              <a:t>pkt</a:t>
            </a:r>
            <a:r>
              <a:rPr lang="pl-PL" i="1" dirty="0"/>
              <a:t> 6 k.p.k., sąd powinien umorzyć postępowanie z uwagi na niedopuszczalność jego dalszego prowadzenia. Zasada ta nie ma jednak zastosowania wówczas, gdy zbieg tych przesłanek zostanie stwierdzony dopiero po przeprowadzeniu dowodów i wyjaśnieniu wszystkich okoliczności faktycznych.</a:t>
            </a:r>
          </a:p>
          <a:p>
            <a:endParaRPr lang="pl-PL" i="1" dirty="0"/>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5766392"/>
          </a:xfrm>
        </p:spPr>
        <p:txBody>
          <a:bodyPr>
            <a:normAutofit/>
          </a:bodyPr>
          <a:lstStyle/>
          <a:p>
            <a:r>
              <a:rPr lang="pl-PL" sz="4000" dirty="0"/>
              <a:t>3. zbieg przesłanek procesowych bezwzględnych i względnych</a:t>
            </a:r>
          </a:p>
          <a:p>
            <a:endParaRPr lang="pl-PL" sz="4000" dirty="0"/>
          </a:p>
          <a:p>
            <a:r>
              <a:rPr lang="pl-PL" sz="4000" dirty="0"/>
              <a:t> – postępowanie należy umorzyć z powołaniem się na przesłanki bezwzględne – w uzasadnieniu należy jednak powołać się również na przesłankę względną </a:t>
            </a:r>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5766392"/>
          </a:xfrm>
        </p:spPr>
        <p:txBody>
          <a:bodyPr>
            <a:normAutofit/>
          </a:bodyPr>
          <a:lstStyle/>
          <a:p>
            <a:r>
              <a:rPr lang="pl-PL" sz="4000" dirty="0"/>
              <a:t>3. zbieg przesłanek procesowych bezwzględnych i względnych</a:t>
            </a:r>
          </a:p>
          <a:p>
            <a:endParaRPr lang="pl-PL" sz="4000" dirty="0"/>
          </a:p>
          <a:p>
            <a:r>
              <a:rPr lang="pl-PL" sz="4000" dirty="0"/>
              <a:t> – postępowanie należy umorzyć z powołaniem się na przesłanki bezwzględne – w uzasadnieniu należy jednak powołać się również na przesłankę względną </a:t>
            </a:r>
          </a:p>
        </p:txBody>
      </p:sp>
    </p:spTree>
    <p:extLst>
      <p:ext uri="{BB962C8B-B14F-4D97-AF65-F5344CB8AC3E}">
        <p14:creationId xmlns:p14="http://schemas.microsoft.com/office/powerpoint/2010/main" val="660956087"/>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5766392"/>
          </a:xfrm>
        </p:spPr>
        <p:txBody>
          <a:bodyPr>
            <a:normAutofit/>
          </a:bodyPr>
          <a:lstStyle/>
          <a:p>
            <a:r>
              <a:rPr lang="pl-PL" sz="4000" dirty="0"/>
              <a:t>3. zbieg przesłanek procesowych bezwzględnych i względnych</a:t>
            </a:r>
          </a:p>
          <a:p>
            <a:endParaRPr lang="pl-PL" sz="4000" dirty="0"/>
          </a:p>
          <a:p>
            <a:r>
              <a:rPr lang="pl-PL" sz="4000" dirty="0"/>
              <a:t> – postępowanie należy umorzyć z powołaniem się na przesłanki bezwzględne – w uzasadnieniu należy jednak powołać się również na przesłankę względną </a:t>
            </a:r>
          </a:p>
        </p:txBody>
      </p:sp>
    </p:spTree>
    <p:extLst>
      <p:ext uri="{BB962C8B-B14F-4D97-AF65-F5344CB8AC3E}">
        <p14:creationId xmlns:p14="http://schemas.microsoft.com/office/powerpoint/2010/main" val="1367668819"/>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5766392"/>
          </a:xfrm>
        </p:spPr>
        <p:txBody>
          <a:bodyPr>
            <a:normAutofit/>
          </a:bodyPr>
          <a:lstStyle/>
          <a:p>
            <a:r>
              <a:rPr lang="pl-PL" sz="4000" dirty="0"/>
              <a:t>3. zbieg przesłanek procesowych bezwzględnych i względnych</a:t>
            </a:r>
          </a:p>
          <a:p>
            <a:endParaRPr lang="pl-PL" sz="4000" dirty="0"/>
          </a:p>
          <a:p>
            <a:r>
              <a:rPr lang="pl-PL" sz="4000" dirty="0"/>
              <a:t> – postępowanie należy umorzyć z powołaniem się na przesłanki bezwzględne – w uzasadnieniu należy jednak powołać się również na przesłankę względną </a:t>
            </a:r>
          </a:p>
        </p:txBody>
      </p:sp>
    </p:spTree>
    <p:extLst>
      <p:ext uri="{BB962C8B-B14F-4D97-AF65-F5344CB8AC3E}">
        <p14:creationId xmlns:p14="http://schemas.microsoft.com/office/powerpoint/2010/main" val="2179199242"/>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5766392"/>
          </a:xfrm>
        </p:spPr>
        <p:txBody>
          <a:bodyPr>
            <a:normAutofit fontScale="47500" lnSpcReduction="20000"/>
          </a:bodyPr>
          <a:lstStyle/>
          <a:p>
            <a:r>
              <a:rPr lang="pl-PL" sz="4000" b="1" dirty="0">
                <a:solidFill>
                  <a:srgbClr val="323232"/>
                </a:solidFill>
                <a:effectLst/>
                <a:latin typeface="Times New Roman" panose="02020603050405020304" pitchFamily="18" charset="0"/>
                <a:ea typeface="Calibri" panose="020F0502020204030204" pitchFamily="34" charset="0"/>
              </a:rPr>
              <a:t>Art. 402</a:t>
            </a:r>
            <a:endParaRPr lang="pl-PL" sz="4000" dirty="0">
              <a:solidFill>
                <a:srgbClr val="000000"/>
              </a:solidFill>
              <a:effectLst/>
              <a:latin typeface="Times New Roman" panose="02020603050405020304" pitchFamily="18" charset="0"/>
              <a:ea typeface="Calibri" panose="020F0502020204030204" pitchFamily="34" charset="0"/>
            </a:endParaRPr>
          </a:p>
          <a:p>
            <a:r>
              <a:rPr lang="pl-PL" sz="4000" b="1" dirty="0">
                <a:solidFill>
                  <a:srgbClr val="323232"/>
                </a:solidFill>
                <a:effectLst/>
                <a:latin typeface="Times New Roman" panose="02020603050405020304" pitchFamily="18" charset="0"/>
                <a:ea typeface="Calibri" panose="020F0502020204030204" pitchFamily="34" charset="0"/>
              </a:rPr>
              <a:t> </a:t>
            </a:r>
            <a:endParaRPr lang="pl-PL" sz="4000" dirty="0">
              <a:solidFill>
                <a:srgbClr val="000000"/>
              </a:solidFill>
              <a:effectLst/>
              <a:latin typeface="Times New Roman" panose="02020603050405020304" pitchFamily="18" charset="0"/>
              <a:ea typeface="Calibri" panose="020F0502020204030204" pitchFamily="34" charset="0"/>
            </a:endParaRPr>
          </a:p>
          <a:p>
            <a:r>
              <a:rPr lang="pl-PL" sz="4000" b="1" dirty="0">
                <a:solidFill>
                  <a:srgbClr val="323232"/>
                </a:solidFill>
                <a:effectLst/>
                <a:latin typeface="Times New Roman" panose="02020603050405020304" pitchFamily="18" charset="0"/>
                <a:ea typeface="Calibri" panose="020F0502020204030204" pitchFamily="34" charset="0"/>
              </a:rPr>
              <a:t>§ 1. </a:t>
            </a:r>
            <a:r>
              <a:rPr lang="pl-PL" sz="4000" dirty="0">
                <a:solidFill>
                  <a:srgbClr val="FF0000"/>
                </a:solidFill>
                <a:effectLst/>
                <a:latin typeface="Times New Roman" panose="02020603050405020304" pitchFamily="18" charset="0"/>
                <a:ea typeface="Calibri" panose="020F0502020204030204" pitchFamily="34" charset="0"/>
              </a:rPr>
              <a:t>Jeżeli przewodniczący, zarządzając przerwę</a:t>
            </a:r>
            <a:r>
              <a:rPr lang="pl-PL" sz="4000" dirty="0">
                <a:solidFill>
                  <a:srgbClr val="323232"/>
                </a:solidFill>
                <a:effectLst/>
                <a:latin typeface="Times New Roman" panose="02020603050405020304" pitchFamily="18" charset="0"/>
                <a:ea typeface="Calibri" panose="020F0502020204030204" pitchFamily="34" charset="0"/>
              </a:rPr>
              <a:t>, </a:t>
            </a:r>
            <a:r>
              <a:rPr lang="pl-PL" sz="4000" dirty="0">
                <a:solidFill>
                  <a:srgbClr val="006EC0"/>
                </a:solidFill>
                <a:effectLst/>
                <a:latin typeface="Times New Roman" panose="02020603050405020304" pitchFamily="18" charset="0"/>
                <a:ea typeface="Calibri" panose="020F0502020204030204" pitchFamily="34" charset="0"/>
              </a:rPr>
              <a:t>oznaczy jednocześnie czas i miejsce dalszego ciągu rozprawy, </a:t>
            </a:r>
            <a:r>
              <a:rPr lang="pl-PL" sz="4000" dirty="0">
                <a:solidFill>
                  <a:srgbClr val="FF0000"/>
                </a:solidFill>
                <a:effectLst/>
                <a:latin typeface="Times New Roman" panose="02020603050405020304" pitchFamily="18" charset="0"/>
                <a:ea typeface="Calibri" panose="020F0502020204030204" pitchFamily="34" charset="0"/>
              </a:rPr>
              <a:t>osoby obecne na rozprawie przerwanej</a:t>
            </a:r>
            <a:r>
              <a:rPr lang="pl-PL" sz="4000" dirty="0">
                <a:solidFill>
                  <a:srgbClr val="323232"/>
                </a:solidFill>
                <a:effectLst/>
                <a:latin typeface="Times New Roman" panose="02020603050405020304" pitchFamily="18" charset="0"/>
                <a:ea typeface="Calibri" panose="020F0502020204030204" pitchFamily="34" charset="0"/>
              </a:rPr>
              <a:t>, </a:t>
            </a:r>
            <a:r>
              <a:rPr lang="pl-PL" sz="4000" dirty="0">
                <a:solidFill>
                  <a:srgbClr val="00AE50"/>
                </a:solidFill>
                <a:effectLst/>
                <a:latin typeface="Times New Roman" panose="02020603050405020304" pitchFamily="18" charset="0"/>
                <a:ea typeface="Calibri" panose="020F0502020204030204" pitchFamily="34" charset="0"/>
              </a:rPr>
              <a:t>których obecność była obowiązkowa, są obowiązane stawić się w nowym terminie bez wezwania</a:t>
            </a:r>
            <a:r>
              <a:rPr lang="pl-PL" sz="4000" dirty="0">
                <a:solidFill>
                  <a:srgbClr val="323232"/>
                </a:solidFill>
                <a:effectLst/>
                <a:latin typeface="Times New Roman" panose="02020603050405020304" pitchFamily="18" charset="0"/>
                <a:ea typeface="Calibri" panose="020F0502020204030204" pitchFamily="34" charset="0"/>
              </a:rPr>
              <a:t>. </a:t>
            </a:r>
            <a:r>
              <a:rPr lang="pl-PL" sz="4000" dirty="0">
                <a:solidFill>
                  <a:srgbClr val="FF0000"/>
                </a:solidFill>
                <a:effectLst/>
                <a:latin typeface="Times New Roman" panose="02020603050405020304" pitchFamily="18" charset="0"/>
                <a:ea typeface="Calibri" panose="020F0502020204030204" pitchFamily="34" charset="0"/>
              </a:rPr>
              <a:t>Przepis art. 285 stosuje się odpowiednio</a:t>
            </a:r>
            <a:r>
              <a:rPr lang="pl-PL" sz="4000" dirty="0">
                <a:solidFill>
                  <a:srgbClr val="323232"/>
                </a:solidFill>
                <a:effectLst/>
                <a:latin typeface="Times New Roman" panose="02020603050405020304" pitchFamily="18" charset="0"/>
                <a:ea typeface="Calibri" panose="020F0502020204030204" pitchFamily="34" charset="0"/>
              </a:rPr>
              <a:t>. </a:t>
            </a:r>
            <a:r>
              <a:rPr lang="pl-PL" sz="4000" dirty="0">
                <a:solidFill>
                  <a:srgbClr val="00AEEE"/>
                </a:solidFill>
                <a:effectLst/>
                <a:latin typeface="Times New Roman" panose="02020603050405020304" pitchFamily="18" charset="0"/>
                <a:ea typeface="Calibri" panose="020F0502020204030204" pitchFamily="34" charset="0"/>
              </a:rPr>
              <a:t>Osoby uprawnione do stawiennictwa nie muszą być zawiadamiane o nowym terminie, nawet jeśli nie uczestniczyły w rozprawie przerwanej. </a:t>
            </a:r>
            <a:endParaRPr lang="pl-PL" sz="4000" dirty="0">
              <a:solidFill>
                <a:srgbClr val="000000"/>
              </a:solidFill>
              <a:effectLst/>
              <a:latin typeface="Times New Roman" panose="02020603050405020304" pitchFamily="18" charset="0"/>
              <a:ea typeface="Calibri" panose="020F0502020204030204" pitchFamily="34" charset="0"/>
            </a:endParaRPr>
          </a:p>
          <a:p>
            <a:r>
              <a:rPr lang="pl-PL" sz="4000" b="1" dirty="0">
                <a:solidFill>
                  <a:srgbClr val="323232"/>
                </a:solidFill>
                <a:effectLst/>
                <a:latin typeface="Times New Roman" panose="02020603050405020304" pitchFamily="18" charset="0"/>
                <a:ea typeface="Calibri" panose="020F0502020204030204" pitchFamily="34" charset="0"/>
              </a:rPr>
              <a:t>§ 1a. </a:t>
            </a:r>
            <a:r>
              <a:rPr lang="pl-PL" sz="4000" dirty="0">
                <a:solidFill>
                  <a:srgbClr val="FF0000"/>
                </a:solidFill>
                <a:effectLst/>
                <a:latin typeface="Times New Roman" panose="02020603050405020304" pitchFamily="18" charset="0"/>
                <a:ea typeface="Calibri" panose="020F0502020204030204" pitchFamily="34" charset="0"/>
              </a:rPr>
              <a:t>Oskarżonego, którego obecność jest obowiązkowa</a:t>
            </a:r>
            <a:r>
              <a:rPr lang="pl-PL" sz="4000" dirty="0">
                <a:solidFill>
                  <a:srgbClr val="323232"/>
                </a:solidFill>
                <a:effectLst/>
                <a:latin typeface="Times New Roman" panose="02020603050405020304" pitchFamily="18" charset="0"/>
                <a:ea typeface="Calibri" panose="020F0502020204030204" pitchFamily="34" charset="0"/>
              </a:rPr>
              <a:t>, </a:t>
            </a:r>
            <a:r>
              <a:rPr lang="pl-PL" sz="4000" dirty="0">
                <a:solidFill>
                  <a:srgbClr val="00AE50"/>
                </a:solidFill>
                <a:effectLst/>
                <a:latin typeface="Times New Roman" panose="02020603050405020304" pitchFamily="18" charset="0"/>
                <a:ea typeface="Calibri" panose="020F0502020204030204" pitchFamily="34" charset="0"/>
              </a:rPr>
              <a:t>nie wzywa się w sytuacjach określonych w art. 376 lub art. 377, </a:t>
            </a:r>
            <a:r>
              <a:rPr lang="pl-PL" sz="4000" dirty="0">
                <a:solidFill>
                  <a:srgbClr val="FF0000"/>
                </a:solidFill>
                <a:effectLst/>
                <a:latin typeface="Times New Roman" panose="02020603050405020304" pitchFamily="18" charset="0"/>
                <a:ea typeface="Calibri" panose="020F0502020204030204" pitchFamily="34" charset="0"/>
              </a:rPr>
              <a:t>jeżeli okres przerwy uniemożliwia jego wezwanie oraz stawienie się na rozprawę po przerwie</a:t>
            </a:r>
            <a:r>
              <a:rPr lang="pl-PL" sz="4000" dirty="0">
                <a:solidFill>
                  <a:srgbClr val="323232"/>
                </a:solidFill>
                <a:effectLst/>
                <a:latin typeface="Times New Roman" panose="02020603050405020304" pitchFamily="18" charset="0"/>
                <a:ea typeface="Calibri" panose="020F0502020204030204" pitchFamily="34" charset="0"/>
              </a:rPr>
              <a:t>. </a:t>
            </a:r>
            <a:endParaRPr lang="pl-PL" sz="4000" dirty="0">
              <a:solidFill>
                <a:srgbClr val="000000"/>
              </a:solidFill>
              <a:effectLst/>
              <a:latin typeface="Times New Roman" panose="02020603050405020304" pitchFamily="18" charset="0"/>
              <a:ea typeface="Calibri" panose="020F0502020204030204" pitchFamily="34" charset="0"/>
            </a:endParaRPr>
          </a:p>
          <a:p>
            <a:r>
              <a:rPr lang="pl-PL" sz="4000" b="1" dirty="0">
                <a:solidFill>
                  <a:srgbClr val="323232"/>
                </a:solidFill>
                <a:effectLst/>
                <a:latin typeface="Times New Roman" panose="02020603050405020304" pitchFamily="18" charset="0"/>
                <a:ea typeface="Calibri" panose="020F0502020204030204" pitchFamily="34" charset="0"/>
              </a:rPr>
              <a:t>§ 2. </a:t>
            </a:r>
            <a:r>
              <a:rPr lang="pl-PL" sz="4000" dirty="0">
                <a:solidFill>
                  <a:srgbClr val="00AEEE"/>
                </a:solidFill>
                <a:effectLst/>
                <a:latin typeface="Times New Roman" panose="02020603050405020304" pitchFamily="18" charset="0"/>
                <a:ea typeface="Calibri" panose="020F0502020204030204" pitchFamily="34" charset="0"/>
              </a:rPr>
              <a:t>Rozprawę przerwaną prowadzi się po przerwie w dalszym ciągu</a:t>
            </a:r>
            <a:r>
              <a:rPr lang="pl-PL" sz="4000" dirty="0">
                <a:solidFill>
                  <a:srgbClr val="323232"/>
                </a:solidFill>
                <a:effectLst/>
                <a:latin typeface="Times New Roman" panose="02020603050405020304" pitchFamily="18" charset="0"/>
                <a:ea typeface="Calibri" panose="020F0502020204030204" pitchFamily="34" charset="0"/>
              </a:rPr>
              <a:t>, </a:t>
            </a:r>
            <a:r>
              <a:rPr lang="pl-PL" sz="4000" dirty="0">
                <a:solidFill>
                  <a:srgbClr val="00AE50"/>
                </a:solidFill>
                <a:effectLst/>
                <a:latin typeface="Times New Roman" panose="02020603050405020304" pitchFamily="18" charset="0"/>
                <a:ea typeface="Calibri" panose="020F0502020204030204" pitchFamily="34" charset="0"/>
              </a:rPr>
              <a:t>a od początku </a:t>
            </a:r>
            <a:r>
              <a:rPr lang="pl-PL" sz="4000" dirty="0">
                <a:solidFill>
                  <a:srgbClr val="323232"/>
                </a:solidFill>
                <a:effectLst/>
                <a:latin typeface="Times New Roman" panose="02020603050405020304" pitchFamily="18" charset="0"/>
                <a:ea typeface="Calibri" panose="020F0502020204030204" pitchFamily="34" charset="0"/>
              </a:rPr>
              <a:t>- </a:t>
            </a:r>
            <a:r>
              <a:rPr lang="pl-PL" sz="4000" dirty="0">
                <a:solidFill>
                  <a:srgbClr val="00AEEE"/>
                </a:solidFill>
                <a:effectLst/>
                <a:latin typeface="Times New Roman" panose="02020603050405020304" pitchFamily="18" charset="0"/>
                <a:ea typeface="Calibri" panose="020F0502020204030204" pitchFamily="34" charset="0"/>
              </a:rPr>
              <a:t>jeżeli skład sądu uległ zmianie </a:t>
            </a:r>
            <a:r>
              <a:rPr lang="pl-PL" sz="4000" dirty="0">
                <a:solidFill>
                  <a:srgbClr val="323232"/>
                </a:solidFill>
                <a:effectLst/>
                <a:latin typeface="Times New Roman" panose="02020603050405020304" pitchFamily="18" charset="0"/>
                <a:ea typeface="Calibri" panose="020F0502020204030204" pitchFamily="34" charset="0"/>
              </a:rPr>
              <a:t>albo </a:t>
            </a:r>
            <a:r>
              <a:rPr lang="pl-PL" sz="4000" dirty="0">
                <a:solidFill>
                  <a:srgbClr val="006EC0"/>
                </a:solidFill>
                <a:effectLst/>
                <a:latin typeface="Times New Roman" panose="02020603050405020304" pitchFamily="18" charset="0"/>
                <a:ea typeface="Calibri" panose="020F0502020204030204" pitchFamily="34" charset="0"/>
              </a:rPr>
              <a:t>sąd uzna to za konieczne. </a:t>
            </a:r>
            <a:endParaRPr lang="pl-PL" sz="4000" dirty="0">
              <a:solidFill>
                <a:srgbClr val="000000"/>
              </a:solidFill>
              <a:effectLst/>
              <a:latin typeface="Times New Roman" panose="02020603050405020304" pitchFamily="18" charset="0"/>
              <a:ea typeface="Calibri" panose="020F0502020204030204" pitchFamily="34" charset="0"/>
            </a:endParaRPr>
          </a:p>
          <a:p>
            <a:r>
              <a:rPr lang="pl-PL" sz="4000" b="1" dirty="0">
                <a:solidFill>
                  <a:srgbClr val="000000"/>
                </a:solidFill>
                <a:effectLst/>
                <a:latin typeface="Times New Roman" panose="02020603050405020304" pitchFamily="18" charset="0"/>
                <a:ea typeface="Calibri" panose="020F0502020204030204" pitchFamily="34" charset="0"/>
              </a:rPr>
              <a:t>§ 2a Jeżeli w sprawie rozpoznawanej </a:t>
            </a:r>
            <a:r>
              <a:rPr lang="pl-PL" sz="4000" b="1" dirty="0">
                <a:solidFill>
                  <a:srgbClr val="FF0000"/>
                </a:solidFill>
                <a:effectLst/>
                <a:latin typeface="Times New Roman" panose="02020603050405020304" pitchFamily="18" charset="0"/>
                <a:ea typeface="Calibri" panose="020F0502020204030204" pitchFamily="34" charset="0"/>
              </a:rPr>
              <a:t>w składzie wieloosobowym </a:t>
            </a:r>
            <a:r>
              <a:rPr lang="pl-PL" sz="4000" b="1" dirty="0">
                <a:solidFill>
                  <a:srgbClr val="92D050"/>
                </a:solidFill>
                <a:effectLst/>
                <a:latin typeface="Times New Roman" panose="02020603050405020304" pitchFamily="18" charset="0"/>
                <a:ea typeface="Calibri" panose="020F0502020204030204" pitchFamily="34" charset="0"/>
              </a:rPr>
              <a:t>zmianie z przyczyn losowych lub z powodu przeszkód prawnych </a:t>
            </a:r>
            <a:r>
              <a:rPr lang="pl-PL" sz="4000" b="1" dirty="0">
                <a:solidFill>
                  <a:srgbClr val="000000"/>
                </a:solidFill>
                <a:effectLst/>
                <a:latin typeface="Times New Roman" panose="02020603050405020304" pitchFamily="18" charset="0"/>
                <a:ea typeface="Calibri" panose="020F0502020204030204" pitchFamily="34" charset="0"/>
              </a:rPr>
              <a:t>uległ </a:t>
            </a:r>
            <a:r>
              <a:rPr lang="pl-PL" sz="4000" b="1" dirty="0">
                <a:solidFill>
                  <a:srgbClr val="00AFEF"/>
                </a:solidFill>
                <a:effectLst/>
                <a:latin typeface="Times New Roman" panose="02020603050405020304" pitchFamily="18" charset="0"/>
                <a:ea typeface="Calibri" panose="020F0502020204030204" pitchFamily="34" charset="0"/>
              </a:rPr>
              <a:t>jeden z członków składu</a:t>
            </a:r>
            <a:r>
              <a:rPr lang="pl-PL" sz="4000" b="1" dirty="0">
                <a:solidFill>
                  <a:srgbClr val="000000"/>
                </a:solidFill>
                <a:effectLst/>
                <a:latin typeface="Times New Roman" panose="02020603050405020304" pitchFamily="18" charset="0"/>
                <a:ea typeface="Calibri" panose="020F0502020204030204" pitchFamily="34" charset="0"/>
              </a:rPr>
              <a:t>, rozprawę przerwaną można prowadzić po przerwie </a:t>
            </a:r>
            <a:r>
              <a:rPr lang="pl-PL" sz="4000" b="1" dirty="0">
                <a:solidFill>
                  <a:srgbClr val="FF0000"/>
                </a:solidFill>
                <a:effectLst/>
                <a:latin typeface="Times New Roman" panose="02020603050405020304" pitchFamily="18" charset="0"/>
                <a:ea typeface="Calibri" panose="020F0502020204030204" pitchFamily="34" charset="0"/>
              </a:rPr>
              <a:t>w dalszym ciągu</a:t>
            </a:r>
            <a:r>
              <a:rPr lang="pl-PL" sz="4000" b="1" dirty="0">
                <a:solidFill>
                  <a:srgbClr val="000000"/>
                </a:solidFill>
                <a:effectLst/>
                <a:latin typeface="Times New Roman" panose="02020603050405020304" pitchFamily="18" charset="0"/>
                <a:ea typeface="Calibri" panose="020F0502020204030204" pitchFamily="34" charset="0"/>
              </a:rPr>
              <a:t>, jeżeli </a:t>
            </a:r>
            <a:r>
              <a:rPr lang="pl-PL" sz="4000" b="1" dirty="0">
                <a:solidFill>
                  <a:srgbClr val="92D050"/>
                </a:solidFill>
                <a:effectLst/>
                <a:latin typeface="Times New Roman" panose="02020603050405020304" pitchFamily="18" charset="0"/>
                <a:ea typeface="Calibri" panose="020F0502020204030204" pitchFamily="34" charset="0"/>
              </a:rPr>
              <a:t>nie zagraża to prawidłowości orzekania w sprawie. </a:t>
            </a:r>
            <a:endParaRPr lang="pl-PL" sz="4000" dirty="0">
              <a:solidFill>
                <a:srgbClr val="000000"/>
              </a:solidFill>
              <a:effectLst/>
              <a:latin typeface="Times New Roman" panose="02020603050405020304" pitchFamily="18" charset="0"/>
              <a:ea typeface="Calibri" panose="020F0502020204030204" pitchFamily="34" charset="0"/>
            </a:endParaRPr>
          </a:p>
          <a:p>
            <a:r>
              <a:rPr lang="pl-PL" sz="4000" b="1" dirty="0">
                <a:solidFill>
                  <a:srgbClr val="000000"/>
                </a:solidFill>
                <a:effectLst/>
                <a:latin typeface="Times New Roman" panose="02020603050405020304" pitchFamily="18" charset="0"/>
                <a:ea typeface="Calibri" panose="020F0502020204030204" pitchFamily="34" charset="0"/>
              </a:rPr>
              <a:t>(</a:t>
            </a:r>
            <a:r>
              <a:rPr lang="pl-PL" sz="4000" b="1" i="1" dirty="0">
                <a:solidFill>
                  <a:srgbClr val="000000"/>
                </a:solidFill>
                <a:effectLst/>
                <a:latin typeface="Times New Roman" panose="02020603050405020304" pitchFamily="18" charset="0"/>
                <a:ea typeface="Calibri" panose="020F0502020204030204" pitchFamily="34" charset="0"/>
              </a:rPr>
              <a:t>nowa regulacja wprowadzająca odstępstwo od zasady niezmienności składu orzekającego, istotne odstępstwo również od zasady bezpośredniości) </a:t>
            </a:r>
            <a:endParaRPr lang="pl-PL" sz="4000" dirty="0">
              <a:solidFill>
                <a:srgbClr val="000000"/>
              </a:solidFill>
              <a:effectLst/>
              <a:latin typeface="Times New Roman" panose="02020603050405020304" pitchFamily="18" charset="0"/>
              <a:ea typeface="Calibri" panose="020F0502020204030204" pitchFamily="34" charset="0"/>
            </a:endParaRPr>
          </a:p>
          <a:p>
            <a:r>
              <a:rPr lang="pl-PL" sz="40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3. </a:t>
            </a:r>
            <a:r>
              <a:rPr lang="pl-PL" sz="4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W razie przekroczenia terminu przerwy rozprawę uważa się za odroczoną</a:t>
            </a:r>
            <a:endParaRPr lang="pl-PL" sz="4000" dirty="0"/>
          </a:p>
        </p:txBody>
      </p:sp>
    </p:spTree>
    <p:extLst>
      <p:ext uri="{BB962C8B-B14F-4D97-AF65-F5344CB8AC3E}">
        <p14:creationId xmlns:p14="http://schemas.microsoft.com/office/powerpoint/2010/main" val="4083812421"/>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5766392"/>
          </a:xfrm>
        </p:spPr>
        <p:txBody>
          <a:bodyPr>
            <a:normAutofit/>
          </a:bodyPr>
          <a:lstStyle/>
          <a:p>
            <a:r>
              <a:rPr lang="pl-PL" sz="4400" b="1" dirty="0">
                <a:solidFill>
                  <a:srgbClr val="323232"/>
                </a:solidFill>
                <a:effectLst/>
                <a:latin typeface="Times New Roman" panose="02020603050405020304" pitchFamily="18" charset="0"/>
                <a:ea typeface="Calibri" panose="020F0502020204030204" pitchFamily="34" charset="0"/>
              </a:rPr>
              <a:t>Art. 403. [Orzekanie w czasie przerwy] </a:t>
            </a:r>
            <a:endParaRPr lang="pl-PL" sz="4400" dirty="0">
              <a:solidFill>
                <a:srgbClr val="000000"/>
              </a:solidFill>
              <a:effectLst/>
              <a:latin typeface="Times New Roman" panose="02020603050405020304" pitchFamily="18" charset="0"/>
              <a:ea typeface="Calibri" panose="020F0502020204030204" pitchFamily="34" charset="0"/>
            </a:endParaRPr>
          </a:p>
          <a:p>
            <a:r>
              <a:rPr lang="pl-PL" sz="4400" dirty="0">
                <a:solidFill>
                  <a:srgbClr val="323232"/>
                </a:solidFill>
                <a:effectLst/>
                <a:latin typeface="Times New Roman" panose="02020603050405020304" pitchFamily="18" charset="0"/>
                <a:ea typeface="Calibri" panose="020F0502020204030204" pitchFamily="34" charset="0"/>
              </a:rPr>
              <a:t>Orzeczenia zapadające w czasie przerwy w rozprawie wydaje się </a:t>
            </a:r>
            <a:r>
              <a:rPr lang="pl-PL" sz="4400" dirty="0">
                <a:solidFill>
                  <a:srgbClr val="FF0000"/>
                </a:solidFill>
                <a:effectLst/>
                <a:latin typeface="Times New Roman" panose="02020603050405020304" pitchFamily="18" charset="0"/>
                <a:ea typeface="Calibri" panose="020F0502020204030204" pitchFamily="34" charset="0"/>
              </a:rPr>
              <a:t>w składzie rozpoznającym sprawę</a:t>
            </a:r>
            <a:r>
              <a:rPr lang="pl-PL" sz="4400" dirty="0">
                <a:solidFill>
                  <a:srgbClr val="323232"/>
                </a:solidFill>
                <a:effectLst/>
                <a:latin typeface="Times New Roman" panose="02020603050405020304" pitchFamily="18" charset="0"/>
                <a:ea typeface="Calibri" panose="020F0502020204030204" pitchFamily="34" charset="0"/>
              </a:rPr>
              <a:t>, a w wypadku niemożności jego utworzenia </a:t>
            </a:r>
            <a:r>
              <a:rPr lang="pl-PL" sz="4400" dirty="0">
                <a:solidFill>
                  <a:srgbClr val="006EC0"/>
                </a:solidFill>
                <a:effectLst/>
                <a:latin typeface="Times New Roman" panose="02020603050405020304" pitchFamily="18" charset="0"/>
                <a:ea typeface="Calibri" panose="020F0502020204030204" pitchFamily="34" charset="0"/>
              </a:rPr>
              <a:t>- w takim samym składzie. </a:t>
            </a:r>
            <a:endParaRPr lang="pl-PL" sz="4400" dirty="0">
              <a:solidFill>
                <a:srgbClr val="000000"/>
              </a:solidFill>
              <a:effectLst/>
              <a:latin typeface="Times New Roman" panose="02020603050405020304" pitchFamily="18" charset="0"/>
              <a:ea typeface="Calibri" panose="020F0502020204030204" pitchFamily="34" charset="0"/>
            </a:endParaRPr>
          </a:p>
          <a:p>
            <a:endParaRPr lang="pl-PL" sz="4000" dirty="0"/>
          </a:p>
        </p:txBody>
      </p:sp>
    </p:spTree>
    <p:extLst>
      <p:ext uri="{BB962C8B-B14F-4D97-AF65-F5344CB8AC3E}">
        <p14:creationId xmlns:p14="http://schemas.microsoft.com/office/powerpoint/2010/main" val="4161187263"/>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6264696"/>
          </a:xfrm>
        </p:spPr>
        <p:txBody>
          <a:bodyPr>
            <a:normAutofit/>
          </a:bodyPr>
          <a:lstStyle/>
          <a:p>
            <a:r>
              <a:rPr lang="pl-PL" sz="2000" b="1" dirty="0">
                <a:solidFill>
                  <a:srgbClr val="323232"/>
                </a:solidFill>
                <a:effectLst/>
                <a:latin typeface="Times New Roman" panose="02020603050405020304" pitchFamily="18" charset="0"/>
                <a:ea typeface="Calibri" panose="020F0502020204030204" pitchFamily="34" charset="0"/>
              </a:rPr>
              <a:t>Art. 404. [Odroczenie] </a:t>
            </a:r>
            <a:endParaRPr lang="pl-PL" sz="2000" dirty="0">
              <a:solidFill>
                <a:srgbClr val="000000"/>
              </a:solidFill>
              <a:effectLst/>
              <a:latin typeface="Times New Roman" panose="02020603050405020304" pitchFamily="18" charset="0"/>
              <a:ea typeface="Calibri" panose="020F0502020204030204" pitchFamily="34" charset="0"/>
            </a:endParaRPr>
          </a:p>
          <a:p>
            <a:r>
              <a:rPr lang="pl-PL" sz="2000" b="1" dirty="0">
                <a:solidFill>
                  <a:srgbClr val="323232"/>
                </a:solidFill>
                <a:effectLst/>
                <a:latin typeface="Times New Roman" panose="02020603050405020304" pitchFamily="18" charset="0"/>
                <a:ea typeface="Calibri" panose="020F0502020204030204" pitchFamily="34" charset="0"/>
              </a:rPr>
              <a:t>§ 1. </a:t>
            </a:r>
            <a:r>
              <a:rPr lang="pl-PL" sz="2000" dirty="0">
                <a:solidFill>
                  <a:srgbClr val="00AE50"/>
                </a:solidFill>
                <a:effectLst/>
                <a:latin typeface="Times New Roman" panose="02020603050405020304" pitchFamily="18" charset="0"/>
                <a:ea typeface="Calibri" panose="020F0502020204030204" pitchFamily="34" charset="0"/>
              </a:rPr>
              <a:t>Sąd </a:t>
            </a:r>
            <a:r>
              <a:rPr lang="pl-PL" sz="2000" dirty="0">
                <a:solidFill>
                  <a:srgbClr val="323232"/>
                </a:solidFill>
                <a:effectLst/>
                <a:latin typeface="Times New Roman" panose="02020603050405020304" pitchFamily="18" charset="0"/>
                <a:ea typeface="Calibri" panose="020F0502020204030204" pitchFamily="34" charset="0"/>
              </a:rPr>
              <a:t>może odroczyć rozprawę tylko wtedy, </a:t>
            </a:r>
            <a:r>
              <a:rPr lang="pl-PL" sz="2000" dirty="0">
                <a:solidFill>
                  <a:srgbClr val="FF0000"/>
                </a:solidFill>
                <a:effectLst/>
                <a:latin typeface="Times New Roman" panose="02020603050405020304" pitchFamily="18" charset="0"/>
                <a:ea typeface="Calibri" panose="020F0502020204030204" pitchFamily="34" charset="0"/>
              </a:rPr>
              <a:t>gdy zarządzenie przerwy nie byłoby wystarczające. </a:t>
            </a:r>
            <a:endParaRPr lang="pl-PL" sz="2000" dirty="0">
              <a:solidFill>
                <a:srgbClr val="000000"/>
              </a:solidFill>
              <a:effectLst/>
              <a:latin typeface="Times New Roman" panose="02020603050405020304" pitchFamily="18" charset="0"/>
              <a:ea typeface="Calibri" panose="020F0502020204030204" pitchFamily="34" charset="0"/>
            </a:endParaRPr>
          </a:p>
          <a:p>
            <a:r>
              <a:rPr lang="pl-PL" sz="2000" b="1" dirty="0">
                <a:solidFill>
                  <a:srgbClr val="323232"/>
                </a:solidFill>
                <a:effectLst/>
                <a:latin typeface="Times New Roman" panose="02020603050405020304" pitchFamily="18" charset="0"/>
                <a:ea typeface="Calibri" panose="020F0502020204030204" pitchFamily="34" charset="0"/>
              </a:rPr>
              <a:t>§ 2. </a:t>
            </a:r>
            <a:r>
              <a:rPr lang="pl-PL" sz="2000" dirty="0">
                <a:solidFill>
                  <a:srgbClr val="323232"/>
                </a:solidFill>
                <a:effectLst/>
                <a:latin typeface="Times New Roman" panose="02020603050405020304" pitchFamily="18" charset="0"/>
                <a:ea typeface="Calibri" panose="020F0502020204030204" pitchFamily="34" charset="0"/>
              </a:rPr>
              <a:t>Rozprawę odroczoną prowadzi </a:t>
            </a:r>
            <a:r>
              <a:rPr lang="pl-PL" sz="2000" dirty="0">
                <a:solidFill>
                  <a:srgbClr val="00AE50"/>
                </a:solidFill>
                <a:effectLst/>
                <a:latin typeface="Times New Roman" panose="02020603050405020304" pitchFamily="18" charset="0"/>
                <a:ea typeface="Calibri" panose="020F0502020204030204" pitchFamily="34" charset="0"/>
              </a:rPr>
              <a:t>się w nowym terminie od początku</a:t>
            </a:r>
            <a:r>
              <a:rPr lang="pl-PL" sz="2000" dirty="0">
                <a:solidFill>
                  <a:srgbClr val="323232"/>
                </a:solidFill>
                <a:effectLst/>
                <a:latin typeface="Times New Roman" panose="02020603050405020304" pitchFamily="18" charset="0"/>
                <a:ea typeface="Calibri" panose="020F0502020204030204" pitchFamily="34" charset="0"/>
              </a:rPr>
              <a:t>. </a:t>
            </a:r>
            <a:r>
              <a:rPr lang="pl-PL" sz="2000" dirty="0">
                <a:solidFill>
                  <a:srgbClr val="006EC0"/>
                </a:solidFill>
                <a:effectLst/>
                <a:latin typeface="Times New Roman" panose="02020603050405020304" pitchFamily="18" charset="0"/>
                <a:ea typeface="Calibri" panose="020F0502020204030204" pitchFamily="34" charset="0"/>
              </a:rPr>
              <a:t>Sąd może wyjątkowo </a:t>
            </a:r>
            <a:r>
              <a:rPr lang="pl-PL" sz="2000" dirty="0">
                <a:solidFill>
                  <a:srgbClr val="FF0000"/>
                </a:solidFill>
                <a:effectLst/>
                <a:latin typeface="Times New Roman" panose="02020603050405020304" pitchFamily="18" charset="0"/>
                <a:ea typeface="Calibri" panose="020F0502020204030204" pitchFamily="34" charset="0"/>
              </a:rPr>
              <a:t>prowadzić rozprawę odroczoną w dalszym ciągu, </a:t>
            </a:r>
            <a:r>
              <a:rPr lang="pl-PL" sz="2000" dirty="0">
                <a:solidFill>
                  <a:srgbClr val="00AE50"/>
                </a:solidFill>
                <a:effectLst/>
                <a:latin typeface="Times New Roman" panose="02020603050405020304" pitchFamily="18" charset="0"/>
                <a:ea typeface="Calibri" panose="020F0502020204030204" pitchFamily="34" charset="0"/>
              </a:rPr>
              <a:t>chyba że skład sądu uległ zmianie. </a:t>
            </a:r>
            <a:endParaRPr lang="pl-PL" sz="2000" dirty="0">
              <a:solidFill>
                <a:srgbClr val="000000"/>
              </a:solidFill>
              <a:effectLst/>
              <a:latin typeface="Times New Roman" panose="02020603050405020304" pitchFamily="18" charset="0"/>
              <a:ea typeface="Calibri" panose="020F0502020204030204" pitchFamily="34" charset="0"/>
            </a:endParaRPr>
          </a:p>
          <a:p>
            <a:r>
              <a:rPr lang="pl-PL" sz="2000" b="1" dirty="0">
                <a:solidFill>
                  <a:srgbClr val="00AE50"/>
                </a:solidFill>
                <a:effectLst/>
                <a:latin typeface="Times New Roman" panose="02020603050405020304" pitchFamily="18" charset="0"/>
                <a:ea typeface="Calibri" panose="020F0502020204030204" pitchFamily="34" charset="0"/>
              </a:rPr>
              <a:t>§ 2a Jeżeli w sprawie rozpoznawanej </a:t>
            </a:r>
            <a:r>
              <a:rPr lang="pl-PL" sz="2000" b="1" dirty="0">
                <a:solidFill>
                  <a:srgbClr val="FF0000"/>
                </a:solidFill>
                <a:effectLst/>
                <a:latin typeface="Times New Roman" panose="02020603050405020304" pitchFamily="18" charset="0"/>
                <a:ea typeface="Calibri" panose="020F0502020204030204" pitchFamily="34" charset="0"/>
              </a:rPr>
              <a:t>w składzie wieloosobowym </a:t>
            </a:r>
            <a:r>
              <a:rPr lang="pl-PL" sz="2000" b="1" dirty="0">
                <a:solidFill>
                  <a:srgbClr val="00AE50"/>
                </a:solidFill>
                <a:effectLst/>
                <a:latin typeface="Times New Roman" panose="02020603050405020304" pitchFamily="18" charset="0"/>
                <a:ea typeface="Calibri" panose="020F0502020204030204" pitchFamily="34" charset="0"/>
              </a:rPr>
              <a:t>zmianie z przyczyn losowych lub z powodu przeszkód prawnych </a:t>
            </a:r>
            <a:r>
              <a:rPr lang="pl-PL" sz="2000" b="1" dirty="0">
                <a:solidFill>
                  <a:srgbClr val="FF0000"/>
                </a:solidFill>
                <a:effectLst/>
                <a:latin typeface="Times New Roman" panose="02020603050405020304" pitchFamily="18" charset="0"/>
                <a:ea typeface="Calibri" panose="020F0502020204030204" pitchFamily="34" charset="0"/>
              </a:rPr>
              <a:t>uległ jeden z członków składu</a:t>
            </a:r>
            <a:r>
              <a:rPr lang="pl-PL" sz="2000" b="1" dirty="0">
                <a:solidFill>
                  <a:srgbClr val="00AE50"/>
                </a:solidFill>
                <a:effectLst/>
                <a:latin typeface="Times New Roman" panose="02020603050405020304" pitchFamily="18" charset="0"/>
                <a:ea typeface="Calibri" panose="020F0502020204030204" pitchFamily="34" charset="0"/>
              </a:rPr>
              <a:t>, </a:t>
            </a:r>
            <a:r>
              <a:rPr lang="pl-PL" sz="2000" b="1" dirty="0">
                <a:solidFill>
                  <a:srgbClr val="00AFEF"/>
                </a:solidFill>
                <a:effectLst/>
                <a:latin typeface="Times New Roman" panose="02020603050405020304" pitchFamily="18" charset="0"/>
                <a:ea typeface="Calibri" panose="020F0502020204030204" pitchFamily="34" charset="0"/>
              </a:rPr>
              <a:t>rozprawę odroczoną można prowadzić w dalszym ciągu</a:t>
            </a:r>
            <a:r>
              <a:rPr lang="pl-PL" sz="2000" b="1" dirty="0">
                <a:solidFill>
                  <a:srgbClr val="00AE50"/>
                </a:solidFill>
                <a:effectLst/>
                <a:latin typeface="Times New Roman" panose="02020603050405020304" pitchFamily="18" charset="0"/>
                <a:ea typeface="Calibri" panose="020F0502020204030204" pitchFamily="34" charset="0"/>
              </a:rPr>
              <a:t>, jeżeli </a:t>
            </a:r>
            <a:r>
              <a:rPr lang="pl-PL" sz="2000" b="1" dirty="0">
                <a:solidFill>
                  <a:srgbClr val="FF0000"/>
                </a:solidFill>
                <a:effectLst/>
                <a:latin typeface="Times New Roman" panose="02020603050405020304" pitchFamily="18" charset="0"/>
                <a:ea typeface="Calibri" panose="020F0502020204030204" pitchFamily="34" charset="0"/>
              </a:rPr>
              <a:t>nie zagraża to prawidłowości orzekania w sprawie. </a:t>
            </a:r>
            <a:endParaRPr lang="pl-PL" sz="2000" dirty="0">
              <a:solidFill>
                <a:srgbClr val="000000"/>
              </a:solidFill>
              <a:effectLst/>
              <a:latin typeface="Times New Roman" panose="02020603050405020304" pitchFamily="18" charset="0"/>
              <a:ea typeface="Calibri" panose="020F0502020204030204" pitchFamily="34" charset="0"/>
            </a:endParaRPr>
          </a:p>
          <a:p>
            <a:r>
              <a:rPr lang="pl-PL" sz="2000" b="1" dirty="0">
                <a:solidFill>
                  <a:srgbClr val="000000"/>
                </a:solidFill>
                <a:effectLst/>
                <a:latin typeface="Times New Roman" panose="02020603050405020304" pitchFamily="18" charset="0"/>
                <a:ea typeface="Calibri" panose="020F0502020204030204" pitchFamily="34" charset="0"/>
              </a:rPr>
              <a:t>(</a:t>
            </a:r>
            <a:r>
              <a:rPr lang="pl-PL" sz="2000" b="1" i="1" dirty="0">
                <a:solidFill>
                  <a:srgbClr val="000000"/>
                </a:solidFill>
                <a:effectLst/>
                <a:latin typeface="Times New Roman" panose="02020603050405020304" pitchFamily="18" charset="0"/>
                <a:ea typeface="Calibri" panose="020F0502020204030204" pitchFamily="34" charset="0"/>
              </a:rPr>
              <a:t>nowa regulacja wprowadzająca odstępstwo od zasady niezmienności składu orzekającego, istotne odstępstwo również od zasady bezpośredniości) </a:t>
            </a:r>
            <a:endParaRPr lang="pl-PL" sz="2000" dirty="0">
              <a:solidFill>
                <a:srgbClr val="000000"/>
              </a:solidFill>
              <a:effectLst/>
              <a:latin typeface="Times New Roman" panose="02020603050405020304" pitchFamily="18" charset="0"/>
              <a:ea typeface="Calibri" panose="020F0502020204030204" pitchFamily="34" charset="0"/>
            </a:endParaRPr>
          </a:p>
          <a:p>
            <a:r>
              <a:rPr lang="pl-PL" sz="2000" b="1" dirty="0">
                <a:solidFill>
                  <a:srgbClr val="001F5F"/>
                </a:solidFill>
                <a:effectLst/>
                <a:latin typeface="Times New Roman" panose="02020603050405020304" pitchFamily="18" charset="0"/>
                <a:ea typeface="Calibri" panose="020F0502020204030204" pitchFamily="34" charset="0"/>
              </a:rPr>
              <a:t>§ 3. </a:t>
            </a:r>
            <a:r>
              <a:rPr lang="pl-PL" sz="2000" dirty="0">
                <a:solidFill>
                  <a:srgbClr val="001F5F"/>
                </a:solidFill>
                <a:effectLst/>
                <a:latin typeface="Times New Roman" panose="02020603050405020304" pitchFamily="18" charset="0"/>
                <a:ea typeface="Calibri" panose="020F0502020204030204" pitchFamily="34" charset="0"/>
              </a:rPr>
              <a:t>W wypadku podjęcia postępowania zawieszonego przepis § 2 stosuje się odpowiednio. </a:t>
            </a:r>
            <a:endParaRPr lang="pl-PL" sz="2000" dirty="0">
              <a:solidFill>
                <a:srgbClr val="000000"/>
              </a:solidFill>
              <a:effectLst/>
              <a:latin typeface="Times New Roman" panose="02020603050405020304" pitchFamily="18" charset="0"/>
              <a:ea typeface="Calibri" panose="020F0502020204030204" pitchFamily="34" charset="0"/>
            </a:endParaRPr>
          </a:p>
          <a:p>
            <a:r>
              <a:rPr lang="pl-PL" sz="2000" dirty="0">
                <a:solidFill>
                  <a:srgbClr val="000000"/>
                </a:solidFill>
                <a:effectLst/>
                <a:latin typeface="Times New Roman" panose="02020603050405020304" pitchFamily="18" charset="0"/>
                <a:ea typeface="Calibri" panose="020F0502020204030204" pitchFamily="34" charset="0"/>
              </a:rPr>
              <a:t>Nowe regulacje związane z możliwością kontynuowania rozprawy w zmienionym składzie zgodnie z art. 402 §2a i 404 § 2a k.p.k. </a:t>
            </a:r>
          </a:p>
          <a:p>
            <a:endParaRPr lang="pl-PL" sz="4000" dirty="0"/>
          </a:p>
        </p:txBody>
      </p:sp>
    </p:spTree>
    <p:extLst>
      <p:ext uri="{BB962C8B-B14F-4D97-AF65-F5344CB8AC3E}">
        <p14:creationId xmlns:p14="http://schemas.microsoft.com/office/powerpoint/2010/main" val="3783762495"/>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6264696"/>
          </a:xfrm>
        </p:spPr>
        <p:txBody>
          <a:bodyPr>
            <a:normAutofit lnSpcReduction="10000"/>
          </a:bodyPr>
          <a:lstStyle/>
          <a:p>
            <a:r>
              <a:rPr lang="pl-PL" sz="2400" b="1" dirty="0">
                <a:solidFill>
                  <a:srgbClr val="000000"/>
                </a:solidFill>
                <a:effectLst/>
                <a:latin typeface="Times New Roman" panose="02020603050405020304" pitchFamily="18" charset="0"/>
                <a:ea typeface="Calibri" panose="020F0502020204030204" pitchFamily="34" charset="0"/>
              </a:rPr>
              <a:t>Art. 404b </a:t>
            </a:r>
            <a:endParaRPr lang="pl-PL" sz="2400" dirty="0">
              <a:solidFill>
                <a:srgbClr val="000000"/>
              </a:solidFill>
              <a:effectLst/>
              <a:latin typeface="Times New Roman" panose="02020603050405020304" pitchFamily="18" charset="0"/>
              <a:ea typeface="Calibri" panose="020F0502020204030204" pitchFamily="34" charset="0"/>
            </a:endParaRPr>
          </a:p>
          <a:p>
            <a:r>
              <a:rPr lang="pl-PL" sz="2400" dirty="0">
                <a:solidFill>
                  <a:srgbClr val="000000"/>
                </a:solidFill>
                <a:effectLst/>
                <a:latin typeface="Times New Roman" panose="02020603050405020304" pitchFamily="18" charset="0"/>
                <a:ea typeface="Calibri" panose="020F0502020204030204" pitchFamily="34" charset="0"/>
              </a:rPr>
              <a:t>§ 1. W razie prowadzenia rozprawy w dalszym ciągu w wypadkach określonych w art. 402 § 2a lub art. 404 § 2a </a:t>
            </a:r>
            <a:r>
              <a:rPr lang="pl-PL" sz="2400" dirty="0">
                <a:solidFill>
                  <a:srgbClr val="FF0000"/>
                </a:solidFill>
                <a:effectLst/>
                <a:latin typeface="Times New Roman" panose="02020603050405020304" pitchFamily="18" charset="0"/>
                <a:ea typeface="Calibri" panose="020F0502020204030204" pitchFamily="34" charset="0"/>
              </a:rPr>
              <a:t>przed przystąpieniem do dalszych czynności dowodowych </a:t>
            </a:r>
            <a:r>
              <a:rPr lang="pl-PL" sz="2400" b="1" dirty="0">
                <a:solidFill>
                  <a:srgbClr val="00AFEF"/>
                </a:solidFill>
                <a:effectLst/>
                <a:latin typeface="Times New Roman" panose="02020603050405020304" pitchFamily="18" charset="0"/>
                <a:ea typeface="Calibri" panose="020F0502020204030204" pitchFamily="34" charset="0"/>
              </a:rPr>
              <a:t>przewodniczący zarządza przerwę w rozprawie </a:t>
            </a:r>
            <a:r>
              <a:rPr lang="pl-PL" sz="2400" dirty="0">
                <a:solidFill>
                  <a:srgbClr val="000000"/>
                </a:solidFill>
                <a:effectLst/>
                <a:latin typeface="Times New Roman" panose="02020603050405020304" pitchFamily="18" charset="0"/>
                <a:ea typeface="Calibri" panose="020F0502020204030204" pitchFamily="34" charset="0"/>
              </a:rPr>
              <a:t>albo </a:t>
            </a:r>
            <a:r>
              <a:rPr lang="pl-PL" sz="2400" b="1" dirty="0">
                <a:solidFill>
                  <a:srgbClr val="00AFEF"/>
                </a:solidFill>
                <a:effectLst/>
                <a:latin typeface="Times New Roman" panose="02020603050405020304" pitchFamily="18" charset="0"/>
                <a:ea typeface="Calibri" panose="020F0502020204030204" pitchFamily="34" charset="0"/>
              </a:rPr>
              <a:t>sąd rozprawę odracza </a:t>
            </a:r>
            <a:r>
              <a:rPr lang="pl-PL" sz="2400" dirty="0">
                <a:solidFill>
                  <a:srgbClr val="00AF50"/>
                </a:solidFill>
                <a:effectLst/>
                <a:latin typeface="Times New Roman" panose="02020603050405020304" pitchFamily="18" charset="0"/>
                <a:ea typeface="Calibri" panose="020F0502020204030204" pitchFamily="34" charset="0"/>
              </a:rPr>
              <a:t>na czas niezbędny do zapoznania się przez nowego członka składu orzekającego z dotychczasowym przebiegiem postępowania</a:t>
            </a:r>
            <a:r>
              <a:rPr lang="pl-PL" sz="2400" dirty="0">
                <a:solidFill>
                  <a:srgbClr val="000000"/>
                </a:solidFill>
                <a:effectLst/>
                <a:latin typeface="Times New Roman" panose="02020603050405020304" pitchFamily="18" charset="0"/>
                <a:ea typeface="Calibri" panose="020F0502020204030204" pitchFamily="34" charset="0"/>
              </a:rPr>
              <a:t>, </a:t>
            </a:r>
            <a:r>
              <a:rPr lang="pl-PL" sz="2400" dirty="0">
                <a:solidFill>
                  <a:srgbClr val="FFC000"/>
                </a:solidFill>
                <a:effectLst/>
                <a:latin typeface="Times New Roman" panose="02020603050405020304" pitchFamily="18" charset="0"/>
                <a:ea typeface="Calibri" panose="020F0502020204030204" pitchFamily="34" charset="0"/>
              </a:rPr>
              <a:t>w tym z przeprowadzonymi dowodami. </a:t>
            </a:r>
            <a:endParaRPr lang="pl-PL" sz="2400" dirty="0">
              <a:solidFill>
                <a:srgbClr val="000000"/>
              </a:solidFill>
              <a:effectLst/>
              <a:latin typeface="Times New Roman" panose="02020603050405020304" pitchFamily="18" charset="0"/>
              <a:ea typeface="Calibri" panose="020F0502020204030204" pitchFamily="34" charset="0"/>
            </a:endParaRPr>
          </a:p>
          <a:p>
            <a:r>
              <a:rPr lang="pl-PL" sz="2400" dirty="0">
                <a:solidFill>
                  <a:srgbClr val="000000"/>
                </a:solidFill>
                <a:effectLst/>
                <a:latin typeface="Times New Roman" panose="02020603050405020304" pitchFamily="18" charset="0"/>
                <a:ea typeface="Calibri" panose="020F0502020204030204" pitchFamily="34" charset="0"/>
              </a:rPr>
              <a:t>§ 2. Nowy członek składu orzekającego, po zapoznaniu się z dotychczasowym przebiegiem postępowania, w tym z przeprowadzonymi dowodami, </a:t>
            </a:r>
            <a:r>
              <a:rPr lang="pl-PL" sz="2400" dirty="0">
                <a:solidFill>
                  <a:srgbClr val="FF0000"/>
                </a:solidFill>
                <a:effectLst/>
                <a:latin typeface="Times New Roman" panose="02020603050405020304" pitchFamily="18" charset="0"/>
                <a:ea typeface="Calibri" panose="020F0502020204030204" pitchFamily="34" charset="0"/>
              </a:rPr>
              <a:t>oświadcza na piśmie lub do protokołu rozprawy, czy i w jakim zakresie uznaje za konieczne uzupełniające przeprowadzenie dowodów przeprowadzonych przed jego wstąpieniem do składu orzekającego. </a:t>
            </a:r>
            <a:endParaRPr lang="pl-PL" sz="2400" dirty="0">
              <a:solidFill>
                <a:srgbClr val="000000"/>
              </a:solidFill>
              <a:effectLst/>
              <a:latin typeface="Times New Roman" panose="02020603050405020304" pitchFamily="18" charset="0"/>
              <a:ea typeface="Calibri" panose="020F0502020204030204" pitchFamily="34" charset="0"/>
            </a:endParaRPr>
          </a:p>
          <a:p>
            <a:r>
              <a:rPr lang="pl-PL" sz="2400" dirty="0">
                <a:solidFill>
                  <a:srgbClr val="000000"/>
                </a:solidFill>
                <a:effectLst/>
                <a:latin typeface="Times New Roman" panose="02020603050405020304" pitchFamily="18" charset="0"/>
                <a:ea typeface="Calibri" panose="020F0502020204030204" pitchFamily="34" charset="0"/>
              </a:rPr>
              <a:t>§ 3. Sąd przeprowadza dowody wskazane w oświadczeniu, o którym mowa w § 2, </a:t>
            </a:r>
            <a:r>
              <a:rPr lang="pl-PL" sz="2400" dirty="0">
                <a:solidFill>
                  <a:srgbClr val="00AF50"/>
                </a:solidFill>
                <a:effectLst/>
                <a:latin typeface="Times New Roman" panose="02020603050405020304" pitchFamily="18" charset="0"/>
                <a:ea typeface="Calibri" panose="020F0502020204030204" pitchFamily="34" charset="0"/>
              </a:rPr>
              <a:t>chyba że jest to niemożliwe z przyczyn niezależnych od sądu. </a:t>
            </a:r>
            <a:endParaRPr lang="pl-PL" sz="2400" dirty="0">
              <a:solidFill>
                <a:srgbClr val="000000"/>
              </a:solidFill>
              <a:effectLst/>
              <a:latin typeface="Times New Roman" panose="02020603050405020304" pitchFamily="18" charset="0"/>
              <a:ea typeface="Calibri" panose="020F0502020204030204" pitchFamily="34" charset="0"/>
            </a:endParaRPr>
          </a:p>
          <a:p>
            <a:endParaRPr lang="pl-PL" sz="4000" dirty="0"/>
          </a:p>
        </p:txBody>
      </p:sp>
    </p:spTree>
    <p:extLst>
      <p:ext uri="{BB962C8B-B14F-4D97-AF65-F5344CB8AC3E}">
        <p14:creationId xmlns:p14="http://schemas.microsoft.com/office/powerpoint/2010/main" val="745834238"/>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6264696"/>
          </a:xfrm>
        </p:spPr>
        <p:txBody>
          <a:bodyPr>
            <a:normAutofit fontScale="70000" lnSpcReduction="20000"/>
          </a:bodyPr>
          <a:lstStyle/>
          <a:p>
            <a:r>
              <a:rPr lang="pl-PL" sz="4000" dirty="0"/>
              <a:t>Art.  439 §  1. </a:t>
            </a:r>
          </a:p>
          <a:p>
            <a:r>
              <a:rPr lang="pl-PL" sz="4000" dirty="0"/>
              <a:t>Niezależnie od granic zaskarżenia i podniesionych zarzutów oraz wpływu uchybienia na treść orzeczenia sąd odwoławczy na posiedzeniu uchyla zaskarżone orzeczenie, jeżeli:</a:t>
            </a:r>
          </a:p>
          <a:p>
            <a:r>
              <a:rPr lang="pl-PL" sz="4000" dirty="0"/>
              <a:t>1) w wydaniu orzeczenia brała udział osoba nieuprawniona lub niezdolna do orzekania bądź podlegająca wyłączeniu na podstawie art. 40;</a:t>
            </a:r>
          </a:p>
          <a:p>
            <a:r>
              <a:rPr lang="pl-PL" sz="4000" dirty="0"/>
              <a:t>2) sąd był nienależycie obsadzony lub którykolwiek z jego członków nie był obecny na całej rozprawie, z wyjątkiem wypadków, gdy wynika to z prowadzenia w dalszym ciągu na podstawie art. 402 § 2a lub art. 404 § 2a rozprawy przerwanej lub odroczonej;</a:t>
            </a:r>
          </a:p>
        </p:txBody>
      </p:sp>
    </p:spTree>
    <p:extLst>
      <p:ext uri="{BB962C8B-B14F-4D97-AF65-F5344CB8AC3E}">
        <p14:creationId xmlns:p14="http://schemas.microsoft.com/office/powerpoint/2010/main" val="1002498548"/>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5766392"/>
          </a:xfrm>
        </p:spPr>
        <p:txBody>
          <a:bodyPr>
            <a:normAutofit lnSpcReduction="10000"/>
          </a:bodyPr>
          <a:lstStyle/>
          <a:p>
            <a:r>
              <a:rPr lang="pl-PL" sz="1800" dirty="0">
                <a:solidFill>
                  <a:srgbClr val="000000"/>
                </a:solidFill>
                <a:effectLst/>
                <a:latin typeface="Times New Roman" panose="02020603050405020304" pitchFamily="18" charset="0"/>
                <a:ea typeface="Calibri" panose="020F0502020204030204" pitchFamily="34" charset="0"/>
              </a:rPr>
              <a:t>Nowa regulacja – możliwość wcześniejszego zakończenia postępowania co do odpowiedzialności karnej jednego lub niektórych oskarżonych – </a:t>
            </a:r>
            <a:r>
              <a:rPr lang="pl-PL" sz="1800" b="1" dirty="0">
                <a:solidFill>
                  <a:srgbClr val="00AF50"/>
                </a:solidFill>
                <a:effectLst/>
                <a:latin typeface="Times New Roman" panose="02020603050405020304" pitchFamily="18" charset="0"/>
                <a:ea typeface="Calibri" panose="020F0502020204030204" pitchFamily="34" charset="0"/>
              </a:rPr>
              <a:t>narada wstępna i wyrok częściowy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dirty="0">
                <a:solidFill>
                  <a:srgbClr val="000000"/>
                </a:solidFill>
                <a:effectLst/>
                <a:latin typeface="Times New Roman" panose="02020603050405020304" pitchFamily="18" charset="0"/>
                <a:ea typeface="Calibri" panose="020F0502020204030204" pitchFamily="34" charset="0"/>
              </a:rPr>
              <a:t>Art. 404c </a:t>
            </a:r>
          </a:p>
          <a:p>
            <a:r>
              <a:rPr lang="pl-PL" sz="1800" dirty="0">
                <a:solidFill>
                  <a:srgbClr val="000000"/>
                </a:solidFill>
                <a:effectLst/>
                <a:latin typeface="Times New Roman" panose="02020603050405020304" pitchFamily="18" charset="0"/>
                <a:ea typeface="Calibri" panose="020F0502020204030204" pitchFamily="34" charset="0"/>
              </a:rPr>
              <a:t>§ 1. Jeżeli </a:t>
            </a:r>
            <a:r>
              <a:rPr lang="pl-PL" sz="1800" dirty="0">
                <a:solidFill>
                  <a:srgbClr val="FF0000"/>
                </a:solidFill>
                <a:effectLst/>
                <a:latin typeface="Times New Roman" panose="02020603050405020304" pitchFamily="18" charset="0"/>
                <a:ea typeface="Calibri" panose="020F0502020204030204" pitchFamily="34" charset="0"/>
              </a:rPr>
              <a:t>przewodniczący </a:t>
            </a:r>
            <a:r>
              <a:rPr lang="pl-PL" sz="1800" dirty="0">
                <a:solidFill>
                  <a:srgbClr val="00AF50"/>
                </a:solidFill>
                <a:effectLst/>
                <a:latin typeface="Times New Roman" panose="02020603050405020304" pitchFamily="18" charset="0"/>
                <a:ea typeface="Calibri" panose="020F0502020204030204" pitchFamily="34" charset="0"/>
              </a:rPr>
              <a:t>uzna, że zachodzi potrzeba oceny, czy przeprowadzone dowody pozwalają na rozstrzygnięcie w przedmiocie odpowiedzialności karnej </a:t>
            </a:r>
            <a:r>
              <a:rPr lang="pl-PL" sz="1800" b="1" dirty="0">
                <a:solidFill>
                  <a:srgbClr val="00AF50"/>
                </a:solidFill>
                <a:effectLst/>
                <a:latin typeface="Times New Roman" panose="02020603050405020304" pitchFamily="18" charset="0"/>
                <a:ea typeface="Calibri" panose="020F0502020204030204" pitchFamily="34" charset="0"/>
              </a:rPr>
              <a:t>jednego lub niektórych z oskarżonych</a:t>
            </a:r>
            <a:r>
              <a:rPr lang="pl-PL" sz="1800" dirty="0">
                <a:solidFill>
                  <a:srgbClr val="000000"/>
                </a:solidFill>
                <a:effectLst/>
                <a:latin typeface="Times New Roman" panose="02020603050405020304" pitchFamily="18" charset="0"/>
                <a:ea typeface="Calibri" panose="020F0502020204030204" pitchFamily="34" charset="0"/>
              </a:rPr>
              <a:t>, </a:t>
            </a:r>
            <a:r>
              <a:rPr lang="pl-PL" sz="1800" dirty="0">
                <a:solidFill>
                  <a:srgbClr val="00AFEF"/>
                </a:solidFill>
                <a:effectLst/>
                <a:latin typeface="Times New Roman" panose="02020603050405020304" pitchFamily="18" charset="0"/>
                <a:ea typeface="Calibri" panose="020F0502020204030204" pitchFamily="34" charset="0"/>
              </a:rPr>
              <a:t>może zarządzić przerwę w rozprawie </a:t>
            </a:r>
            <a:r>
              <a:rPr lang="pl-PL" sz="1800" dirty="0">
                <a:solidFill>
                  <a:srgbClr val="FF0000"/>
                </a:solidFill>
                <a:effectLst/>
                <a:latin typeface="Times New Roman" panose="02020603050405020304" pitchFamily="18" charset="0"/>
                <a:ea typeface="Calibri" panose="020F0502020204030204" pitchFamily="34" charset="0"/>
              </a:rPr>
              <a:t>na czas niezbędny dla przeprowadzenia narady w tym zakresie </a:t>
            </a:r>
            <a:r>
              <a:rPr lang="pl-PL" sz="1800" dirty="0">
                <a:solidFill>
                  <a:srgbClr val="000000"/>
                </a:solidFill>
                <a:effectLst/>
                <a:latin typeface="Times New Roman" panose="02020603050405020304" pitchFamily="18" charset="0"/>
                <a:ea typeface="Calibri" panose="020F0502020204030204" pitchFamily="34" charset="0"/>
              </a:rPr>
              <a:t>(</a:t>
            </a:r>
            <a:r>
              <a:rPr lang="pl-PL" sz="1800" dirty="0">
                <a:solidFill>
                  <a:srgbClr val="6F2F9F"/>
                </a:solidFill>
                <a:effectLst/>
                <a:latin typeface="Times New Roman" panose="02020603050405020304" pitchFamily="18" charset="0"/>
                <a:ea typeface="Calibri" panose="020F0502020204030204" pitchFamily="34" charset="0"/>
              </a:rPr>
              <a:t>narada wstępna</a:t>
            </a:r>
            <a:r>
              <a:rPr lang="pl-PL" sz="1800" dirty="0">
                <a:solidFill>
                  <a:srgbClr val="00AF50"/>
                </a:solidFill>
                <a:effectLst/>
                <a:latin typeface="Times New Roman" panose="02020603050405020304" pitchFamily="18" charset="0"/>
                <a:ea typeface="Calibri" panose="020F0502020204030204" pitchFamily="34" charset="0"/>
              </a:rPr>
              <a:t>). Do narady wstępnej stosuje się odpowiednio przepisy art. 108, art. 109 i art. 111.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dirty="0">
                <a:solidFill>
                  <a:srgbClr val="000000"/>
                </a:solidFill>
                <a:effectLst/>
                <a:latin typeface="Times New Roman" panose="02020603050405020304" pitchFamily="18" charset="0"/>
                <a:ea typeface="Calibri" panose="020F0502020204030204" pitchFamily="34" charset="0"/>
              </a:rPr>
              <a:t>§ 2. Jeżeli po naradzie wstępnej sąd uzna, że przeprowadzone dowody pozwalają na rozstrzygnięcie, o którym mowa w § 1, i </a:t>
            </a:r>
            <a:r>
              <a:rPr lang="pl-PL" sz="1800" dirty="0">
                <a:solidFill>
                  <a:srgbClr val="FF0000"/>
                </a:solidFill>
                <a:effectLst/>
                <a:latin typeface="Times New Roman" panose="02020603050405020304" pitchFamily="18" charset="0"/>
                <a:ea typeface="Calibri" panose="020F0502020204030204" pitchFamily="34" charset="0"/>
              </a:rPr>
              <a:t>wydanie wyroku (wyrok częściowy</a:t>
            </a:r>
            <a:r>
              <a:rPr lang="pl-PL" sz="1800" dirty="0">
                <a:solidFill>
                  <a:srgbClr val="000000"/>
                </a:solidFill>
                <a:effectLst/>
                <a:latin typeface="Times New Roman" panose="02020603050405020304" pitchFamily="18" charset="0"/>
                <a:ea typeface="Calibri" panose="020F0502020204030204" pitchFamily="34" charset="0"/>
              </a:rPr>
              <a:t>), </a:t>
            </a:r>
            <a:r>
              <a:rPr lang="pl-PL" sz="1800" dirty="0">
                <a:solidFill>
                  <a:srgbClr val="00AFEF"/>
                </a:solidFill>
                <a:effectLst/>
                <a:latin typeface="Times New Roman" panose="02020603050405020304" pitchFamily="18" charset="0"/>
                <a:ea typeface="Calibri" panose="020F0502020204030204" pitchFamily="34" charset="0"/>
              </a:rPr>
              <a:t>przewodniczący informuje o tym oskarżyciela publicznego oraz strony, których interesu prawnego rozstrzygnięcie dotyczy</a:t>
            </a:r>
            <a:r>
              <a:rPr lang="pl-PL" sz="1800" dirty="0">
                <a:solidFill>
                  <a:srgbClr val="000000"/>
                </a:solidFill>
                <a:effectLst/>
                <a:latin typeface="Times New Roman" panose="02020603050405020304" pitchFamily="18" charset="0"/>
                <a:ea typeface="Calibri" panose="020F0502020204030204" pitchFamily="34" charset="0"/>
              </a:rPr>
              <a:t>. </a:t>
            </a:r>
            <a:r>
              <a:rPr lang="pl-PL" sz="1800" dirty="0">
                <a:solidFill>
                  <a:srgbClr val="00AF50"/>
                </a:solidFill>
                <a:effectLst/>
                <a:latin typeface="Times New Roman" panose="02020603050405020304" pitchFamily="18" charset="0"/>
                <a:ea typeface="Calibri" panose="020F0502020204030204" pitchFamily="34" charset="0"/>
              </a:rPr>
              <a:t>Przepisy art. 405 stosuje się odpowiednio</a:t>
            </a:r>
            <a:r>
              <a:rPr lang="pl-PL" sz="1800" dirty="0">
                <a:solidFill>
                  <a:srgbClr val="000000"/>
                </a:solidFill>
                <a:effectLst/>
                <a:latin typeface="Times New Roman" panose="02020603050405020304" pitchFamily="18" charset="0"/>
                <a:ea typeface="Calibri" panose="020F0502020204030204" pitchFamily="34" charset="0"/>
              </a:rPr>
              <a:t>. </a:t>
            </a:r>
          </a:p>
          <a:p>
            <a:r>
              <a:rPr lang="pl-PL" sz="1800" dirty="0">
                <a:solidFill>
                  <a:srgbClr val="000000"/>
                </a:solidFill>
                <a:effectLst/>
                <a:latin typeface="Times New Roman" panose="02020603050405020304" pitchFamily="18" charset="0"/>
                <a:ea typeface="Calibri" panose="020F0502020204030204" pitchFamily="34" charset="0"/>
              </a:rPr>
              <a:t>§ 3. </a:t>
            </a:r>
            <a:r>
              <a:rPr lang="pl-PL" sz="1800" dirty="0">
                <a:solidFill>
                  <a:srgbClr val="00AFEF"/>
                </a:solidFill>
                <a:effectLst/>
                <a:latin typeface="Times New Roman" panose="02020603050405020304" pitchFamily="18" charset="0"/>
                <a:ea typeface="Calibri" panose="020F0502020204030204" pitchFamily="34" charset="0"/>
              </a:rPr>
              <a:t>Po zamknięciu przewodu sądowego w odniesieniu do oskarżonego lub oskarżonych, których odpowiedzialności karnej dotyczyła narada wstępna, a przed udzieleniem głosu stronom</a:t>
            </a:r>
            <a:r>
              <a:rPr lang="pl-PL" sz="1800" dirty="0">
                <a:solidFill>
                  <a:srgbClr val="000000"/>
                </a:solidFill>
                <a:effectLst/>
                <a:latin typeface="Times New Roman" panose="02020603050405020304" pitchFamily="18" charset="0"/>
                <a:ea typeface="Calibri" panose="020F0502020204030204" pitchFamily="34" charset="0"/>
              </a:rPr>
              <a:t>, </a:t>
            </a:r>
            <a:r>
              <a:rPr lang="pl-PL" sz="1800" dirty="0">
                <a:solidFill>
                  <a:srgbClr val="FF0000"/>
                </a:solidFill>
                <a:effectLst/>
                <a:latin typeface="Times New Roman" panose="02020603050405020304" pitchFamily="18" charset="0"/>
                <a:ea typeface="Calibri" panose="020F0502020204030204" pitchFamily="34" charset="0"/>
              </a:rPr>
              <a:t>przewodniczący zarządza przerwę w rozprawie albo sąd rozprawę odracza w odniesieniu do pozostałych oskarżonych.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dirty="0">
                <a:solidFill>
                  <a:srgbClr val="000000"/>
                </a:solidFill>
                <a:effectLst/>
                <a:latin typeface="Times New Roman" panose="02020603050405020304" pitchFamily="18" charset="0"/>
                <a:ea typeface="Calibri" panose="020F0502020204030204" pitchFamily="34" charset="0"/>
              </a:rPr>
              <a:t>§ 4. </a:t>
            </a:r>
            <a:r>
              <a:rPr lang="pl-PL" sz="1800" dirty="0">
                <a:solidFill>
                  <a:srgbClr val="FF0000"/>
                </a:solidFill>
                <a:effectLst/>
                <a:latin typeface="Times New Roman" panose="02020603050405020304" pitchFamily="18" charset="0"/>
                <a:ea typeface="Calibri" panose="020F0502020204030204" pitchFamily="34" charset="0"/>
              </a:rPr>
              <a:t>Jeżeli w sprawie rozpoznawanej w składzie </a:t>
            </a:r>
            <a:r>
              <a:rPr lang="pl-PL" sz="1800" b="1" dirty="0">
                <a:solidFill>
                  <a:srgbClr val="00AFEF"/>
                </a:solidFill>
                <a:effectLst/>
                <a:latin typeface="Times New Roman" panose="02020603050405020304" pitchFamily="18" charset="0"/>
                <a:ea typeface="Calibri" panose="020F0502020204030204" pitchFamily="34" charset="0"/>
              </a:rPr>
              <a:t>jednego sędziego </a:t>
            </a:r>
            <a:r>
              <a:rPr lang="pl-PL" sz="1800" dirty="0">
                <a:solidFill>
                  <a:srgbClr val="FF0000"/>
                </a:solidFill>
                <a:effectLst/>
                <a:latin typeface="Times New Roman" panose="02020603050405020304" pitchFamily="18" charset="0"/>
                <a:ea typeface="Calibri" panose="020F0502020204030204" pitchFamily="34" charset="0"/>
              </a:rPr>
              <a:t>przeprowadzone dowody pozwalają na rozstrzygnięcie w przedmiocie odpowiedzialności karnej jednego lub niektórych oskarżonych</a:t>
            </a:r>
            <a:r>
              <a:rPr lang="pl-PL" sz="1800" dirty="0">
                <a:solidFill>
                  <a:srgbClr val="000000"/>
                </a:solidFill>
                <a:effectLst/>
                <a:latin typeface="Times New Roman" panose="02020603050405020304" pitchFamily="18" charset="0"/>
                <a:ea typeface="Calibri" panose="020F0502020204030204" pitchFamily="34" charset="0"/>
              </a:rPr>
              <a:t>, </a:t>
            </a:r>
            <a:r>
              <a:rPr lang="pl-PL" sz="1800" b="1" dirty="0">
                <a:solidFill>
                  <a:srgbClr val="548ED4"/>
                </a:solidFill>
                <a:effectLst/>
                <a:latin typeface="Times New Roman" panose="02020603050405020304" pitchFamily="18" charset="0"/>
                <a:ea typeface="Calibri" panose="020F0502020204030204" pitchFamily="34" charset="0"/>
              </a:rPr>
              <a:t>przepisu § 1 nie stosuje się, a przepisy § 2 i 3 stosuje się odpowiednio. </a:t>
            </a:r>
            <a:endParaRPr lang="pl-PL" sz="1800" dirty="0">
              <a:solidFill>
                <a:srgbClr val="000000"/>
              </a:solidFill>
              <a:effectLst/>
              <a:latin typeface="Times New Roman" panose="02020603050405020304" pitchFamily="18" charset="0"/>
              <a:ea typeface="Calibri" panose="020F0502020204030204" pitchFamily="34" charset="0"/>
            </a:endParaRPr>
          </a:p>
          <a:p>
            <a:endParaRPr lang="pl-PL" sz="4000" dirty="0"/>
          </a:p>
        </p:txBody>
      </p:sp>
    </p:spTree>
    <p:extLst>
      <p:ext uri="{BB962C8B-B14F-4D97-AF65-F5344CB8AC3E}">
        <p14:creationId xmlns:p14="http://schemas.microsoft.com/office/powerpoint/2010/main" val="1737960363"/>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5766392"/>
          </a:xfrm>
        </p:spPr>
        <p:txBody>
          <a:bodyPr>
            <a:normAutofit lnSpcReduction="10000"/>
          </a:bodyPr>
          <a:lstStyle/>
          <a:p>
            <a:r>
              <a:rPr lang="pl-PL" sz="1800" b="1" dirty="0">
                <a:solidFill>
                  <a:srgbClr val="323232"/>
                </a:solidFill>
                <a:effectLst/>
                <a:latin typeface="Times New Roman" panose="02020603050405020304" pitchFamily="18" charset="0"/>
                <a:ea typeface="Calibri" panose="020F0502020204030204" pitchFamily="34" charset="0"/>
              </a:rPr>
              <a:t>Art. 402</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b="1" dirty="0">
                <a:solidFill>
                  <a:srgbClr val="323232"/>
                </a:solidFill>
                <a:effectLst/>
                <a:latin typeface="Times New Roman" panose="02020603050405020304" pitchFamily="18" charset="0"/>
                <a:ea typeface="Calibri" panose="020F0502020204030204" pitchFamily="34" charset="0"/>
              </a:rPr>
              <a:t>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b="1" dirty="0">
                <a:solidFill>
                  <a:srgbClr val="323232"/>
                </a:solidFill>
                <a:effectLst/>
                <a:latin typeface="Times New Roman" panose="02020603050405020304" pitchFamily="18" charset="0"/>
                <a:ea typeface="Calibri" panose="020F0502020204030204" pitchFamily="34" charset="0"/>
              </a:rPr>
              <a:t>§ 1. </a:t>
            </a:r>
            <a:r>
              <a:rPr lang="pl-PL" sz="1800" dirty="0">
                <a:solidFill>
                  <a:srgbClr val="FF0000"/>
                </a:solidFill>
                <a:effectLst/>
                <a:latin typeface="Times New Roman" panose="02020603050405020304" pitchFamily="18" charset="0"/>
                <a:ea typeface="Calibri" panose="020F0502020204030204" pitchFamily="34" charset="0"/>
              </a:rPr>
              <a:t>Jeżeli przewodniczący, zarządzając przerwę</a:t>
            </a:r>
            <a:r>
              <a:rPr lang="pl-PL" sz="1800" dirty="0">
                <a:solidFill>
                  <a:srgbClr val="323232"/>
                </a:solidFill>
                <a:effectLst/>
                <a:latin typeface="Times New Roman" panose="02020603050405020304" pitchFamily="18" charset="0"/>
                <a:ea typeface="Calibri" panose="020F0502020204030204" pitchFamily="34" charset="0"/>
              </a:rPr>
              <a:t>, </a:t>
            </a:r>
            <a:r>
              <a:rPr lang="pl-PL" sz="1800" dirty="0">
                <a:solidFill>
                  <a:srgbClr val="006EC0"/>
                </a:solidFill>
                <a:effectLst/>
                <a:latin typeface="Times New Roman" panose="02020603050405020304" pitchFamily="18" charset="0"/>
                <a:ea typeface="Calibri" panose="020F0502020204030204" pitchFamily="34" charset="0"/>
              </a:rPr>
              <a:t>oznaczy jednocześnie czas i miejsce dalszego ciągu rozprawy, </a:t>
            </a:r>
            <a:r>
              <a:rPr lang="pl-PL" sz="1800" dirty="0">
                <a:solidFill>
                  <a:srgbClr val="FF0000"/>
                </a:solidFill>
                <a:effectLst/>
                <a:latin typeface="Times New Roman" panose="02020603050405020304" pitchFamily="18" charset="0"/>
                <a:ea typeface="Calibri" panose="020F0502020204030204" pitchFamily="34" charset="0"/>
              </a:rPr>
              <a:t>osoby obecne na rozprawie przerwanej</a:t>
            </a:r>
            <a:r>
              <a:rPr lang="pl-PL" sz="1800" dirty="0">
                <a:solidFill>
                  <a:srgbClr val="323232"/>
                </a:solidFill>
                <a:effectLst/>
                <a:latin typeface="Times New Roman" panose="02020603050405020304" pitchFamily="18" charset="0"/>
                <a:ea typeface="Calibri" panose="020F0502020204030204" pitchFamily="34" charset="0"/>
              </a:rPr>
              <a:t>, </a:t>
            </a:r>
            <a:r>
              <a:rPr lang="pl-PL" sz="1800" dirty="0">
                <a:solidFill>
                  <a:srgbClr val="00AE50"/>
                </a:solidFill>
                <a:effectLst/>
                <a:latin typeface="Times New Roman" panose="02020603050405020304" pitchFamily="18" charset="0"/>
                <a:ea typeface="Calibri" panose="020F0502020204030204" pitchFamily="34" charset="0"/>
              </a:rPr>
              <a:t>których obecność była obowiązkowa, są obowiązane stawić się w nowym terminie bez wezwania</a:t>
            </a:r>
            <a:r>
              <a:rPr lang="pl-PL" sz="1800" dirty="0">
                <a:solidFill>
                  <a:srgbClr val="323232"/>
                </a:solidFill>
                <a:effectLst/>
                <a:latin typeface="Times New Roman" panose="02020603050405020304" pitchFamily="18" charset="0"/>
                <a:ea typeface="Calibri" panose="020F0502020204030204" pitchFamily="34" charset="0"/>
              </a:rPr>
              <a:t>. </a:t>
            </a:r>
            <a:r>
              <a:rPr lang="pl-PL" sz="1800" dirty="0">
                <a:solidFill>
                  <a:srgbClr val="FF0000"/>
                </a:solidFill>
                <a:effectLst/>
                <a:latin typeface="Times New Roman" panose="02020603050405020304" pitchFamily="18" charset="0"/>
                <a:ea typeface="Calibri" panose="020F0502020204030204" pitchFamily="34" charset="0"/>
              </a:rPr>
              <a:t>Przepis art. 285 stosuje się odpowiednio</a:t>
            </a:r>
            <a:r>
              <a:rPr lang="pl-PL" sz="1800" dirty="0">
                <a:solidFill>
                  <a:srgbClr val="323232"/>
                </a:solidFill>
                <a:effectLst/>
                <a:latin typeface="Times New Roman" panose="02020603050405020304" pitchFamily="18" charset="0"/>
                <a:ea typeface="Calibri" panose="020F0502020204030204" pitchFamily="34" charset="0"/>
              </a:rPr>
              <a:t>. </a:t>
            </a:r>
            <a:r>
              <a:rPr lang="pl-PL" sz="1800" dirty="0">
                <a:solidFill>
                  <a:srgbClr val="00AEEE"/>
                </a:solidFill>
                <a:effectLst/>
                <a:latin typeface="Times New Roman" panose="02020603050405020304" pitchFamily="18" charset="0"/>
                <a:ea typeface="Calibri" panose="020F0502020204030204" pitchFamily="34" charset="0"/>
              </a:rPr>
              <a:t>Osoby uprawnione do stawiennictwa nie muszą być zawiadamiane o nowym terminie, nawet jeśli nie uczestniczyły w rozprawie przerwanej.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b="1" dirty="0">
                <a:solidFill>
                  <a:srgbClr val="323232"/>
                </a:solidFill>
                <a:effectLst/>
                <a:latin typeface="Times New Roman" panose="02020603050405020304" pitchFamily="18" charset="0"/>
                <a:ea typeface="Calibri" panose="020F0502020204030204" pitchFamily="34" charset="0"/>
              </a:rPr>
              <a:t>§ 1a. </a:t>
            </a:r>
            <a:r>
              <a:rPr lang="pl-PL" sz="1800" dirty="0">
                <a:solidFill>
                  <a:srgbClr val="FF0000"/>
                </a:solidFill>
                <a:effectLst/>
                <a:latin typeface="Times New Roman" panose="02020603050405020304" pitchFamily="18" charset="0"/>
                <a:ea typeface="Calibri" panose="020F0502020204030204" pitchFamily="34" charset="0"/>
              </a:rPr>
              <a:t>Oskarżonego, którego obecność jest obowiązkowa</a:t>
            </a:r>
            <a:r>
              <a:rPr lang="pl-PL" sz="1800" dirty="0">
                <a:solidFill>
                  <a:srgbClr val="323232"/>
                </a:solidFill>
                <a:effectLst/>
                <a:latin typeface="Times New Roman" panose="02020603050405020304" pitchFamily="18" charset="0"/>
                <a:ea typeface="Calibri" panose="020F0502020204030204" pitchFamily="34" charset="0"/>
              </a:rPr>
              <a:t>, </a:t>
            </a:r>
            <a:r>
              <a:rPr lang="pl-PL" sz="1800" dirty="0">
                <a:solidFill>
                  <a:srgbClr val="00AE50"/>
                </a:solidFill>
                <a:effectLst/>
                <a:latin typeface="Times New Roman" panose="02020603050405020304" pitchFamily="18" charset="0"/>
                <a:ea typeface="Calibri" panose="020F0502020204030204" pitchFamily="34" charset="0"/>
              </a:rPr>
              <a:t>nie wzywa się w sytuacjach określonych w art. 376 lub art. 377, </a:t>
            </a:r>
            <a:r>
              <a:rPr lang="pl-PL" sz="1800" dirty="0">
                <a:solidFill>
                  <a:srgbClr val="FF0000"/>
                </a:solidFill>
                <a:effectLst/>
                <a:latin typeface="Times New Roman" panose="02020603050405020304" pitchFamily="18" charset="0"/>
                <a:ea typeface="Calibri" panose="020F0502020204030204" pitchFamily="34" charset="0"/>
              </a:rPr>
              <a:t>jeżeli okres przerwy uniemożliwia jego wezwanie oraz stawienie się na rozprawę po przerwie</a:t>
            </a:r>
            <a:r>
              <a:rPr lang="pl-PL" sz="1800" dirty="0">
                <a:solidFill>
                  <a:srgbClr val="323232"/>
                </a:solidFill>
                <a:effectLst/>
                <a:latin typeface="Times New Roman" panose="02020603050405020304" pitchFamily="18" charset="0"/>
                <a:ea typeface="Calibri" panose="020F0502020204030204" pitchFamily="34" charset="0"/>
              </a:rPr>
              <a:t>.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b="1" dirty="0">
                <a:solidFill>
                  <a:srgbClr val="323232"/>
                </a:solidFill>
                <a:effectLst/>
                <a:latin typeface="Times New Roman" panose="02020603050405020304" pitchFamily="18" charset="0"/>
                <a:ea typeface="Calibri" panose="020F0502020204030204" pitchFamily="34" charset="0"/>
              </a:rPr>
              <a:t>§ 2. </a:t>
            </a:r>
            <a:r>
              <a:rPr lang="pl-PL" sz="1800" dirty="0">
                <a:solidFill>
                  <a:srgbClr val="00AEEE"/>
                </a:solidFill>
                <a:effectLst/>
                <a:latin typeface="Times New Roman" panose="02020603050405020304" pitchFamily="18" charset="0"/>
                <a:ea typeface="Calibri" panose="020F0502020204030204" pitchFamily="34" charset="0"/>
              </a:rPr>
              <a:t>Rozprawę przerwaną prowadzi się po przerwie w dalszym ciągu</a:t>
            </a:r>
            <a:r>
              <a:rPr lang="pl-PL" sz="1800" dirty="0">
                <a:solidFill>
                  <a:srgbClr val="323232"/>
                </a:solidFill>
                <a:effectLst/>
                <a:latin typeface="Times New Roman" panose="02020603050405020304" pitchFamily="18" charset="0"/>
                <a:ea typeface="Calibri" panose="020F0502020204030204" pitchFamily="34" charset="0"/>
              </a:rPr>
              <a:t>, </a:t>
            </a:r>
            <a:r>
              <a:rPr lang="pl-PL" sz="1800" dirty="0">
                <a:solidFill>
                  <a:srgbClr val="00AE50"/>
                </a:solidFill>
                <a:effectLst/>
                <a:latin typeface="Times New Roman" panose="02020603050405020304" pitchFamily="18" charset="0"/>
                <a:ea typeface="Calibri" panose="020F0502020204030204" pitchFamily="34" charset="0"/>
              </a:rPr>
              <a:t>a od początku </a:t>
            </a:r>
            <a:r>
              <a:rPr lang="pl-PL" sz="1800" dirty="0">
                <a:solidFill>
                  <a:srgbClr val="323232"/>
                </a:solidFill>
                <a:effectLst/>
                <a:latin typeface="Times New Roman" panose="02020603050405020304" pitchFamily="18" charset="0"/>
                <a:ea typeface="Calibri" panose="020F0502020204030204" pitchFamily="34" charset="0"/>
              </a:rPr>
              <a:t>- </a:t>
            </a:r>
            <a:r>
              <a:rPr lang="pl-PL" sz="1800" dirty="0">
                <a:solidFill>
                  <a:srgbClr val="00AEEE"/>
                </a:solidFill>
                <a:effectLst/>
                <a:latin typeface="Times New Roman" panose="02020603050405020304" pitchFamily="18" charset="0"/>
                <a:ea typeface="Calibri" panose="020F0502020204030204" pitchFamily="34" charset="0"/>
              </a:rPr>
              <a:t>jeżeli skład sądu uległ zmianie </a:t>
            </a:r>
            <a:r>
              <a:rPr lang="pl-PL" sz="1800" dirty="0">
                <a:solidFill>
                  <a:srgbClr val="323232"/>
                </a:solidFill>
                <a:effectLst/>
                <a:latin typeface="Times New Roman" panose="02020603050405020304" pitchFamily="18" charset="0"/>
                <a:ea typeface="Calibri" panose="020F0502020204030204" pitchFamily="34" charset="0"/>
              </a:rPr>
              <a:t>albo </a:t>
            </a:r>
            <a:r>
              <a:rPr lang="pl-PL" sz="1800" dirty="0">
                <a:solidFill>
                  <a:srgbClr val="006EC0"/>
                </a:solidFill>
                <a:effectLst/>
                <a:latin typeface="Times New Roman" panose="02020603050405020304" pitchFamily="18" charset="0"/>
                <a:ea typeface="Calibri" panose="020F0502020204030204" pitchFamily="34" charset="0"/>
              </a:rPr>
              <a:t>sąd uzna to za konieczne.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b="1" dirty="0">
                <a:solidFill>
                  <a:srgbClr val="000000"/>
                </a:solidFill>
                <a:effectLst/>
                <a:latin typeface="Times New Roman" panose="02020603050405020304" pitchFamily="18" charset="0"/>
                <a:ea typeface="Calibri" panose="020F0502020204030204" pitchFamily="34" charset="0"/>
              </a:rPr>
              <a:t>§ 2a Jeżeli w sprawie rozpoznawanej </a:t>
            </a:r>
            <a:r>
              <a:rPr lang="pl-PL" sz="1800" b="1" dirty="0">
                <a:solidFill>
                  <a:srgbClr val="FF0000"/>
                </a:solidFill>
                <a:effectLst/>
                <a:latin typeface="Times New Roman" panose="02020603050405020304" pitchFamily="18" charset="0"/>
                <a:ea typeface="Calibri" panose="020F0502020204030204" pitchFamily="34" charset="0"/>
              </a:rPr>
              <a:t>w składzie wieloosobowym </a:t>
            </a:r>
            <a:r>
              <a:rPr lang="pl-PL" sz="1800" b="1" dirty="0">
                <a:solidFill>
                  <a:srgbClr val="92D050"/>
                </a:solidFill>
                <a:effectLst/>
                <a:latin typeface="Times New Roman" panose="02020603050405020304" pitchFamily="18" charset="0"/>
                <a:ea typeface="Calibri" panose="020F0502020204030204" pitchFamily="34" charset="0"/>
              </a:rPr>
              <a:t>zmianie z przyczyn losowych lub z powodu przeszkód prawnych </a:t>
            </a:r>
            <a:r>
              <a:rPr lang="pl-PL" sz="1800" b="1" dirty="0">
                <a:solidFill>
                  <a:srgbClr val="000000"/>
                </a:solidFill>
                <a:effectLst/>
                <a:latin typeface="Times New Roman" panose="02020603050405020304" pitchFamily="18" charset="0"/>
                <a:ea typeface="Calibri" panose="020F0502020204030204" pitchFamily="34" charset="0"/>
              </a:rPr>
              <a:t>uległ </a:t>
            </a:r>
            <a:r>
              <a:rPr lang="pl-PL" sz="1800" b="1" dirty="0">
                <a:solidFill>
                  <a:srgbClr val="00AFEF"/>
                </a:solidFill>
                <a:effectLst/>
                <a:latin typeface="Times New Roman" panose="02020603050405020304" pitchFamily="18" charset="0"/>
                <a:ea typeface="Calibri" panose="020F0502020204030204" pitchFamily="34" charset="0"/>
              </a:rPr>
              <a:t>jeden z członków składu</a:t>
            </a:r>
            <a:r>
              <a:rPr lang="pl-PL" sz="1800" b="1" dirty="0">
                <a:solidFill>
                  <a:srgbClr val="000000"/>
                </a:solidFill>
                <a:effectLst/>
                <a:latin typeface="Times New Roman" panose="02020603050405020304" pitchFamily="18" charset="0"/>
                <a:ea typeface="Calibri" panose="020F0502020204030204" pitchFamily="34" charset="0"/>
              </a:rPr>
              <a:t>, rozprawę przerwaną można prowadzić po przerwie </a:t>
            </a:r>
            <a:r>
              <a:rPr lang="pl-PL" sz="1800" b="1" dirty="0">
                <a:solidFill>
                  <a:srgbClr val="FF0000"/>
                </a:solidFill>
                <a:effectLst/>
                <a:latin typeface="Times New Roman" panose="02020603050405020304" pitchFamily="18" charset="0"/>
                <a:ea typeface="Calibri" panose="020F0502020204030204" pitchFamily="34" charset="0"/>
              </a:rPr>
              <a:t>w dalszym ciągu</a:t>
            </a:r>
            <a:r>
              <a:rPr lang="pl-PL" sz="1800" b="1" dirty="0">
                <a:solidFill>
                  <a:srgbClr val="000000"/>
                </a:solidFill>
                <a:effectLst/>
                <a:latin typeface="Times New Roman" panose="02020603050405020304" pitchFamily="18" charset="0"/>
                <a:ea typeface="Calibri" panose="020F0502020204030204" pitchFamily="34" charset="0"/>
              </a:rPr>
              <a:t>, jeżeli </a:t>
            </a:r>
            <a:r>
              <a:rPr lang="pl-PL" sz="1800" b="1" dirty="0">
                <a:solidFill>
                  <a:srgbClr val="92D050"/>
                </a:solidFill>
                <a:effectLst/>
                <a:latin typeface="Times New Roman" panose="02020603050405020304" pitchFamily="18" charset="0"/>
                <a:ea typeface="Calibri" panose="020F0502020204030204" pitchFamily="34" charset="0"/>
              </a:rPr>
              <a:t>nie zagraża to prawidłowości orzekania w sprawie.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b="1" dirty="0">
                <a:solidFill>
                  <a:srgbClr val="000000"/>
                </a:solidFill>
                <a:effectLst/>
                <a:latin typeface="Times New Roman" panose="02020603050405020304" pitchFamily="18" charset="0"/>
                <a:ea typeface="Calibri" panose="020F0502020204030204" pitchFamily="34" charset="0"/>
              </a:rPr>
              <a:t>(</a:t>
            </a:r>
            <a:r>
              <a:rPr lang="pl-PL" sz="1800" b="1" i="1" dirty="0">
                <a:solidFill>
                  <a:srgbClr val="000000"/>
                </a:solidFill>
                <a:effectLst/>
                <a:latin typeface="Times New Roman" panose="02020603050405020304" pitchFamily="18" charset="0"/>
                <a:ea typeface="Calibri" panose="020F0502020204030204" pitchFamily="34" charset="0"/>
              </a:rPr>
              <a:t>nowa regulacja wprowadzająca odstępstwo od zasady niezmienności składu orzekającego, istotne odstępstwo również od zasady bezpośredniości)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b="1" dirty="0">
                <a:solidFill>
                  <a:srgbClr val="FF0000"/>
                </a:solidFill>
                <a:effectLst/>
                <a:latin typeface="Times New Roman" panose="02020603050405020304" pitchFamily="18" charset="0"/>
                <a:ea typeface="Calibri" panose="020F0502020204030204" pitchFamily="34" charset="0"/>
              </a:rPr>
              <a:t>§ 3. </a:t>
            </a:r>
            <a:r>
              <a:rPr lang="pl-PL" sz="1800" dirty="0">
                <a:solidFill>
                  <a:srgbClr val="FF0000"/>
                </a:solidFill>
                <a:effectLst/>
                <a:latin typeface="Times New Roman" panose="02020603050405020304" pitchFamily="18" charset="0"/>
                <a:ea typeface="Calibri" panose="020F0502020204030204" pitchFamily="34" charset="0"/>
              </a:rPr>
              <a:t>W razie przekroczenia terminu przerwy rozprawę uważa się za odroczoną. </a:t>
            </a:r>
            <a:endParaRPr lang="pl-PL" sz="1800" dirty="0">
              <a:solidFill>
                <a:srgbClr val="000000"/>
              </a:solidFill>
              <a:effectLst/>
              <a:latin typeface="Times New Roman" panose="02020603050405020304" pitchFamily="18" charset="0"/>
              <a:ea typeface="Calibri" panose="020F0502020204030204" pitchFamily="34" charset="0"/>
            </a:endParaRPr>
          </a:p>
          <a:p>
            <a:endParaRPr lang="pl-PL" sz="4000" dirty="0"/>
          </a:p>
        </p:txBody>
      </p:sp>
    </p:spTree>
    <p:extLst>
      <p:ext uri="{BB962C8B-B14F-4D97-AF65-F5344CB8AC3E}">
        <p14:creationId xmlns:p14="http://schemas.microsoft.com/office/powerpoint/2010/main" val="1861339828"/>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5766392"/>
          </a:xfrm>
        </p:spPr>
        <p:txBody>
          <a:bodyPr>
            <a:normAutofit lnSpcReduction="10000"/>
          </a:bodyPr>
          <a:lstStyle/>
          <a:p>
            <a:r>
              <a:rPr lang="pl-PL" sz="1800" b="1" dirty="0">
                <a:solidFill>
                  <a:srgbClr val="323232"/>
                </a:solidFill>
                <a:effectLst/>
                <a:latin typeface="Times New Roman" panose="02020603050405020304" pitchFamily="18" charset="0"/>
                <a:ea typeface="Calibri" panose="020F0502020204030204" pitchFamily="34" charset="0"/>
              </a:rPr>
              <a:t>Art. 403. [Orzekanie w czasie przerwy]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dirty="0">
                <a:solidFill>
                  <a:srgbClr val="323232"/>
                </a:solidFill>
                <a:effectLst/>
                <a:latin typeface="Times New Roman" panose="02020603050405020304" pitchFamily="18" charset="0"/>
                <a:ea typeface="Calibri" panose="020F0502020204030204" pitchFamily="34" charset="0"/>
              </a:rPr>
              <a:t>Orzeczenia zapadające w czasie przerwy w rozprawie wydaje się </a:t>
            </a:r>
            <a:r>
              <a:rPr lang="pl-PL" sz="1800" dirty="0">
                <a:solidFill>
                  <a:srgbClr val="FF0000"/>
                </a:solidFill>
                <a:effectLst/>
                <a:latin typeface="Times New Roman" panose="02020603050405020304" pitchFamily="18" charset="0"/>
                <a:ea typeface="Calibri" panose="020F0502020204030204" pitchFamily="34" charset="0"/>
              </a:rPr>
              <a:t>w składzie rozpoznającym sprawę</a:t>
            </a:r>
            <a:r>
              <a:rPr lang="pl-PL" sz="1800" dirty="0">
                <a:solidFill>
                  <a:srgbClr val="323232"/>
                </a:solidFill>
                <a:effectLst/>
                <a:latin typeface="Times New Roman" panose="02020603050405020304" pitchFamily="18" charset="0"/>
                <a:ea typeface="Calibri" panose="020F0502020204030204" pitchFamily="34" charset="0"/>
              </a:rPr>
              <a:t>, a w wypadku niemożności jego utworzenia </a:t>
            </a:r>
            <a:r>
              <a:rPr lang="pl-PL" sz="1800" dirty="0">
                <a:solidFill>
                  <a:srgbClr val="006EC0"/>
                </a:solidFill>
                <a:effectLst/>
                <a:latin typeface="Times New Roman" panose="02020603050405020304" pitchFamily="18" charset="0"/>
                <a:ea typeface="Calibri" panose="020F0502020204030204" pitchFamily="34" charset="0"/>
              </a:rPr>
              <a:t>- w takim samym składzie.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b="1" dirty="0">
                <a:solidFill>
                  <a:srgbClr val="323232"/>
                </a:solidFill>
                <a:effectLst/>
                <a:latin typeface="Times New Roman" panose="02020603050405020304" pitchFamily="18" charset="0"/>
                <a:ea typeface="Calibri" panose="020F0502020204030204" pitchFamily="34" charset="0"/>
              </a:rPr>
              <a:t>Art. 404. [Odroczenie]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b="1" dirty="0">
                <a:solidFill>
                  <a:srgbClr val="323232"/>
                </a:solidFill>
                <a:effectLst/>
                <a:latin typeface="Times New Roman" panose="02020603050405020304" pitchFamily="18" charset="0"/>
                <a:ea typeface="Calibri" panose="020F0502020204030204" pitchFamily="34" charset="0"/>
              </a:rPr>
              <a:t>§ 1. </a:t>
            </a:r>
            <a:r>
              <a:rPr lang="pl-PL" sz="1800" dirty="0">
                <a:solidFill>
                  <a:srgbClr val="00AE50"/>
                </a:solidFill>
                <a:effectLst/>
                <a:latin typeface="Times New Roman" panose="02020603050405020304" pitchFamily="18" charset="0"/>
                <a:ea typeface="Calibri" panose="020F0502020204030204" pitchFamily="34" charset="0"/>
              </a:rPr>
              <a:t>Sąd </a:t>
            </a:r>
            <a:r>
              <a:rPr lang="pl-PL" sz="1800" dirty="0">
                <a:solidFill>
                  <a:srgbClr val="323232"/>
                </a:solidFill>
                <a:effectLst/>
                <a:latin typeface="Times New Roman" panose="02020603050405020304" pitchFamily="18" charset="0"/>
                <a:ea typeface="Calibri" panose="020F0502020204030204" pitchFamily="34" charset="0"/>
              </a:rPr>
              <a:t>może odroczyć rozprawę tylko wtedy, </a:t>
            </a:r>
            <a:r>
              <a:rPr lang="pl-PL" sz="1800" dirty="0">
                <a:solidFill>
                  <a:srgbClr val="FF0000"/>
                </a:solidFill>
                <a:effectLst/>
                <a:latin typeface="Times New Roman" panose="02020603050405020304" pitchFamily="18" charset="0"/>
                <a:ea typeface="Calibri" panose="020F0502020204030204" pitchFamily="34" charset="0"/>
              </a:rPr>
              <a:t>gdy zarządzenie przerwy nie byłoby wystarczające.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b="1" dirty="0">
                <a:solidFill>
                  <a:srgbClr val="323232"/>
                </a:solidFill>
                <a:effectLst/>
                <a:latin typeface="Times New Roman" panose="02020603050405020304" pitchFamily="18" charset="0"/>
                <a:ea typeface="Calibri" panose="020F0502020204030204" pitchFamily="34" charset="0"/>
              </a:rPr>
              <a:t>§ 2. </a:t>
            </a:r>
            <a:r>
              <a:rPr lang="pl-PL" sz="1800" dirty="0">
                <a:solidFill>
                  <a:srgbClr val="323232"/>
                </a:solidFill>
                <a:effectLst/>
                <a:latin typeface="Times New Roman" panose="02020603050405020304" pitchFamily="18" charset="0"/>
                <a:ea typeface="Calibri" panose="020F0502020204030204" pitchFamily="34" charset="0"/>
              </a:rPr>
              <a:t>Rozprawę odroczoną prowadzi </a:t>
            </a:r>
            <a:r>
              <a:rPr lang="pl-PL" sz="1800" dirty="0">
                <a:solidFill>
                  <a:srgbClr val="00AE50"/>
                </a:solidFill>
                <a:effectLst/>
                <a:latin typeface="Times New Roman" panose="02020603050405020304" pitchFamily="18" charset="0"/>
                <a:ea typeface="Calibri" panose="020F0502020204030204" pitchFamily="34" charset="0"/>
              </a:rPr>
              <a:t>się w nowym terminie od początku</a:t>
            </a:r>
            <a:r>
              <a:rPr lang="pl-PL" sz="1800" dirty="0">
                <a:solidFill>
                  <a:srgbClr val="323232"/>
                </a:solidFill>
                <a:effectLst/>
                <a:latin typeface="Times New Roman" panose="02020603050405020304" pitchFamily="18" charset="0"/>
                <a:ea typeface="Calibri" panose="020F0502020204030204" pitchFamily="34" charset="0"/>
              </a:rPr>
              <a:t>. </a:t>
            </a:r>
            <a:r>
              <a:rPr lang="pl-PL" sz="1800" dirty="0">
                <a:solidFill>
                  <a:srgbClr val="006EC0"/>
                </a:solidFill>
                <a:effectLst/>
                <a:latin typeface="Times New Roman" panose="02020603050405020304" pitchFamily="18" charset="0"/>
                <a:ea typeface="Calibri" panose="020F0502020204030204" pitchFamily="34" charset="0"/>
              </a:rPr>
              <a:t>Sąd może wyjątkowo </a:t>
            </a:r>
            <a:r>
              <a:rPr lang="pl-PL" sz="1800" dirty="0">
                <a:solidFill>
                  <a:srgbClr val="FF0000"/>
                </a:solidFill>
                <a:effectLst/>
                <a:latin typeface="Times New Roman" panose="02020603050405020304" pitchFamily="18" charset="0"/>
                <a:ea typeface="Calibri" panose="020F0502020204030204" pitchFamily="34" charset="0"/>
              </a:rPr>
              <a:t>prowadzić rozprawę odroczoną w dalszym ciągu, </a:t>
            </a:r>
            <a:r>
              <a:rPr lang="pl-PL" sz="1800" dirty="0">
                <a:solidFill>
                  <a:srgbClr val="00AE50"/>
                </a:solidFill>
                <a:effectLst/>
                <a:latin typeface="Times New Roman" panose="02020603050405020304" pitchFamily="18" charset="0"/>
                <a:ea typeface="Calibri" panose="020F0502020204030204" pitchFamily="34" charset="0"/>
              </a:rPr>
              <a:t>chyba że skład sądu uległ zmianie.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b="1" dirty="0">
                <a:solidFill>
                  <a:srgbClr val="00AE50"/>
                </a:solidFill>
                <a:effectLst/>
                <a:latin typeface="Times New Roman" panose="02020603050405020304" pitchFamily="18" charset="0"/>
                <a:ea typeface="Calibri" panose="020F0502020204030204" pitchFamily="34" charset="0"/>
              </a:rPr>
              <a:t>§ 2a Jeżeli w sprawie rozpoznawanej </a:t>
            </a:r>
            <a:r>
              <a:rPr lang="pl-PL" sz="1800" b="1" dirty="0">
                <a:solidFill>
                  <a:srgbClr val="FF0000"/>
                </a:solidFill>
                <a:effectLst/>
                <a:latin typeface="Times New Roman" panose="02020603050405020304" pitchFamily="18" charset="0"/>
                <a:ea typeface="Calibri" panose="020F0502020204030204" pitchFamily="34" charset="0"/>
              </a:rPr>
              <a:t>w składzie wieloosobowym </a:t>
            </a:r>
            <a:r>
              <a:rPr lang="pl-PL" sz="1800" b="1" dirty="0">
                <a:solidFill>
                  <a:srgbClr val="00AE50"/>
                </a:solidFill>
                <a:effectLst/>
                <a:latin typeface="Times New Roman" panose="02020603050405020304" pitchFamily="18" charset="0"/>
                <a:ea typeface="Calibri" panose="020F0502020204030204" pitchFamily="34" charset="0"/>
              </a:rPr>
              <a:t>zmianie z przyczyn losowych lub z powodu przeszkód prawnych </a:t>
            </a:r>
            <a:r>
              <a:rPr lang="pl-PL" sz="1800" b="1" dirty="0">
                <a:solidFill>
                  <a:srgbClr val="FF0000"/>
                </a:solidFill>
                <a:effectLst/>
                <a:latin typeface="Times New Roman" panose="02020603050405020304" pitchFamily="18" charset="0"/>
                <a:ea typeface="Calibri" panose="020F0502020204030204" pitchFamily="34" charset="0"/>
              </a:rPr>
              <a:t>uległ jeden z członków składu</a:t>
            </a:r>
            <a:r>
              <a:rPr lang="pl-PL" sz="1800" b="1" dirty="0">
                <a:solidFill>
                  <a:srgbClr val="00AE50"/>
                </a:solidFill>
                <a:effectLst/>
                <a:latin typeface="Times New Roman" panose="02020603050405020304" pitchFamily="18" charset="0"/>
                <a:ea typeface="Calibri" panose="020F0502020204030204" pitchFamily="34" charset="0"/>
              </a:rPr>
              <a:t>, </a:t>
            </a:r>
            <a:r>
              <a:rPr lang="pl-PL" sz="1800" b="1" dirty="0">
                <a:solidFill>
                  <a:srgbClr val="00AFEF"/>
                </a:solidFill>
                <a:effectLst/>
                <a:latin typeface="Times New Roman" panose="02020603050405020304" pitchFamily="18" charset="0"/>
                <a:ea typeface="Calibri" panose="020F0502020204030204" pitchFamily="34" charset="0"/>
              </a:rPr>
              <a:t>rozprawę odroczoną można prowadzić w dalszym ciągu</a:t>
            </a:r>
            <a:r>
              <a:rPr lang="pl-PL" sz="1800" b="1" dirty="0">
                <a:solidFill>
                  <a:srgbClr val="00AE50"/>
                </a:solidFill>
                <a:effectLst/>
                <a:latin typeface="Times New Roman" panose="02020603050405020304" pitchFamily="18" charset="0"/>
                <a:ea typeface="Calibri" panose="020F0502020204030204" pitchFamily="34" charset="0"/>
              </a:rPr>
              <a:t>, jeżeli </a:t>
            </a:r>
            <a:r>
              <a:rPr lang="pl-PL" sz="1800" b="1" dirty="0">
                <a:solidFill>
                  <a:srgbClr val="FF0000"/>
                </a:solidFill>
                <a:effectLst/>
                <a:latin typeface="Times New Roman" panose="02020603050405020304" pitchFamily="18" charset="0"/>
                <a:ea typeface="Calibri" panose="020F0502020204030204" pitchFamily="34" charset="0"/>
              </a:rPr>
              <a:t>nie zagraża to prawidłowości orzekania w sprawie.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b="1" dirty="0">
                <a:solidFill>
                  <a:srgbClr val="000000"/>
                </a:solidFill>
                <a:effectLst/>
                <a:latin typeface="Times New Roman" panose="02020603050405020304" pitchFamily="18" charset="0"/>
                <a:ea typeface="Calibri" panose="020F0502020204030204" pitchFamily="34" charset="0"/>
              </a:rPr>
              <a:t>(</a:t>
            </a:r>
            <a:r>
              <a:rPr lang="pl-PL" sz="1800" b="1" i="1" dirty="0">
                <a:solidFill>
                  <a:srgbClr val="000000"/>
                </a:solidFill>
                <a:effectLst/>
                <a:latin typeface="Times New Roman" panose="02020603050405020304" pitchFamily="18" charset="0"/>
                <a:ea typeface="Calibri" panose="020F0502020204030204" pitchFamily="34" charset="0"/>
              </a:rPr>
              <a:t>nowa regulacja wprowadzająca odstępstwo od zasady niezmienności składu orzekającego, istotne odstępstwo również od zasady bezpośredniości)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b="1" dirty="0">
                <a:solidFill>
                  <a:srgbClr val="001F5F"/>
                </a:solidFill>
                <a:effectLst/>
                <a:latin typeface="Times New Roman" panose="02020603050405020304" pitchFamily="18" charset="0"/>
                <a:ea typeface="Calibri" panose="020F0502020204030204" pitchFamily="34" charset="0"/>
              </a:rPr>
              <a:t>§ 3. </a:t>
            </a:r>
            <a:r>
              <a:rPr lang="pl-PL" sz="1800" dirty="0">
                <a:solidFill>
                  <a:srgbClr val="001F5F"/>
                </a:solidFill>
                <a:effectLst/>
                <a:latin typeface="Times New Roman" panose="02020603050405020304" pitchFamily="18" charset="0"/>
                <a:ea typeface="Calibri" panose="020F0502020204030204" pitchFamily="34" charset="0"/>
              </a:rPr>
              <a:t>W wypadku podjęcia postępowania zawieszonego przepis § 2 stosuje się odpowiednio.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dirty="0">
                <a:solidFill>
                  <a:srgbClr val="000000"/>
                </a:solidFill>
                <a:effectLst/>
                <a:latin typeface="Times New Roman" panose="02020603050405020304" pitchFamily="18" charset="0"/>
                <a:ea typeface="Calibri" panose="020F0502020204030204" pitchFamily="34" charset="0"/>
              </a:rPr>
              <a:t>Nowe regulacje związane z możliwością kontynuowania rozprawy w zmienionym składzie zgodnie z art. 402 §2a i 404 § 2a k.p.k. </a:t>
            </a:r>
          </a:p>
          <a:p>
            <a:endParaRPr lang="pl-PL" sz="4000" dirty="0"/>
          </a:p>
        </p:txBody>
      </p:sp>
    </p:spTree>
    <p:extLst>
      <p:ext uri="{BB962C8B-B14F-4D97-AF65-F5344CB8AC3E}">
        <p14:creationId xmlns:p14="http://schemas.microsoft.com/office/powerpoint/2010/main" val="3745972351"/>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5766392"/>
          </a:xfrm>
        </p:spPr>
        <p:txBody>
          <a:bodyPr>
            <a:normAutofit/>
          </a:bodyPr>
          <a:lstStyle/>
          <a:p>
            <a:r>
              <a:rPr lang="pl-PL" sz="1800" dirty="0">
                <a:solidFill>
                  <a:srgbClr val="000000"/>
                </a:solidFill>
                <a:effectLst/>
                <a:latin typeface="Times New Roman" panose="02020603050405020304" pitchFamily="18" charset="0"/>
                <a:ea typeface="Calibri" panose="020F0502020204030204" pitchFamily="34" charset="0"/>
              </a:rPr>
              <a:t>§ 1. W razie prowadzenia rozprawy w dalszym ciągu w wypadkach określonych w art. 402 § 2a lub art. 404 § 2a </a:t>
            </a:r>
            <a:r>
              <a:rPr lang="pl-PL" sz="1800" dirty="0">
                <a:solidFill>
                  <a:srgbClr val="FF0000"/>
                </a:solidFill>
                <a:effectLst/>
                <a:latin typeface="Times New Roman" panose="02020603050405020304" pitchFamily="18" charset="0"/>
                <a:ea typeface="Calibri" panose="020F0502020204030204" pitchFamily="34" charset="0"/>
              </a:rPr>
              <a:t>przed przystąpieniem do dalszych czynności dowodowych </a:t>
            </a:r>
            <a:r>
              <a:rPr lang="pl-PL" sz="1800" b="1" dirty="0">
                <a:solidFill>
                  <a:srgbClr val="00AFEF"/>
                </a:solidFill>
                <a:effectLst/>
                <a:latin typeface="Times New Roman" panose="02020603050405020304" pitchFamily="18" charset="0"/>
                <a:ea typeface="Calibri" panose="020F0502020204030204" pitchFamily="34" charset="0"/>
              </a:rPr>
              <a:t>przewodniczący zarządza przerwę w rozprawie </a:t>
            </a:r>
            <a:r>
              <a:rPr lang="pl-PL" sz="1800" dirty="0">
                <a:solidFill>
                  <a:srgbClr val="000000"/>
                </a:solidFill>
                <a:effectLst/>
                <a:latin typeface="Times New Roman" panose="02020603050405020304" pitchFamily="18" charset="0"/>
                <a:ea typeface="Calibri" panose="020F0502020204030204" pitchFamily="34" charset="0"/>
              </a:rPr>
              <a:t>albo </a:t>
            </a:r>
            <a:r>
              <a:rPr lang="pl-PL" sz="1800" b="1" dirty="0">
                <a:solidFill>
                  <a:srgbClr val="00AFEF"/>
                </a:solidFill>
                <a:effectLst/>
                <a:latin typeface="Times New Roman" panose="02020603050405020304" pitchFamily="18" charset="0"/>
                <a:ea typeface="Calibri" panose="020F0502020204030204" pitchFamily="34" charset="0"/>
              </a:rPr>
              <a:t>sąd rozprawę odracza </a:t>
            </a:r>
            <a:r>
              <a:rPr lang="pl-PL" sz="1800" dirty="0">
                <a:solidFill>
                  <a:srgbClr val="00AF50"/>
                </a:solidFill>
                <a:effectLst/>
                <a:latin typeface="Times New Roman" panose="02020603050405020304" pitchFamily="18" charset="0"/>
                <a:ea typeface="Calibri" panose="020F0502020204030204" pitchFamily="34" charset="0"/>
              </a:rPr>
              <a:t>na czas niezbędny do zapoznania się przez nowego członka składu orzekającego z dotychczasowym przebiegiem postępowania</a:t>
            </a:r>
            <a:r>
              <a:rPr lang="pl-PL" sz="1800" dirty="0">
                <a:solidFill>
                  <a:srgbClr val="000000"/>
                </a:solidFill>
                <a:effectLst/>
                <a:latin typeface="Times New Roman" panose="02020603050405020304" pitchFamily="18" charset="0"/>
                <a:ea typeface="Calibri" panose="020F0502020204030204" pitchFamily="34" charset="0"/>
              </a:rPr>
              <a:t>, </a:t>
            </a:r>
            <a:r>
              <a:rPr lang="pl-PL" sz="1800" dirty="0">
                <a:solidFill>
                  <a:srgbClr val="FFC000"/>
                </a:solidFill>
                <a:effectLst/>
                <a:latin typeface="Times New Roman" panose="02020603050405020304" pitchFamily="18" charset="0"/>
                <a:ea typeface="Calibri" panose="020F0502020204030204" pitchFamily="34" charset="0"/>
              </a:rPr>
              <a:t>w tym z przeprowadzonymi dowodami.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dirty="0">
                <a:solidFill>
                  <a:srgbClr val="000000"/>
                </a:solidFill>
                <a:effectLst/>
                <a:latin typeface="Times New Roman" panose="02020603050405020304" pitchFamily="18" charset="0"/>
                <a:ea typeface="Calibri" panose="020F0502020204030204" pitchFamily="34" charset="0"/>
              </a:rPr>
              <a:t>§ 2. Nowy członek składu orzekającego, po zapoznaniu się z dotychczasowym przebiegiem postępowania, w tym z przeprowadzonymi dowodami, </a:t>
            </a:r>
            <a:r>
              <a:rPr lang="pl-PL" sz="1800" dirty="0">
                <a:solidFill>
                  <a:srgbClr val="FF0000"/>
                </a:solidFill>
                <a:effectLst/>
                <a:latin typeface="Times New Roman" panose="02020603050405020304" pitchFamily="18" charset="0"/>
                <a:ea typeface="Calibri" panose="020F0502020204030204" pitchFamily="34" charset="0"/>
              </a:rPr>
              <a:t>oświadcza na piśmie lub do protokołu rozprawy, czy i w jakim zakresie uznaje za konieczne uzupełniające przeprowadzenie dowodów przeprowadzonych przed jego wstąpieniem do składu orzekającego.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dirty="0">
                <a:solidFill>
                  <a:srgbClr val="000000"/>
                </a:solidFill>
                <a:effectLst/>
                <a:latin typeface="Times New Roman" panose="02020603050405020304" pitchFamily="18" charset="0"/>
                <a:ea typeface="Calibri" panose="020F0502020204030204" pitchFamily="34" charset="0"/>
              </a:rPr>
              <a:t>§ 3. Sąd przeprowadza dowody wskazane w oświadczeniu, o którym mowa w § 2, </a:t>
            </a:r>
            <a:r>
              <a:rPr lang="pl-PL" sz="1800" dirty="0">
                <a:solidFill>
                  <a:srgbClr val="00AF50"/>
                </a:solidFill>
                <a:effectLst/>
                <a:latin typeface="Times New Roman" panose="02020603050405020304" pitchFamily="18" charset="0"/>
                <a:ea typeface="Calibri" panose="020F0502020204030204" pitchFamily="34" charset="0"/>
              </a:rPr>
              <a:t>chyba że jest to niemożliwe z przyczyn niezależnych od sądu. </a:t>
            </a:r>
            <a:endParaRPr lang="pl-PL" sz="1800" dirty="0">
              <a:solidFill>
                <a:srgbClr val="000000"/>
              </a:solidFill>
              <a:effectLst/>
              <a:latin typeface="Times New Roman" panose="02020603050405020304" pitchFamily="18" charset="0"/>
              <a:ea typeface="Calibri" panose="020F0502020204030204" pitchFamily="34" charset="0"/>
            </a:endParaRPr>
          </a:p>
          <a:p>
            <a:endParaRPr lang="pl-PL" sz="4000" dirty="0"/>
          </a:p>
        </p:txBody>
      </p:sp>
    </p:spTree>
    <p:extLst>
      <p:ext uri="{BB962C8B-B14F-4D97-AF65-F5344CB8AC3E}">
        <p14:creationId xmlns:p14="http://schemas.microsoft.com/office/powerpoint/2010/main" val="1899728954"/>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5766392"/>
          </a:xfrm>
        </p:spPr>
        <p:txBody>
          <a:bodyPr>
            <a:normAutofit lnSpcReduction="10000"/>
          </a:bodyPr>
          <a:lstStyle/>
          <a:p>
            <a:r>
              <a:rPr lang="pl-PL" sz="1800" dirty="0">
                <a:solidFill>
                  <a:srgbClr val="000000"/>
                </a:solidFill>
                <a:effectLst/>
                <a:latin typeface="Times New Roman" panose="02020603050405020304" pitchFamily="18" charset="0"/>
                <a:ea typeface="Calibri" panose="020F0502020204030204" pitchFamily="34" charset="0"/>
              </a:rPr>
              <a:t>Nowa regulacja – możliwość wcześniejszego zakończenia postępowania co do odpowiedzialności karnej jednego lub niektórych oskarżonych – </a:t>
            </a:r>
            <a:r>
              <a:rPr lang="pl-PL" sz="1800" b="1" dirty="0">
                <a:solidFill>
                  <a:srgbClr val="00AF50"/>
                </a:solidFill>
                <a:effectLst/>
                <a:latin typeface="Times New Roman" panose="02020603050405020304" pitchFamily="18" charset="0"/>
                <a:ea typeface="Calibri" panose="020F0502020204030204" pitchFamily="34" charset="0"/>
              </a:rPr>
              <a:t>narada wstępna i wyrok częściowy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dirty="0">
                <a:solidFill>
                  <a:srgbClr val="000000"/>
                </a:solidFill>
                <a:effectLst/>
                <a:latin typeface="Times New Roman" panose="02020603050405020304" pitchFamily="18" charset="0"/>
                <a:ea typeface="Calibri" panose="020F0502020204030204" pitchFamily="34" charset="0"/>
              </a:rPr>
              <a:t>Art. 404c </a:t>
            </a:r>
          </a:p>
          <a:p>
            <a:r>
              <a:rPr lang="pl-PL" sz="1800" dirty="0">
                <a:solidFill>
                  <a:srgbClr val="000000"/>
                </a:solidFill>
                <a:effectLst/>
                <a:latin typeface="Times New Roman" panose="02020603050405020304" pitchFamily="18" charset="0"/>
                <a:ea typeface="Calibri" panose="020F0502020204030204" pitchFamily="34" charset="0"/>
              </a:rPr>
              <a:t>§ 1. Jeżeli </a:t>
            </a:r>
            <a:r>
              <a:rPr lang="pl-PL" sz="1800" dirty="0">
                <a:solidFill>
                  <a:srgbClr val="FF0000"/>
                </a:solidFill>
                <a:effectLst/>
                <a:latin typeface="Times New Roman" panose="02020603050405020304" pitchFamily="18" charset="0"/>
                <a:ea typeface="Calibri" panose="020F0502020204030204" pitchFamily="34" charset="0"/>
              </a:rPr>
              <a:t>przewodniczący </a:t>
            </a:r>
            <a:r>
              <a:rPr lang="pl-PL" sz="1800" dirty="0">
                <a:solidFill>
                  <a:srgbClr val="00AF50"/>
                </a:solidFill>
                <a:effectLst/>
                <a:latin typeface="Times New Roman" panose="02020603050405020304" pitchFamily="18" charset="0"/>
                <a:ea typeface="Calibri" panose="020F0502020204030204" pitchFamily="34" charset="0"/>
              </a:rPr>
              <a:t>uzna, że zachodzi potrzeba oceny, czy przeprowadzone dowody pozwalają na rozstrzygnięcie w przedmiocie odpowiedzialności karnej </a:t>
            </a:r>
            <a:r>
              <a:rPr lang="pl-PL" sz="1800" b="1" dirty="0">
                <a:solidFill>
                  <a:srgbClr val="00AF50"/>
                </a:solidFill>
                <a:effectLst/>
                <a:latin typeface="Times New Roman" panose="02020603050405020304" pitchFamily="18" charset="0"/>
                <a:ea typeface="Calibri" panose="020F0502020204030204" pitchFamily="34" charset="0"/>
              </a:rPr>
              <a:t>jednego lub niektórych z oskarżonych</a:t>
            </a:r>
            <a:r>
              <a:rPr lang="pl-PL" sz="1800" dirty="0">
                <a:solidFill>
                  <a:srgbClr val="000000"/>
                </a:solidFill>
                <a:effectLst/>
                <a:latin typeface="Times New Roman" panose="02020603050405020304" pitchFamily="18" charset="0"/>
                <a:ea typeface="Calibri" panose="020F0502020204030204" pitchFamily="34" charset="0"/>
              </a:rPr>
              <a:t>, </a:t>
            </a:r>
            <a:r>
              <a:rPr lang="pl-PL" sz="1800" dirty="0">
                <a:solidFill>
                  <a:srgbClr val="00AFEF"/>
                </a:solidFill>
                <a:effectLst/>
                <a:latin typeface="Times New Roman" panose="02020603050405020304" pitchFamily="18" charset="0"/>
                <a:ea typeface="Calibri" panose="020F0502020204030204" pitchFamily="34" charset="0"/>
              </a:rPr>
              <a:t>może zarządzić przerwę w rozprawie </a:t>
            </a:r>
            <a:r>
              <a:rPr lang="pl-PL" sz="1800" dirty="0">
                <a:solidFill>
                  <a:srgbClr val="FF0000"/>
                </a:solidFill>
                <a:effectLst/>
                <a:latin typeface="Times New Roman" panose="02020603050405020304" pitchFamily="18" charset="0"/>
                <a:ea typeface="Calibri" panose="020F0502020204030204" pitchFamily="34" charset="0"/>
              </a:rPr>
              <a:t>na czas niezbędny dla przeprowadzenia narady w tym zakresie </a:t>
            </a:r>
            <a:r>
              <a:rPr lang="pl-PL" sz="1800" dirty="0">
                <a:solidFill>
                  <a:srgbClr val="000000"/>
                </a:solidFill>
                <a:effectLst/>
                <a:latin typeface="Times New Roman" panose="02020603050405020304" pitchFamily="18" charset="0"/>
                <a:ea typeface="Calibri" panose="020F0502020204030204" pitchFamily="34" charset="0"/>
              </a:rPr>
              <a:t>(</a:t>
            </a:r>
            <a:r>
              <a:rPr lang="pl-PL" sz="1800" dirty="0">
                <a:solidFill>
                  <a:srgbClr val="6F2F9F"/>
                </a:solidFill>
                <a:effectLst/>
                <a:latin typeface="Times New Roman" panose="02020603050405020304" pitchFamily="18" charset="0"/>
                <a:ea typeface="Calibri" panose="020F0502020204030204" pitchFamily="34" charset="0"/>
              </a:rPr>
              <a:t>narada wstępna</a:t>
            </a:r>
            <a:r>
              <a:rPr lang="pl-PL" sz="1800" dirty="0">
                <a:solidFill>
                  <a:srgbClr val="00AF50"/>
                </a:solidFill>
                <a:effectLst/>
                <a:latin typeface="Times New Roman" panose="02020603050405020304" pitchFamily="18" charset="0"/>
                <a:ea typeface="Calibri" panose="020F0502020204030204" pitchFamily="34" charset="0"/>
              </a:rPr>
              <a:t>). Do narady wstępnej stosuje się odpowiednio przepisy art. 108, art. 109 i art. 111.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dirty="0">
                <a:solidFill>
                  <a:srgbClr val="000000"/>
                </a:solidFill>
                <a:effectLst/>
                <a:latin typeface="Times New Roman" panose="02020603050405020304" pitchFamily="18" charset="0"/>
                <a:ea typeface="Calibri" panose="020F0502020204030204" pitchFamily="34" charset="0"/>
              </a:rPr>
              <a:t>§ 2. Jeżeli po naradzie wstępnej sąd uzna, że przeprowadzone dowody pozwalają na rozstrzygnięcie, o którym mowa w § 1, i </a:t>
            </a:r>
            <a:r>
              <a:rPr lang="pl-PL" sz="1800" dirty="0">
                <a:solidFill>
                  <a:srgbClr val="FF0000"/>
                </a:solidFill>
                <a:effectLst/>
                <a:latin typeface="Times New Roman" panose="02020603050405020304" pitchFamily="18" charset="0"/>
                <a:ea typeface="Calibri" panose="020F0502020204030204" pitchFamily="34" charset="0"/>
              </a:rPr>
              <a:t>wydanie wyroku (wyrok częściowy</a:t>
            </a:r>
            <a:r>
              <a:rPr lang="pl-PL" sz="1800" dirty="0">
                <a:solidFill>
                  <a:srgbClr val="000000"/>
                </a:solidFill>
                <a:effectLst/>
                <a:latin typeface="Times New Roman" panose="02020603050405020304" pitchFamily="18" charset="0"/>
                <a:ea typeface="Calibri" panose="020F0502020204030204" pitchFamily="34" charset="0"/>
              </a:rPr>
              <a:t>), </a:t>
            </a:r>
            <a:r>
              <a:rPr lang="pl-PL" sz="1800" dirty="0">
                <a:solidFill>
                  <a:srgbClr val="00AFEF"/>
                </a:solidFill>
                <a:effectLst/>
                <a:latin typeface="Times New Roman" panose="02020603050405020304" pitchFamily="18" charset="0"/>
                <a:ea typeface="Calibri" panose="020F0502020204030204" pitchFamily="34" charset="0"/>
              </a:rPr>
              <a:t>przewodniczący informuje o tym oskarżyciela publicznego oraz strony, których interesu prawnego rozstrzygnięcie dotyczy</a:t>
            </a:r>
            <a:r>
              <a:rPr lang="pl-PL" sz="1800" dirty="0">
                <a:solidFill>
                  <a:srgbClr val="000000"/>
                </a:solidFill>
                <a:effectLst/>
                <a:latin typeface="Times New Roman" panose="02020603050405020304" pitchFamily="18" charset="0"/>
                <a:ea typeface="Calibri" panose="020F0502020204030204" pitchFamily="34" charset="0"/>
              </a:rPr>
              <a:t>. </a:t>
            </a:r>
            <a:r>
              <a:rPr lang="pl-PL" sz="1800" dirty="0">
                <a:solidFill>
                  <a:srgbClr val="00AF50"/>
                </a:solidFill>
                <a:effectLst/>
                <a:latin typeface="Times New Roman" panose="02020603050405020304" pitchFamily="18" charset="0"/>
                <a:ea typeface="Calibri" panose="020F0502020204030204" pitchFamily="34" charset="0"/>
              </a:rPr>
              <a:t>Przepisy art. 405 stosuje się odpowiednio</a:t>
            </a:r>
            <a:r>
              <a:rPr lang="pl-PL" sz="1800" dirty="0">
                <a:solidFill>
                  <a:srgbClr val="000000"/>
                </a:solidFill>
                <a:effectLst/>
                <a:latin typeface="Times New Roman" panose="02020603050405020304" pitchFamily="18" charset="0"/>
                <a:ea typeface="Calibri" panose="020F0502020204030204" pitchFamily="34" charset="0"/>
              </a:rPr>
              <a:t>. </a:t>
            </a:r>
          </a:p>
          <a:p>
            <a:r>
              <a:rPr lang="pl-PL" sz="1800" dirty="0">
                <a:solidFill>
                  <a:srgbClr val="000000"/>
                </a:solidFill>
                <a:effectLst/>
                <a:latin typeface="Times New Roman" panose="02020603050405020304" pitchFamily="18" charset="0"/>
                <a:ea typeface="Calibri" panose="020F0502020204030204" pitchFamily="34" charset="0"/>
              </a:rPr>
              <a:t>§ 3. </a:t>
            </a:r>
            <a:r>
              <a:rPr lang="pl-PL" sz="1800" dirty="0">
                <a:solidFill>
                  <a:srgbClr val="00AFEF"/>
                </a:solidFill>
                <a:effectLst/>
                <a:latin typeface="Times New Roman" panose="02020603050405020304" pitchFamily="18" charset="0"/>
                <a:ea typeface="Calibri" panose="020F0502020204030204" pitchFamily="34" charset="0"/>
              </a:rPr>
              <a:t>Po zamknięciu przewodu sądowego w odniesieniu do oskarżonego lub oskarżonych, których odpowiedzialności karnej dotyczyła narada wstępna, a przed udzieleniem głosu stronom</a:t>
            </a:r>
            <a:r>
              <a:rPr lang="pl-PL" sz="1800" dirty="0">
                <a:solidFill>
                  <a:srgbClr val="000000"/>
                </a:solidFill>
                <a:effectLst/>
                <a:latin typeface="Times New Roman" panose="02020603050405020304" pitchFamily="18" charset="0"/>
                <a:ea typeface="Calibri" panose="020F0502020204030204" pitchFamily="34" charset="0"/>
              </a:rPr>
              <a:t>, </a:t>
            </a:r>
            <a:r>
              <a:rPr lang="pl-PL" sz="1800" dirty="0">
                <a:solidFill>
                  <a:srgbClr val="FF0000"/>
                </a:solidFill>
                <a:effectLst/>
                <a:latin typeface="Times New Roman" panose="02020603050405020304" pitchFamily="18" charset="0"/>
                <a:ea typeface="Calibri" panose="020F0502020204030204" pitchFamily="34" charset="0"/>
              </a:rPr>
              <a:t>przewodniczący zarządza przerwę w rozprawie albo sąd rozprawę odracza w odniesieniu do pozostałych oskarżonych. </a:t>
            </a:r>
            <a:endParaRPr lang="pl-PL" sz="1800" dirty="0">
              <a:solidFill>
                <a:srgbClr val="000000"/>
              </a:solidFill>
              <a:effectLst/>
              <a:latin typeface="Times New Roman" panose="02020603050405020304" pitchFamily="18" charset="0"/>
              <a:ea typeface="Calibri" panose="020F0502020204030204" pitchFamily="34" charset="0"/>
            </a:endParaRPr>
          </a:p>
          <a:p>
            <a:r>
              <a:rPr lang="pl-PL" sz="1800" dirty="0">
                <a:solidFill>
                  <a:srgbClr val="000000"/>
                </a:solidFill>
                <a:effectLst/>
                <a:latin typeface="Times New Roman" panose="02020603050405020304" pitchFamily="18" charset="0"/>
                <a:ea typeface="Calibri" panose="020F0502020204030204" pitchFamily="34" charset="0"/>
              </a:rPr>
              <a:t>§ 4. </a:t>
            </a:r>
            <a:r>
              <a:rPr lang="pl-PL" sz="1800">
                <a:solidFill>
                  <a:srgbClr val="FF0000"/>
                </a:solidFill>
                <a:effectLst/>
                <a:latin typeface="Times New Roman" panose="02020603050405020304" pitchFamily="18" charset="0"/>
                <a:ea typeface="Calibri" panose="020F0502020204030204" pitchFamily="34" charset="0"/>
              </a:rPr>
              <a:t>Jeżeli w sprawie rozpoznawanej w składzie </a:t>
            </a:r>
            <a:r>
              <a:rPr lang="pl-PL" sz="1800" b="1">
                <a:solidFill>
                  <a:srgbClr val="00AFEF"/>
                </a:solidFill>
                <a:effectLst/>
                <a:latin typeface="Times New Roman" panose="02020603050405020304" pitchFamily="18" charset="0"/>
                <a:ea typeface="Calibri" panose="020F0502020204030204" pitchFamily="34" charset="0"/>
              </a:rPr>
              <a:t>jednego sędziego </a:t>
            </a:r>
            <a:r>
              <a:rPr lang="pl-PL" sz="1800">
                <a:solidFill>
                  <a:srgbClr val="FF0000"/>
                </a:solidFill>
                <a:effectLst/>
                <a:latin typeface="Times New Roman" panose="02020603050405020304" pitchFamily="18" charset="0"/>
                <a:ea typeface="Calibri" panose="020F0502020204030204" pitchFamily="34" charset="0"/>
              </a:rPr>
              <a:t>przeprowadzone dowody pozwalają na rozstrzygnięcie w przedmiocie odpowiedzialności karnej jednego lub niektórych oskarżonych</a:t>
            </a:r>
            <a:r>
              <a:rPr lang="pl-PL" sz="1800">
                <a:solidFill>
                  <a:srgbClr val="000000"/>
                </a:solidFill>
                <a:effectLst/>
                <a:latin typeface="Times New Roman" panose="02020603050405020304" pitchFamily="18" charset="0"/>
                <a:ea typeface="Calibri" panose="020F0502020204030204" pitchFamily="34" charset="0"/>
              </a:rPr>
              <a:t>, </a:t>
            </a:r>
            <a:r>
              <a:rPr lang="pl-PL" sz="1800" b="1">
                <a:solidFill>
                  <a:srgbClr val="548ED4"/>
                </a:solidFill>
                <a:effectLst/>
                <a:latin typeface="Times New Roman" panose="02020603050405020304" pitchFamily="18" charset="0"/>
                <a:ea typeface="Calibri" panose="020F0502020204030204" pitchFamily="34" charset="0"/>
              </a:rPr>
              <a:t>przepisu § 1 nie stosuje się, a przepisy § 2 i 3 stosuje się odpowiednio. </a:t>
            </a:r>
            <a:endParaRPr lang="pl-PL" sz="1800">
              <a:solidFill>
                <a:srgbClr val="000000"/>
              </a:solidFill>
              <a:effectLst/>
              <a:latin typeface="Times New Roman" panose="02020603050405020304" pitchFamily="18" charset="0"/>
              <a:ea typeface="Calibri" panose="020F0502020204030204" pitchFamily="34" charset="0"/>
            </a:endParaRPr>
          </a:p>
          <a:p>
            <a:endParaRPr lang="pl-PL" sz="4000" dirty="0"/>
          </a:p>
        </p:txBody>
      </p:sp>
    </p:spTree>
    <p:extLst>
      <p:ext uri="{BB962C8B-B14F-4D97-AF65-F5344CB8AC3E}">
        <p14:creationId xmlns:p14="http://schemas.microsoft.com/office/powerpoint/2010/main" val="2960131132"/>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755576" y="2132856"/>
            <a:ext cx="8050096" cy="3966192"/>
          </a:xfrm>
        </p:spPr>
        <p:txBody>
          <a:bodyPr>
            <a:normAutofit/>
          </a:bodyPr>
          <a:lstStyle/>
          <a:p>
            <a:r>
              <a:rPr lang="pl-PL" sz="7200" b="1" dirty="0">
                <a:solidFill>
                  <a:srgbClr val="FF0000"/>
                </a:solidFill>
              </a:rPr>
              <a:t>Problematyka dowodowa </a:t>
            </a:r>
          </a:p>
        </p:txBody>
      </p:sp>
    </p:spTree>
    <p:extLst>
      <p:ext uri="{BB962C8B-B14F-4D97-AF65-F5344CB8AC3E}">
        <p14:creationId xmlns:p14="http://schemas.microsoft.com/office/powerpoint/2010/main" val="461967741"/>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11E123B8-19A4-C1D4-9A22-97D12633AAD6}"/>
              </a:ext>
            </a:extLst>
          </p:cNvPr>
          <p:cNvSpPr>
            <a:spLocks noGrp="1"/>
          </p:cNvSpPr>
          <p:nvPr>
            <p:ph idx="1"/>
          </p:nvPr>
        </p:nvSpPr>
        <p:spPr>
          <a:xfrm>
            <a:off x="107950" y="115888"/>
            <a:ext cx="8578850" cy="6553200"/>
          </a:xfrm>
        </p:spPr>
        <p:txBody>
          <a:bodyPr>
            <a:normAutofit fontScale="92500" lnSpcReduction="20000"/>
          </a:bodyPr>
          <a:lstStyle/>
          <a:p>
            <a:pPr>
              <a:buFont typeface="Wingdings" panose="05000000000000000000" pitchFamily="2" charset="2"/>
              <a:buNone/>
              <a:defRPr/>
            </a:pPr>
            <a:endParaRPr lang="pl-PL" dirty="0"/>
          </a:p>
          <a:p>
            <a:pPr>
              <a:buFont typeface="Wingdings" panose="05000000000000000000" pitchFamily="2" charset="2"/>
              <a:buNone/>
              <a:defRPr/>
            </a:pPr>
            <a:r>
              <a:rPr lang="pl-PL" dirty="0"/>
              <a:t>    </a:t>
            </a:r>
            <a:r>
              <a:rPr lang="pl-PL" sz="6600" dirty="0">
                <a:solidFill>
                  <a:srgbClr val="002060"/>
                </a:solidFill>
              </a:rPr>
              <a:t>Zasada prawdy materialnej jest adresowana do wszystkich organów procesowych wydających rozstrzygnięcia (prokurator?)</a:t>
            </a:r>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22" name="Symbol zastępczy zawartości 2">
            <a:extLst>
              <a:ext uri="{FF2B5EF4-FFF2-40B4-BE49-F238E27FC236}">
                <a16:creationId xmlns:a16="http://schemas.microsoft.com/office/drawing/2014/main" id="{7A323DCF-27BE-1680-A8DD-86CD7A5C9E00}"/>
              </a:ext>
            </a:extLst>
          </p:cNvPr>
          <p:cNvSpPr>
            <a:spLocks noGrp="1" noChangeArrowheads="1"/>
          </p:cNvSpPr>
          <p:nvPr>
            <p:ph idx="1"/>
          </p:nvPr>
        </p:nvSpPr>
        <p:spPr>
          <a:xfrm>
            <a:off x="143668" y="332656"/>
            <a:ext cx="8856663" cy="6338887"/>
          </a:xfrm>
        </p:spPr>
        <p:txBody>
          <a:bodyPr/>
          <a:lstStyle/>
          <a:p>
            <a:pPr marL="0" indent="0">
              <a:buFont typeface="Wingdings" panose="05000000000000000000" pitchFamily="2" charset="2"/>
              <a:buNone/>
              <a:defRPr/>
            </a:pPr>
            <a:r>
              <a:rPr lang="pl-PL" altLang="pl-PL" sz="3800" b="1" dirty="0">
                <a:solidFill>
                  <a:srgbClr val="002060"/>
                </a:solidFill>
                <a:latin typeface="Times New Roman" panose="02020603050405020304" pitchFamily="18" charset="0"/>
                <a:cs typeface="Times New Roman" panose="02020603050405020304" pitchFamily="18" charset="0"/>
              </a:rPr>
              <a:t>Za fundamentalne gwarancje zasady prawdy materialnej uważa się:</a:t>
            </a:r>
          </a:p>
          <a:p>
            <a:pPr>
              <a:buFont typeface="Wingdings" panose="05000000000000000000" pitchFamily="2" charset="2"/>
              <a:buNone/>
              <a:defRPr/>
            </a:pPr>
            <a:endParaRPr lang="pl-PL" altLang="pl-PL" sz="3800" b="1" dirty="0">
              <a:solidFill>
                <a:srgbClr val="002060"/>
              </a:solidFill>
              <a:latin typeface="Times New Roman" panose="02020603050405020304" pitchFamily="18" charset="0"/>
              <a:cs typeface="Times New Roman" panose="02020603050405020304" pitchFamily="18" charset="0"/>
            </a:endParaRPr>
          </a:p>
          <a:p>
            <a:pPr>
              <a:buFont typeface="Wingdings" panose="05000000000000000000" pitchFamily="2" charset="2"/>
              <a:buNone/>
              <a:defRPr/>
            </a:pPr>
            <a:r>
              <a:rPr lang="pl-PL" altLang="pl-PL" sz="3800" dirty="0">
                <a:solidFill>
                  <a:srgbClr val="002060"/>
                </a:solidFill>
                <a:latin typeface="Times New Roman" panose="02020603050405020304" pitchFamily="18" charset="0"/>
                <a:cs typeface="Times New Roman" panose="02020603050405020304" pitchFamily="18" charset="0"/>
              </a:rPr>
              <a:t>   </a:t>
            </a:r>
            <a:r>
              <a:rPr lang="pl-PL" altLang="pl-PL" sz="3800" b="1" dirty="0">
                <a:solidFill>
                  <a:srgbClr val="002060"/>
                </a:solidFill>
                <a:latin typeface="Times New Roman" panose="02020603050405020304" pitchFamily="18" charset="0"/>
                <a:cs typeface="Times New Roman" panose="02020603050405020304" pitchFamily="18" charset="0"/>
              </a:rPr>
              <a:t>1. Obowiązek inicjatywy dowodowej spoczywający na organach procesowych, niezależnie od zachowania stron procesowych – jednak zasadą powinno być przeprowadzanie dowodów na wniosek (art. 167 k.p.k.)</a:t>
            </a:r>
            <a:endParaRPr lang="pl-PL" altLang="pl-PL" sz="3800" b="1" dirty="0">
              <a:solidFill>
                <a:srgbClr val="002060"/>
              </a:solidFill>
            </a:endParaRPr>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043B8792-2DD3-1CF0-F799-D9AB282769F8}"/>
              </a:ext>
            </a:extLst>
          </p:cNvPr>
          <p:cNvSpPr>
            <a:spLocks noGrp="1"/>
          </p:cNvSpPr>
          <p:nvPr>
            <p:ph idx="1"/>
          </p:nvPr>
        </p:nvSpPr>
        <p:spPr>
          <a:xfrm>
            <a:off x="107950" y="0"/>
            <a:ext cx="8578850" cy="6454775"/>
          </a:xfrm>
        </p:spPr>
        <p:txBody>
          <a:bodyPr>
            <a:normAutofit/>
          </a:bodyPr>
          <a:lstStyle/>
          <a:p>
            <a:pPr marL="0" indent="0">
              <a:buFont typeface="Wingdings" panose="05000000000000000000" pitchFamily="2" charset="2"/>
              <a:buNone/>
              <a:defRPr/>
            </a:pPr>
            <a:r>
              <a:rPr lang="pl-PL" b="1" dirty="0">
                <a:solidFill>
                  <a:srgbClr val="002060"/>
                </a:solidFill>
              </a:rPr>
              <a:t>2. kontradyktoryjność rozprawy sądowej i jej elementy w postępowaniu przygotowawczym</a:t>
            </a:r>
          </a:p>
          <a:p>
            <a:pPr>
              <a:buFont typeface="Wingdings" panose="05000000000000000000" pitchFamily="2" charset="2"/>
              <a:buNone/>
              <a:defRPr/>
            </a:pPr>
            <a:endParaRPr lang="pl-PL" b="1" dirty="0">
              <a:solidFill>
                <a:srgbClr val="002060"/>
              </a:solidFill>
            </a:endParaRPr>
          </a:p>
          <a:p>
            <a:pPr marL="0" indent="0">
              <a:buFont typeface="Wingdings" panose="05000000000000000000" pitchFamily="2" charset="2"/>
              <a:buNone/>
              <a:defRPr/>
            </a:pPr>
            <a:r>
              <a:rPr lang="pl-PL" b="1" dirty="0">
                <a:solidFill>
                  <a:srgbClr val="002060"/>
                </a:solidFill>
              </a:rPr>
              <a:t>3. koncentrację czasową i miejscową procesu w czasie rozprawy sądowej i ustawowe okresy postępowania przygotowawczego</a:t>
            </a:r>
          </a:p>
          <a:p>
            <a:pPr>
              <a:defRPr/>
            </a:pPr>
            <a:endParaRPr lang="pl-PL" b="1" dirty="0">
              <a:solidFill>
                <a:srgbClr val="002060"/>
              </a:solidFill>
            </a:endParaRPr>
          </a:p>
          <a:p>
            <a:pPr marL="0" indent="0">
              <a:buFont typeface="Wingdings" panose="05000000000000000000" pitchFamily="2" charset="2"/>
              <a:buNone/>
              <a:defRPr/>
            </a:pPr>
            <a:r>
              <a:rPr lang="pl-PL" b="1" dirty="0">
                <a:solidFill>
                  <a:srgbClr val="002060"/>
                </a:solidFill>
              </a:rPr>
              <a:t>4. sądową kontrolę postępowania przygotowawczego mającą na celu zapobieżenie przedostania się do sądu spraw, w których nie wyjaśniono dokładnie wszystkich   okoliczności</a:t>
            </a:r>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9970" name="Symbol zastępczy zawartości 2">
            <a:extLst>
              <a:ext uri="{FF2B5EF4-FFF2-40B4-BE49-F238E27FC236}">
                <a16:creationId xmlns:a16="http://schemas.microsoft.com/office/drawing/2014/main" id="{6F75AEAC-7D4D-E97F-111D-2BB6ACAC69A4}"/>
              </a:ext>
            </a:extLst>
          </p:cNvPr>
          <p:cNvSpPr>
            <a:spLocks noGrp="1" noChangeArrowheads="1"/>
          </p:cNvSpPr>
          <p:nvPr>
            <p:ph idx="1"/>
          </p:nvPr>
        </p:nvSpPr>
        <p:spPr>
          <a:xfrm>
            <a:off x="179388" y="0"/>
            <a:ext cx="8507412" cy="6454775"/>
          </a:xfrm>
        </p:spPr>
        <p:txBody>
          <a:bodyPr/>
          <a:lstStyle/>
          <a:p>
            <a:pPr marL="0" indent="0">
              <a:buFont typeface="Wingdings" panose="05000000000000000000" pitchFamily="2" charset="2"/>
              <a:buNone/>
              <a:defRPr/>
            </a:pPr>
            <a:r>
              <a:rPr lang="pl-PL" altLang="pl-PL" sz="4400" b="1" dirty="0">
                <a:solidFill>
                  <a:srgbClr val="002060"/>
                </a:solidFill>
              </a:rPr>
              <a:t>5. kolegialność sądu i udział w sądzeniu przedstawicieli społeczeństwa</a:t>
            </a:r>
          </a:p>
          <a:p>
            <a:pPr>
              <a:buFont typeface="Wingdings" panose="05000000000000000000" pitchFamily="2" charset="2"/>
              <a:buNone/>
              <a:defRPr/>
            </a:pPr>
            <a:endParaRPr lang="pl-PL" altLang="pl-PL" sz="4400" b="1" dirty="0">
              <a:solidFill>
                <a:srgbClr val="002060"/>
              </a:solidFill>
            </a:endParaRPr>
          </a:p>
          <a:p>
            <a:pPr marL="0" indent="0">
              <a:buFont typeface="Wingdings" panose="05000000000000000000" pitchFamily="2" charset="2"/>
              <a:buNone/>
              <a:defRPr/>
            </a:pPr>
            <a:r>
              <a:rPr lang="pl-PL" altLang="pl-PL" sz="4400" b="1" dirty="0">
                <a:solidFill>
                  <a:srgbClr val="002060"/>
                </a:solidFill>
              </a:rPr>
              <a:t>6. system środków zaskarżenia decyzji  procesowych</a:t>
            </a:r>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Symbol zastępczy zawartości 2">
            <a:extLst>
              <a:ext uri="{FF2B5EF4-FFF2-40B4-BE49-F238E27FC236}">
                <a16:creationId xmlns:a16="http://schemas.microsoft.com/office/drawing/2014/main" id="{4B93BADB-5206-FEAB-F723-D78201CF8965}"/>
              </a:ext>
            </a:extLst>
          </p:cNvPr>
          <p:cNvSpPr>
            <a:spLocks noGrp="1" noChangeArrowheads="1"/>
          </p:cNvSpPr>
          <p:nvPr>
            <p:ph idx="1"/>
          </p:nvPr>
        </p:nvSpPr>
        <p:spPr>
          <a:xfrm>
            <a:off x="104775" y="0"/>
            <a:ext cx="8934450" cy="6742113"/>
          </a:xfrm>
        </p:spPr>
        <p:txBody>
          <a:bodyPr/>
          <a:lstStyle/>
          <a:p>
            <a:pPr marL="0" indent="0">
              <a:buFont typeface="Wingdings" panose="05000000000000000000" pitchFamily="2" charset="2"/>
              <a:buNone/>
            </a:pPr>
            <a:r>
              <a:rPr lang="pl-PL" altLang="pl-PL" sz="4000"/>
              <a:t>Art.  169 §  1 k.p.k.</a:t>
            </a:r>
          </a:p>
          <a:p>
            <a:pPr marL="0" indent="0">
              <a:buFont typeface="Wingdings" panose="05000000000000000000" pitchFamily="2" charset="2"/>
              <a:buNone/>
            </a:pPr>
            <a:r>
              <a:rPr lang="pl-PL" altLang="pl-PL" sz="4000"/>
              <a:t>We wniosku dowodowym należy podać </a:t>
            </a:r>
            <a:r>
              <a:rPr lang="pl-PL" altLang="pl-PL" sz="4000" b="1">
                <a:solidFill>
                  <a:srgbClr val="C00000"/>
                </a:solidFill>
              </a:rPr>
              <a:t>oznaczenie dowodu oraz okoliczności, które mają być udowodnione. </a:t>
            </a:r>
            <a:r>
              <a:rPr lang="pl-PL" altLang="pl-PL" sz="4000"/>
              <a:t>Można także określić sposób przeprowadzenia dowodu.</a:t>
            </a:r>
          </a:p>
          <a:p>
            <a:pPr marL="0" indent="0">
              <a:buFont typeface="Wingdings" panose="05000000000000000000" pitchFamily="2" charset="2"/>
              <a:buNone/>
            </a:pPr>
            <a:r>
              <a:rPr lang="pl-PL" altLang="pl-PL" sz="4000"/>
              <a:t>§  2.</a:t>
            </a:r>
          </a:p>
          <a:p>
            <a:pPr marL="0" indent="0">
              <a:buFont typeface="Wingdings" panose="05000000000000000000" pitchFamily="2" charset="2"/>
              <a:buNone/>
            </a:pPr>
            <a:r>
              <a:rPr lang="pl-PL" altLang="pl-PL" sz="4000"/>
              <a:t>Wniosek dowodowy może zmierzać </a:t>
            </a:r>
            <a:r>
              <a:rPr lang="pl-PL" altLang="pl-PL" sz="4000" b="1">
                <a:solidFill>
                  <a:srgbClr val="C00000"/>
                </a:solidFill>
              </a:rPr>
              <a:t>do wykrycia lub oceny właściwego dowodu.</a:t>
            </a:r>
          </a:p>
          <a:p>
            <a:pPr marL="0" indent="0">
              <a:buFont typeface="Wingdings" panose="05000000000000000000" pitchFamily="2" charset="2"/>
              <a:buNone/>
            </a:pPr>
            <a:endParaRPr lang="pl-PL" altLang="pl-PL" sz="3300" b="1">
              <a:solidFill>
                <a:srgbClr val="00B050"/>
              </a:solidFill>
            </a:endParaRP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Symbol zastępczy zawartości 2">
            <a:extLst>
              <a:ext uri="{FF2B5EF4-FFF2-40B4-BE49-F238E27FC236}">
                <a16:creationId xmlns:a16="http://schemas.microsoft.com/office/drawing/2014/main" id="{8BBD4DE5-D5A6-301D-0D24-0C1283697F25}"/>
              </a:ext>
            </a:extLst>
          </p:cNvPr>
          <p:cNvSpPr>
            <a:spLocks noGrp="1" noChangeArrowheads="1"/>
          </p:cNvSpPr>
          <p:nvPr>
            <p:ph idx="1"/>
          </p:nvPr>
        </p:nvSpPr>
        <p:spPr>
          <a:xfrm>
            <a:off x="107950" y="260350"/>
            <a:ext cx="8897938" cy="6121400"/>
          </a:xfrm>
        </p:spPr>
        <p:txBody>
          <a:bodyPr/>
          <a:lstStyle/>
          <a:p>
            <a:pPr marL="0" indent="0">
              <a:buFont typeface="Wingdings" panose="05000000000000000000" pitchFamily="2" charset="2"/>
              <a:buNone/>
            </a:pPr>
            <a:r>
              <a:rPr lang="pl-PL" altLang="pl-PL" sz="6000"/>
              <a:t>Wniosek dowodowy to oświadczenie postulujące (oświadczenie woli), kierowane przez uprawniony podmiot do organu procesowego. </a:t>
            </a:r>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5091" name="Symbol zastępczy zawartości 2">
            <a:extLst>
              <a:ext uri="{FF2B5EF4-FFF2-40B4-BE49-F238E27FC236}">
                <a16:creationId xmlns:a16="http://schemas.microsoft.com/office/drawing/2014/main" id="{A094033A-4768-8A35-195E-A56AEC8A7E17}"/>
              </a:ext>
            </a:extLst>
          </p:cNvPr>
          <p:cNvSpPr>
            <a:spLocks noGrp="1" noChangeArrowheads="1"/>
          </p:cNvSpPr>
          <p:nvPr>
            <p:ph idx="1"/>
          </p:nvPr>
        </p:nvSpPr>
        <p:spPr>
          <a:xfrm>
            <a:off x="179388" y="115888"/>
            <a:ext cx="8826500" cy="6265862"/>
          </a:xfrm>
        </p:spPr>
        <p:txBody>
          <a:bodyPr>
            <a:normAutofit lnSpcReduction="10000"/>
          </a:bodyPr>
          <a:lstStyle/>
          <a:p>
            <a:pPr>
              <a:defRPr/>
            </a:pPr>
            <a:r>
              <a:rPr lang="pl-PL" sz="2400" b="1" dirty="0"/>
              <a:t>Wyróżniamy:</a:t>
            </a:r>
          </a:p>
          <a:p>
            <a:pPr>
              <a:defRPr/>
            </a:pPr>
            <a:r>
              <a:rPr lang="pl-PL" sz="2400" dirty="0"/>
              <a:t>a)wnioski dowodowe w znaczeniu ścisłym, czyli żądanie przeprowadzenia określonego dowodu (źródła, środka),</a:t>
            </a:r>
          </a:p>
          <a:p>
            <a:pPr>
              <a:defRPr/>
            </a:pPr>
            <a:r>
              <a:rPr lang="pl-PL" sz="2400" dirty="0"/>
              <a:t>b)wnioski o wyszukanie (uzyskanie) dowodu, aktualne zwłaszcza w postępowaniu przygotowawczym, np. o przeszukanie, o odszukanie świadka itp.,</a:t>
            </a:r>
          </a:p>
          <a:p>
            <a:pPr>
              <a:defRPr/>
            </a:pPr>
            <a:r>
              <a:rPr lang="pl-PL" sz="2400" dirty="0"/>
              <a:t>c)wnioski pomocnicze, żądające przeprowadzenia dowodu w celu ustalenia, gdzie znajduje się inny dowód,</a:t>
            </a:r>
          </a:p>
          <a:p>
            <a:pPr>
              <a:defRPr/>
            </a:pPr>
            <a:r>
              <a:rPr lang="pl-PL" sz="2400" dirty="0"/>
              <a:t>d)wnioski z zakresu kontroli lub oceny dowodu, np. o odczytanie zeznań z postępowania przygotowawczego dla wykazania rozbieżności i podważenia wiarygodności dowodu oraz</a:t>
            </a:r>
          </a:p>
          <a:p>
            <a:pPr>
              <a:defRPr/>
            </a:pPr>
            <a:r>
              <a:rPr lang="pl-PL" sz="2400" dirty="0"/>
              <a:t>e)wnioski co do sposobu przeprowadzenia dowodu, np. o konfrontację, o przesłuchanie świadka pod nieobecność oskarżonego, o skierowanie poddanego badaniom psychiatrycznym oskarżonego na obserwację w zakładzie leczniczym itd. (M. Cieślak)</a:t>
            </a:r>
          </a:p>
          <a:p>
            <a:pPr marL="0" indent="0">
              <a:buFont typeface="Wingdings" panose="05000000000000000000" pitchFamily="2" charset="2"/>
              <a:buNone/>
              <a:defRPr/>
            </a:pPr>
            <a:endParaRPr lang="pl-PL" altLang="pl-PL" sz="3200" dirty="0"/>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93632BA0-9258-6F06-40FF-CB595457E267}"/>
              </a:ext>
            </a:extLst>
          </p:cNvPr>
          <p:cNvSpPr>
            <a:spLocks noGrp="1"/>
          </p:cNvSpPr>
          <p:nvPr>
            <p:ph idx="1"/>
          </p:nvPr>
        </p:nvSpPr>
        <p:spPr>
          <a:xfrm>
            <a:off x="0" y="188913"/>
            <a:ext cx="9144000" cy="6408737"/>
          </a:xfrm>
        </p:spPr>
        <p:txBody>
          <a:bodyPr>
            <a:normAutofit fontScale="92500" lnSpcReduction="10000"/>
          </a:bodyPr>
          <a:lstStyle/>
          <a:p>
            <a:pPr>
              <a:defRPr/>
            </a:pPr>
            <a:r>
              <a:rPr lang="pl-PL" sz="3600" dirty="0"/>
              <a:t>Wniosek dowodowy może być złożony ustnie do protokołu albo na piśmie; w tym ostatnim wypadku musi spełniać też wymogi pisma procesowego (</a:t>
            </a:r>
            <a:r>
              <a:rPr lang="pl-PL" sz="3600" dirty="0">
                <a:hlinkClick r:id="rId2"/>
              </a:rPr>
              <a:t>art. 119</a:t>
            </a:r>
            <a:r>
              <a:rPr lang="pl-PL" sz="3600" dirty="0"/>
              <a:t>). </a:t>
            </a:r>
          </a:p>
          <a:p>
            <a:pPr>
              <a:defRPr/>
            </a:pPr>
            <a:r>
              <a:rPr lang="pl-PL" sz="3600" dirty="0"/>
              <a:t>Każdy wniosek dowodowy winien wskazywać:</a:t>
            </a:r>
          </a:p>
          <a:p>
            <a:pPr>
              <a:defRPr/>
            </a:pPr>
            <a:r>
              <a:rPr lang="pl-PL" sz="3600" dirty="0"/>
              <a:t>a)</a:t>
            </a:r>
            <a:r>
              <a:rPr lang="pl-PL" sz="3600" b="1" dirty="0">
                <a:solidFill>
                  <a:srgbClr val="00B050"/>
                </a:solidFill>
              </a:rPr>
              <a:t>oznaczenie dowodu, jaki ma być przeprowadzony, </a:t>
            </a:r>
            <a:r>
              <a:rPr lang="pl-PL" sz="3600" b="1" dirty="0">
                <a:solidFill>
                  <a:srgbClr val="C00000"/>
                </a:solidFill>
              </a:rPr>
              <a:t>z tym że nie chodzi tu wyłącznie o wskazanie źródła dowodowego, </a:t>
            </a:r>
            <a:r>
              <a:rPr lang="pl-PL" sz="3600" dirty="0"/>
              <a:t>ale - w zależności od rodzaju wniosku - np. sposobu jego przeprowadzenia, żądanej czynności wyszukiwawczej itd. oraz</a:t>
            </a:r>
          </a:p>
          <a:p>
            <a:pPr>
              <a:defRPr/>
            </a:pPr>
            <a:r>
              <a:rPr lang="pl-PL" sz="3600" dirty="0"/>
              <a:t>b)okoliczność, która ma być udowodniona w ten sposób </a:t>
            </a:r>
            <a:r>
              <a:rPr lang="pl-PL" sz="3600" b="1" dirty="0">
                <a:solidFill>
                  <a:srgbClr val="C00000"/>
                </a:solidFill>
              </a:rPr>
              <a:t>(tzw. teza dowodowa).</a:t>
            </a:r>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Symbol zastępczy zawartości 2">
            <a:extLst>
              <a:ext uri="{FF2B5EF4-FFF2-40B4-BE49-F238E27FC236}">
                <a16:creationId xmlns:a16="http://schemas.microsoft.com/office/drawing/2014/main" id="{B784A4B1-AA44-32F6-62DA-103A38C8D492}"/>
              </a:ext>
            </a:extLst>
          </p:cNvPr>
          <p:cNvSpPr>
            <a:spLocks noGrp="1" noChangeArrowheads="1"/>
          </p:cNvSpPr>
          <p:nvPr>
            <p:ph idx="1"/>
          </p:nvPr>
        </p:nvSpPr>
        <p:spPr>
          <a:xfrm>
            <a:off x="107950" y="115888"/>
            <a:ext cx="8931275" cy="5680075"/>
          </a:xfrm>
        </p:spPr>
        <p:txBody>
          <a:bodyPr>
            <a:normAutofit fontScale="92500" lnSpcReduction="10000"/>
          </a:bodyPr>
          <a:lstStyle/>
          <a:p>
            <a:pPr marL="0" indent="0">
              <a:buFont typeface="Wingdings" panose="05000000000000000000" pitchFamily="2" charset="2"/>
              <a:buNone/>
            </a:pPr>
            <a:r>
              <a:rPr lang="pl-PL" altLang="pl-PL" sz="6000"/>
              <a:t>Oba te elementy mają istotne znaczenie, gdyż zarówno rodzaj dowodu, jak i teza dowodowa decydują o możliwości oddalenia wniosku (</a:t>
            </a:r>
            <a:r>
              <a:rPr lang="pl-PL" altLang="pl-PL" sz="6000">
                <a:hlinkClick r:id="rId2"/>
              </a:rPr>
              <a:t>art. 170</a:t>
            </a:r>
            <a:r>
              <a:rPr lang="pl-PL" altLang="pl-PL" sz="6000"/>
              <a:t>).</a:t>
            </a:r>
            <a:endParaRPr lang="pl-PL" altLang="pl-PL" sz="6000" b="1">
              <a:solidFill>
                <a:srgbClr val="00B050"/>
              </a:solidFill>
            </a:endParaRPr>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Symbol zastępczy zawartości 2">
            <a:extLst>
              <a:ext uri="{FF2B5EF4-FFF2-40B4-BE49-F238E27FC236}">
                <a16:creationId xmlns:a16="http://schemas.microsoft.com/office/drawing/2014/main" id="{B004A45F-5A89-5F3B-71E8-7605C433F71C}"/>
              </a:ext>
            </a:extLst>
          </p:cNvPr>
          <p:cNvSpPr>
            <a:spLocks noGrp="1" noChangeArrowheads="1"/>
          </p:cNvSpPr>
          <p:nvPr>
            <p:ph idx="1"/>
          </p:nvPr>
        </p:nvSpPr>
        <p:spPr>
          <a:xfrm>
            <a:off x="107950" y="115888"/>
            <a:ext cx="8931275" cy="5680075"/>
          </a:xfrm>
        </p:spPr>
        <p:txBody>
          <a:bodyPr>
            <a:normAutofit lnSpcReduction="10000"/>
          </a:bodyPr>
          <a:lstStyle/>
          <a:p>
            <a:pPr marL="0" indent="0">
              <a:buFont typeface="Wingdings" panose="05000000000000000000" pitchFamily="2" charset="2"/>
              <a:buNone/>
            </a:pPr>
            <a:r>
              <a:rPr lang="pl-PL" altLang="pl-PL" sz="2400" b="1"/>
              <a:t>Postanowienie Sądu Najwyższego z dnia 5 października 2004 r., II KK 121/03</a:t>
            </a:r>
          </a:p>
          <a:p>
            <a:pPr marL="0" indent="0">
              <a:buFont typeface="Wingdings" panose="05000000000000000000" pitchFamily="2" charset="2"/>
              <a:buNone/>
            </a:pPr>
            <a:r>
              <a:rPr lang="pl-PL" altLang="pl-PL" sz="3200"/>
              <a:t>Wniosek dowodowy, zgodnie z jednoznacznym brzmieniem art. 169 § 1 k.p.k., wymaga wskazania okoliczności, które za pomocą wnioskowanego dowodu mają zostać udowodnione. Bez wskazania, co wnioskodawca chce udowodnić, nie można przecież ocenić, czy dowód jest przydatny do stwierdzenia danej okoliczności (art. 170 § 1 pkt 3 k.p.k.) lub czy okoliczność, która ma być udowodniona, ma znaczenie dla rozstrzygnięcia sprawy (art. 170 § 1 pkt 2 k.p.k.).</a:t>
            </a:r>
            <a:endParaRPr lang="pl-PL" altLang="pl-PL" sz="3200" b="1">
              <a:solidFill>
                <a:srgbClr val="00B050"/>
              </a:solidFill>
            </a:endParaRPr>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Symbol zastępczy zawartości 2">
            <a:extLst>
              <a:ext uri="{FF2B5EF4-FFF2-40B4-BE49-F238E27FC236}">
                <a16:creationId xmlns:a16="http://schemas.microsoft.com/office/drawing/2014/main" id="{5BEA663B-9B03-1818-6959-F60D92F91795}"/>
              </a:ext>
            </a:extLst>
          </p:cNvPr>
          <p:cNvSpPr>
            <a:spLocks noGrp="1" noChangeArrowheads="1"/>
          </p:cNvSpPr>
          <p:nvPr>
            <p:ph idx="1"/>
          </p:nvPr>
        </p:nvSpPr>
        <p:spPr>
          <a:xfrm>
            <a:off x="107950" y="115888"/>
            <a:ext cx="8897938" cy="6553200"/>
          </a:xfrm>
        </p:spPr>
        <p:txBody>
          <a:bodyPr/>
          <a:lstStyle/>
          <a:p>
            <a:pPr marL="0" indent="0" algn="just">
              <a:buFont typeface="Wingdings" panose="05000000000000000000" pitchFamily="2" charset="2"/>
              <a:buNone/>
            </a:pPr>
            <a:r>
              <a:rPr lang="pl-PL" altLang="pl-PL" sz="4000"/>
              <a:t>Przejście do procedury z art. 170 k.p.k. możliwe jest dopiero wówczas, gdy wniosek dowodowy odpowiada wymogom formalnym pisma procesowego (jeśli złożono go na piśmie) oraz wymogom z art. 169 k.p.k. Może  być złożony ustnie do protokołu (art. 116 k.p.k.). </a:t>
            </a:r>
          </a:p>
          <a:p>
            <a:pPr marL="0" indent="0" algn="just">
              <a:buFont typeface="Wingdings" panose="05000000000000000000" pitchFamily="2" charset="2"/>
              <a:buNone/>
            </a:pPr>
            <a:r>
              <a:rPr lang="pl-PL" altLang="pl-PL" sz="4000"/>
              <a:t> </a:t>
            </a: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B824F434-87C9-CDD8-0771-C9B8457BF8F5}"/>
              </a:ext>
            </a:extLst>
          </p:cNvPr>
          <p:cNvSpPr>
            <a:spLocks noGrp="1"/>
          </p:cNvSpPr>
          <p:nvPr>
            <p:ph idx="1"/>
          </p:nvPr>
        </p:nvSpPr>
        <p:spPr>
          <a:xfrm>
            <a:off x="107950" y="188913"/>
            <a:ext cx="8897938" cy="6335712"/>
          </a:xfrm>
        </p:spPr>
        <p:txBody>
          <a:bodyPr>
            <a:normAutofit/>
          </a:bodyPr>
          <a:lstStyle/>
          <a:p>
            <a:pPr>
              <a:defRPr/>
            </a:pPr>
            <a:r>
              <a:rPr lang="pl-PL" sz="4800" dirty="0"/>
              <a:t>Art.  116 k.p.k. </a:t>
            </a:r>
          </a:p>
          <a:p>
            <a:pPr>
              <a:defRPr/>
            </a:pPr>
            <a:r>
              <a:rPr lang="pl-PL" sz="4800" dirty="0"/>
              <a:t> Jeżeli ustawa nie stanowi inaczej, strony i inni uprawnieni do wzięcia udziału w czynności procesowej mogą składać wnioski i inne oświadczenia na piśmie albo ustnie do protokołu.</a:t>
            </a:r>
          </a:p>
          <a:p>
            <a:pPr marL="0" indent="0">
              <a:buFont typeface="Wingdings" panose="05000000000000000000" pitchFamily="2" charset="2"/>
              <a:buNone/>
              <a:defRPr/>
            </a:pPr>
            <a:endParaRPr lang="pl-PL" sz="3300" b="1" dirty="0">
              <a:solidFill>
                <a:srgbClr val="00B050"/>
              </a:solidFill>
            </a:endParaRPr>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Symbol zastępczy zawartości 2">
            <a:extLst>
              <a:ext uri="{FF2B5EF4-FFF2-40B4-BE49-F238E27FC236}">
                <a16:creationId xmlns:a16="http://schemas.microsoft.com/office/drawing/2014/main" id="{904D1581-4CBD-FC19-0536-E2D0C4413CC7}"/>
              </a:ext>
            </a:extLst>
          </p:cNvPr>
          <p:cNvSpPr>
            <a:spLocks noGrp="1" noChangeArrowheads="1"/>
          </p:cNvSpPr>
          <p:nvPr>
            <p:ph idx="1"/>
          </p:nvPr>
        </p:nvSpPr>
        <p:spPr>
          <a:xfrm>
            <a:off x="107950" y="836613"/>
            <a:ext cx="8897938" cy="5219700"/>
          </a:xfrm>
        </p:spPr>
        <p:txBody>
          <a:bodyPr/>
          <a:lstStyle/>
          <a:p>
            <a:pPr marL="0" indent="0" algn="just">
              <a:buFont typeface="Wingdings" panose="05000000000000000000" pitchFamily="2" charset="2"/>
              <a:buNone/>
            </a:pPr>
            <a:r>
              <a:rPr lang="pl-PL" altLang="pl-PL" sz="7200"/>
              <a:t>Co w sytuacji jeśli stwierdzimy brak formalny wniosku dowodowego?</a:t>
            </a:r>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DDFBC439-7F0B-16C0-3699-E107FA2F357B}"/>
              </a:ext>
            </a:extLst>
          </p:cNvPr>
          <p:cNvSpPr>
            <a:spLocks noGrp="1"/>
          </p:cNvSpPr>
          <p:nvPr>
            <p:ph idx="1"/>
          </p:nvPr>
        </p:nvSpPr>
        <p:spPr>
          <a:xfrm>
            <a:off x="123825" y="188913"/>
            <a:ext cx="9036050" cy="6480175"/>
          </a:xfrm>
        </p:spPr>
        <p:txBody>
          <a:bodyPr>
            <a:normAutofit fontScale="92500" lnSpcReduction="20000"/>
          </a:bodyPr>
          <a:lstStyle/>
          <a:p>
            <a:pPr>
              <a:defRPr/>
            </a:pPr>
            <a:r>
              <a:rPr lang="pl-PL" sz="3600" dirty="0"/>
              <a:t>Art.  120 §  1.</a:t>
            </a:r>
          </a:p>
          <a:p>
            <a:pPr>
              <a:defRPr/>
            </a:pPr>
            <a:r>
              <a:rPr lang="pl-PL" sz="3600" dirty="0"/>
              <a:t> Jeżeli pismo nie odpowiada wymaganiom formalnym, przewidzianym w art. 119 lub w przepisach szczególnych, a brak jest tego rodzaju, że pismo nie może otrzymać biegu, albo brak polega na niezłożeniu należytych opłat lub upoważnienia do podjęcia czynności procesowej, wzywa się osobę, która wniosła pismo, do usunięcia braku w terminie 7 dni.</a:t>
            </a:r>
          </a:p>
          <a:p>
            <a:pPr>
              <a:defRPr/>
            </a:pPr>
            <a:r>
              <a:rPr lang="pl-PL" sz="3600" dirty="0"/>
              <a:t>§  2.</a:t>
            </a:r>
          </a:p>
          <a:p>
            <a:pPr>
              <a:defRPr/>
            </a:pPr>
            <a:r>
              <a:rPr lang="pl-PL" sz="3600" dirty="0"/>
              <a:t>W razie uzupełnienia braku w terminie, pismo wywołuje skutki od dnia jego wniesienia. W razie nieuzupełnienia braku w terminie, pismo uznaje się za bezskuteczne, o czym należy pouczyć przy doręczeniu wezwania.</a:t>
            </a:r>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Symbol zastępczy zawartości 2">
            <a:extLst>
              <a:ext uri="{FF2B5EF4-FFF2-40B4-BE49-F238E27FC236}">
                <a16:creationId xmlns:a16="http://schemas.microsoft.com/office/drawing/2014/main" id="{08E99E60-558C-34C7-08E7-3DDC898911BC}"/>
              </a:ext>
            </a:extLst>
          </p:cNvPr>
          <p:cNvSpPr>
            <a:spLocks noGrp="1" noChangeArrowheads="1"/>
          </p:cNvSpPr>
          <p:nvPr>
            <p:ph idx="1"/>
          </p:nvPr>
        </p:nvSpPr>
        <p:spPr>
          <a:xfrm>
            <a:off x="179388" y="188913"/>
            <a:ext cx="8826500" cy="6335712"/>
          </a:xfrm>
        </p:spPr>
        <p:txBody>
          <a:bodyPr/>
          <a:lstStyle/>
          <a:p>
            <a:pPr marL="0" indent="0">
              <a:buFont typeface="Wingdings" panose="05000000000000000000" pitchFamily="2" charset="2"/>
              <a:buNone/>
            </a:pPr>
            <a:r>
              <a:rPr lang="pl-PL" altLang="pl-PL" sz="3200" b="1"/>
              <a:t>Wyrok Sądu Najwyższego  z dnia 11 marca 2010 r., V KK 246/09</a:t>
            </a:r>
          </a:p>
          <a:p>
            <a:pPr marL="0" indent="0">
              <a:buFont typeface="Wingdings" panose="05000000000000000000" pitchFamily="2" charset="2"/>
              <a:buNone/>
            </a:pPr>
            <a:endParaRPr lang="pl-PL" altLang="pl-PL" sz="3200"/>
          </a:p>
          <a:p>
            <a:pPr marL="0" indent="0">
              <a:buFont typeface="Wingdings" panose="05000000000000000000" pitchFamily="2" charset="2"/>
              <a:buNone/>
            </a:pPr>
            <a:r>
              <a:rPr lang="pl-PL" altLang="pl-PL" sz="3200"/>
              <a:t>Skoro powodem uznania za bezzasadny wniosku oskarżonego o przesłuchanie szeregu świadków jest nieprzedstawienie okoliczności, które miałyby być w ten sposób udowodnione, jak wymaga dyspozycja art. 169 § 1 k.p.k., to oskarżony o takich wymaganiach powinien zostać pouczony - art. 16 § 2 k.p.k.</a:t>
            </a:r>
            <a:endParaRPr lang="pl-PL" altLang="pl-PL" sz="3200" b="1">
              <a:solidFill>
                <a:srgbClr val="00B050"/>
              </a:solidFill>
            </a:endParaRPr>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Symbol zastępczy zawartości 2">
            <a:extLst>
              <a:ext uri="{FF2B5EF4-FFF2-40B4-BE49-F238E27FC236}">
                <a16:creationId xmlns:a16="http://schemas.microsoft.com/office/drawing/2014/main" id="{4954E0A8-DE57-B509-BD31-A072050E971C}"/>
              </a:ext>
            </a:extLst>
          </p:cNvPr>
          <p:cNvSpPr>
            <a:spLocks noGrp="1" noChangeArrowheads="1"/>
          </p:cNvSpPr>
          <p:nvPr>
            <p:ph idx="1"/>
          </p:nvPr>
        </p:nvSpPr>
        <p:spPr>
          <a:xfrm>
            <a:off x="107950" y="260350"/>
            <a:ext cx="8897938" cy="6192838"/>
          </a:xfrm>
        </p:spPr>
        <p:txBody>
          <a:bodyPr/>
          <a:lstStyle/>
          <a:p>
            <a:pPr marL="0" indent="0" algn="just">
              <a:buFont typeface="Wingdings" panose="05000000000000000000" pitchFamily="2" charset="2"/>
              <a:buNone/>
            </a:pPr>
            <a:r>
              <a:rPr lang="pl-PL" altLang="pl-PL" sz="2400" b="1"/>
              <a:t>Postanowienie Sądu Najwyższego z dnia 5 października 2004 r., II KK 121/03</a:t>
            </a:r>
          </a:p>
          <a:p>
            <a:pPr marL="0" indent="0" algn="just">
              <a:buFont typeface="Wingdings" panose="05000000000000000000" pitchFamily="2" charset="2"/>
              <a:buNone/>
            </a:pPr>
            <a:r>
              <a:rPr lang="pl-PL" altLang="pl-PL" sz="3200"/>
              <a:t>Jeżeli we wniosku dowodowym nie wskazano okoliczności, które mają być udowodnione, i mimo wezwania nie usunięto tego braku w zakreślonym terminie, wniosek taki - jako niespełniający wymogu formalnego przewidzianego w art. 169 § 1 k.p.k. i nienadający się do nadania mu biegu - należy pozostawić bez rozpoznania ( </a:t>
            </a:r>
            <a:r>
              <a:rPr lang="pl-PL" altLang="pl-PL" sz="3200" i="1"/>
              <a:t>per analogiam </a:t>
            </a:r>
            <a:r>
              <a:rPr lang="pl-PL" altLang="pl-PL" sz="3200"/>
              <a:t>do art. 120 k.p.k.), nie zaś oddalić na jednej z podstaw wymienionych w art. 170 § 1 k.p.k.</a:t>
            </a:r>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Symbol zastępczy zawartości 2">
            <a:extLst>
              <a:ext uri="{FF2B5EF4-FFF2-40B4-BE49-F238E27FC236}">
                <a16:creationId xmlns:a16="http://schemas.microsoft.com/office/drawing/2014/main" id="{C54BB4BD-D2B6-7C5D-5EEA-77BA7C30577B}"/>
              </a:ext>
            </a:extLst>
          </p:cNvPr>
          <p:cNvSpPr>
            <a:spLocks noGrp="1" noChangeArrowheads="1"/>
          </p:cNvSpPr>
          <p:nvPr>
            <p:ph idx="1"/>
          </p:nvPr>
        </p:nvSpPr>
        <p:spPr>
          <a:xfrm>
            <a:off x="179388" y="260350"/>
            <a:ext cx="8826500" cy="6264275"/>
          </a:xfrm>
        </p:spPr>
        <p:txBody>
          <a:bodyPr/>
          <a:lstStyle/>
          <a:p>
            <a:pPr marL="0" indent="0">
              <a:buFont typeface="Wingdings" panose="05000000000000000000" pitchFamily="2" charset="2"/>
              <a:buNone/>
            </a:pPr>
            <a:r>
              <a:rPr lang="pl-PL" altLang="pl-PL" sz="6600" b="1">
                <a:solidFill>
                  <a:srgbClr val="00B050"/>
                </a:solidFill>
              </a:rPr>
              <a:t>Co z sytuacją jeśli brak formalny wniosku dowodowego został uzupełniony po terminie?</a:t>
            </a:r>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Symbol zastępczy zawartości 2">
            <a:extLst>
              <a:ext uri="{FF2B5EF4-FFF2-40B4-BE49-F238E27FC236}">
                <a16:creationId xmlns:a16="http://schemas.microsoft.com/office/drawing/2014/main" id="{F8226026-A0C7-3D30-14A4-DEF09E7701D0}"/>
              </a:ext>
            </a:extLst>
          </p:cNvPr>
          <p:cNvSpPr>
            <a:spLocks noGrp="1" noChangeArrowheads="1"/>
          </p:cNvSpPr>
          <p:nvPr>
            <p:ph idx="1"/>
          </p:nvPr>
        </p:nvSpPr>
        <p:spPr>
          <a:xfrm>
            <a:off x="107950" y="260350"/>
            <a:ext cx="8897938" cy="5795963"/>
          </a:xfrm>
        </p:spPr>
        <p:txBody>
          <a:bodyPr/>
          <a:lstStyle/>
          <a:p>
            <a:pPr marL="0" indent="0" algn="just">
              <a:buFont typeface="Wingdings" panose="05000000000000000000" pitchFamily="2" charset="2"/>
              <a:buNone/>
            </a:pPr>
            <a:r>
              <a:rPr lang="pl-PL" altLang="pl-PL" sz="5400"/>
              <a:t>Albo sąd zadziała z urzędu albo strona lub jej przedstawiciel procesowy powinien złożyć nowy, tym razem kompletny, wniosek dowodowy. </a:t>
            </a:r>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Symbol zastępczy zawartości 2">
            <a:extLst>
              <a:ext uri="{FF2B5EF4-FFF2-40B4-BE49-F238E27FC236}">
                <a16:creationId xmlns:a16="http://schemas.microsoft.com/office/drawing/2014/main" id="{B304F8A9-7E90-FEB8-20C1-2D237DE31A8A}"/>
              </a:ext>
            </a:extLst>
          </p:cNvPr>
          <p:cNvSpPr>
            <a:spLocks noGrp="1" noChangeArrowheads="1"/>
          </p:cNvSpPr>
          <p:nvPr>
            <p:ph idx="1"/>
          </p:nvPr>
        </p:nvSpPr>
        <p:spPr>
          <a:xfrm>
            <a:off x="107950" y="44450"/>
            <a:ext cx="8897938" cy="6011863"/>
          </a:xfrm>
        </p:spPr>
        <p:txBody>
          <a:bodyPr>
            <a:normAutofit lnSpcReduction="10000"/>
          </a:bodyPr>
          <a:lstStyle/>
          <a:p>
            <a:r>
              <a:rPr lang="pl-PL" altLang="pl-PL" sz="5400"/>
              <a:t>Art. 170 §  4 k.p.k.</a:t>
            </a:r>
          </a:p>
          <a:p>
            <a:r>
              <a:rPr lang="pl-PL" altLang="pl-PL" sz="5400"/>
              <a:t> Oddalenie wniosku dowodowego nie stoi na przeszkodzie późniejszemu dopuszczeniu dowodu, chociażby nie ujawniły się nowe okoliczności.</a:t>
            </a: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204C5062-3F85-2483-D6B3-C4EA20A0C4FF}"/>
              </a:ext>
            </a:extLst>
          </p:cNvPr>
          <p:cNvSpPr>
            <a:spLocks noGrp="1"/>
          </p:cNvSpPr>
          <p:nvPr>
            <p:ph idx="1"/>
          </p:nvPr>
        </p:nvSpPr>
        <p:spPr>
          <a:xfrm>
            <a:off x="179388" y="115888"/>
            <a:ext cx="8964612" cy="5865812"/>
          </a:xfrm>
        </p:spPr>
        <p:txBody>
          <a:bodyPr>
            <a:normAutofit lnSpcReduction="10000"/>
          </a:bodyPr>
          <a:lstStyle/>
          <a:p>
            <a:pPr marL="0" indent="0" algn="just">
              <a:buFont typeface="Wingdings" panose="05000000000000000000" pitchFamily="2" charset="2"/>
              <a:buNone/>
              <a:defRPr/>
            </a:pPr>
            <a:r>
              <a:rPr lang="pl-PL" sz="3300" b="1" dirty="0">
                <a:solidFill>
                  <a:srgbClr val="00B050"/>
                </a:solidFill>
              </a:rPr>
              <a:t>Wnioskiem dowodowym nie jest:</a:t>
            </a:r>
          </a:p>
          <a:p>
            <a:pPr marL="0" indent="0" algn="just">
              <a:buFont typeface="Wingdings" panose="05000000000000000000" pitchFamily="2" charset="2"/>
              <a:buNone/>
              <a:defRPr/>
            </a:pPr>
            <a:r>
              <a:rPr lang="pl-PL" sz="4400" dirty="0"/>
              <a:t>Postanowienie Sądu Najwyższego z dnia 7 czerwca 2005 r., II KK 55/04</a:t>
            </a:r>
          </a:p>
          <a:p>
            <a:pPr marL="0" indent="0">
              <a:buFont typeface="Wingdings" panose="05000000000000000000" pitchFamily="2" charset="2"/>
              <a:buNone/>
              <a:defRPr/>
            </a:pPr>
            <a:r>
              <a:rPr lang="pl-PL" sz="4400" dirty="0">
                <a:solidFill>
                  <a:srgbClr val="C00000"/>
                </a:solidFill>
              </a:rPr>
              <a:t>Oświadczenie oskarżonego zawarte w apelacji, iż  jest gotów złożyć wyjaśnienia przed sądem odwoławczym.</a:t>
            </a:r>
          </a:p>
          <a:p>
            <a:pPr marL="0" indent="0">
              <a:buFont typeface="Wingdings" panose="05000000000000000000" pitchFamily="2" charset="2"/>
              <a:buNone/>
              <a:defRPr/>
            </a:pPr>
            <a:r>
              <a:rPr lang="pl-PL" sz="4400" dirty="0">
                <a:solidFill>
                  <a:srgbClr val="C00000"/>
                </a:solidFill>
              </a:rPr>
              <a:t>„Przyjdź i złóż”. </a:t>
            </a:r>
          </a:p>
          <a:p>
            <a:pPr marL="0" indent="0" algn="just">
              <a:buFont typeface="Wingdings" panose="05000000000000000000" pitchFamily="2" charset="2"/>
              <a:buNone/>
              <a:defRPr/>
            </a:pPr>
            <a:endParaRPr lang="pl-PL" sz="3300" b="1" dirty="0">
              <a:solidFill>
                <a:srgbClr val="00B050"/>
              </a:solidFill>
            </a:endParaRPr>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E32CD50C-950F-5A19-6573-B37D1432D170}"/>
              </a:ext>
            </a:extLst>
          </p:cNvPr>
          <p:cNvSpPr>
            <a:spLocks noGrp="1"/>
          </p:cNvSpPr>
          <p:nvPr>
            <p:ph idx="1"/>
          </p:nvPr>
        </p:nvSpPr>
        <p:spPr>
          <a:xfrm>
            <a:off x="107950" y="44450"/>
            <a:ext cx="9036050" cy="6697663"/>
          </a:xfrm>
        </p:spPr>
        <p:txBody>
          <a:bodyPr>
            <a:normAutofit/>
          </a:bodyPr>
          <a:lstStyle/>
          <a:p>
            <a:pPr marL="0" indent="0" algn="just">
              <a:buFont typeface="Wingdings" panose="05000000000000000000" pitchFamily="2" charset="2"/>
              <a:buNone/>
              <a:defRPr/>
            </a:pPr>
            <a:endParaRPr lang="pl-PL" sz="3300" b="1" dirty="0">
              <a:solidFill>
                <a:srgbClr val="00B050"/>
              </a:solidFill>
            </a:endParaRPr>
          </a:p>
          <a:p>
            <a:pPr>
              <a:defRPr/>
            </a:pPr>
            <a:r>
              <a:rPr lang="pl-PL" sz="3600" dirty="0"/>
              <a:t>oświadczenie woli odnoszące się do sfery dowodowej ale niezawierające tezy dowodowej (postanowienie SN z 16.03.2001 r., V KKN 24/99)</a:t>
            </a:r>
          </a:p>
          <a:p>
            <a:pPr>
              <a:defRPr/>
            </a:pPr>
            <a:r>
              <a:rPr lang="pl-PL" sz="3600" dirty="0"/>
              <a:t>oświadczenie strony o konieczności przeprowadzenia określonego dowodu bez wskazania okoliczności, na jakie ten dowód ma zostać przeprowadzony (postanowienie SN z 25.07.2007 r., V KK 178/07).</a:t>
            </a:r>
          </a:p>
          <a:p>
            <a:pPr marL="0" indent="0" algn="just">
              <a:buFont typeface="Wingdings" panose="05000000000000000000" pitchFamily="2" charset="2"/>
              <a:buNone/>
              <a:defRPr/>
            </a:pPr>
            <a:endParaRPr lang="pl-PL" sz="3300" b="1" dirty="0">
              <a:solidFill>
                <a:srgbClr val="00B050"/>
              </a:solidFill>
            </a:endParaRPr>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Symbol zastępczy zawartości 2">
            <a:extLst>
              <a:ext uri="{FF2B5EF4-FFF2-40B4-BE49-F238E27FC236}">
                <a16:creationId xmlns:a16="http://schemas.microsoft.com/office/drawing/2014/main" id="{0B11D64E-7AC8-C880-4A40-0F0836161B7A}"/>
              </a:ext>
            </a:extLst>
          </p:cNvPr>
          <p:cNvSpPr>
            <a:spLocks noGrp="1" noChangeArrowheads="1"/>
          </p:cNvSpPr>
          <p:nvPr>
            <p:ph idx="1"/>
          </p:nvPr>
        </p:nvSpPr>
        <p:spPr>
          <a:xfrm>
            <a:off x="107950" y="44450"/>
            <a:ext cx="8897938" cy="7200900"/>
          </a:xfrm>
        </p:spPr>
        <p:txBody>
          <a:bodyPr/>
          <a:lstStyle/>
          <a:p>
            <a:pPr marL="0" indent="0">
              <a:buFont typeface="Wingdings" panose="05000000000000000000" pitchFamily="2" charset="2"/>
              <a:buNone/>
            </a:pPr>
            <a:r>
              <a:rPr lang="pl-PL" altLang="pl-PL" sz="3600"/>
              <a:t>Wniosek strony o ujawnienie na rozprawie zeznań świadka złożonych w toku postępowania przygotowawczego stanowi wniosek dowodowy, w związku z czym oddalić taki wniosek może tylko sąd w drodze postanowienia, a nie przewodniczący w drodze zarządzenia (zob. </a:t>
            </a:r>
            <a:r>
              <a:rPr lang="pl-PL" altLang="pl-PL" sz="3600">
                <a:hlinkClick r:id="rId2"/>
              </a:rPr>
              <a:t>w.</a:t>
            </a:r>
            <a:r>
              <a:rPr lang="pl-PL" altLang="pl-PL" sz="3600"/>
              <a:t> SN z 19 lutego 1982 r., Rw 43/82, OSNKW 4-5/1982, poz. 26 i aprob. glosa M. Płachty, OSPiKA 1983, nr 6).</a:t>
            </a:r>
          </a:p>
          <a:p>
            <a:pPr marL="0" indent="0">
              <a:buFont typeface="Wingdings" panose="05000000000000000000" pitchFamily="2" charset="2"/>
              <a:buNone/>
            </a:pPr>
            <a:r>
              <a:rPr lang="pl-PL" altLang="pl-PL" sz="2400" b="1">
                <a:solidFill>
                  <a:srgbClr val="C00000"/>
                </a:solidFill>
              </a:rPr>
              <a:t>Art. 170 par. 3 k.p.k.</a:t>
            </a:r>
          </a:p>
          <a:p>
            <a:pPr marL="0" indent="0">
              <a:buFont typeface="Wingdings" panose="05000000000000000000" pitchFamily="2" charset="2"/>
              <a:buNone/>
            </a:pPr>
            <a:r>
              <a:rPr lang="pl-PL" altLang="pl-PL" sz="2400" b="1">
                <a:solidFill>
                  <a:srgbClr val="C00000"/>
                </a:solidFill>
              </a:rPr>
              <a:t>Oddalenie wniosku dowodowego następuje w formie postanowienia.</a:t>
            </a:r>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5091" name="Symbol zastępczy zawartości 2">
            <a:extLst>
              <a:ext uri="{FF2B5EF4-FFF2-40B4-BE49-F238E27FC236}">
                <a16:creationId xmlns:a16="http://schemas.microsoft.com/office/drawing/2014/main" id="{6FB1D983-7EB4-E47D-0044-1BBB8E548B2C}"/>
              </a:ext>
            </a:extLst>
          </p:cNvPr>
          <p:cNvSpPr>
            <a:spLocks noGrp="1" noChangeArrowheads="1"/>
          </p:cNvSpPr>
          <p:nvPr>
            <p:ph idx="1"/>
          </p:nvPr>
        </p:nvSpPr>
        <p:spPr>
          <a:xfrm>
            <a:off x="107950" y="188913"/>
            <a:ext cx="8897938" cy="5867400"/>
          </a:xfrm>
        </p:spPr>
        <p:txBody>
          <a:bodyPr>
            <a:normAutofit lnSpcReduction="10000"/>
          </a:bodyPr>
          <a:lstStyle/>
          <a:p>
            <a:pPr marL="0" indent="0" algn="just">
              <a:buFont typeface="Wingdings" panose="05000000000000000000" pitchFamily="2" charset="2"/>
              <a:buNone/>
              <a:defRPr/>
            </a:pPr>
            <a:r>
              <a:rPr lang="pl-PL" altLang="pl-PL" sz="4000" dirty="0"/>
              <a:t>Oddalenie wniosku dowodowego – katalog zamknięty.</a:t>
            </a:r>
          </a:p>
          <a:p>
            <a:pPr marL="0" indent="0">
              <a:buFont typeface="Wingdings" panose="05000000000000000000" pitchFamily="2" charset="2"/>
              <a:buNone/>
              <a:defRPr/>
            </a:pPr>
            <a:r>
              <a:rPr lang="pl-PL" sz="2400" b="1" dirty="0"/>
              <a:t>Wyrok Sądu Najwyższego z dnia 8 października 1996 r., IV KKN 90/96</a:t>
            </a:r>
          </a:p>
          <a:p>
            <a:pPr algn="just">
              <a:defRPr/>
            </a:pPr>
            <a:r>
              <a:rPr lang="pl-PL" sz="2200" dirty="0"/>
              <a:t>Przepis art. 155 § 1 k.p.k. wyczerpująco wylicza sytuacje uprawniające do oddalenia zgłoszonego wniosku dowodowego. Stanowisko, że zawnioskowany dowód z przesłuchania świadka nie jest przydatny do stwierdzenia danej okoliczności (art. 155 § 1 pkt 3 k.p.k.) nie może być argumentowane domniemaniem, że świadek ten nie posiada wiadomości mogących potencjalnie stanowić podstawę ustaleń faktycznych.</a:t>
            </a:r>
          </a:p>
          <a:p>
            <a:pPr algn="just">
              <a:defRPr/>
            </a:pPr>
            <a:r>
              <a:rPr lang="pl-PL" sz="2200" dirty="0"/>
              <a:t>Nie jest także dopuszczalne stwierdzenie, że okoliczność, która ma być udowodniona, nie ma znaczenia dla rozstrzygnięcia sprawy (art. 155 § 1 pkt 2 k.p.k.) tylko dlatego, że wniosek dowodowy jedynie w sposób ogólny wskazuje okoliczności, na które zawnioskowany dowód ma być przeprowadzony.</a:t>
            </a:r>
          </a:p>
          <a:p>
            <a:pPr marL="0" indent="0" algn="just">
              <a:buFont typeface="Wingdings" panose="05000000000000000000" pitchFamily="2" charset="2"/>
              <a:buNone/>
              <a:defRPr/>
            </a:pPr>
            <a:endParaRPr lang="pl-PL" altLang="pl-PL" sz="4000" dirty="0"/>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Symbol zastępczy zawartości 2">
            <a:extLst>
              <a:ext uri="{FF2B5EF4-FFF2-40B4-BE49-F238E27FC236}">
                <a16:creationId xmlns:a16="http://schemas.microsoft.com/office/drawing/2014/main" id="{EED44E67-C617-499C-673D-33ADA9AC9703}"/>
              </a:ext>
            </a:extLst>
          </p:cNvPr>
          <p:cNvSpPr>
            <a:spLocks noGrp="1" noChangeArrowheads="1"/>
          </p:cNvSpPr>
          <p:nvPr>
            <p:ph idx="1"/>
          </p:nvPr>
        </p:nvSpPr>
        <p:spPr>
          <a:xfrm>
            <a:off x="107950" y="188913"/>
            <a:ext cx="8897938" cy="6408737"/>
          </a:xfrm>
        </p:spPr>
        <p:txBody>
          <a:bodyPr/>
          <a:lstStyle/>
          <a:p>
            <a:pPr marL="0" indent="0">
              <a:buFont typeface="Wingdings" panose="05000000000000000000" pitchFamily="2" charset="2"/>
              <a:buNone/>
            </a:pPr>
            <a:r>
              <a:rPr lang="pl-PL" altLang="pl-PL" sz="3200"/>
              <a:t>Art.  170 k.p.k.</a:t>
            </a:r>
          </a:p>
          <a:p>
            <a:pPr marL="0" indent="0">
              <a:buFont typeface="Wingdings" panose="05000000000000000000" pitchFamily="2" charset="2"/>
              <a:buNone/>
            </a:pPr>
            <a:r>
              <a:rPr lang="pl-PL" altLang="pl-PL"/>
              <a:t>§  1.</a:t>
            </a:r>
          </a:p>
          <a:p>
            <a:pPr marL="0" indent="0">
              <a:buFont typeface="Wingdings" panose="05000000000000000000" pitchFamily="2" charset="2"/>
              <a:buNone/>
            </a:pPr>
            <a:r>
              <a:rPr lang="pl-PL" altLang="pl-PL" b="1">
                <a:solidFill>
                  <a:srgbClr val="00B050"/>
                </a:solidFill>
              </a:rPr>
              <a:t>Oddala się wniosek dowodowy, jeżeli:</a:t>
            </a:r>
          </a:p>
          <a:p>
            <a:pPr marL="0" indent="0">
              <a:buFont typeface="Wingdings" panose="05000000000000000000" pitchFamily="2" charset="2"/>
              <a:buNone/>
            </a:pPr>
            <a:r>
              <a:rPr lang="pl-PL" altLang="pl-PL"/>
              <a:t>1) przeprowadzenie dowodu jest niedopuszczalne;</a:t>
            </a:r>
          </a:p>
          <a:p>
            <a:pPr marL="0" indent="0">
              <a:buFont typeface="Wingdings" panose="05000000000000000000" pitchFamily="2" charset="2"/>
              <a:buNone/>
            </a:pPr>
            <a:r>
              <a:rPr lang="pl-PL" altLang="pl-PL"/>
              <a:t>2) okoliczność, która ma być udowodniona, nie ma znaczenia dla rozstrzygnięcia sprawy albo jest już udowodniona zgodnie z twierdzeniem wnioskodawcy;</a:t>
            </a:r>
          </a:p>
          <a:p>
            <a:pPr marL="0" indent="0">
              <a:buFont typeface="Wingdings" panose="05000000000000000000" pitchFamily="2" charset="2"/>
              <a:buNone/>
            </a:pPr>
            <a:r>
              <a:rPr lang="pl-PL" altLang="pl-PL"/>
              <a:t>3) dowód jest nieprzydatny do stwierdzenia danej okoliczności;</a:t>
            </a:r>
          </a:p>
          <a:p>
            <a:pPr marL="0" indent="0" algn="just">
              <a:buFont typeface="Wingdings" panose="05000000000000000000" pitchFamily="2" charset="2"/>
              <a:buNone/>
            </a:pPr>
            <a:endParaRPr lang="pl-PL" altLang="pl-PL" sz="4000"/>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Symbol zastępczy zawartości 2">
            <a:extLst>
              <a:ext uri="{FF2B5EF4-FFF2-40B4-BE49-F238E27FC236}">
                <a16:creationId xmlns:a16="http://schemas.microsoft.com/office/drawing/2014/main" id="{61442DC0-9AD6-92D1-9F49-78C9AA2143EC}"/>
              </a:ext>
            </a:extLst>
          </p:cNvPr>
          <p:cNvSpPr>
            <a:spLocks noGrp="1" noChangeArrowheads="1"/>
          </p:cNvSpPr>
          <p:nvPr>
            <p:ph idx="1"/>
          </p:nvPr>
        </p:nvSpPr>
        <p:spPr>
          <a:xfrm>
            <a:off x="179388" y="404813"/>
            <a:ext cx="8964612" cy="6264275"/>
          </a:xfrm>
        </p:spPr>
        <p:txBody>
          <a:bodyPr/>
          <a:lstStyle/>
          <a:p>
            <a:pPr marL="0" indent="0">
              <a:buFont typeface="Wingdings" panose="05000000000000000000" pitchFamily="2" charset="2"/>
              <a:buNone/>
            </a:pPr>
            <a:r>
              <a:rPr lang="pl-PL" altLang="pl-PL" sz="4000"/>
              <a:t>4) dowodu nie da się przeprowadzić;</a:t>
            </a:r>
          </a:p>
          <a:p>
            <a:pPr marL="0" indent="0">
              <a:buFont typeface="Wingdings" panose="05000000000000000000" pitchFamily="2" charset="2"/>
              <a:buNone/>
            </a:pPr>
            <a:r>
              <a:rPr lang="pl-PL" altLang="pl-PL" sz="4000"/>
              <a:t>5) wniosek dowodowy w sposób oczywisty zmierza do przedłużenia postępowania;</a:t>
            </a:r>
          </a:p>
          <a:p>
            <a:pPr marL="0" indent="0">
              <a:buFont typeface="Wingdings" panose="05000000000000000000" pitchFamily="2" charset="2"/>
              <a:buNone/>
            </a:pPr>
            <a:r>
              <a:rPr lang="pl-PL" altLang="pl-PL" sz="4000"/>
              <a:t>6) wniosek dowodowy został złożony po zakreślonym przez organ procesowy terminie, o którym strona składająca wniosek została zawiadomiona.</a:t>
            </a:r>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Symbol zastępczy zawartości 2">
            <a:extLst>
              <a:ext uri="{FF2B5EF4-FFF2-40B4-BE49-F238E27FC236}">
                <a16:creationId xmlns:a16="http://schemas.microsoft.com/office/drawing/2014/main" id="{26E7F291-C99A-434E-3469-32BA2B6A902A}"/>
              </a:ext>
            </a:extLst>
          </p:cNvPr>
          <p:cNvSpPr>
            <a:spLocks noGrp="1" noChangeArrowheads="1"/>
          </p:cNvSpPr>
          <p:nvPr>
            <p:ph idx="1"/>
          </p:nvPr>
        </p:nvSpPr>
        <p:spPr>
          <a:xfrm>
            <a:off x="179388" y="188913"/>
            <a:ext cx="8826500" cy="6335712"/>
          </a:xfrm>
        </p:spPr>
        <p:txBody>
          <a:bodyPr/>
          <a:lstStyle/>
          <a:p>
            <a:pPr marL="0" indent="0">
              <a:buFont typeface="Wingdings" panose="05000000000000000000" pitchFamily="2" charset="2"/>
              <a:buNone/>
            </a:pPr>
            <a:r>
              <a:rPr lang="pl-PL" altLang="pl-PL" sz="7200" b="1">
                <a:solidFill>
                  <a:srgbClr val="C00000"/>
                </a:solidFill>
              </a:rPr>
              <a:t>1) przeprowadzenie dowodu jest niedopuszczalne</a:t>
            </a:r>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C9158EEA-333E-A355-AB1C-F242EE00A2AC}"/>
              </a:ext>
            </a:extLst>
          </p:cNvPr>
          <p:cNvSpPr>
            <a:spLocks noGrp="1" noChangeArrowheads="1"/>
          </p:cNvSpPr>
          <p:nvPr>
            <p:ph type="body" idx="1"/>
          </p:nvPr>
        </p:nvSpPr>
        <p:spPr>
          <a:xfrm>
            <a:off x="107950" y="260350"/>
            <a:ext cx="8785225" cy="5905500"/>
          </a:xfrm>
        </p:spPr>
        <p:txBody>
          <a:bodyPr/>
          <a:lstStyle/>
          <a:p>
            <a:pPr algn="ctr" eaLnBrk="1" hangingPunct="1">
              <a:lnSpc>
                <a:spcPct val="80000"/>
              </a:lnSpc>
              <a:buFont typeface="Wingdings" panose="05000000000000000000" pitchFamily="2" charset="2"/>
              <a:buNone/>
            </a:pPr>
            <a:endParaRPr lang="pl-PL" altLang="pl-PL"/>
          </a:p>
          <a:p>
            <a:pPr algn="ctr" eaLnBrk="1" hangingPunct="1">
              <a:lnSpc>
                <a:spcPct val="80000"/>
              </a:lnSpc>
              <a:buFont typeface="Wingdings" panose="05000000000000000000" pitchFamily="2" charset="2"/>
              <a:buNone/>
            </a:pPr>
            <a:endParaRPr lang="pl-PL" altLang="pl-PL"/>
          </a:p>
          <a:p>
            <a:pPr algn="ctr" eaLnBrk="1" hangingPunct="1">
              <a:lnSpc>
                <a:spcPct val="80000"/>
              </a:lnSpc>
              <a:buFont typeface="Wingdings" panose="05000000000000000000" pitchFamily="2" charset="2"/>
              <a:buNone/>
            </a:pPr>
            <a:endParaRPr lang="pl-PL" altLang="pl-PL"/>
          </a:p>
          <a:p>
            <a:pPr algn="ctr" eaLnBrk="1" hangingPunct="1">
              <a:lnSpc>
                <a:spcPct val="80000"/>
              </a:lnSpc>
              <a:buFont typeface="Wingdings" panose="05000000000000000000" pitchFamily="2" charset="2"/>
              <a:buNone/>
            </a:pPr>
            <a:r>
              <a:rPr lang="pl-PL" altLang="pl-PL" sz="4000" b="1">
                <a:solidFill>
                  <a:srgbClr val="C00000"/>
                </a:solidFill>
              </a:rPr>
              <a:t>Zakazy dowodowe  </a:t>
            </a:r>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B4D3F352-06AE-2AA4-BA83-56FAD4D6AEF9}"/>
              </a:ext>
            </a:extLst>
          </p:cNvPr>
          <p:cNvSpPr>
            <a:spLocks noGrp="1" noChangeArrowheads="1"/>
          </p:cNvSpPr>
          <p:nvPr>
            <p:ph type="body" idx="1"/>
          </p:nvPr>
        </p:nvSpPr>
        <p:spPr>
          <a:xfrm>
            <a:off x="250825" y="549275"/>
            <a:ext cx="8893175" cy="6119813"/>
          </a:xfrm>
        </p:spPr>
        <p:txBody>
          <a:bodyPr/>
          <a:lstStyle/>
          <a:p>
            <a:pPr eaLnBrk="1" hangingPunct="1">
              <a:lnSpc>
                <a:spcPct val="90000"/>
              </a:lnSpc>
              <a:buFont typeface="Wingdings" panose="05000000000000000000" pitchFamily="2" charset="2"/>
              <a:buNone/>
            </a:pPr>
            <a:r>
              <a:rPr lang="pl-PL" altLang="pl-PL" sz="2400"/>
              <a:t>Brak definicji ustawowej. Istnienie tych zakazów wyprowadza się z przepisów ograniczających dopuszczalność przeprowadzenia określonych dowodów.  	</a:t>
            </a:r>
          </a:p>
          <a:p>
            <a:pPr eaLnBrk="1" hangingPunct="1">
              <a:lnSpc>
                <a:spcPct val="90000"/>
              </a:lnSpc>
              <a:buFont typeface="Wingdings" panose="05000000000000000000" pitchFamily="2" charset="2"/>
              <a:buNone/>
            </a:pPr>
            <a:r>
              <a:rPr lang="pl-PL" altLang="pl-PL" sz="2400"/>
              <a:t>Próba zdefiniowania doktrynalnego</a:t>
            </a:r>
            <a:r>
              <a:rPr lang="pl-PL" altLang="pl-PL" sz="2400" b="1">
                <a:solidFill>
                  <a:srgbClr val="C00000"/>
                </a:solidFill>
              </a:rPr>
              <a:t>: zakaz dowodowy to norma prawna wyłączająca dopuszczalność wykorzystania określonego  źródła lub środka dowodowego albo ustalenia określonych faktów w procesie karnym </a:t>
            </a:r>
            <a:r>
              <a:rPr lang="pl-PL" altLang="pl-PL" sz="2400"/>
              <a:t>(A. Gaberle). Istnienie zakazów dowodowych może prowadzić do naruszenia zasady prawdy materialnej (art. 2 par. 2 k.p.k.). Mimo to jednak uważa się, że są one niezbędne, gdyż w pewnych wypadkach należy chronić określone dobra istotniejsze niż wykrycie prawdy w procesie i w konsekwencji zastosowanie trafnej reakcji karnej (np. więzy rodzinne, uczuciowe – art. 182 par. 1 k.p.k. - osoba najbliższa dla oskarżonego może odmówić składania zeznań;  godność osoby przesłuchiwanej – zakaz wymuszania wyjaśnień bądź zeznań – art. 171 k.p.k.)  </a:t>
            </a:r>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0A8A9D9D-EDA0-B456-5FD9-D21FF1278348}"/>
              </a:ext>
            </a:extLst>
          </p:cNvPr>
          <p:cNvSpPr>
            <a:spLocks noGrp="1" noChangeArrowheads="1"/>
          </p:cNvSpPr>
          <p:nvPr>
            <p:ph type="body" idx="1"/>
          </p:nvPr>
        </p:nvSpPr>
        <p:spPr>
          <a:xfrm>
            <a:off x="179388" y="-531813"/>
            <a:ext cx="8713787" cy="6697663"/>
          </a:xfrm>
        </p:spPr>
        <p:txBody>
          <a:bodyPr>
            <a:normAutofit fontScale="92500"/>
          </a:bodyPr>
          <a:lstStyle/>
          <a:p>
            <a:pPr marL="571500" indent="-571500" eaLnBrk="1" hangingPunct="1">
              <a:buFont typeface="Wingdings" panose="05000000000000000000" pitchFamily="2" charset="2"/>
              <a:buNone/>
              <a:defRPr/>
            </a:pPr>
            <a:endParaRPr lang="pl-PL" altLang="pl-PL" sz="2900" dirty="0"/>
          </a:p>
          <a:p>
            <a:pPr marL="0" indent="0" eaLnBrk="1" hangingPunct="1">
              <a:buFont typeface="Wingdings" panose="05000000000000000000" pitchFamily="2" charset="2"/>
              <a:buNone/>
              <a:defRPr/>
            </a:pPr>
            <a:r>
              <a:rPr lang="pl-PL" altLang="pl-PL" sz="4400" b="1" dirty="0">
                <a:solidFill>
                  <a:srgbClr val="00B050"/>
                </a:solidFill>
              </a:rPr>
              <a:t>Rodzaje zakazów dowodowych:</a:t>
            </a:r>
          </a:p>
          <a:p>
            <a:pPr marL="571500" indent="-571500" eaLnBrk="1" hangingPunct="1">
              <a:buFont typeface="Wingdings" panose="05000000000000000000" pitchFamily="2" charset="2"/>
              <a:buAutoNum type="arabicPeriod"/>
              <a:defRPr/>
            </a:pPr>
            <a:r>
              <a:rPr lang="pl-PL" altLang="pl-PL" sz="4400" dirty="0"/>
              <a:t>Zakaz wykorzystania określonych źródeł dowodowych</a:t>
            </a:r>
          </a:p>
          <a:p>
            <a:pPr marL="571500" indent="-571500" eaLnBrk="1" hangingPunct="1">
              <a:buFont typeface="Wingdings" panose="05000000000000000000" pitchFamily="2" charset="2"/>
              <a:buAutoNum type="arabicPeriod"/>
              <a:defRPr/>
            </a:pPr>
            <a:r>
              <a:rPr lang="pl-PL" altLang="pl-PL" sz="4400" dirty="0"/>
              <a:t>Zakaz wykorzystania określonych środków dowodowych</a:t>
            </a:r>
          </a:p>
          <a:p>
            <a:pPr marL="571500" indent="-571500" eaLnBrk="1" hangingPunct="1">
              <a:buFont typeface="Wingdings" panose="05000000000000000000" pitchFamily="2" charset="2"/>
              <a:buAutoNum type="arabicPeriod"/>
              <a:defRPr/>
            </a:pPr>
            <a:r>
              <a:rPr lang="pl-PL" altLang="pl-PL" sz="4400" dirty="0"/>
              <a:t>Zakaz dowodzenia określonych faktów </a:t>
            </a:r>
          </a:p>
          <a:p>
            <a:pPr marL="571500" indent="-571500" eaLnBrk="1" hangingPunct="1">
              <a:defRPr/>
            </a:pPr>
            <a:endParaRPr lang="pl-PL" altLang="pl-PL" dirty="0"/>
          </a:p>
          <a:p>
            <a:pPr marL="571500" indent="-571500" eaLnBrk="1" hangingPunct="1">
              <a:buFont typeface="Wingdings" panose="05000000000000000000" pitchFamily="2" charset="2"/>
              <a:buNone/>
              <a:defRPr/>
            </a:pPr>
            <a:endParaRPr lang="pl-PL" altLang="pl-PL" sz="2900" dirty="0"/>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42" name="Rectangle 2">
            <a:extLst>
              <a:ext uri="{FF2B5EF4-FFF2-40B4-BE49-F238E27FC236}">
                <a16:creationId xmlns:a16="http://schemas.microsoft.com/office/drawing/2014/main" id="{7D828598-A371-8DBE-6F78-3709400D093D}"/>
              </a:ext>
            </a:extLst>
          </p:cNvPr>
          <p:cNvSpPr>
            <a:spLocks noGrp="1" noChangeArrowheads="1"/>
          </p:cNvSpPr>
          <p:nvPr>
            <p:ph type="body" idx="1"/>
          </p:nvPr>
        </p:nvSpPr>
        <p:spPr>
          <a:xfrm>
            <a:off x="250825" y="1700213"/>
            <a:ext cx="8642350" cy="4968875"/>
          </a:xfrm>
        </p:spPr>
        <p:txBody>
          <a:bodyPr/>
          <a:lstStyle/>
          <a:p>
            <a:pPr marL="0" indent="0" eaLnBrk="1" hangingPunct="1">
              <a:lnSpc>
                <a:spcPct val="80000"/>
              </a:lnSpc>
              <a:buFont typeface="Wingdings" panose="05000000000000000000" pitchFamily="2" charset="2"/>
              <a:buNone/>
              <a:defRPr/>
            </a:pPr>
            <a:r>
              <a:rPr lang="pl-PL" altLang="pl-PL" sz="2600" b="1" dirty="0">
                <a:solidFill>
                  <a:srgbClr val="C00000"/>
                </a:solidFill>
              </a:rPr>
              <a:t>Bezwzględne: </a:t>
            </a:r>
          </a:p>
          <a:p>
            <a:pPr eaLnBrk="1" hangingPunct="1">
              <a:lnSpc>
                <a:spcPct val="80000"/>
              </a:lnSpc>
              <a:buFont typeface="Wingdings" panose="05000000000000000000" pitchFamily="2" charset="2"/>
              <a:buNone/>
              <a:defRPr/>
            </a:pPr>
            <a:r>
              <a:rPr lang="pl-PL" altLang="pl-PL" sz="2600" b="1" i="1" dirty="0"/>
              <a:t>a.</a:t>
            </a:r>
            <a:r>
              <a:rPr lang="pl-PL" altLang="pl-PL" sz="2600" i="1" dirty="0"/>
              <a:t> </a:t>
            </a:r>
            <a:r>
              <a:rPr lang="pl-PL" altLang="pl-PL" sz="2400" dirty="0"/>
              <a:t>art. 178 par. 1 k.p.k. - nie wolno przesłuchiwać jako świadków obrońcy lub adwokata/radcy prawnego działającego na podstawie art. 245 § 1 k.p.k., co do faktów, o których dowiedział się udzielając porady prawnej lub prowadząc sprawę; duchownego co do faktów, o których dowiedział się przy spowiedzi.</a:t>
            </a:r>
          </a:p>
          <a:p>
            <a:pPr marL="0" indent="0">
              <a:buFont typeface="Wingdings" panose="05000000000000000000" pitchFamily="2" charset="2"/>
              <a:buNone/>
              <a:defRPr/>
            </a:pPr>
            <a:r>
              <a:rPr lang="pl-PL" altLang="pl-PL" sz="2400" b="1" dirty="0"/>
              <a:t>b.</a:t>
            </a:r>
            <a:r>
              <a:rPr lang="pl-PL" altLang="pl-PL" sz="2400" dirty="0"/>
              <a:t> </a:t>
            </a:r>
            <a:r>
              <a:rPr lang="pl-PL" sz="2000" dirty="0"/>
              <a:t>Art.  52  ust. 1. ustawy o ochronie zdrowia psychicznego</a:t>
            </a:r>
          </a:p>
          <a:p>
            <a:pPr marL="0" indent="0">
              <a:buFont typeface="Wingdings" panose="05000000000000000000" pitchFamily="2" charset="2"/>
              <a:buNone/>
              <a:defRPr/>
            </a:pPr>
            <a:r>
              <a:rPr lang="pl-PL" sz="2000" dirty="0"/>
              <a:t>Nie wolno przesłuchiwać osób obowiązanych do zachowania tajemnicy, stosownie do przepisów niniejszego rozdziału, jako świadków na okoliczność wypowiedzi osoby, wobec której podjęto czynności wynikające z niniejszej ustawy, co do popełnienia przez nią czynu zabronionego pod groźbą kary.</a:t>
            </a:r>
          </a:p>
          <a:p>
            <a:pPr marL="0" indent="0">
              <a:buFont typeface="Wingdings" panose="05000000000000000000" pitchFamily="2" charset="2"/>
              <a:buNone/>
              <a:defRPr/>
            </a:pPr>
            <a:r>
              <a:rPr lang="pl-PL" sz="2000" dirty="0"/>
              <a:t>2. Zakaz określony w ust. 1 stosuje się odpowiednio do lekarzy wykonujących czynności biegłego.</a:t>
            </a:r>
          </a:p>
          <a:p>
            <a:pPr eaLnBrk="1" hangingPunct="1">
              <a:lnSpc>
                <a:spcPct val="80000"/>
              </a:lnSpc>
              <a:buFont typeface="Wingdings" panose="05000000000000000000" pitchFamily="2" charset="2"/>
              <a:buNone/>
              <a:defRPr/>
            </a:pPr>
            <a:endParaRPr lang="pl-PL" altLang="pl-PL" sz="2400" dirty="0"/>
          </a:p>
        </p:txBody>
      </p:sp>
      <p:sp>
        <p:nvSpPr>
          <p:cNvPr id="64515" name="Text Box 4">
            <a:extLst>
              <a:ext uri="{FF2B5EF4-FFF2-40B4-BE49-F238E27FC236}">
                <a16:creationId xmlns:a16="http://schemas.microsoft.com/office/drawing/2014/main" id="{0C6AA337-A71C-5D9B-85C9-4E59F9FD56E2}"/>
              </a:ext>
            </a:extLst>
          </p:cNvPr>
          <p:cNvSpPr txBox="1">
            <a:spLocks noChangeArrowheads="1"/>
          </p:cNvSpPr>
          <p:nvPr/>
        </p:nvSpPr>
        <p:spPr bwMode="auto">
          <a:xfrm>
            <a:off x="179388" y="333375"/>
            <a:ext cx="550862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pl-PL" altLang="pl-PL" sz="2400" b="1" i="1">
                <a:solidFill>
                  <a:srgbClr val="00B050"/>
                </a:solidFill>
                <a:latin typeface="Verdana" panose="020B0604030504040204" pitchFamily="34" charset="0"/>
              </a:rPr>
              <a:t>Ad. 1.  Zakazy wykorzystania określonych źródeł dowodowych</a:t>
            </a:r>
            <a:r>
              <a:rPr lang="pl-PL" altLang="pl-PL" sz="1900" b="1" i="1">
                <a:solidFill>
                  <a:srgbClr val="00B050"/>
                </a:solidFill>
                <a:latin typeface="Verdana" panose="020B0604030504040204" pitchFamily="34" charset="0"/>
              </a:rPr>
              <a:t> </a:t>
            </a:r>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13288472-395B-1E29-25C2-AB7EA8A709AE}"/>
              </a:ext>
            </a:extLst>
          </p:cNvPr>
          <p:cNvSpPr>
            <a:spLocks noGrp="1" noChangeArrowheads="1"/>
          </p:cNvSpPr>
          <p:nvPr>
            <p:ph type="body" idx="1"/>
          </p:nvPr>
        </p:nvSpPr>
        <p:spPr>
          <a:xfrm>
            <a:off x="107950" y="188913"/>
            <a:ext cx="8785225" cy="5976937"/>
          </a:xfrm>
        </p:spPr>
        <p:txBody>
          <a:bodyPr/>
          <a:lstStyle/>
          <a:p>
            <a:pPr eaLnBrk="1" hangingPunct="1">
              <a:buFont typeface="Wingdings" panose="05000000000000000000" pitchFamily="2" charset="2"/>
              <a:buNone/>
            </a:pPr>
            <a:r>
              <a:rPr lang="pl-PL" altLang="pl-PL" sz="2600" b="1"/>
              <a:t>c.</a:t>
            </a:r>
            <a:r>
              <a:rPr lang="pl-PL" altLang="pl-PL" sz="2600"/>
              <a:t> </a:t>
            </a:r>
            <a:r>
              <a:rPr lang="pl-PL" altLang="pl-PL" sz="3200"/>
              <a:t>art. 199 k.p.k. – zakaz przesłuchiwania  lekarza udzielającego pomocy medycznej, a także biegłego co do złożonych wobec niego oświadczeń przez oskarżonego dotyczących zarzucanego mu czynu przestępnego (vide jednak art. 199a k.p.k. - stosowanie w czasie badania przez biegłego środków technicznych mających na celu kontrolę nieświadomych reakcji organizmu badanej osoby możliwe jest wyłącznie za jej zgodą. Przepisu art. 199 nie stosuje się).</a:t>
            </a:r>
          </a:p>
          <a:p>
            <a:pPr eaLnBrk="1" hangingPunct="1"/>
            <a:endParaRPr lang="pl-PL" altLang="pl-PL" sz="2600"/>
          </a:p>
          <a:p>
            <a:pPr eaLnBrk="1" hangingPunct="1">
              <a:buFont typeface="Wingdings" panose="05000000000000000000" pitchFamily="2" charset="2"/>
              <a:buNone/>
            </a:pPr>
            <a:endParaRPr lang="pl-PL" altLang="pl-PL" sz="2600"/>
          </a:p>
          <a:p>
            <a:pPr eaLnBrk="1" hangingPunct="1">
              <a:buFont typeface="Wingdings" panose="05000000000000000000" pitchFamily="2" charset="2"/>
              <a:buNone/>
            </a:pPr>
            <a:endParaRPr lang="pl-PL" altLang="pl-PL" sz="2600"/>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688D69F-D716-E8F5-4B6B-966E5A6274A9}"/>
              </a:ext>
            </a:extLst>
          </p:cNvPr>
          <p:cNvSpPr>
            <a:spLocks noGrp="1" noChangeArrowheads="1"/>
          </p:cNvSpPr>
          <p:nvPr>
            <p:ph type="body" idx="1"/>
          </p:nvPr>
        </p:nvSpPr>
        <p:spPr>
          <a:xfrm>
            <a:off x="-323850" y="1484313"/>
            <a:ext cx="8966200" cy="5040312"/>
          </a:xfrm>
        </p:spPr>
        <p:txBody>
          <a:bodyPr/>
          <a:lstStyle/>
          <a:p>
            <a:pPr marL="571500" indent="-571500" eaLnBrk="1" hangingPunct="1">
              <a:lnSpc>
                <a:spcPct val="90000"/>
              </a:lnSpc>
              <a:buFont typeface="Wingdings" panose="05000000000000000000" pitchFamily="2" charset="2"/>
              <a:buNone/>
            </a:pPr>
            <a:r>
              <a:rPr lang="pl-PL" altLang="pl-PL" sz="2600"/>
              <a:t>	</a:t>
            </a:r>
            <a:r>
              <a:rPr lang="pl-PL" altLang="pl-PL" sz="2600" b="1"/>
              <a:t>				</a:t>
            </a:r>
            <a:endParaRPr lang="pl-PL" altLang="pl-PL" sz="2600"/>
          </a:p>
          <a:p>
            <a:pPr marL="966788" lvl="1" indent="-495300" eaLnBrk="1" hangingPunct="1">
              <a:lnSpc>
                <a:spcPct val="90000"/>
              </a:lnSpc>
              <a:buFont typeface="Wingdings" panose="05000000000000000000" pitchFamily="2" charset="2"/>
              <a:buAutoNum type="alphaUcPeriod"/>
            </a:pPr>
            <a:r>
              <a:rPr lang="pl-PL" altLang="pl-PL" sz="2200"/>
              <a:t>Zakaz przesłuchania osób zobowiązanych  do zachowania tajemnicy państwowej co do okoliczności objętych tą tajemnicą, chyba że zostaną zwolnione z tego obowiązku (art. 179 k.p.k.)</a:t>
            </a:r>
          </a:p>
          <a:p>
            <a:pPr marL="966788" lvl="1" indent="-495300" eaLnBrk="1" hangingPunct="1">
              <a:lnSpc>
                <a:spcPct val="90000"/>
              </a:lnSpc>
              <a:buFont typeface="Wingdings" panose="05000000000000000000" pitchFamily="2" charset="2"/>
              <a:buAutoNum type="alphaUcPeriod"/>
            </a:pPr>
            <a:r>
              <a:rPr lang="pl-PL" altLang="pl-PL" sz="2200"/>
              <a:t>Zakaz  przesłuchiwania osób zobowiązanych do zachowania tajemnicy służbowej lub zawodowej co do okoliczności objętych tą tajemnicą, chyba że zostaną zwolnione z tego obowiązku (art. 180 k.p.k.)</a:t>
            </a:r>
          </a:p>
          <a:p>
            <a:pPr marL="966788" lvl="1" indent="-495300" eaLnBrk="1" hangingPunct="1">
              <a:lnSpc>
                <a:spcPct val="90000"/>
              </a:lnSpc>
              <a:buFont typeface="Wingdings" panose="05000000000000000000" pitchFamily="2" charset="2"/>
              <a:buAutoNum type="alphaUcPeriod"/>
            </a:pPr>
            <a:r>
              <a:rPr lang="pl-PL" altLang="pl-PL" sz="2200"/>
              <a:t>Zakaz przesłuchiwania osób uprawnionych do odmowy zeznań albo zwolnionych z tego obowiązku (art. 182, 185, 186)</a:t>
            </a:r>
          </a:p>
          <a:p>
            <a:pPr marL="571500" indent="-571500" eaLnBrk="1" hangingPunct="1">
              <a:lnSpc>
                <a:spcPct val="90000"/>
              </a:lnSpc>
            </a:pPr>
            <a:endParaRPr lang="pl-PL" altLang="pl-PL" sz="2600"/>
          </a:p>
          <a:p>
            <a:pPr marL="571500" indent="-571500" eaLnBrk="1" hangingPunct="1">
              <a:lnSpc>
                <a:spcPct val="90000"/>
              </a:lnSpc>
              <a:buFont typeface="Wingdings" panose="05000000000000000000" pitchFamily="2" charset="2"/>
              <a:buNone/>
            </a:pPr>
            <a:endParaRPr lang="pl-PL" altLang="pl-PL" sz="2600"/>
          </a:p>
        </p:txBody>
      </p:sp>
      <p:sp>
        <p:nvSpPr>
          <p:cNvPr id="66563" name="Text Box 4">
            <a:extLst>
              <a:ext uri="{FF2B5EF4-FFF2-40B4-BE49-F238E27FC236}">
                <a16:creationId xmlns:a16="http://schemas.microsoft.com/office/drawing/2014/main" id="{6FCD9657-8C06-1DAD-835C-3FA1957E77C3}"/>
              </a:ext>
            </a:extLst>
          </p:cNvPr>
          <p:cNvSpPr txBox="1">
            <a:spLocks noChangeArrowheads="1"/>
          </p:cNvSpPr>
          <p:nvPr/>
        </p:nvSpPr>
        <p:spPr bwMode="auto">
          <a:xfrm>
            <a:off x="323850" y="188913"/>
            <a:ext cx="7632700" cy="249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0"/>
              </a:spcBef>
              <a:buClrTx/>
              <a:buSzTx/>
              <a:buFontTx/>
              <a:buNone/>
            </a:pPr>
            <a:r>
              <a:rPr lang="pl-PL" altLang="pl-PL" sz="2400" b="1">
                <a:solidFill>
                  <a:srgbClr val="C00000"/>
                </a:solidFill>
                <a:latin typeface="Verdana" panose="020B0604030504040204" pitchFamily="34" charset="0"/>
              </a:rPr>
              <a:t>Względne</a:t>
            </a:r>
            <a:r>
              <a:rPr lang="pl-PL" altLang="pl-PL" sz="2400" b="1">
                <a:solidFill>
                  <a:schemeClr val="tx1"/>
                </a:solidFill>
                <a:latin typeface="Verdana" panose="020B0604030504040204" pitchFamily="34" charset="0"/>
              </a:rPr>
              <a:t> – obowiązują one w sytuacji spełnienia określonych warunków </a:t>
            </a:r>
          </a:p>
          <a:p>
            <a:pPr eaLnBrk="1" hangingPunct="1">
              <a:spcBef>
                <a:spcPct val="50000"/>
              </a:spcBef>
              <a:buClrTx/>
              <a:buSzTx/>
              <a:buFontTx/>
              <a:buNone/>
            </a:pPr>
            <a:endParaRPr lang="pl-PL" altLang="pl-PL" sz="2400" b="1">
              <a:solidFill>
                <a:schemeClr val="tx1"/>
              </a:solidFill>
              <a:latin typeface="Verdana" panose="020B0604030504040204" pitchFamily="34" charset="0"/>
            </a:endParaRPr>
          </a:p>
          <a:p>
            <a:pPr eaLnBrk="1" hangingPunct="1">
              <a:spcBef>
                <a:spcPct val="50000"/>
              </a:spcBef>
              <a:buClrTx/>
              <a:buSzTx/>
              <a:buFontTx/>
              <a:buNone/>
            </a:pPr>
            <a:endParaRPr lang="pl-PL" altLang="pl-PL" sz="2400" b="1">
              <a:solidFill>
                <a:schemeClr val="tx1"/>
              </a:solidFill>
              <a:latin typeface="Verdana" panose="020B0604030504040204" pitchFamily="34" charset="0"/>
            </a:endParaRPr>
          </a:p>
          <a:p>
            <a:pPr eaLnBrk="1" hangingPunct="1">
              <a:spcBef>
                <a:spcPct val="50000"/>
              </a:spcBef>
              <a:buClrTx/>
              <a:buSzTx/>
              <a:buFontTx/>
              <a:buNone/>
            </a:pPr>
            <a:endParaRPr lang="pl-PL" altLang="pl-PL" sz="2400" b="1">
              <a:solidFill>
                <a:schemeClr val="tx1"/>
              </a:solidFill>
              <a:latin typeface="Verdana" panose="020B0604030504040204" pitchFamily="34" charset="0"/>
            </a:endParaRPr>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C5246B17-DBB6-4B8B-C64E-26211E3596F5}"/>
              </a:ext>
            </a:extLst>
          </p:cNvPr>
          <p:cNvSpPr>
            <a:spLocks noGrp="1" noChangeArrowheads="1"/>
          </p:cNvSpPr>
          <p:nvPr>
            <p:ph type="body" idx="1"/>
          </p:nvPr>
        </p:nvSpPr>
        <p:spPr>
          <a:xfrm>
            <a:off x="179388" y="220663"/>
            <a:ext cx="8713787" cy="5945187"/>
          </a:xfrm>
        </p:spPr>
        <p:txBody>
          <a:bodyPr/>
          <a:lstStyle/>
          <a:p>
            <a:pPr eaLnBrk="1" hangingPunct="1">
              <a:lnSpc>
                <a:spcPct val="80000"/>
              </a:lnSpc>
              <a:buFont typeface="Wingdings" panose="05000000000000000000" pitchFamily="2" charset="2"/>
              <a:buNone/>
            </a:pPr>
            <a:endParaRPr lang="pl-PL" altLang="pl-PL"/>
          </a:p>
          <a:p>
            <a:pPr eaLnBrk="1" hangingPunct="1">
              <a:lnSpc>
                <a:spcPct val="80000"/>
              </a:lnSpc>
              <a:buFont typeface="Wingdings" panose="05000000000000000000" pitchFamily="2" charset="2"/>
              <a:buNone/>
            </a:pPr>
            <a:endParaRPr lang="pl-PL" altLang="pl-PL"/>
          </a:p>
        </p:txBody>
      </p:sp>
      <p:sp>
        <p:nvSpPr>
          <p:cNvPr id="67587" name="Rectangle 4">
            <a:extLst>
              <a:ext uri="{FF2B5EF4-FFF2-40B4-BE49-F238E27FC236}">
                <a16:creationId xmlns:a16="http://schemas.microsoft.com/office/drawing/2014/main" id="{EFC0EDDA-4ABC-7BA7-A591-753C406E3280}"/>
              </a:ext>
            </a:extLst>
          </p:cNvPr>
          <p:cNvSpPr>
            <a:spLocks noChangeArrowheads="1"/>
          </p:cNvSpPr>
          <p:nvPr/>
        </p:nvSpPr>
        <p:spPr bwMode="auto">
          <a:xfrm>
            <a:off x="250825" y="333375"/>
            <a:ext cx="8353425" cy="5630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800100" indent="-34290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lvl="1" eaLnBrk="1" hangingPunct="1">
              <a:lnSpc>
                <a:spcPct val="80000"/>
              </a:lnSpc>
              <a:buClr>
                <a:schemeClr val="accent2"/>
              </a:buClr>
              <a:buSzTx/>
              <a:buFont typeface="Wingdings" panose="05000000000000000000" pitchFamily="2" charset="2"/>
              <a:buNone/>
            </a:pPr>
            <a:r>
              <a:rPr lang="pl-PL" altLang="pl-PL" sz="2400" b="1">
                <a:solidFill>
                  <a:schemeClr val="accent2"/>
                </a:solidFill>
                <a:latin typeface="Verdana" panose="020B0604030504040204" pitchFamily="34" charset="0"/>
              </a:rPr>
              <a:t>D.</a:t>
            </a:r>
            <a:r>
              <a:rPr lang="pl-PL" altLang="pl-PL" sz="1800">
                <a:solidFill>
                  <a:schemeClr val="tx1"/>
                </a:solidFill>
                <a:latin typeface="Verdana" panose="020B0604030504040204" pitchFamily="34" charset="0"/>
              </a:rPr>
              <a:t> </a:t>
            </a:r>
            <a:r>
              <a:rPr lang="pl-PL" altLang="pl-PL" sz="2400">
                <a:solidFill>
                  <a:schemeClr val="tx1"/>
                </a:solidFill>
                <a:latin typeface="Verdana" panose="020B0604030504040204" pitchFamily="34" charset="0"/>
              </a:rPr>
              <a:t>Zakaz poddawania świadka, który nie jest pokrzywdzonym, badaniom lub oględzinom ciała bez jego zgody (art. 192 par. 4 k.p.k.)</a:t>
            </a:r>
          </a:p>
          <a:p>
            <a:pPr lvl="1" eaLnBrk="1" hangingPunct="1">
              <a:lnSpc>
                <a:spcPct val="80000"/>
              </a:lnSpc>
              <a:buClr>
                <a:schemeClr val="accent2"/>
              </a:buClr>
              <a:buSzTx/>
              <a:buFont typeface="Wingdings" panose="05000000000000000000" pitchFamily="2" charset="2"/>
              <a:buNone/>
            </a:pPr>
            <a:r>
              <a:rPr lang="pl-PL" altLang="pl-PL" sz="2400" b="1">
                <a:solidFill>
                  <a:schemeClr val="accent2"/>
                </a:solidFill>
                <a:latin typeface="Verdana" panose="020B0604030504040204" pitchFamily="34" charset="0"/>
              </a:rPr>
              <a:t>E.</a:t>
            </a:r>
            <a:r>
              <a:rPr lang="pl-PL" altLang="pl-PL" sz="2400">
                <a:solidFill>
                  <a:schemeClr val="tx1"/>
                </a:solidFill>
                <a:latin typeface="Verdana" panose="020B0604030504040204" pitchFamily="34" charset="0"/>
              </a:rPr>
              <a:t> Zakaz przesłuchiwania jako świadków (powołania jako biegłych lub tłumaczy) osób objętych immunitetem dyplomatycznym lub konsularnym bez ich zgody (art. 581 i 582 k.p.k.) </a:t>
            </a:r>
          </a:p>
          <a:p>
            <a:pPr lvl="1" eaLnBrk="1" hangingPunct="1">
              <a:lnSpc>
                <a:spcPct val="80000"/>
              </a:lnSpc>
              <a:buClr>
                <a:schemeClr val="accent2"/>
              </a:buClr>
              <a:buSzTx/>
              <a:buFont typeface="Wingdings" panose="05000000000000000000" pitchFamily="2" charset="2"/>
              <a:buNone/>
            </a:pPr>
            <a:endParaRPr lang="pl-PL" altLang="pl-PL" sz="2400">
              <a:solidFill>
                <a:schemeClr val="tx1"/>
              </a:solidFill>
              <a:latin typeface="Verdana" panose="020B0604030504040204" pitchFamily="34" charset="0"/>
            </a:endParaRPr>
          </a:p>
          <a:p>
            <a:r>
              <a:rPr lang="pl-PL" altLang="pl-PL" sz="2400"/>
              <a:t>Art. 192 §  1 k.p.k.</a:t>
            </a:r>
          </a:p>
          <a:p>
            <a:r>
              <a:rPr lang="pl-PL" altLang="pl-PL" sz="2400"/>
              <a:t> Jeżeli karalność czynu zależy od stanu zdrowia pokrzywdzonego, nie może on sprzeciwić się oględzinom i badaniom niepołączonym z zabiegiem chirurgicznym lub obserwacją w zakładzie leczniczym.</a:t>
            </a:r>
            <a:endParaRPr lang="pl-PL" altLang="pl-PL" sz="2400">
              <a:solidFill>
                <a:schemeClr val="tx1"/>
              </a:solidFill>
              <a:latin typeface="Verdana" panose="020B0604030504040204" pitchFamily="34" charset="0"/>
            </a:endParaRPr>
          </a:p>
          <a:p>
            <a:pPr lvl="1" eaLnBrk="1" hangingPunct="1">
              <a:lnSpc>
                <a:spcPct val="80000"/>
              </a:lnSpc>
              <a:buClr>
                <a:schemeClr val="accent2"/>
              </a:buClr>
              <a:buSzTx/>
              <a:buFont typeface="Wingdings" panose="05000000000000000000" pitchFamily="2" charset="2"/>
              <a:buNone/>
            </a:pPr>
            <a:endParaRPr lang="pl-PL" altLang="pl-PL" sz="2400">
              <a:solidFill>
                <a:schemeClr val="tx1"/>
              </a:solidFill>
              <a:latin typeface="Verdana" panose="020B0604030504040204" pitchFamily="34" charset="0"/>
            </a:endParaRPr>
          </a:p>
          <a:p>
            <a:pPr eaLnBrk="1" hangingPunct="1">
              <a:spcBef>
                <a:spcPct val="0"/>
              </a:spcBef>
              <a:buClrTx/>
              <a:buSzTx/>
              <a:buFontTx/>
              <a:buNone/>
            </a:pPr>
            <a:endParaRPr lang="pl-PL" altLang="pl-PL" sz="2400">
              <a:solidFill>
                <a:schemeClr val="tx1"/>
              </a:solidFill>
              <a:latin typeface="Verdana" panose="020B0604030504040204" pitchFamily="34" charset="0"/>
            </a:endParaRPr>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E32DF52B-1AF1-3D74-73E1-525BF35FC9DA}"/>
              </a:ext>
            </a:extLst>
          </p:cNvPr>
          <p:cNvSpPr>
            <a:spLocks noGrp="1" noChangeArrowheads="1"/>
          </p:cNvSpPr>
          <p:nvPr>
            <p:ph type="body" idx="1"/>
          </p:nvPr>
        </p:nvSpPr>
        <p:spPr>
          <a:xfrm>
            <a:off x="0" y="0"/>
            <a:ext cx="8966200" cy="5373688"/>
          </a:xfrm>
        </p:spPr>
        <p:txBody>
          <a:bodyPr/>
          <a:lstStyle/>
          <a:p>
            <a:pPr eaLnBrk="1" hangingPunct="1">
              <a:lnSpc>
                <a:spcPct val="80000"/>
              </a:lnSpc>
              <a:buFont typeface="Wingdings" panose="05000000000000000000" pitchFamily="2" charset="2"/>
              <a:buNone/>
            </a:pPr>
            <a:endParaRPr lang="pl-PL" altLang="pl-PL" b="1"/>
          </a:p>
          <a:p>
            <a:pPr eaLnBrk="1" hangingPunct="1">
              <a:lnSpc>
                <a:spcPct val="80000"/>
              </a:lnSpc>
              <a:buFont typeface="Wingdings" panose="05000000000000000000" pitchFamily="2" charset="2"/>
              <a:buNone/>
            </a:pPr>
            <a:endParaRPr lang="pl-PL" altLang="pl-PL" b="1"/>
          </a:p>
          <a:p>
            <a:pPr eaLnBrk="1" hangingPunct="1">
              <a:lnSpc>
                <a:spcPct val="80000"/>
              </a:lnSpc>
              <a:buFont typeface="Wingdings" panose="05000000000000000000" pitchFamily="2" charset="2"/>
              <a:buNone/>
            </a:pPr>
            <a:endParaRPr lang="pl-PL" altLang="pl-PL" b="1"/>
          </a:p>
          <a:p>
            <a:pPr algn="ctr" eaLnBrk="1" hangingPunct="1">
              <a:lnSpc>
                <a:spcPct val="80000"/>
              </a:lnSpc>
              <a:buFont typeface="Wingdings" panose="05000000000000000000" pitchFamily="2" charset="2"/>
              <a:buNone/>
            </a:pPr>
            <a:endParaRPr lang="pl-PL" altLang="pl-PL" sz="3600" b="1"/>
          </a:p>
          <a:p>
            <a:pPr algn="ctr" eaLnBrk="1" hangingPunct="1">
              <a:lnSpc>
                <a:spcPct val="80000"/>
              </a:lnSpc>
              <a:buFont typeface="Wingdings" panose="05000000000000000000" pitchFamily="2" charset="2"/>
              <a:buNone/>
            </a:pPr>
            <a:r>
              <a:rPr lang="pl-PL" altLang="pl-PL" sz="3600" b="1">
                <a:solidFill>
                  <a:srgbClr val="00B050"/>
                </a:solidFill>
              </a:rPr>
              <a:t>Ad. 2 Zakaz wykorzystania określonych środków dowodowych </a:t>
            </a:r>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28466F05-E94D-2FD6-7A56-242CDE4906ED}"/>
              </a:ext>
            </a:extLst>
          </p:cNvPr>
          <p:cNvSpPr>
            <a:spLocks noGrp="1" noChangeArrowheads="1"/>
          </p:cNvSpPr>
          <p:nvPr>
            <p:ph type="body" idx="1"/>
          </p:nvPr>
        </p:nvSpPr>
        <p:spPr>
          <a:xfrm>
            <a:off x="250825" y="1052513"/>
            <a:ext cx="8713788" cy="5113337"/>
          </a:xfrm>
        </p:spPr>
        <p:txBody>
          <a:bodyPr/>
          <a:lstStyle/>
          <a:p>
            <a:pPr marL="571500" indent="-571500" eaLnBrk="1" hangingPunct="1">
              <a:buFont typeface="Wingdings" panose="05000000000000000000" pitchFamily="2" charset="2"/>
              <a:buAutoNum type="alphaUcPeriod"/>
            </a:pPr>
            <a:r>
              <a:rPr lang="pl-PL" altLang="pl-PL" sz="2400"/>
              <a:t>Nie wolno wykorzystać w procesie wyjaśnień, zeznań i oświadczeń złożonych w warunkach wyłączających swobodę wypowiedzi (art. 171 par. 7 k.p.k.)</a:t>
            </a:r>
          </a:p>
          <a:p>
            <a:pPr marL="571500" indent="-571500" eaLnBrk="1" hangingPunct="1">
              <a:buFont typeface="Wingdings" panose="05000000000000000000" pitchFamily="2" charset="2"/>
              <a:buAutoNum type="alphaUcPeriod"/>
            </a:pPr>
            <a:r>
              <a:rPr lang="pl-PL" altLang="pl-PL" sz="2400"/>
              <a:t>Nie wolno wykorzystać w procesie 	wyjaśnień, zeznań i oświadczeń uzyskanych w wyniku stosowania hipnozy albo środków chemicznych lub technicznych wpływających na procesy psychiczne osoby przesłuchiwanej albo mających na celu kontrolę nieświadomych reakcji jej organizmu </a:t>
            </a:r>
            <a:r>
              <a:rPr lang="pl-PL" altLang="pl-PL" sz="2400" b="1"/>
              <a:t>w związku z przesłuchaniem</a:t>
            </a:r>
            <a:r>
              <a:rPr lang="pl-PL" altLang="pl-PL" sz="2400"/>
              <a:t> (art. 171 par. 7 k.p.k.)</a:t>
            </a:r>
          </a:p>
          <a:p>
            <a:pPr marL="571500" indent="-571500" eaLnBrk="1" hangingPunct="1">
              <a:buFont typeface="Wingdings" panose="05000000000000000000" pitchFamily="2" charset="2"/>
              <a:buAutoNum type="alphaUcPeriod"/>
            </a:pPr>
            <a:endParaRPr lang="pl-PL" altLang="pl-PL" sz="2600"/>
          </a:p>
          <a:p>
            <a:pPr marL="571500" indent="-571500" eaLnBrk="1" hangingPunct="1"/>
            <a:endParaRPr lang="pl-PL" altLang="pl-PL" sz="2600"/>
          </a:p>
          <a:p>
            <a:pPr marL="571500" indent="-571500" eaLnBrk="1" hangingPunct="1">
              <a:buFont typeface="Wingdings" panose="05000000000000000000" pitchFamily="2" charset="2"/>
              <a:buAutoNum type="alphaUcPeriod"/>
            </a:pPr>
            <a:endParaRPr lang="pl-PL" altLang="pl-PL" sz="2400"/>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D0A6AF2F-4361-5297-E71E-313A55C32324}"/>
              </a:ext>
            </a:extLst>
          </p:cNvPr>
          <p:cNvSpPr>
            <a:spLocks noGrp="1" noChangeArrowheads="1"/>
          </p:cNvSpPr>
          <p:nvPr>
            <p:ph type="body" idx="1"/>
          </p:nvPr>
        </p:nvSpPr>
        <p:spPr>
          <a:xfrm>
            <a:off x="250825" y="1700213"/>
            <a:ext cx="8642350" cy="4465637"/>
          </a:xfrm>
        </p:spPr>
        <p:txBody>
          <a:bodyPr/>
          <a:lstStyle/>
          <a:p>
            <a:pPr eaLnBrk="1" hangingPunct="1">
              <a:lnSpc>
                <a:spcPct val="90000"/>
              </a:lnSpc>
              <a:buFont typeface="Wingdings" panose="05000000000000000000" pitchFamily="2" charset="2"/>
              <a:buNone/>
            </a:pPr>
            <a:r>
              <a:rPr lang="pl-PL" altLang="pl-PL" sz="4000" b="1">
                <a:solidFill>
                  <a:srgbClr val="C00000"/>
                </a:solidFill>
              </a:rPr>
              <a:t>C.</a:t>
            </a:r>
            <a:r>
              <a:rPr lang="pl-PL" altLang="pl-PL" sz="2100" b="1">
                <a:solidFill>
                  <a:srgbClr val="C00000"/>
                </a:solidFill>
              </a:rPr>
              <a:t> </a:t>
            </a:r>
            <a:r>
              <a:rPr lang="pl-PL" altLang="pl-PL" sz="4800"/>
              <a:t>Nie wolno wykorzystać w procesie treści pism,  zapisków i notatek urzędowych mających zastąpić dowód z wyjaśnień lub zeznań (art. 174 k.p.k.)</a:t>
            </a:r>
          </a:p>
          <a:p>
            <a:pPr eaLnBrk="1" hangingPunct="1">
              <a:lnSpc>
                <a:spcPct val="90000"/>
              </a:lnSpc>
              <a:buFont typeface="Wingdings" panose="05000000000000000000" pitchFamily="2" charset="2"/>
              <a:buNone/>
            </a:pPr>
            <a:endParaRPr lang="pl-PL" altLang="pl-PL" sz="2100"/>
          </a:p>
          <a:p>
            <a:pPr eaLnBrk="1" hangingPunct="1">
              <a:lnSpc>
                <a:spcPct val="90000"/>
              </a:lnSpc>
              <a:buFont typeface="Wingdings" panose="05000000000000000000" pitchFamily="2" charset="2"/>
              <a:buNone/>
            </a:pPr>
            <a:endParaRPr lang="pl-PL" altLang="pl-PL" sz="2100"/>
          </a:p>
          <a:p>
            <a:pPr eaLnBrk="1" hangingPunct="1">
              <a:lnSpc>
                <a:spcPct val="90000"/>
              </a:lnSpc>
              <a:buFont typeface="Wingdings" panose="05000000000000000000" pitchFamily="2" charset="2"/>
              <a:buNone/>
            </a:pPr>
            <a:endParaRPr lang="pl-PL" altLang="pl-PL" sz="2100"/>
          </a:p>
          <a:p>
            <a:pPr eaLnBrk="1" hangingPunct="1">
              <a:lnSpc>
                <a:spcPct val="90000"/>
              </a:lnSpc>
            </a:pPr>
            <a:endParaRPr lang="pl-PL" altLang="pl-PL" sz="2100">
              <a:solidFill>
                <a:schemeClr val="accent2"/>
              </a:solidFill>
            </a:endParaRPr>
          </a:p>
          <a:p>
            <a:pPr eaLnBrk="1" hangingPunct="1">
              <a:lnSpc>
                <a:spcPct val="90000"/>
              </a:lnSpc>
              <a:buFont typeface="Wingdings" panose="05000000000000000000" pitchFamily="2" charset="2"/>
              <a:buNone/>
            </a:pPr>
            <a:endParaRPr lang="pl-PL" altLang="pl-PL" sz="2100" i="1"/>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5" name="Rectangle 3">
            <a:extLst>
              <a:ext uri="{FF2B5EF4-FFF2-40B4-BE49-F238E27FC236}">
                <a16:creationId xmlns:a16="http://schemas.microsoft.com/office/drawing/2014/main" id="{21659D24-2C95-C90B-3055-28224E97DFD8}"/>
              </a:ext>
            </a:extLst>
          </p:cNvPr>
          <p:cNvSpPr>
            <a:spLocks noGrp="1" noChangeArrowheads="1"/>
          </p:cNvSpPr>
          <p:nvPr>
            <p:ph type="body" idx="1"/>
          </p:nvPr>
        </p:nvSpPr>
        <p:spPr>
          <a:xfrm>
            <a:off x="250825" y="-531813"/>
            <a:ext cx="8435975" cy="6627813"/>
          </a:xfrm>
        </p:spPr>
        <p:txBody>
          <a:bodyPr>
            <a:normAutofit fontScale="92500" lnSpcReduction="20000"/>
          </a:bodyPr>
          <a:lstStyle/>
          <a:p>
            <a:pPr eaLnBrk="1" hangingPunct="1">
              <a:lnSpc>
                <a:spcPct val="80000"/>
              </a:lnSpc>
              <a:defRPr/>
            </a:pPr>
            <a:endParaRPr lang="pl-PL" sz="1000" i="1" dirty="0"/>
          </a:p>
          <a:p>
            <a:pPr eaLnBrk="1" hangingPunct="1">
              <a:lnSpc>
                <a:spcPct val="80000"/>
              </a:lnSpc>
              <a:defRPr/>
            </a:pPr>
            <a:endParaRPr lang="pl-PL" sz="1000" i="1" dirty="0"/>
          </a:p>
          <a:p>
            <a:pPr eaLnBrk="1" hangingPunct="1">
              <a:lnSpc>
                <a:spcPct val="80000"/>
              </a:lnSpc>
              <a:defRPr/>
            </a:pPr>
            <a:endParaRPr lang="pl-PL" sz="1400" i="1" dirty="0"/>
          </a:p>
          <a:p>
            <a:pPr eaLnBrk="1" hangingPunct="1">
              <a:lnSpc>
                <a:spcPct val="80000"/>
              </a:lnSpc>
              <a:defRPr/>
            </a:pPr>
            <a:endParaRPr lang="pl-PL" sz="1400" i="1" dirty="0"/>
          </a:p>
          <a:p>
            <a:pPr eaLnBrk="1" hangingPunct="1">
              <a:lnSpc>
                <a:spcPct val="80000"/>
              </a:lnSpc>
              <a:defRPr/>
            </a:pPr>
            <a:endParaRPr lang="pl-PL" sz="1400" i="1" dirty="0"/>
          </a:p>
          <a:p>
            <a:pPr marL="0" indent="0" algn="just" eaLnBrk="1" hangingPunct="1">
              <a:lnSpc>
                <a:spcPct val="80000"/>
              </a:lnSpc>
              <a:buFont typeface="Wingdings" panose="05000000000000000000" pitchFamily="2" charset="2"/>
              <a:buNone/>
              <a:defRPr/>
            </a:pPr>
            <a:r>
              <a:rPr lang="pl-PL" sz="4800" b="1" i="1" dirty="0"/>
              <a:t>Dyspozycja  art. 174 k.p.k. stoi na straży zasady bezpośredniości, zgodnie z którą organ procesowy powinien zetknąć się w toku postępowania zarówno ze źródłem jak  i środkiem dowodowym. </a:t>
            </a:r>
          </a:p>
          <a:p>
            <a:pPr eaLnBrk="1" hangingPunct="1">
              <a:lnSpc>
                <a:spcPct val="80000"/>
              </a:lnSpc>
              <a:defRPr/>
            </a:pPr>
            <a:endParaRPr lang="pl-PL" sz="2800" dirty="0"/>
          </a:p>
          <a:p>
            <a:pPr eaLnBrk="1" hangingPunct="1">
              <a:lnSpc>
                <a:spcPct val="80000"/>
              </a:lnSpc>
              <a:buFont typeface="Wingdings" panose="05000000000000000000" pitchFamily="2" charset="2"/>
              <a:buNone/>
              <a:defRPr/>
            </a:pPr>
            <a:endParaRPr lang="pl-PL" sz="2800" dirty="0"/>
          </a:p>
          <a:p>
            <a:pPr eaLnBrk="1" hangingPunct="1">
              <a:lnSpc>
                <a:spcPct val="80000"/>
              </a:lnSpc>
              <a:defRPr/>
            </a:pPr>
            <a:endParaRPr lang="pl-PL" sz="1800" dirty="0"/>
          </a:p>
          <a:p>
            <a:pPr eaLnBrk="1" hangingPunct="1">
              <a:lnSpc>
                <a:spcPct val="80000"/>
              </a:lnSpc>
              <a:defRPr/>
            </a:pPr>
            <a:endParaRPr lang="pl-PL" sz="1800" dirty="0"/>
          </a:p>
          <a:p>
            <a:pPr eaLnBrk="1" hangingPunct="1">
              <a:lnSpc>
                <a:spcPct val="80000"/>
              </a:lnSpc>
              <a:defRPr/>
            </a:pPr>
            <a:endParaRPr lang="pl-PL" sz="2800" b="1" dirty="0"/>
          </a:p>
          <a:p>
            <a:pPr eaLnBrk="1" hangingPunct="1">
              <a:lnSpc>
                <a:spcPct val="80000"/>
              </a:lnSpc>
              <a:defRPr/>
            </a:pPr>
            <a:endParaRPr lang="pl-PL" sz="1800" dirty="0"/>
          </a:p>
          <a:p>
            <a:pPr eaLnBrk="1" hangingPunct="1">
              <a:lnSpc>
                <a:spcPct val="80000"/>
              </a:lnSpc>
              <a:buFont typeface="Wingdings" panose="05000000000000000000" pitchFamily="2" charset="2"/>
              <a:buNone/>
              <a:defRPr/>
            </a:pPr>
            <a:endParaRPr lang="pl-PL" sz="1000" i="1" dirty="0"/>
          </a:p>
          <a:p>
            <a:pPr eaLnBrk="1" hangingPunct="1">
              <a:lnSpc>
                <a:spcPct val="80000"/>
              </a:lnSpc>
              <a:buFont typeface="Wingdings" panose="05000000000000000000" pitchFamily="2" charset="2"/>
              <a:buNone/>
              <a:defRPr/>
            </a:pPr>
            <a:r>
              <a:rPr lang="pl-PL" sz="1000" i="1" dirty="0"/>
              <a:t>	</a:t>
            </a:r>
            <a:endParaRPr lang="pl-PL" sz="1000" b="1" i="1" dirty="0"/>
          </a:p>
          <a:p>
            <a:pPr eaLnBrk="1" hangingPunct="1">
              <a:lnSpc>
                <a:spcPct val="80000"/>
              </a:lnSpc>
              <a:buFont typeface="Wingdings" panose="05000000000000000000" pitchFamily="2" charset="2"/>
              <a:buNone/>
              <a:defRPr/>
            </a:pPr>
            <a:r>
              <a:rPr lang="pl-PL" sz="1000" b="1" i="1" dirty="0"/>
              <a:t>  </a:t>
            </a:r>
          </a:p>
          <a:p>
            <a:pPr eaLnBrk="1" hangingPunct="1">
              <a:lnSpc>
                <a:spcPct val="80000"/>
              </a:lnSpc>
              <a:buFont typeface="Wingdings" panose="05000000000000000000" pitchFamily="2" charset="2"/>
              <a:buNone/>
              <a:defRPr/>
            </a:pPr>
            <a:endParaRPr lang="pl-PL" sz="1000" b="1" dirty="0"/>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Rectangle 3">
            <a:extLst>
              <a:ext uri="{FF2B5EF4-FFF2-40B4-BE49-F238E27FC236}">
                <a16:creationId xmlns:a16="http://schemas.microsoft.com/office/drawing/2014/main" id="{AC4C2884-0FD0-1246-4F9D-DC9E281BDD13}"/>
              </a:ext>
            </a:extLst>
          </p:cNvPr>
          <p:cNvSpPr>
            <a:spLocks noGrp="1" noChangeArrowheads="1"/>
          </p:cNvSpPr>
          <p:nvPr>
            <p:ph type="body" idx="1"/>
          </p:nvPr>
        </p:nvSpPr>
        <p:spPr>
          <a:xfrm>
            <a:off x="457200" y="260350"/>
            <a:ext cx="8229600" cy="5835650"/>
          </a:xfrm>
        </p:spPr>
        <p:txBody>
          <a:bodyPr/>
          <a:lstStyle/>
          <a:p>
            <a:pPr marL="266700" indent="-266700" eaLnBrk="1" hangingPunct="1"/>
            <a:r>
              <a:rPr lang="pl-PL" altLang="pl-PL"/>
              <a:t>Zakaz substytuowania dowodu przewidziany w art. 174 nie oznacza zakazu wykorzystywania przez odczytanie wszelkich wcześniejszych oświadczeń oskarżonego w formie listów, zapisków, notatek itd. (zob. art. 393 § 3), jeżeli służyć to ma weryfikacji wyjaśnień czy zeznań, a nie ich zastępowaniu (zob. wyrok SN z 12 września 1972 r., V KRN 361/72, OSNKW 1/1973, poz. 12).</a:t>
            </a:r>
          </a:p>
          <a:p>
            <a:pPr marL="266700" indent="-266700" eaLnBrk="1" hangingPunct="1">
              <a:buFont typeface="Wingdings" panose="05000000000000000000" pitchFamily="2" charset="2"/>
              <a:buNone/>
            </a:pPr>
            <a:endParaRPr lang="pl-PL" altLang="pl-PL"/>
          </a:p>
          <a:p>
            <a:pPr marL="266700" indent="-266700" eaLnBrk="1" hangingPunct="1"/>
            <a:endParaRPr lang="pl-PL" altLang="pl-PL"/>
          </a:p>
          <a:p>
            <a:pPr marL="266700" indent="-266700" eaLnBrk="1" hangingPunct="1"/>
            <a:endParaRPr lang="pl-PL" altLang="pl-PL" sz="3300" i="1"/>
          </a:p>
        </p:txBody>
      </p:sp>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Rectangle 3">
            <a:extLst>
              <a:ext uri="{FF2B5EF4-FFF2-40B4-BE49-F238E27FC236}">
                <a16:creationId xmlns:a16="http://schemas.microsoft.com/office/drawing/2014/main" id="{D92D5CF9-74C6-ECC8-CB26-508BBD27B3A3}"/>
              </a:ext>
            </a:extLst>
          </p:cNvPr>
          <p:cNvSpPr>
            <a:spLocks noGrp="1" noChangeArrowheads="1"/>
          </p:cNvSpPr>
          <p:nvPr>
            <p:ph type="body" idx="1"/>
          </p:nvPr>
        </p:nvSpPr>
        <p:spPr>
          <a:xfrm>
            <a:off x="0" y="-242888"/>
            <a:ext cx="8686800" cy="6338888"/>
          </a:xfrm>
        </p:spPr>
        <p:txBody>
          <a:bodyPr/>
          <a:lstStyle/>
          <a:p>
            <a:pPr eaLnBrk="1" hangingPunct="1">
              <a:lnSpc>
                <a:spcPct val="80000"/>
              </a:lnSpc>
              <a:buFont typeface="Wingdings" panose="05000000000000000000" pitchFamily="2" charset="2"/>
              <a:buNone/>
            </a:pPr>
            <a:endParaRPr lang="pl-PL" altLang="pl-PL" sz="2400"/>
          </a:p>
          <a:p>
            <a:pPr eaLnBrk="1" hangingPunct="1">
              <a:lnSpc>
                <a:spcPct val="80000"/>
              </a:lnSpc>
            </a:pPr>
            <a:endParaRPr lang="pl-PL" altLang="pl-PL" sz="2400"/>
          </a:p>
          <a:p>
            <a:pPr eaLnBrk="1" hangingPunct="1">
              <a:lnSpc>
                <a:spcPct val="80000"/>
              </a:lnSpc>
            </a:pPr>
            <a:endParaRPr lang="pl-PL" altLang="pl-PL" sz="2400"/>
          </a:p>
          <a:p>
            <a:pPr eaLnBrk="1" hangingPunct="1">
              <a:lnSpc>
                <a:spcPct val="80000"/>
              </a:lnSpc>
            </a:pPr>
            <a:r>
              <a:rPr lang="pl-PL" altLang="pl-PL" sz="2400"/>
              <a:t>Oświadczenie pisemne oskarżonego, które zostało złożone w toczącym się postępowaniu karnym dla celów tego postępowania, stanowi dokument mający zastąpić protokół jego przesłuchania, dlatego też ze względu na ten charakter nie należy do kategorii dokumentów, które wolno odczytywać na rozprawie (…).</a:t>
            </a:r>
          </a:p>
          <a:p>
            <a:pPr eaLnBrk="1" hangingPunct="1">
              <a:lnSpc>
                <a:spcPct val="80000"/>
              </a:lnSpc>
              <a:buFont typeface="Wingdings" panose="05000000000000000000" pitchFamily="2" charset="2"/>
              <a:buNone/>
            </a:pPr>
            <a:r>
              <a:rPr lang="pl-PL" altLang="pl-PL" sz="2400"/>
              <a:t>	Oświadczenie pisemne oskarżonego złożone w postępowaniu przygotowawczym, jeśli dotyczy okoliczności istotnych dla rozstrzygnięcia o zarzucie, </a:t>
            </a:r>
            <a:r>
              <a:rPr lang="pl-PL" altLang="pl-PL" sz="2400" b="1">
                <a:solidFill>
                  <a:srgbClr val="00B050"/>
                </a:solidFill>
              </a:rPr>
              <a:t>stanowi informację o dowodzie</a:t>
            </a:r>
            <a:r>
              <a:rPr lang="pl-PL" altLang="pl-PL" sz="2400"/>
              <a:t> i ze względu na ten charakter nakłada na organ, przed którym toczy się postępowanie, obowiązek przesłuchania oskarżonego co do okoliczności, o których jest mowa w oświadczeniu – </a:t>
            </a:r>
            <a:r>
              <a:rPr lang="pl-PL" altLang="pl-PL" sz="2400" i="1"/>
              <a:t>wyrok Sądu Najwyższego z 29.03.1971 r., IV KR 28/71, OSNKW 1971/9/132</a:t>
            </a:r>
          </a:p>
          <a:p>
            <a:pPr eaLnBrk="1" hangingPunct="1">
              <a:lnSpc>
                <a:spcPct val="80000"/>
              </a:lnSpc>
              <a:buFont typeface="Wingdings" panose="05000000000000000000" pitchFamily="2" charset="2"/>
              <a:buNone/>
            </a:pPr>
            <a:endParaRPr lang="pl-PL" altLang="pl-PL" sz="2400" i="1"/>
          </a:p>
          <a:p>
            <a:pPr eaLnBrk="1" hangingPunct="1">
              <a:lnSpc>
                <a:spcPct val="80000"/>
              </a:lnSpc>
            </a:pPr>
            <a:endParaRPr lang="pl-PL" altLang="pl-PL" sz="2400"/>
          </a:p>
          <a:p>
            <a:pPr eaLnBrk="1" hangingPunct="1">
              <a:lnSpc>
                <a:spcPct val="80000"/>
              </a:lnSpc>
            </a:pPr>
            <a:endParaRPr lang="pl-PL" altLang="pl-PL" sz="2800"/>
          </a:p>
          <a:p>
            <a:pPr eaLnBrk="1" hangingPunct="1">
              <a:lnSpc>
                <a:spcPct val="80000"/>
              </a:lnSpc>
            </a:pPr>
            <a:endParaRPr lang="pl-PL" altLang="pl-PL" sz="2800" i="1"/>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Rectangle 3">
            <a:extLst>
              <a:ext uri="{FF2B5EF4-FFF2-40B4-BE49-F238E27FC236}">
                <a16:creationId xmlns:a16="http://schemas.microsoft.com/office/drawing/2014/main" id="{93CF7472-9E8D-B1DB-4B89-7626B874E97F}"/>
              </a:ext>
            </a:extLst>
          </p:cNvPr>
          <p:cNvSpPr>
            <a:spLocks noGrp="1" noChangeArrowheads="1"/>
          </p:cNvSpPr>
          <p:nvPr>
            <p:ph type="body" idx="1"/>
          </p:nvPr>
        </p:nvSpPr>
        <p:spPr>
          <a:xfrm>
            <a:off x="179388" y="333375"/>
            <a:ext cx="8713787" cy="6335713"/>
          </a:xfrm>
        </p:spPr>
        <p:txBody>
          <a:bodyPr/>
          <a:lstStyle/>
          <a:p>
            <a:pPr eaLnBrk="1" hangingPunct="1">
              <a:lnSpc>
                <a:spcPct val="80000"/>
              </a:lnSpc>
            </a:pPr>
            <a:r>
              <a:rPr lang="pl-PL" altLang="pl-PL" sz="2400"/>
              <a:t>Przesłuchanie świadka (utrwalenie dowodu z zeznań świadka) wymaga zawsze spisania protokołu, tzn. inna forma dokonania tej czynności nie jest dopuszczalna. W szczególności nie jest dopuszczalne sporządzenie z przesłuchania świadka notatki urzędowej. Odstąpienie od obowiązku nałożonego przez kodeks i sporządzenie z przesłuchania świadka notatki urzędowej (służbowej) nie otwiera możliwości wykorzystania notatki jako dowodu. Wręcz przeciwnie - Kodeks postępowania karnego w art. 174 expressis verbis zakazuje wszelkiego substytuowania dowodów z zeznań świadka innymi środkami dowodowymi (pismami, zapiskami, notatkami urzędowymi). Zakaz ten ma co najmniej dwie funkcje procesowe. </a:t>
            </a:r>
            <a:r>
              <a:rPr lang="pl-PL" altLang="pl-PL" sz="2400" b="1">
                <a:solidFill>
                  <a:srgbClr val="C00000"/>
                </a:solidFill>
              </a:rPr>
              <a:t>Art. 174 kpk jest po pierwsze refleksem konieczności zapewnienia przestrzegania w postępowaniu karnym zasady bezpośredniości. Po drugie, przepis art. 174 kpk podkreśla ustawowy nakaz odbierania wyjaśnień oskarżonego lub zeznań świadka tylko w formie protokolarnej </a:t>
            </a:r>
            <a:r>
              <a:rPr lang="pl-PL" altLang="pl-PL" sz="2400"/>
              <a:t>– </a:t>
            </a:r>
            <a:r>
              <a:rPr lang="pl-PL" altLang="pl-PL" sz="1800" i="1"/>
              <a:t>wyrok Sądu Najwyższego z 24.10.2001 r., III KKN 545/99, LEX nr 51943; art. 143 par. 1 pkt 2</a:t>
            </a:r>
            <a:r>
              <a:rPr lang="pl-PL" altLang="pl-PL" sz="2000" i="1"/>
              <a:t> </a:t>
            </a:r>
            <a:r>
              <a:rPr lang="pl-PL" altLang="pl-PL" sz="1800" i="1"/>
              <a:t>k.p.k.</a:t>
            </a:r>
          </a:p>
          <a:p>
            <a:pPr eaLnBrk="1" hangingPunct="1">
              <a:lnSpc>
                <a:spcPct val="80000"/>
              </a:lnSpc>
            </a:pPr>
            <a:endParaRPr lang="pl-PL" altLang="pl-PL" sz="2000" i="1"/>
          </a:p>
          <a:p>
            <a:pPr eaLnBrk="1" hangingPunct="1">
              <a:lnSpc>
                <a:spcPct val="80000"/>
              </a:lnSpc>
              <a:buFont typeface="Wingdings" panose="05000000000000000000" pitchFamily="2" charset="2"/>
              <a:buNone/>
            </a:pPr>
            <a:endParaRPr lang="pl-PL" altLang="pl-PL" sz="2400"/>
          </a:p>
        </p:txBody>
      </p:sp>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Rectangle 3">
            <a:extLst>
              <a:ext uri="{FF2B5EF4-FFF2-40B4-BE49-F238E27FC236}">
                <a16:creationId xmlns:a16="http://schemas.microsoft.com/office/drawing/2014/main" id="{6A7BBD44-9417-1A98-F9CA-A56FB915644F}"/>
              </a:ext>
            </a:extLst>
          </p:cNvPr>
          <p:cNvSpPr>
            <a:spLocks noGrp="1" noChangeArrowheads="1"/>
          </p:cNvSpPr>
          <p:nvPr>
            <p:ph type="body" idx="1"/>
          </p:nvPr>
        </p:nvSpPr>
        <p:spPr>
          <a:xfrm>
            <a:off x="107950" y="188913"/>
            <a:ext cx="8785225" cy="6480175"/>
          </a:xfrm>
        </p:spPr>
        <p:txBody>
          <a:bodyPr/>
          <a:lstStyle/>
          <a:p>
            <a:r>
              <a:rPr lang="pl-PL" altLang="pl-PL" sz="3600" b="1"/>
              <a:t>Wyrok </a:t>
            </a:r>
            <a:r>
              <a:rPr lang="pl-PL" altLang="pl-PL" sz="3600"/>
              <a:t>Sądu Najwyższego z dnia 10 września 2013 r. </a:t>
            </a:r>
            <a:r>
              <a:rPr lang="pl-PL" altLang="pl-PL" sz="3600" b="1"/>
              <a:t>III KK 84/13</a:t>
            </a:r>
            <a:endParaRPr lang="pl-PL" altLang="pl-PL" sz="3600"/>
          </a:p>
          <a:p>
            <a:r>
              <a:rPr lang="pl-PL" altLang="pl-PL" sz="3600"/>
              <a:t>Przepis art. 174 k.p.k. przez "zastępowanie" zeznań świadka rozumie sytuację, w której organ procesowy ograniczył się do dowodowego wykorzystania dowodu z dokumentu, tj. pism, zapisków czy notatek, </a:t>
            </a:r>
            <a:r>
              <a:rPr lang="pl-PL" altLang="pl-PL" sz="3600" b="1">
                <a:solidFill>
                  <a:srgbClr val="C00000"/>
                </a:solidFill>
              </a:rPr>
              <a:t>mimo dostępności osobowego dowodu pierwotnego, czyli zeznań świadka.</a:t>
            </a:r>
          </a:p>
          <a:p>
            <a:pPr eaLnBrk="1" hangingPunct="1">
              <a:lnSpc>
                <a:spcPct val="80000"/>
              </a:lnSpc>
            </a:pPr>
            <a:endParaRPr lang="pl-PL" altLang="pl-PL" sz="2000" i="1"/>
          </a:p>
          <a:p>
            <a:pPr eaLnBrk="1" hangingPunct="1">
              <a:lnSpc>
                <a:spcPct val="80000"/>
              </a:lnSpc>
              <a:buFont typeface="Wingdings" panose="05000000000000000000" pitchFamily="2" charset="2"/>
              <a:buNone/>
            </a:pPr>
            <a:endParaRPr lang="pl-PL" altLang="pl-PL" sz="2400"/>
          </a:p>
        </p:txBody>
      </p:sp>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Rectangle 3">
            <a:extLst>
              <a:ext uri="{FF2B5EF4-FFF2-40B4-BE49-F238E27FC236}">
                <a16:creationId xmlns:a16="http://schemas.microsoft.com/office/drawing/2014/main" id="{469F8614-39A1-F1B9-8D75-612115C6EEFF}"/>
              </a:ext>
            </a:extLst>
          </p:cNvPr>
          <p:cNvSpPr>
            <a:spLocks noGrp="1" noChangeArrowheads="1"/>
          </p:cNvSpPr>
          <p:nvPr>
            <p:ph type="body" idx="1"/>
          </p:nvPr>
        </p:nvSpPr>
        <p:spPr>
          <a:xfrm>
            <a:off x="457200" y="404813"/>
            <a:ext cx="8229600" cy="5691187"/>
          </a:xfrm>
        </p:spPr>
        <p:txBody>
          <a:bodyPr/>
          <a:lstStyle/>
          <a:p>
            <a:pPr eaLnBrk="1" hangingPunct="1">
              <a:lnSpc>
                <a:spcPct val="90000"/>
              </a:lnSpc>
            </a:pPr>
            <a:r>
              <a:rPr lang="pl-PL" altLang="pl-PL" sz="2800"/>
              <a:t>Dokumenty urzędowe, wskazane w § 1 art. 393 k.p.k., to pisemne oświadczenia wystawione przez odpowiednie władze, organy, instytucje, a także osoby, gdy wystawiają one dokument z racji wykonywanej funkcji (np. lekarza), złożone do akt postępowania w jego toku, a więc np. świadectwa, zaświadczenia itd. Dokumenty prywatne, o jakich mowa w § 3, to oświadczenia pisemne powstałe poza postępowaniem, przeznaczone dla różnych, tak legalnych, jak i nielegalnych celów, a więc m.in. publikacje, w tym prasowe, listy prywatne mające znaczenie dla sprawy, przejęte tzw. grypsy, zajęte notatki prywatne itd. </a:t>
            </a:r>
            <a:r>
              <a:rPr lang="pl-PL" altLang="pl-PL" sz="2400"/>
              <a:t>(vide T. Grzegorczyk, Komentarz…)</a:t>
            </a:r>
          </a:p>
          <a:p>
            <a:pPr eaLnBrk="1" hangingPunct="1">
              <a:lnSpc>
                <a:spcPct val="90000"/>
              </a:lnSpc>
            </a:pPr>
            <a:endParaRPr lang="pl-PL" altLang="pl-PL" sz="2400"/>
          </a:p>
          <a:p>
            <a:pPr eaLnBrk="1" hangingPunct="1">
              <a:lnSpc>
                <a:spcPct val="90000"/>
              </a:lnSpc>
            </a:pPr>
            <a:endParaRPr lang="pl-PL" altLang="pl-PL" sz="2800"/>
          </a:p>
          <a:p>
            <a:pPr eaLnBrk="1" hangingPunct="1">
              <a:lnSpc>
                <a:spcPct val="90000"/>
              </a:lnSpc>
            </a:pPr>
            <a:endParaRPr lang="pl-PL" altLang="pl-PL" sz="2800"/>
          </a:p>
          <a:p>
            <a:pPr eaLnBrk="1" hangingPunct="1">
              <a:lnSpc>
                <a:spcPct val="90000"/>
              </a:lnSpc>
            </a:pPr>
            <a:endParaRPr lang="pl-PL" altLang="pl-PL" sz="2800"/>
          </a:p>
        </p:txBody>
      </p:sp>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Rectangle 3">
            <a:extLst>
              <a:ext uri="{FF2B5EF4-FFF2-40B4-BE49-F238E27FC236}">
                <a16:creationId xmlns:a16="http://schemas.microsoft.com/office/drawing/2014/main" id="{BB1B2A48-FCC0-C59E-565F-445FA48C339F}"/>
              </a:ext>
            </a:extLst>
          </p:cNvPr>
          <p:cNvSpPr>
            <a:spLocks noGrp="1" noChangeArrowheads="1"/>
          </p:cNvSpPr>
          <p:nvPr>
            <p:ph type="body" idx="1"/>
          </p:nvPr>
        </p:nvSpPr>
        <p:spPr>
          <a:xfrm>
            <a:off x="179388" y="188913"/>
            <a:ext cx="8507412" cy="5907087"/>
          </a:xfrm>
        </p:spPr>
        <p:txBody>
          <a:bodyPr>
            <a:normAutofit fontScale="92500"/>
          </a:bodyPr>
          <a:lstStyle/>
          <a:p>
            <a:r>
              <a:rPr lang="pl-PL" altLang="pl-PL" sz="3200"/>
              <a:t>Art.  393 §  1 k.p.k. </a:t>
            </a:r>
          </a:p>
          <a:p>
            <a:r>
              <a:rPr lang="pl-PL" altLang="pl-PL" sz="3200"/>
              <a:t> Wolno odczytywać na rozprawie protokoły oględzin, przeszukania i zatrzymania rzeczy, opinie biegłych, instytutów, zakładów lub instytucji, dane o karalności, wyniki wywiadu środowiskowego oraz wszelkie dokumenty urzędowe złożone w postępowaniu przygotowawczym lub sądowym albo w innym postępowaniu przewidzianym przez ustawę. </a:t>
            </a:r>
            <a:r>
              <a:rPr lang="pl-PL" altLang="pl-PL" sz="3200" b="1">
                <a:solidFill>
                  <a:srgbClr val="C00000"/>
                </a:solidFill>
              </a:rPr>
              <a:t>Nie wolno jednak odczytywać notatek dotyczących czynności, z których wymagane jest sporządzenie protokołu.</a:t>
            </a:r>
          </a:p>
          <a:p>
            <a:pPr eaLnBrk="1" hangingPunct="1">
              <a:lnSpc>
                <a:spcPct val="90000"/>
              </a:lnSpc>
            </a:pPr>
            <a:endParaRPr lang="pl-PL" altLang="pl-PL" sz="2400"/>
          </a:p>
          <a:p>
            <a:pPr eaLnBrk="1" hangingPunct="1">
              <a:lnSpc>
                <a:spcPct val="90000"/>
              </a:lnSpc>
            </a:pPr>
            <a:endParaRPr lang="pl-PL" altLang="pl-PL" sz="2800"/>
          </a:p>
          <a:p>
            <a:pPr eaLnBrk="1" hangingPunct="1">
              <a:lnSpc>
                <a:spcPct val="90000"/>
              </a:lnSpc>
            </a:pPr>
            <a:endParaRPr lang="pl-PL" altLang="pl-PL" sz="2800"/>
          </a:p>
          <a:p>
            <a:pPr eaLnBrk="1" hangingPunct="1">
              <a:lnSpc>
                <a:spcPct val="90000"/>
              </a:lnSpc>
            </a:pPr>
            <a:endParaRPr lang="pl-PL" altLang="pl-PL" sz="2800"/>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733C5D0C-CC26-2119-9B2C-0B861B3B78A7}"/>
              </a:ext>
            </a:extLst>
          </p:cNvPr>
          <p:cNvSpPr>
            <a:spLocks noGrp="1" noChangeArrowheads="1"/>
          </p:cNvSpPr>
          <p:nvPr>
            <p:ph type="body" idx="1"/>
          </p:nvPr>
        </p:nvSpPr>
        <p:spPr>
          <a:xfrm>
            <a:off x="107950" y="333375"/>
            <a:ext cx="8785225" cy="5832475"/>
          </a:xfrm>
        </p:spPr>
        <p:txBody>
          <a:bodyPr/>
          <a:lstStyle/>
          <a:p>
            <a:pPr eaLnBrk="1" hangingPunct="1">
              <a:lnSpc>
                <a:spcPct val="90000"/>
              </a:lnSpc>
              <a:buFont typeface="Wingdings" panose="05000000000000000000" pitchFamily="2" charset="2"/>
              <a:buNone/>
            </a:pPr>
            <a:r>
              <a:rPr lang="pl-PL" altLang="pl-PL" sz="2800" b="1">
                <a:solidFill>
                  <a:srgbClr val="00B050"/>
                </a:solidFill>
              </a:rPr>
              <a:t>D.</a:t>
            </a:r>
            <a:r>
              <a:rPr lang="pl-PL" altLang="pl-PL" sz="2100">
                <a:solidFill>
                  <a:schemeClr val="accent2"/>
                </a:solidFill>
              </a:rPr>
              <a:t> </a:t>
            </a:r>
            <a:r>
              <a:rPr lang="pl-PL" altLang="pl-PL" sz="2800"/>
              <a:t>Nie wolno wykorzystać w procesie wcześniej złożonych zeznań osób uprawnionych do odmowy ich złożenia lub zwolnionych z obowiązku złożenia zeznania, jeśli skorzystały z tej możliwości (art. 186 par. 1 k.p.k.)</a:t>
            </a:r>
          </a:p>
          <a:p>
            <a:pPr eaLnBrk="1" hangingPunct="1">
              <a:lnSpc>
                <a:spcPct val="90000"/>
              </a:lnSpc>
            </a:pPr>
            <a:r>
              <a:rPr lang="pl-PL" altLang="pl-PL" sz="2800" b="1"/>
              <a:t>Art. 186.</a:t>
            </a:r>
            <a:r>
              <a:rPr lang="pl-PL" altLang="pl-PL" sz="2800"/>
              <a:t> § 1. Osoba uprawniona do odmowy złożenia zeznań albo zwolniona na podstawie art. 185 może oświadczyć, że chce z tego prawa skorzystać, nie później jednak niż przed rozpoczęciem pierwszego zeznania w postępowaniu sądowym; poprzednio złożone zeznanie tej osoby nie może wówczas służyć za dowód ani być odtworzone.</a:t>
            </a:r>
          </a:p>
          <a:p>
            <a:pPr eaLnBrk="1" hangingPunct="1">
              <a:lnSpc>
                <a:spcPct val="90000"/>
              </a:lnSpc>
            </a:pPr>
            <a:endParaRPr lang="pl-PL" altLang="pl-PL" sz="2800"/>
          </a:p>
          <a:p>
            <a:pPr eaLnBrk="1" hangingPunct="1">
              <a:lnSpc>
                <a:spcPct val="90000"/>
              </a:lnSpc>
              <a:buFont typeface="Wingdings" panose="05000000000000000000" pitchFamily="2" charset="2"/>
              <a:buNone/>
            </a:pPr>
            <a:endParaRPr lang="pl-PL" altLang="pl-PL" sz="2100"/>
          </a:p>
          <a:p>
            <a:pPr eaLnBrk="1" hangingPunct="1">
              <a:lnSpc>
                <a:spcPct val="90000"/>
              </a:lnSpc>
              <a:buFont typeface="Wingdings" panose="05000000000000000000" pitchFamily="2" charset="2"/>
              <a:buNone/>
            </a:pPr>
            <a:endParaRPr lang="pl-PL" altLang="pl-PL" sz="2100"/>
          </a:p>
          <a:p>
            <a:pPr eaLnBrk="1" hangingPunct="1">
              <a:lnSpc>
                <a:spcPct val="90000"/>
              </a:lnSpc>
            </a:pPr>
            <a:endParaRPr lang="pl-PL" altLang="pl-PL" sz="2100">
              <a:solidFill>
                <a:schemeClr val="accent2"/>
              </a:solidFill>
            </a:endParaRPr>
          </a:p>
          <a:p>
            <a:pPr eaLnBrk="1" hangingPunct="1">
              <a:lnSpc>
                <a:spcPct val="90000"/>
              </a:lnSpc>
              <a:buFont typeface="Wingdings" panose="05000000000000000000" pitchFamily="2" charset="2"/>
              <a:buNone/>
            </a:pPr>
            <a:endParaRPr lang="pl-PL" altLang="pl-PL" sz="2100" i="1"/>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5810" name="Rectangle 2">
            <a:extLst>
              <a:ext uri="{FF2B5EF4-FFF2-40B4-BE49-F238E27FC236}">
                <a16:creationId xmlns:a16="http://schemas.microsoft.com/office/drawing/2014/main" id="{656618A7-35A3-0383-EE38-48DA03AC9E8F}"/>
              </a:ext>
            </a:extLst>
          </p:cNvPr>
          <p:cNvSpPr>
            <a:spLocks noGrp="1" noChangeArrowheads="1"/>
          </p:cNvSpPr>
          <p:nvPr>
            <p:ph type="body" idx="1"/>
          </p:nvPr>
        </p:nvSpPr>
        <p:spPr>
          <a:xfrm>
            <a:off x="250825" y="188913"/>
            <a:ext cx="8642350" cy="6480175"/>
          </a:xfrm>
        </p:spPr>
        <p:txBody>
          <a:bodyPr/>
          <a:lstStyle/>
          <a:p>
            <a:pPr marL="0" indent="0">
              <a:buFont typeface="Wingdings" panose="05000000000000000000" pitchFamily="2" charset="2"/>
              <a:buNone/>
              <a:defRPr/>
            </a:pPr>
            <a:r>
              <a:rPr lang="pl-PL" sz="2400" b="1" dirty="0"/>
              <a:t>Postanowienie </a:t>
            </a:r>
            <a:r>
              <a:rPr lang="pl-PL" sz="2400" dirty="0"/>
              <a:t>Sądu Najwyższego z dnia 30 czerwca 2015 r. </a:t>
            </a:r>
            <a:r>
              <a:rPr lang="pl-PL" sz="2400" b="1" dirty="0"/>
              <a:t>V KK 141/15</a:t>
            </a:r>
          </a:p>
          <a:p>
            <a:pPr>
              <a:defRPr/>
            </a:pPr>
            <a:endParaRPr lang="pl-PL" sz="2400" dirty="0"/>
          </a:p>
          <a:p>
            <a:pPr>
              <a:defRPr/>
            </a:pPr>
            <a:r>
              <a:rPr lang="pl-PL" sz="2400" dirty="0"/>
              <a:t>Przepis art. 186 § 1 k.p.k. nie ustanawia bezwzględnego zakazu przeprowadzenia dowodu, co do treści informacji przekazywanych innym osobom przez świadka korzystającego następnie z prawa do odmowy zeznań. </a:t>
            </a:r>
            <a:r>
              <a:rPr lang="pl-PL" sz="2400" dirty="0">
                <a:solidFill>
                  <a:srgbClr val="FF0000"/>
                </a:solidFill>
              </a:rPr>
              <a:t>Zakazem tym objęta jest jedynie treść "uprzednio złożonego zeznania" oraz możliwość dokonania na jego podstawie ustaleń faktycznych.</a:t>
            </a:r>
            <a:r>
              <a:rPr lang="pl-PL" sz="2400" dirty="0"/>
              <a:t> </a:t>
            </a:r>
            <a:r>
              <a:rPr lang="pl-PL" sz="2400" dirty="0">
                <a:solidFill>
                  <a:srgbClr val="00B050"/>
                </a:solidFill>
              </a:rPr>
              <a:t>Wolno więc odtwarzać wypowiedzi osoby, która korzysta z prawa odmowy zeznań, jeżeli były one składane spontanicznie poza protokołem przesłuchania w charakterze świadka.</a:t>
            </a:r>
          </a:p>
          <a:p>
            <a:pPr eaLnBrk="1" hangingPunct="1">
              <a:lnSpc>
                <a:spcPct val="90000"/>
              </a:lnSpc>
              <a:buFont typeface="Wingdings" panose="05000000000000000000" pitchFamily="2" charset="2"/>
              <a:buNone/>
              <a:defRPr/>
            </a:pPr>
            <a:endParaRPr lang="pl-PL" altLang="pl-PL" sz="2100" dirty="0"/>
          </a:p>
          <a:p>
            <a:pPr eaLnBrk="1" hangingPunct="1">
              <a:lnSpc>
                <a:spcPct val="90000"/>
              </a:lnSpc>
              <a:buFont typeface="Wingdings" panose="05000000000000000000" pitchFamily="2" charset="2"/>
              <a:buNone/>
              <a:defRPr/>
            </a:pPr>
            <a:endParaRPr lang="pl-PL" altLang="pl-PL" sz="2100" dirty="0"/>
          </a:p>
          <a:p>
            <a:pPr eaLnBrk="1" hangingPunct="1">
              <a:lnSpc>
                <a:spcPct val="90000"/>
              </a:lnSpc>
              <a:defRPr/>
            </a:pPr>
            <a:endParaRPr lang="pl-PL" altLang="pl-PL" sz="2100" dirty="0">
              <a:solidFill>
                <a:schemeClr val="accent2"/>
              </a:solidFill>
            </a:endParaRPr>
          </a:p>
          <a:p>
            <a:pPr eaLnBrk="1" hangingPunct="1">
              <a:lnSpc>
                <a:spcPct val="90000"/>
              </a:lnSpc>
              <a:buFont typeface="Wingdings" panose="05000000000000000000" pitchFamily="2" charset="2"/>
              <a:buNone/>
              <a:defRPr/>
            </a:pPr>
            <a:endParaRPr lang="pl-PL" altLang="pl-PL" sz="2100" i="1" dirty="0"/>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2F6FAF81-FBCE-BB2D-6C6B-9151F816979B}"/>
              </a:ext>
            </a:extLst>
          </p:cNvPr>
          <p:cNvSpPr>
            <a:spLocks noGrp="1" noChangeArrowheads="1"/>
          </p:cNvSpPr>
          <p:nvPr>
            <p:ph type="body" idx="1"/>
          </p:nvPr>
        </p:nvSpPr>
        <p:spPr>
          <a:xfrm>
            <a:off x="250825" y="1700213"/>
            <a:ext cx="8642350" cy="4465637"/>
          </a:xfrm>
        </p:spPr>
        <p:txBody>
          <a:bodyPr/>
          <a:lstStyle/>
          <a:p>
            <a:pPr eaLnBrk="1" hangingPunct="1">
              <a:lnSpc>
                <a:spcPct val="80000"/>
              </a:lnSpc>
              <a:buFont typeface="Wingdings" panose="05000000000000000000" pitchFamily="2" charset="2"/>
              <a:buNone/>
            </a:pPr>
            <a:endParaRPr lang="pl-PL" altLang="pl-PL"/>
          </a:p>
          <a:p>
            <a:pPr eaLnBrk="1" hangingPunct="1">
              <a:lnSpc>
                <a:spcPct val="80000"/>
              </a:lnSpc>
              <a:buFont typeface="Wingdings" panose="05000000000000000000" pitchFamily="2" charset="2"/>
              <a:buNone/>
            </a:pPr>
            <a:r>
              <a:rPr lang="pl-PL" altLang="pl-PL" sz="2400">
                <a:solidFill>
                  <a:schemeClr val="accent2"/>
                </a:solidFill>
              </a:rPr>
              <a:t>E.</a:t>
            </a:r>
            <a:r>
              <a:rPr lang="pl-PL" altLang="pl-PL" sz="2400"/>
              <a:t> </a:t>
            </a:r>
            <a:r>
              <a:rPr lang="pl-PL" altLang="pl-PL" sz="2600"/>
              <a:t>Nie wolno wykorzystać w procesie opinii osób, które nie mogą być biegłymi (art. 196 par. 2 k.p.k.)</a:t>
            </a:r>
          </a:p>
          <a:p>
            <a:pPr eaLnBrk="1" hangingPunct="1">
              <a:lnSpc>
                <a:spcPct val="80000"/>
              </a:lnSpc>
              <a:buFont typeface="Wingdings" panose="05000000000000000000" pitchFamily="2" charset="2"/>
              <a:buNone/>
            </a:pPr>
            <a:r>
              <a:rPr lang="pl-PL" altLang="pl-PL" sz="2600">
                <a:solidFill>
                  <a:schemeClr val="accent2"/>
                </a:solidFill>
              </a:rPr>
              <a:t>F.</a:t>
            </a:r>
            <a:r>
              <a:rPr lang="pl-PL" altLang="pl-PL" sz="2600"/>
              <a:t> Nie wolno wykorzystać w procesie treści rozmów lub innych przekazów informacji uzyskanych w wyniku podsłuchu prowadzonego wbrew warunkom ustawowym (art. 237 i n. k.p.k.)</a:t>
            </a:r>
          </a:p>
          <a:p>
            <a:pPr eaLnBrk="1" hangingPunct="1">
              <a:lnSpc>
                <a:spcPct val="80000"/>
              </a:lnSpc>
              <a:buFont typeface="Wingdings" panose="05000000000000000000" pitchFamily="2" charset="2"/>
              <a:buNone/>
            </a:pPr>
            <a:r>
              <a:rPr lang="pl-PL" altLang="pl-PL" sz="2600">
                <a:solidFill>
                  <a:schemeClr val="accent2"/>
                </a:solidFill>
              </a:rPr>
              <a:t>G.</a:t>
            </a:r>
            <a:r>
              <a:rPr lang="pl-PL" altLang="pl-PL" sz="2600"/>
              <a:t> Nie wolno wykorzystać w procesie treści zeznań, które złożył oskarżony występując w roli świadka (art. 391 par. 2 k.p.k.)</a:t>
            </a:r>
            <a:endParaRPr lang="pl-PL" altLang="pl-PL" sz="2400"/>
          </a:p>
          <a:p>
            <a:pPr eaLnBrk="1" hangingPunct="1">
              <a:lnSpc>
                <a:spcPct val="80000"/>
              </a:lnSpc>
              <a:buFont typeface="Wingdings" panose="05000000000000000000" pitchFamily="2" charset="2"/>
              <a:buNone/>
            </a:pPr>
            <a:endParaRPr lang="pl-PL" altLang="pl-PL" sz="2400"/>
          </a:p>
        </p:txBody>
      </p:sp>
      <p:sp>
        <p:nvSpPr>
          <p:cNvPr id="80899" name="Text Box 4">
            <a:extLst>
              <a:ext uri="{FF2B5EF4-FFF2-40B4-BE49-F238E27FC236}">
                <a16:creationId xmlns:a16="http://schemas.microsoft.com/office/drawing/2014/main" id="{2F5FF2EC-9F4E-0F34-7021-75EA7C8CC606}"/>
              </a:ext>
            </a:extLst>
          </p:cNvPr>
          <p:cNvSpPr txBox="1">
            <a:spLocks noChangeArrowheads="1"/>
          </p:cNvSpPr>
          <p:nvPr/>
        </p:nvSpPr>
        <p:spPr bwMode="auto">
          <a:xfrm>
            <a:off x="2268538" y="765175"/>
            <a:ext cx="252095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endParaRPr lang="pl-PL" altLang="pl-PL" sz="2500" b="1" i="1">
              <a:solidFill>
                <a:schemeClr val="tx1"/>
              </a:solidFill>
              <a:latin typeface="Verdana" panose="020B0604030504040204" pitchFamily="34" charset="0"/>
            </a:endParaRPr>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85C18E45-C417-B973-1ED7-F9A42B737A12}"/>
              </a:ext>
            </a:extLst>
          </p:cNvPr>
          <p:cNvSpPr>
            <a:spLocks noGrp="1" noChangeArrowheads="1"/>
          </p:cNvSpPr>
          <p:nvPr>
            <p:ph type="body" idx="1"/>
          </p:nvPr>
        </p:nvSpPr>
        <p:spPr>
          <a:xfrm>
            <a:off x="250825" y="1700213"/>
            <a:ext cx="8642350" cy="4465637"/>
          </a:xfrm>
        </p:spPr>
        <p:txBody>
          <a:bodyPr/>
          <a:lstStyle/>
          <a:p>
            <a:pPr marL="1131888" lvl="1" indent="-660400" eaLnBrk="1" hangingPunct="1">
              <a:lnSpc>
                <a:spcPct val="80000"/>
              </a:lnSpc>
              <a:buFont typeface="Wingdings" panose="05000000000000000000" pitchFamily="2" charset="2"/>
              <a:buNone/>
            </a:pPr>
            <a:r>
              <a:rPr lang="pl-PL" altLang="pl-PL" sz="2200">
                <a:solidFill>
                  <a:schemeClr val="accent2"/>
                </a:solidFill>
              </a:rPr>
              <a:t>H.</a:t>
            </a:r>
            <a:r>
              <a:rPr lang="pl-PL" altLang="pl-PL" sz="2200"/>
              <a:t> Nie wolno wykorzystać w procesie treści dokumentów i cech rzeczy uzyskanych wbrew warunkom ustawowym (art. 217 i n. k.p.k.)</a:t>
            </a:r>
          </a:p>
          <a:p>
            <a:pPr marL="1131888" lvl="1" indent="-660400" eaLnBrk="1" hangingPunct="1">
              <a:lnSpc>
                <a:spcPct val="80000"/>
              </a:lnSpc>
              <a:buFont typeface="Wingdings" panose="05000000000000000000" pitchFamily="2" charset="2"/>
              <a:buNone/>
            </a:pPr>
            <a:endParaRPr lang="pl-PL" altLang="pl-PL" sz="2200"/>
          </a:p>
          <a:p>
            <a:pPr marL="1131888" lvl="1" indent="-660400" eaLnBrk="1" hangingPunct="1">
              <a:lnSpc>
                <a:spcPct val="80000"/>
              </a:lnSpc>
              <a:buFont typeface="Wingdings" panose="05000000000000000000" pitchFamily="2" charset="2"/>
              <a:buNone/>
            </a:pPr>
            <a:r>
              <a:rPr lang="pl-PL" altLang="pl-PL" sz="2200">
                <a:solidFill>
                  <a:schemeClr val="accent2"/>
                </a:solidFill>
              </a:rPr>
              <a:t>I. </a:t>
            </a:r>
            <a:r>
              <a:rPr lang="pl-PL" altLang="pl-PL" sz="2200"/>
              <a:t>Nie wolno wykorzystać w procesie treści wyjaśnień oskarżonego ubiegającego się o uzyskanie statusu świadka koronnego, który statusu tego nie uzyskał (art. 6 ustawy o świadku koronnym)</a:t>
            </a:r>
          </a:p>
          <a:p>
            <a:pPr marL="762000" indent="-762000" eaLnBrk="1" hangingPunct="1">
              <a:lnSpc>
                <a:spcPct val="80000"/>
              </a:lnSpc>
            </a:pPr>
            <a:endParaRPr lang="pl-PL" altLang="pl-PL" sz="2600"/>
          </a:p>
          <a:p>
            <a:pPr marL="762000" indent="-762000" eaLnBrk="1" hangingPunct="1">
              <a:lnSpc>
                <a:spcPct val="80000"/>
              </a:lnSpc>
              <a:buFont typeface="Wingdings" panose="05000000000000000000" pitchFamily="2" charset="2"/>
              <a:buNone/>
            </a:pPr>
            <a:endParaRPr lang="pl-PL" altLang="pl-PL" sz="2400" b="1"/>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99096715-5669-4A82-1AE2-5DC6D257DF49}"/>
              </a:ext>
            </a:extLst>
          </p:cNvPr>
          <p:cNvSpPr>
            <a:spLocks noGrp="1" noChangeArrowheads="1"/>
          </p:cNvSpPr>
          <p:nvPr>
            <p:ph type="body" idx="1"/>
          </p:nvPr>
        </p:nvSpPr>
        <p:spPr>
          <a:xfrm>
            <a:off x="107950" y="188913"/>
            <a:ext cx="8785225" cy="5976937"/>
          </a:xfrm>
        </p:spPr>
        <p:txBody>
          <a:bodyPr/>
          <a:lstStyle/>
          <a:p>
            <a:r>
              <a:rPr lang="pl-PL" altLang="pl-PL" sz="3200"/>
              <a:t>Art.  168a k.p.k.</a:t>
            </a:r>
          </a:p>
          <a:p>
            <a:r>
              <a:rPr lang="pl-PL" altLang="pl-PL" sz="3200"/>
              <a:t> Dowodu nie można uznać za niedopuszczalny wyłącznie na tej podstawie, że został uzyskany z naruszeniem przepisów postępowania lub za pomocą czynu zabronionego, o którym mowa w </a:t>
            </a:r>
            <a:r>
              <a:rPr lang="pl-PL" altLang="pl-PL" sz="3200">
                <a:hlinkClick r:id="rId2"/>
              </a:rPr>
              <a:t>art. 1 § 1</a:t>
            </a:r>
            <a:r>
              <a:rPr lang="pl-PL" altLang="pl-PL" sz="3200"/>
              <a:t> Kodeksu karnego, chyba że dowód został uzyskany w związku z pełnieniem przez funkcjonariusza publicznego obowiązków służbowych, w wyniku: zabójstwa, umyślnego spowodowania uszczerbku na zdrowiu lub pozbawienia wolności.</a:t>
            </a:r>
          </a:p>
          <a:p>
            <a:pPr marL="1131888" lvl="1" indent="-660400" eaLnBrk="1" hangingPunct="1">
              <a:lnSpc>
                <a:spcPct val="80000"/>
              </a:lnSpc>
              <a:buFont typeface="Wingdings" panose="05000000000000000000" pitchFamily="2" charset="2"/>
              <a:buNone/>
            </a:pPr>
            <a:endParaRPr lang="pl-PL" altLang="pl-PL" sz="2400" b="1"/>
          </a:p>
        </p:txBody>
      </p:sp>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02D83497-FF51-932B-F3B6-0733A9838149}"/>
              </a:ext>
            </a:extLst>
          </p:cNvPr>
          <p:cNvSpPr>
            <a:spLocks noGrp="1" noChangeArrowheads="1"/>
          </p:cNvSpPr>
          <p:nvPr>
            <p:ph type="body" idx="1"/>
          </p:nvPr>
        </p:nvSpPr>
        <p:spPr>
          <a:xfrm>
            <a:off x="250825" y="1700213"/>
            <a:ext cx="8642350" cy="4465637"/>
          </a:xfrm>
        </p:spPr>
        <p:txBody>
          <a:bodyPr/>
          <a:lstStyle/>
          <a:p>
            <a:pPr marL="571500" indent="-571500" eaLnBrk="1" hangingPunct="1">
              <a:lnSpc>
                <a:spcPct val="80000"/>
              </a:lnSpc>
              <a:buFont typeface="Wingdings" panose="05000000000000000000" pitchFamily="2" charset="2"/>
              <a:buNone/>
            </a:pPr>
            <a:endParaRPr lang="pl-PL" altLang="pl-PL" b="1"/>
          </a:p>
          <a:p>
            <a:pPr marL="571500" indent="-571500" eaLnBrk="1" hangingPunct="1">
              <a:lnSpc>
                <a:spcPct val="80000"/>
              </a:lnSpc>
              <a:buFont typeface="Wingdings" panose="05000000000000000000" pitchFamily="2" charset="2"/>
              <a:buNone/>
            </a:pPr>
            <a:endParaRPr lang="pl-PL" altLang="pl-PL" b="1"/>
          </a:p>
          <a:p>
            <a:pPr marL="571500" indent="-571500" eaLnBrk="1" hangingPunct="1">
              <a:lnSpc>
                <a:spcPct val="80000"/>
              </a:lnSpc>
              <a:buFont typeface="Wingdings" panose="05000000000000000000" pitchFamily="2" charset="2"/>
              <a:buNone/>
            </a:pPr>
            <a:r>
              <a:rPr lang="pl-PL" altLang="pl-PL" sz="3600" b="1"/>
              <a:t>Zakaz dowodzenia określonych faktów</a:t>
            </a:r>
          </a:p>
        </p:txBody>
      </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495261FF-3446-1D4E-FC6D-B7794107C19F}"/>
              </a:ext>
            </a:extLst>
          </p:cNvPr>
          <p:cNvSpPr>
            <a:spLocks noGrp="1" noChangeArrowheads="1"/>
          </p:cNvSpPr>
          <p:nvPr>
            <p:ph type="body" idx="1"/>
          </p:nvPr>
        </p:nvSpPr>
        <p:spPr>
          <a:xfrm>
            <a:off x="250825" y="1700213"/>
            <a:ext cx="8642350" cy="4465637"/>
          </a:xfrm>
        </p:spPr>
        <p:txBody>
          <a:bodyPr/>
          <a:lstStyle/>
          <a:p>
            <a:pPr eaLnBrk="1" hangingPunct="1"/>
            <a:r>
              <a:rPr lang="pl-PL" altLang="pl-PL" sz="2600"/>
              <a:t>zakaz wykazywania nietrafności prawomocnego wyroku skazującego (vide art. 569 i n. k.p.k.; art. 64 k.k.)</a:t>
            </a:r>
          </a:p>
          <a:p>
            <a:pPr eaLnBrk="1" hangingPunct="1"/>
            <a:r>
              <a:rPr lang="pl-PL" altLang="pl-PL" sz="2600"/>
              <a:t>Zakaz wynikający z art. 8 par. 2 k.p.k. </a:t>
            </a:r>
          </a:p>
          <a:p>
            <a:pPr eaLnBrk="1" hangingPunct="1"/>
            <a:r>
              <a:rPr lang="pl-PL" altLang="pl-PL" sz="2600"/>
              <a:t>Zakaz dowodzenia przebiegu narady lub głosowania nad orzeczeniem (art. 108 par. 1 k.p.k.)</a:t>
            </a:r>
          </a:p>
          <a:p>
            <a:pPr eaLnBrk="1" hangingPunct="1"/>
            <a:r>
              <a:rPr lang="pl-PL" altLang="pl-PL" sz="2600"/>
              <a:t>Treści zeznań złożonych przez świadka w sytuacji o jakiej mowa w art. 186 par. 1 k.p.k. </a:t>
            </a:r>
          </a:p>
          <a:p>
            <a:pPr eaLnBrk="1" hangingPunct="1"/>
            <a:endParaRPr lang="pl-PL" altLang="pl-PL" sz="2600"/>
          </a:p>
          <a:p>
            <a:pPr eaLnBrk="1" hangingPunct="1"/>
            <a:endParaRPr lang="pl-PL" altLang="pl-PL" sz="2600"/>
          </a:p>
        </p:txBody>
      </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D7226FF7-1C65-2A9C-9077-DC113B67BA45}"/>
              </a:ext>
            </a:extLst>
          </p:cNvPr>
          <p:cNvSpPr>
            <a:spLocks noGrp="1"/>
          </p:cNvSpPr>
          <p:nvPr>
            <p:ph idx="1"/>
          </p:nvPr>
        </p:nvSpPr>
        <p:spPr>
          <a:xfrm>
            <a:off x="457200" y="0"/>
            <a:ext cx="8229600" cy="6454775"/>
          </a:xfrm>
        </p:spPr>
        <p:txBody>
          <a:bodyPr>
            <a:normAutofit lnSpcReduction="10000"/>
          </a:bodyPr>
          <a:lstStyle/>
          <a:p>
            <a:pPr>
              <a:defRPr/>
            </a:pPr>
            <a:r>
              <a:rPr lang="pl-PL" dirty="0"/>
              <a:t>Wyrok  Sądu Apelacyjnego w </a:t>
            </a:r>
            <a:r>
              <a:rPr lang="pl-PL" dirty="0" err="1"/>
              <a:t>Warszawiez</a:t>
            </a:r>
            <a:r>
              <a:rPr lang="pl-PL" dirty="0"/>
              <a:t> dnia 14 grudnia Sądu 2012 r., II </a:t>
            </a:r>
            <a:r>
              <a:rPr lang="pl-PL" dirty="0" err="1"/>
              <a:t>AKa</a:t>
            </a:r>
            <a:r>
              <a:rPr lang="pl-PL" dirty="0"/>
              <a:t> 361/12</a:t>
            </a:r>
          </a:p>
          <a:p>
            <a:pPr>
              <a:buFont typeface="Wingdings" panose="05000000000000000000" pitchFamily="2" charset="2"/>
              <a:buNone/>
              <a:defRPr/>
            </a:pPr>
            <a:endParaRPr lang="pl-PL" dirty="0"/>
          </a:p>
          <a:p>
            <a:pPr>
              <a:buFont typeface="Wingdings" panose="05000000000000000000" pitchFamily="2" charset="2"/>
              <a:buNone/>
              <a:defRPr/>
            </a:pPr>
            <a:r>
              <a:rPr lang="pl-PL" dirty="0"/>
              <a:t>   </a:t>
            </a:r>
            <a:r>
              <a:rPr lang="pl-PL" sz="4000" dirty="0"/>
              <a:t>Sąd karny nie jest związany ani orzeczeniem sądu karnego zapadłym w innej sprawie, ani też ustaleniami faktycznymi czy też treścią wyroku w sprawie jednego ze współsprawców przestępstwa rozpoznanej odrębnie, gdy następnie rozpoznaje sprawę innego współuczestnika.</a:t>
            </a:r>
          </a:p>
          <a:p>
            <a:pPr>
              <a:defRPr/>
            </a:pPr>
            <a:endParaRPr lang="pl-PL" dirty="0"/>
          </a:p>
        </p:txBody>
      </p:sp>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A410632-DDF1-22FD-3FB7-59AF1833F0EA}"/>
              </a:ext>
            </a:extLst>
          </p:cNvPr>
          <p:cNvSpPr>
            <a:spLocks noGrp="1"/>
          </p:cNvSpPr>
          <p:nvPr>
            <p:ph idx="1"/>
          </p:nvPr>
        </p:nvSpPr>
        <p:spPr>
          <a:xfrm>
            <a:off x="457200" y="333375"/>
            <a:ext cx="8229600" cy="6624638"/>
          </a:xfrm>
        </p:spPr>
        <p:txBody>
          <a:bodyPr>
            <a:normAutofit fontScale="77500" lnSpcReduction="20000"/>
          </a:bodyPr>
          <a:lstStyle/>
          <a:p>
            <a:pPr>
              <a:defRPr/>
            </a:pPr>
            <a:r>
              <a:rPr lang="pl-PL" dirty="0"/>
              <a:t>Wyrok Sądu Najwyższego z dnia 1 października 2009 r. IV KK 455/08</a:t>
            </a:r>
          </a:p>
          <a:p>
            <a:pPr marL="64008" indent="0">
              <a:buFont typeface="Wingdings" panose="05000000000000000000" pitchFamily="2" charset="2"/>
              <a:buNone/>
              <a:defRPr/>
            </a:pPr>
            <a:r>
              <a:rPr lang="pl-PL" sz="3400" dirty="0"/>
              <a:t>1. Sąd orzekający w sprawie karnej nie może samodzielnie uznać, iż mandat radnego wygasł, jeśli nie zapadła w tej materii stosowna uchwała rady lub nie zostało wydane zarządzenie zastępcze wojewody.</a:t>
            </a:r>
          </a:p>
          <a:p>
            <a:pPr marL="64008" indent="0">
              <a:buFont typeface="Wingdings" panose="05000000000000000000" pitchFamily="2" charset="2"/>
              <a:buNone/>
              <a:defRPr/>
            </a:pPr>
            <a:r>
              <a:rPr lang="pl-PL" sz="3400" dirty="0"/>
              <a:t>2. Odstępstwo od zasady samodzielności jurysdykcyjnej sądu karnego wyraża się nie tylko w konieczności respektowania konstytutywnego orzeczenia sądu cywilnego lub </a:t>
            </a:r>
            <a:r>
              <a:rPr lang="pl-PL" sz="3400" b="1" dirty="0">
                <a:solidFill>
                  <a:srgbClr val="92D050"/>
                </a:solidFill>
              </a:rPr>
              <a:t>decyzji administracyjnej.</a:t>
            </a:r>
            <a:r>
              <a:rPr lang="pl-PL" sz="3400" dirty="0"/>
              <a:t> Jeśli konkretna sytuacja prawna może być ukształtowana wyłącznie orzeczeniem sądu lub orzeczeniem organu administracji, a orzeczenia takiego brak, to sąd karny musi brać pod uwagę przy rozpoznawaniu sprawy karnej wynikające z tego faktu konsekwencje.</a:t>
            </a:r>
          </a:p>
          <a:p>
            <a:pPr marL="64008" indent="0">
              <a:buFont typeface="Wingdings" panose="05000000000000000000" pitchFamily="2" charset="2"/>
              <a:buNone/>
              <a:defRPr/>
            </a:pPr>
            <a:r>
              <a:rPr lang="pl-PL" sz="3400" dirty="0"/>
              <a:t>3. Samo powstanie okoliczności faktycznej uzasadniającej stwierdzenie wygaśnięcia mandatu radnego nie pozbawia jeszcze mandatu bytu prawnego.</a:t>
            </a:r>
          </a:p>
          <a:p>
            <a:pPr>
              <a:defRPr/>
            </a:pPr>
            <a:endParaRPr lang="pl-PL" dirty="0"/>
          </a:p>
        </p:txBody>
      </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066" name="Symbol zastępczy zawartości 2">
            <a:extLst>
              <a:ext uri="{FF2B5EF4-FFF2-40B4-BE49-F238E27FC236}">
                <a16:creationId xmlns:a16="http://schemas.microsoft.com/office/drawing/2014/main" id="{EF84FDBD-E540-BA07-1D99-ECCC41E64251}"/>
              </a:ext>
            </a:extLst>
          </p:cNvPr>
          <p:cNvSpPr>
            <a:spLocks noGrp="1" noChangeArrowheads="1"/>
          </p:cNvSpPr>
          <p:nvPr>
            <p:ph idx="1"/>
          </p:nvPr>
        </p:nvSpPr>
        <p:spPr>
          <a:xfrm>
            <a:off x="107950" y="0"/>
            <a:ext cx="8897938" cy="6056313"/>
          </a:xfrm>
        </p:spPr>
        <p:txBody>
          <a:bodyPr>
            <a:normAutofit fontScale="92500"/>
          </a:bodyPr>
          <a:lstStyle/>
          <a:p>
            <a:pPr marL="0" indent="0" algn="just">
              <a:buFont typeface="Wingdings" panose="05000000000000000000" pitchFamily="2" charset="2"/>
              <a:buNone/>
            </a:pPr>
            <a:r>
              <a:rPr lang="pl-PL" altLang="pl-PL" sz="4800" b="1">
                <a:solidFill>
                  <a:srgbClr val="00B050"/>
                </a:solidFill>
              </a:rPr>
              <a:t>Art. 427 par. 3 k.p.k. </a:t>
            </a:r>
          </a:p>
          <a:p>
            <a:pPr marL="0" indent="0" algn="just">
              <a:buFont typeface="Wingdings" panose="05000000000000000000" pitchFamily="2" charset="2"/>
              <a:buNone/>
            </a:pPr>
            <a:r>
              <a:rPr lang="pl-PL" altLang="pl-PL" sz="4800"/>
              <a:t>Odwołujący się może również wskazać nowe fakty lub dowody, jeżeli nie mógł powołać ich w postępowaniu przed sądem pierwszej instancji (odwołujący się – strona; nie dotyczy innych stron, ale 452 par. 2 pkt 2 k.p.k.)</a:t>
            </a:r>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90" name="Symbol zastępczy zawartości 2">
            <a:extLst>
              <a:ext uri="{FF2B5EF4-FFF2-40B4-BE49-F238E27FC236}">
                <a16:creationId xmlns:a16="http://schemas.microsoft.com/office/drawing/2014/main" id="{FD570DE9-227D-6099-B3DA-002FFCE004EC}"/>
              </a:ext>
            </a:extLst>
          </p:cNvPr>
          <p:cNvSpPr>
            <a:spLocks noGrp="1" noChangeArrowheads="1"/>
          </p:cNvSpPr>
          <p:nvPr>
            <p:ph idx="1"/>
          </p:nvPr>
        </p:nvSpPr>
        <p:spPr>
          <a:xfrm>
            <a:off x="107950" y="188913"/>
            <a:ext cx="9036050" cy="5792787"/>
          </a:xfrm>
        </p:spPr>
        <p:txBody>
          <a:bodyPr>
            <a:normAutofit lnSpcReduction="10000"/>
          </a:bodyPr>
          <a:lstStyle/>
          <a:p>
            <a:pPr marL="0" indent="0">
              <a:buFont typeface="Wingdings" panose="05000000000000000000" pitchFamily="2" charset="2"/>
              <a:buNone/>
            </a:pPr>
            <a:r>
              <a:rPr lang="pl-PL" altLang="pl-PL" sz="4000" b="1"/>
              <a:t>Postanowienie Sądu Najwyższego z dnia 7 stycznia 2019 r., III KK 95/18</a:t>
            </a:r>
          </a:p>
          <a:p>
            <a:pPr marL="0" indent="0" algn="just">
              <a:buFont typeface="Wingdings" panose="05000000000000000000" pitchFamily="2" charset="2"/>
              <a:buNone/>
            </a:pPr>
            <a:r>
              <a:rPr lang="pl-PL" altLang="pl-PL" sz="3600"/>
              <a:t>Brak możliwości, o której mowa w art. 427 § 3 k.p.k., to stan obiektywny polegający na niewiedzy odwołującego się o dowodzie albo na jego niedostępności we wcześniejszej fazie postępowania (przebywanie za granicą, względny zakaz dowodowy)</a:t>
            </a:r>
            <a:endParaRPr lang="pl-PL" altLang="pl-PL" sz="3300" b="1">
              <a:solidFill>
                <a:srgbClr val="00B050"/>
              </a:solidFill>
            </a:endParaRPr>
          </a:p>
        </p:txBody>
      </p: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Symbol zastępczy zawartości 2">
            <a:extLst>
              <a:ext uri="{FF2B5EF4-FFF2-40B4-BE49-F238E27FC236}">
                <a16:creationId xmlns:a16="http://schemas.microsoft.com/office/drawing/2014/main" id="{445B7D3D-2720-A2B7-E79A-3B94EE8CC54B}"/>
              </a:ext>
            </a:extLst>
          </p:cNvPr>
          <p:cNvSpPr>
            <a:spLocks noGrp="1" noChangeArrowheads="1"/>
          </p:cNvSpPr>
          <p:nvPr>
            <p:ph idx="1"/>
          </p:nvPr>
        </p:nvSpPr>
        <p:spPr>
          <a:xfrm>
            <a:off x="179388" y="188913"/>
            <a:ext cx="8826500" cy="6335712"/>
          </a:xfrm>
        </p:spPr>
        <p:txBody>
          <a:bodyPr/>
          <a:lstStyle/>
          <a:p>
            <a:pPr marL="0" indent="0">
              <a:buFont typeface="Wingdings" panose="05000000000000000000" pitchFamily="2" charset="2"/>
              <a:buNone/>
            </a:pPr>
            <a:r>
              <a:rPr lang="pl-PL" altLang="pl-PL" sz="3600"/>
              <a:t>Podkreślenia wymaga, że opisane ograniczenie przedmiotowe w zakresie wskazania nowych faktów i dowodów poprzez jego wyraźne odniesienie w komentowanym przepisie do odwołującego się, a więc podmiotu uprawnionego do wniesienia środka odwoławczego, nie ma – na podstawie tego przepisu – zastosowania do innych stron procesowych (zob. J. Zagrodnik, </a:t>
            </a:r>
            <a:r>
              <a:rPr lang="pl-PL" altLang="pl-PL" sz="3600" i="1"/>
              <a:t>Obrońca i pełnomocnik</a:t>
            </a:r>
            <a:r>
              <a:rPr lang="pl-PL" altLang="pl-PL" sz="3600"/>
              <a:t>..., s. 459). </a:t>
            </a:r>
            <a:endParaRPr lang="pl-PL" altLang="pl-PL" sz="3600" b="1">
              <a:solidFill>
                <a:srgbClr val="00B050"/>
              </a:solidFill>
            </a:endParaRPr>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138" name="Symbol zastępczy zawartości 2">
            <a:extLst>
              <a:ext uri="{FF2B5EF4-FFF2-40B4-BE49-F238E27FC236}">
                <a16:creationId xmlns:a16="http://schemas.microsoft.com/office/drawing/2014/main" id="{9E1A087C-A46B-A8B7-209E-50059CCE18FD}"/>
              </a:ext>
            </a:extLst>
          </p:cNvPr>
          <p:cNvSpPr>
            <a:spLocks noGrp="1" noChangeArrowheads="1"/>
          </p:cNvSpPr>
          <p:nvPr>
            <p:ph idx="1"/>
          </p:nvPr>
        </p:nvSpPr>
        <p:spPr>
          <a:xfrm>
            <a:off x="107950" y="115888"/>
            <a:ext cx="8897938" cy="5940425"/>
          </a:xfrm>
        </p:spPr>
        <p:txBody>
          <a:bodyPr>
            <a:normAutofit lnSpcReduction="10000"/>
          </a:bodyPr>
          <a:lstStyle/>
          <a:p>
            <a:pPr marL="0" indent="0" algn="just">
              <a:buFont typeface="Wingdings" panose="05000000000000000000" pitchFamily="2" charset="2"/>
              <a:buNone/>
            </a:pPr>
            <a:r>
              <a:rPr lang="pl-PL" altLang="pl-PL" sz="3600"/>
              <a:t>Brak możliwości powołania nowych faktów lub dowodów w postępowaniu pierwszoinstancyjnym wymaga uprawdopodobnienia przez odwołującego się, który takie fakty lub dowody wskazuje. Bez tego ich wskazanie należy uznać za bezskuteczne. Gdyby nastąpiło ono w drodze wniosku dowodowego, to powinien on podlegać oddaleniu ze względu na jego niedopuszczalność (</a:t>
            </a:r>
            <a:r>
              <a:rPr lang="pl-PL" altLang="pl-PL" sz="3600">
                <a:hlinkClick r:id="rId2"/>
              </a:rPr>
              <a:t>art. 170 § 1 pkt 1</a:t>
            </a:r>
            <a:r>
              <a:rPr lang="pl-PL" altLang="pl-PL" sz="3600"/>
              <a:t> k.p.k.) – J. Zagrodnik, Komentarz…</a:t>
            </a:r>
          </a:p>
        </p:txBody>
      </p:sp>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867627C1-7F44-5ACD-1329-48F71FC48736}"/>
              </a:ext>
            </a:extLst>
          </p:cNvPr>
          <p:cNvSpPr>
            <a:spLocks noGrp="1"/>
          </p:cNvSpPr>
          <p:nvPr>
            <p:ph idx="1"/>
          </p:nvPr>
        </p:nvSpPr>
        <p:spPr>
          <a:xfrm>
            <a:off x="250825" y="549275"/>
            <a:ext cx="8893175" cy="6119813"/>
          </a:xfrm>
        </p:spPr>
        <p:txBody>
          <a:bodyPr>
            <a:normAutofit fontScale="77500" lnSpcReduction="20000"/>
          </a:bodyPr>
          <a:lstStyle/>
          <a:p>
            <a:pPr marL="0" indent="0">
              <a:buFont typeface="Wingdings" panose="05000000000000000000" pitchFamily="2" charset="2"/>
              <a:buNone/>
              <a:defRPr/>
            </a:pPr>
            <a:r>
              <a:rPr lang="pl-PL" sz="3600" b="1" dirty="0">
                <a:solidFill>
                  <a:srgbClr val="00B050"/>
                </a:solidFill>
              </a:rPr>
              <a:t>Dopełnieniem regulacji art. 427 §  3 k.p.k. jest art. 452 par. 2 pkt 2 k.p.k. (prekluzja dowodowa w postępowaniu odwoławczym):</a:t>
            </a:r>
          </a:p>
          <a:p>
            <a:pPr marL="0" indent="0">
              <a:buFont typeface="Wingdings" panose="05000000000000000000" pitchFamily="2" charset="2"/>
              <a:buNone/>
              <a:defRPr/>
            </a:pPr>
            <a:r>
              <a:rPr lang="pl-PL" sz="3600" dirty="0"/>
              <a:t>Sąd odwoławczy oddala wniosek dowodowy również, jeżeli:</a:t>
            </a:r>
          </a:p>
          <a:p>
            <a:pPr marL="0" indent="0">
              <a:buFont typeface="Wingdings" panose="05000000000000000000" pitchFamily="2" charset="2"/>
              <a:buNone/>
              <a:defRPr/>
            </a:pPr>
            <a:r>
              <a:rPr lang="pl-PL" sz="3600" dirty="0"/>
              <a:t>1) przeprowadzenie dowodu przez ten sąd byłoby niecelowe z przyczyn określonych w art. 437 § 2 zdanie drugie;</a:t>
            </a:r>
          </a:p>
          <a:p>
            <a:pPr marL="0" indent="0">
              <a:buFont typeface="Wingdings" panose="05000000000000000000" pitchFamily="2" charset="2"/>
              <a:buNone/>
              <a:defRPr/>
            </a:pPr>
            <a:r>
              <a:rPr lang="pl-PL" sz="3600" dirty="0"/>
              <a:t>2) dowód nie był powołany przed sądem pierwszej instancji, pomimo że składający wniosek mógł go wówczas powołać, lub okoliczność, która ma być udowodniona, dotyczy nowego faktu, niebędącego przedmiotem postępowania przed sądem pierwszej instancji, a składający wniosek mógł go wówczas wskazać.</a:t>
            </a:r>
          </a:p>
        </p:txBody>
      </p:sp>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3186" name="Symbol zastępczy zawartości 2">
            <a:extLst>
              <a:ext uri="{FF2B5EF4-FFF2-40B4-BE49-F238E27FC236}">
                <a16:creationId xmlns:a16="http://schemas.microsoft.com/office/drawing/2014/main" id="{934AA117-97F3-09B7-0E40-36B5F0F8C399}"/>
              </a:ext>
            </a:extLst>
          </p:cNvPr>
          <p:cNvSpPr>
            <a:spLocks noGrp="1" noChangeArrowheads="1"/>
          </p:cNvSpPr>
          <p:nvPr>
            <p:ph idx="1"/>
          </p:nvPr>
        </p:nvSpPr>
        <p:spPr>
          <a:xfrm>
            <a:off x="107950" y="115888"/>
            <a:ext cx="8897938" cy="6408737"/>
          </a:xfrm>
        </p:spPr>
        <p:txBody>
          <a:bodyPr>
            <a:normAutofit lnSpcReduction="10000"/>
          </a:bodyPr>
          <a:lstStyle/>
          <a:p>
            <a:r>
              <a:rPr lang="pl-PL" altLang="pl-PL" sz="3200"/>
              <a:t>Art. 452 §  3 k.p.k. </a:t>
            </a:r>
          </a:p>
          <a:p>
            <a:r>
              <a:rPr lang="pl-PL" altLang="pl-PL" sz="3200"/>
              <a:t> Wniosku dowodowego nie można oddalić na podstawie § 2 pkt 2, jeżeli okoliczność, która ma być udowodniona, w granicach rozpoznania sprawy przez sąd odwoławczy, ma istotne znaczenie dla ustalenia, czy został popełniony czyn zabroniony, czy stanowi on przestępstwo i jakie, czy czyn zabroniony został popełniony w warunkach, o których mowa w </a:t>
            </a:r>
            <a:r>
              <a:rPr lang="pl-PL" altLang="pl-PL" sz="3200">
                <a:hlinkClick r:id="rId2"/>
              </a:rPr>
              <a:t>art. 64</a:t>
            </a:r>
            <a:r>
              <a:rPr lang="pl-PL" altLang="pl-PL" sz="3200"/>
              <a:t> lub </a:t>
            </a:r>
            <a:r>
              <a:rPr lang="pl-PL" altLang="pl-PL" sz="3200">
                <a:hlinkClick r:id="rId3"/>
              </a:rPr>
              <a:t>art. 65</a:t>
            </a:r>
            <a:r>
              <a:rPr lang="pl-PL" altLang="pl-PL" sz="3200"/>
              <a:t> Kodeksu karnego, lub czy zachodzą warunki do orzeczenia pobytu w zakładzie psychiatrycznym na podstawie </a:t>
            </a:r>
            <a:r>
              <a:rPr lang="pl-PL" altLang="pl-PL" sz="3200">
                <a:hlinkClick r:id="rId4"/>
              </a:rPr>
              <a:t>art. 93g</a:t>
            </a:r>
            <a:r>
              <a:rPr lang="pl-PL" altLang="pl-PL" sz="3200"/>
              <a:t> Kodeksu karnego.</a:t>
            </a:r>
            <a:endParaRPr lang="pl-PL" altLang="pl-PL" sz="3200" b="1">
              <a:solidFill>
                <a:srgbClr val="00B050"/>
              </a:solidFill>
            </a:endParaRPr>
          </a:p>
        </p:txBody>
      </p:sp>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0" name="Symbol zastępczy zawartości 2">
            <a:extLst>
              <a:ext uri="{FF2B5EF4-FFF2-40B4-BE49-F238E27FC236}">
                <a16:creationId xmlns:a16="http://schemas.microsoft.com/office/drawing/2014/main" id="{88906A6D-0D29-6C20-4ACC-64B9699FE8C5}"/>
              </a:ext>
            </a:extLst>
          </p:cNvPr>
          <p:cNvSpPr>
            <a:spLocks noGrp="1" noChangeArrowheads="1"/>
          </p:cNvSpPr>
          <p:nvPr>
            <p:ph idx="1"/>
          </p:nvPr>
        </p:nvSpPr>
        <p:spPr>
          <a:xfrm>
            <a:off x="107950" y="115888"/>
            <a:ext cx="8897938" cy="5940425"/>
          </a:xfrm>
        </p:spPr>
        <p:txBody>
          <a:bodyPr>
            <a:normAutofit lnSpcReduction="10000"/>
          </a:bodyPr>
          <a:lstStyle/>
          <a:p>
            <a:pPr marL="0" indent="0" algn="just">
              <a:buFont typeface="Wingdings" panose="05000000000000000000" pitchFamily="2" charset="2"/>
              <a:buNone/>
            </a:pPr>
            <a:r>
              <a:rPr lang="pl-PL" altLang="pl-PL" sz="3600"/>
              <a:t>Sprawstwo, wina, kwalifikacja prawna czynu (szeroko rozumiana) nie będą więc objęte prekluzją dowodową. Będą nią natomiast objęte konsekwencje prawne przypisanego czynu (kara, środki karne, kompensacyjne, przepadek). Z wyjątkiem kwestii umieszczenia osoby w zakładzie psychiatrycznym tytułem środka zabezpieczającego. Bo ta sfera także chroniona jest dyspozycją art. 452 par. 3 k.p.k. </a:t>
            </a:r>
          </a:p>
        </p:txBody>
      </p:sp>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4" name="Symbol zastępczy zawartości 2">
            <a:extLst>
              <a:ext uri="{FF2B5EF4-FFF2-40B4-BE49-F238E27FC236}">
                <a16:creationId xmlns:a16="http://schemas.microsoft.com/office/drawing/2014/main" id="{90B0376C-2815-7F0B-8450-47D3235BBD93}"/>
              </a:ext>
            </a:extLst>
          </p:cNvPr>
          <p:cNvSpPr>
            <a:spLocks noGrp="1" noChangeArrowheads="1"/>
          </p:cNvSpPr>
          <p:nvPr>
            <p:ph idx="1"/>
          </p:nvPr>
        </p:nvSpPr>
        <p:spPr>
          <a:xfrm>
            <a:off x="179388" y="260350"/>
            <a:ext cx="8964612" cy="5721350"/>
          </a:xfrm>
        </p:spPr>
        <p:txBody>
          <a:bodyPr>
            <a:normAutofit lnSpcReduction="10000"/>
          </a:bodyPr>
          <a:lstStyle/>
          <a:p>
            <a:pPr marL="0" indent="0" algn="just">
              <a:buFont typeface="Wingdings" panose="05000000000000000000" pitchFamily="2" charset="2"/>
              <a:buNone/>
            </a:pPr>
            <a:endParaRPr lang="pl-PL" altLang="pl-PL" sz="3300" b="1">
              <a:solidFill>
                <a:srgbClr val="00B050"/>
              </a:solidFill>
            </a:endParaRPr>
          </a:p>
          <a:p>
            <a:pPr marL="0" indent="0" algn="just">
              <a:buFont typeface="Wingdings" panose="05000000000000000000" pitchFamily="2" charset="2"/>
              <a:buNone/>
            </a:pPr>
            <a:r>
              <a:rPr lang="pl-PL" altLang="pl-PL" sz="4800" b="1">
                <a:solidFill>
                  <a:srgbClr val="00B050"/>
                </a:solidFill>
              </a:rPr>
              <a:t>Termin złożenia wniosku dowodowego – brak jego określenia. Pragmatycznie – w apelacji. Jednak złożony  na rozprawie odwoławczej też nie będzie spóźniony. </a:t>
            </a:r>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6258" name="Symbol zastępczy zawartości 2">
            <a:extLst>
              <a:ext uri="{FF2B5EF4-FFF2-40B4-BE49-F238E27FC236}">
                <a16:creationId xmlns:a16="http://schemas.microsoft.com/office/drawing/2014/main" id="{8B0218DC-EF98-6FCA-A26A-681A6FDD66D7}"/>
              </a:ext>
            </a:extLst>
          </p:cNvPr>
          <p:cNvSpPr>
            <a:spLocks noGrp="1" noChangeArrowheads="1"/>
          </p:cNvSpPr>
          <p:nvPr>
            <p:ph idx="1"/>
          </p:nvPr>
        </p:nvSpPr>
        <p:spPr>
          <a:xfrm>
            <a:off x="107950" y="260350"/>
            <a:ext cx="8897938" cy="5795963"/>
          </a:xfrm>
        </p:spPr>
        <p:txBody>
          <a:bodyPr/>
          <a:lstStyle/>
          <a:p>
            <a:pPr marL="0" indent="0" algn="just">
              <a:buFont typeface="Wingdings" panose="05000000000000000000" pitchFamily="2" charset="2"/>
              <a:buNone/>
            </a:pPr>
            <a:r>
              <a:rPr lang="pl-PL" altLang="pl-PL" sz="4800">
                <a:solidFill>
                  <a:srgbClr val="C00000"/>
                </a:solidFill>
              </a:rPr>
              <a:t>2. okoliczność, która ma być udowodniona, nie ma znaczenia dla rozstrzygnięcia sprawy albo jest już udowodniona zgodnie z twierdzeniem wnioskodawcy</a:t>
            </a:r>
          </a:p>
        </p:txBody>
      </p:sp>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5CE47D0-7C3E-4102-B473-8CFB499FC27E}"/>
              </a:ext>
            </a:extLst>
          </p:cNvPr>
          <p:cNvSpPr>
            <a:spLocks noGrp="1"/>
          </p:cNvSpPr>
          <p:nvPr>
            <p:ph idx="1"/>
          </p:nvPr>
        </p:nvSpPr>
        <p:spPr>
          <a:xfrm>
            <a:off x="107950" y="188913"/>
            <a:ext cx="9036050" cy="6192837"/>
          </a:xfrm>
        </p:spPr>
        <p:txBody>
          <a:bodyPr>
            <a:normAutofit lnSpcReduction="10000"/>
          </a:bodyPr>
          <a:lstStyle/>
          <a:p>
            <a:pPr marL="0" indent="0" algn="just">
              <a:buFont typeface="Wingdings" panose="05000000000000000000" pitchFamily="2" charset="2"/>
              <a:buNone/>
              <a:defRPr/>
            </a:pPr>
            <a:r>
              <a:rPr lang="pl-PL" sz="3600" dirty="0"/>
              <a:t>Okoliczność, która ma być udowodniona, </a:t>
            </a:r>
            <a:r>
              <a:rPr lang="pl-PL" sz="3600" b="1" dirty="0"/>
              <a:t>nie ma znaczenia dla rozstrzygnięcia</a:t>
            </a:r>
            <a:r>
              <a:rPr lang="pl-PL" sz="3600" dirty="0"/>
              <a:t> jedynie wtedy, gdy strona chce dowodzić czegoś, co niewątpliwie nie będzie w ogóle brane pod uwagę ani w celu ustalania sprawstwa i winy, ani przy stosowaniu kary lub innych środków reakcji karnej. Chodzi zatem o sytuacje, gdy teza dowodowa bez żadnych wątpliwości wskazuje na okoliczność nieistotną, niemającą związku z czynem zarzucanym oskarżonemu i jego osobą na tle tego czynu (T. Grzegorczyk).</a:t>
            </a:r>
            <a:endParaRPr lang="pl-PL" sz="3300" b="1" dirty="0">
              <a:solidFill>
                <a:srgbClr val="00B050"/>
              </a:solidFill>
            </a:endParaRPr>
          </a:p>
        </p:txBody>
      </p:sp>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8306" name="Symbol zastępczy zawartości 2">
            <a:extLst>
              <a:ext uri="{FF2B5EF4-FFF2-40B4-BE49-F238E27FC236}">
                <a16:creationId xmlns:a16="http://schemas.microsoft.com/office/drawing/2014/main" id="{FA4F09EC-C080-F5C4-5477-6D249166DF61}"/>
              </a:ext>
            </a:extLst>
          </p:cNvPr>
          <p:cNvSpPr>
            <a:spLocks noGrp="1" noChangeArrowheads="1"/>
          </p:cNvSpPr>
          <p:nvPr>
            <p:ph idx="1"/>
          </p:nvPr>
        </p:nvSpPr>
        <p:spPr>
          <a:xfrm>
            <a:off x="107950" y="260350"/>
            <a:ext cx="8897938" cy="6264275"/>
          </a:xfrm>
        </p:spPr>
        <p:txBody>
          <a:bodyPr/>
          <a:lstStyle/>
          <a:p>
            <a:pPr marL="0" indent="0">
              <a:buFont typeface="Wingdings" panose="05000000000000000000" pitchFamily="2" charset="2"/>
              <a:buNone/>
            </a:pPr>
            <a:r>
              <a:rPr lang="pl-PL" altLang="pl-PL" sz="3200" b="1"/>
              <a:t>Wyrok Sądu Najwyższego z dnia 1 kwietnia 1988 r., IV KR 281/87</a:t>
            </a:r>
          </a:p>
          <a:p>
            <a:pPr marL="0" indent="0">
              <a:buFont typeface="Wingdings" panose="05000000000000000000" pitchFamily="2" charset="2"/>
              <a:buNone/>
            </a:pPr>
            <a:r>
              <a:rPr lang="pl-PL" altLang="pl-PL" sz="3200"/>
              <a:t>Nie jest dopuszczalna odmowa przeprowadzenia dowodu z opinii o stanie zdrowia psychicznego oskarżonego (art. 183 k.p.k.; obecnie art. 202 par. 1 k.p.k. – przyp. D. K.) w rozpoznawanej sprawie tylko na tej podstawie, że w innej sprawie toczącej się wcześniej i przed innym sądem o inny czyn biegli lekarze psychiatrzy nie stwierdzili zniesionej lub ograniczonej w stopniu znacznym poczytalności oskarżonego.</a:t>
            </a:r>
            <a:endParaRPr lang="pl-PL" altLang="pl-PL" sz="3200" b="1">
              <a:solidFill>
                <a:srgbClr val="00B050"/>
              </a:solidFill>
            </a:endParaRPr>
          </a:p>
        </p:txBody>
      </p:sp>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96CF783C-2796-94DA-13AB-8A7FF7E94B7A}"/>
              </a:ext>
            </a:extLst>
          </p:cNvPr>
          <p:cNvSpPr>
            <a:spLocks noGrp="1"/>
          </p:cNvSpPr>
          <p:nvPr>
            <p:ph idx="1"/>
          </p:nvPr>
        </p:nvSpPr>
        <p:spPr>
          <a:xfrm>
            <a:off x="179388" y="333375"/>
            <a:ext cx="8964612" cy="5648325"/>
          </a:xfrm>
        </p:spPr>
        <p:txBody>
          <a:bodyPr>
            <a:noAutofit/>
          </a:bodyPr>
          <a:lstStyle/>
          <a:p>
            <a:pPr marL="0" indent="0">
              <a:buFont typeface="Wingdings" panose="05000000000000000000" pitchFamily="2" charset="2"/>
              <a:buNone/>
              <a:defRPr/>
            </a:pPr>
            <a:r>
              <a:rPr lang="pl-PL" sz="4800" dirty="0"/>
              <a:t>Art.  201 k.p.k.</a:t>
            </a:r>
          </a:p>
          <a:p>
            <a:pPr>
              <a:defRPr/>
            </a:pPr>
            <a:r>
              <a:rPr lang="pl-PL" sz="4800" dirty="0"/>
              <a:t> Jeżeli opinia jest niepełna lub niejasna albo gdy zachodzi sprzeczność w samej opinii lub między różnymi opiniami w tej samej sprawie, można wezwać ponownie tych samych biegłych lub powołać innych.</a:t>
            </a:r>
          </a:p>
        </p:txBody>
      </p:sp>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0354" name="Symbol zastępczy zawartości 2">
            <a:extLst>
              <a:ext uri="{FF2B5EF4-FFF2-40B4-BE49-F238E27FC236}">
                <a16:creationId xmlns:a16="http://schemas.microsoft.com/office/drawing/2014/main" id="{1D7BF0A6-1463-EE1F-5B5A-C9A0D48BFE38}"/>
              </a:ext>
            </a:extLst>
          </p:cNvPr>
          <p:cNvSpPr>
            <a:spLocks noGrp="1" noChangeArrowheads="1"/>
          </p:cNvSpPr>
          <p:nvPr>
            <p:ph idx="1"/>
          </p:nvPr>
        </p:nvSpPr>
        <p:spPr>
          <a:xfrm>
            <a:off x="107950" y="404813"/>
            <a:ext cx="8897938" cy="6264275"/>
          </a:xfrm>
        </p:spPr>
        <p:txBody>
          <a:bodyPr/>
          <a:lstStyle/>
          <a:p>
            <a:pPr marL="0" indent="0">
              <a:buFont typeface="Wingdings" panose="05000000000000000000" pitchFamily="2" charset="2"/>
              <a:buNone/>
            </a:pPr>
            <a:r>
              <a:rPr lang="pl-PL" altLang="pl-PL" sz="2300"/>
              <a:t>Przyjęcie, że okoliczność, która ma być udowodniona, </a:t>
            </a:r>
            <a:r>
              <a:rPr lang="pl-PL" altLang="pl-PL" sz="2300" b="1"/>
              <a:t>została już uprzednio udowodniona zgodnie z twierdzeniem wnioskodawcy, </a:t>
            </a:r>
            <a:r>
              <a:rPr lang="pl-PL" altLang="pl-PL" sz="2300"/>
              <a:t>oznacza, że </a:t>
            </a:r>
            <a:r>
              <a:rPr lang="pl-PL" altLang="pl-PL" sz="2300" b="1">
                <a:solidFill>
                  <a:srgbClr val="C00000"/>
                </a:solidFill>
              </a:rPr>
              <a:t>przyjęto już za udowodnioną tezę prezentowaną we wniosku dowodowym strony, a wnioskowany dowód miałby to jedynie jeszcze raz potwierdzić. </a:t>
            </a:r>
            <a:r>
              <a:rPr lang="pl-PL" altLang="pl-PL" sz="2300"/>
              <a:t>Niedopuszczalne jest zatem oddalenie wniosku dowodowego tylko dlatego, że materiał dowodowy dostatecznie wyjaśnia sprawę, jeżeli w następstwie tego sąd dokonuje ustaleń niezgodnych z tezą dowodową oddalonego wniosku (zob. wyrok SN z dnia 20 sierpnia 1981 r., </a:t>
            </a:r>
            <a:r>
              <a:rPr lang="pl-PL" altLang="pl-PL" sz="2300">
                <a:hlinkClick r:id="rId2"/>
              </a:rPr>
              <a:t>V KRN 180/81</a:t>
            </a:r>
            <a:r>
              <a:rPr lang="pl-PL" altLang="pl-PL" sz="2300"/>
              <a:t>, OSNPG 1982, nr 3, poz. 35. Nie można też oddalić wniosku dowodowego z uwagi na to, że "dotychczas przesłuchani świadkowie, jako obiektywni i bezstronni, przedstawili przestępne zachowanie się oskarżonego", gdyż tym samym sąd w toku procesu w incydentalnym rozstrzygnięciu dokonał już oceny dowodów, co jest niedopuszczalne; pozostaje to w sprzeczności z </a:t>
            </a:r>
            <a:r>
              <a:rPr lang="pl-PL" altLang="pl-PL" sz="2300">
                <a:hlinkClick r:id="rId3"/>
              </a:rPr>
              <a:t>art. 170 § 2</a:t>
            </a:r>
            <a:r>
              <a:rPr lang="pl-PL" altLang="pl-PL" sz="2300"/>
              <a:t> obecnego k.p.k. (zob. wyrok SN z dnia 18 grudnia 1975 r., </a:t>
            </a:r>
            <a:r>
              <a:rPr lang="pl-PL" altLang="pl-PL" sz="2300">
                <a:hlinkClick r:id="rId4"/>
              </a:rPr>
              <a:t>Rw 680/75</a:t>
            </a:r>
            <a:r>
              <a:rPr lang="pl-PL" altLang="pl-PL" sz="2300"/>
              <a:t>, OSNKW 1976, nr 4-5, poz. 69).</a:t>
            </a:r>
            <a:endParaRPr lang="pl-PL" altLang="pl-PL" sz="2300" b="1">
              <a:solidFill>
                <a:srgbClr val="00B050"/>
              </a:solidFill>
            </a:endParaRPr>
          </a:p>
        </p:txBody>
      </p:sp>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378" name="Symbol zastępczy zawartości 2">
            <a:extLst>
              <a:ext uri="{FF2B5EF4-FFF2-40B4-BE49-F238E27FC236}">
                <a16:creationId xmlns:a16="http://schemas.microsoft.com/office/drawing/2014/main" id="{AD84FC62-F457-16DA-AEB1-404C3B2545BE}"/>
              </a:ext>
            </a:extLst>
          </p:cNvPr>
          <p:cNvSpPr>
            <a:spLocks noGrp="1" noChangeArrowheads="1"/>
          </p:cNvSpPr>
          <p:nvPr>
            <p:ph idx="1"/>
          </p:nvPr>
        </p:nvSpPr>
        <p:spPr>
          <a:xfrm>
            <a:off x="107950" y="620713"/>
            <a:ext cx="9036050" cy="5435600"/>
          </a:xfrm>
        </p:spPr>
        <p:txBody>
          <a:bodyPr/>
          <a:lstStyle/>
          <a:p>
            <a:pPr marL="0" indent="0">
              <a:buFont typeface="Wingdings" panose="05000000000000000000" pitchFamily="2" charset="2"/>
              <a:buNone/>
            </a:pPr>
            <a:r>
              <a:rPr lang="pl-PL" altLang="pl-PL" sz="5400">
                <a:solidFill>
                  <a:srgbClr val="C00000"/>
                </a:solidFill>
              </a:rPr>
              <a:t>3.dowód jest nieprzydatny do stwierdzenia danej okoliczności;</a:t>
            </a:r>
          </a:p>
        </p:txBody>
      </p:sp>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83DA4D54-2516-4D49-71F2-B0681C0737F5}"/>
              </a:ext>
            </a:extLst>
          </p:cNvPr>
          <p:cNvSpPr>
            <a:spLocks noGrp="1"/>
          </p:cNvSpPr>
          <p:nvPr>
            <p:ph idx="1"/>
          </p:nvPr>
        </p:nvSpPr>
        <p:spPr>
          <a:xfrm>
            <a:off x="107950" y="188913"/>
            <a:ext cx="9036050" cy="6669087"/>
          </a:xfrm>
        </p:spPr>
        <p:txBody>
          <a:bodyPr>
            <a:normAutofit fontScale="40000" lnSpcReduction="20000"/>
          </a:bodyPr>
          <a:lstStyle/>
          <a:p>
            <a:pPr marL="0" indent="0">
              <a:buFont typeface="Wingdings" panose="05000000000000000000" pitchFamily="2" charset="2"/>
              <a:buNone/>
              <a:defRPr/>
            </a:pPr>
            <a:r>
              <a:rPr lang="pl-PL" sz="5900" dirty="0"/>
              <a:t>Wyrok Sądu Najwyższego z dnia 11 października 2017 r., III KK 102/17</a:t>
            </a:r>
          </a:p>
          <a:p>
            <a:pPr marL="0" indent="0" algn="just">
              <a:buFont typeface="Wingdings" panose="05000000000000000000" pitchFamily="2" charset="2"/>
              <a:buNone/>
              <a:defRPr/>
            </a:pPr>
            <a:r>
              <a:rPr lang="pl-PL" sz="5500" dirty="0"/>
              <a:t>Podstawa oddalenia wniosku dowodowego z art. 170 § 1 pkt 3 k.p.k. może zachodzić tylko wówczas, </a:t>
            </a:r>
            <a:r>
              <a:rPr lang="pl-PL" sz="5500" b="1" dirty="0">
                <a:solidFill>
                  <a:srgbClr val="00B050"/>
                </a:solidFill>
              </a:rPr>
              <a:t>gdy dowód nie może służyć do udowodnienia postawionej we wniosku tezy dowodowej, a więc gdy wręcz niepodobieństwem jest ustalenie danej okoliczności za pomocą oferowanego dowodu.</a:t>
            </a:r>
            <a:r>
              <a:rPr lang="pl-PL" sz="5500" dirty="0"/>
              <a:t> Nieprzydatność dowodu dla stwierdzenia określonej okoliczności ma przy tym wynikać </a:t>
            </a:r>
            <a:r>
              <a:rPr lang="pl-PL" sz="5500" b="1" dirty="0">
                <a:solidFill>
                  <a:srgbClr val="C00000"/>
                </a:solidFill>
              </a:rPr>
              <a:t>z dokonanej przez organ procesowy oceny możliwości udowodnienia jej za pomocą określonego źródła dowodowego.</a:t>
            </a:r>
            <a:r>
              <a:rPr lang="pl-PL" sz="5500" dirty="0"/>
              <a:t> Chodzi tu zatem albo o taką możliwość zmiany stanu fizycznego rzeczy, która uniemożliwi dokonanie czynności, np. dokonanie oględzin miejsca zdarzenia, gdy wiadomo, że doszło już do zmian, że wygląda ono odmiennie niż w dacie zdarzenia, albo o taką sytuację, że dane źródło dowodowe nie może być nośnikiem informacji o okoliczności, która ma zostać udowodniona, np. zeznania świadka jako jedyny dowód co do stanu zdrowia psychicznego oskarżonego. Zarówno w piśmiennictwie, jak i w orzecznictwie trafnie wskazuje się również, że dyspozycji tej przesłanki nie wypełnia </a:t>
            </a:r>
            <a:r>
              <a:rPr lang="pl-PL" sz="5500" dirty="0">
                <a:solidFill>
                  <a:srgbClr val="C00000"/>
                </a:solidFill>
              </a:rPr>
              <a:t>dowolne wnioskowanie organu orzekającego na temat wiedzy świadka w sytuacji, gdy nie doszło do jego przesłuchania, a istnieje podstawa do przyjęcia, że może wiedzieć o okolicznościach będących przedmiotem udowodnienia.</a:t>
            </a:r>
            <a:endParaRPr lang="pl-PL" sz="5500" b="1" dirty="0">
              <a:solidFill>
                <a:srgbClr val="C00000"/>
              </a:solidFill>
            </a:endParaRPr>
          </a:p>
        </p:txBody>
      </p:sp>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3426" name="Symbol zastępczy zawartości 2">
            <a:extLst>
              <a:ext uri="{FF2B5EF4-FFF2-40B4-BE49-F238E27FC236}">
                <a16:creationId xmlns:a16="http://schemas.microsoft.com/office/drawing/2014/main" id="{EBA2D4FD-CA9B-72E7-7063-822C260E02D8}"/>
              </a:ext>
            </a:extLst>
          </p:cNvPr>
          <p:cNvSpPr>
            <a:spLocks noGrp="1" noChangeArrowheads="1"/>
          </p:cNvSpPr>
          <p:nvPr>
            <p:ph idx="1"/>
          </p:nvPr>
        </p:nvSpPr>
        <p:spPr>
          <a:xfrm>
            <a:off x="107950" y="188913"/>
            <a:ext cx="9036050" cy="6119812"/>
          </a:xfrm>
        </p:spPr>
        <p:txBody>
          <a:bodyPr/>
          <a:lstStyle/>
          <a:p>
            <a:pPr marL="0" indent="0">
              <a:buFont typeface="Wingdings" panose="05000000000000000000" pitchFamily="2" charset="2"/>
              <a:buNone/>
            </a:pPr>
            <a:r>
              <a:rPr lang="pl-PL" altLang="pl-PL" sz="3200" b="1"/>
              <a:t>Postanowienie Sądu Najwyższego z dnia 7 kwietnia 2005 r., IV KK 32/05</a:t>
            </a:r>
          </a:p>
          <a:p>
            <a:pPr marL="0" indent="0">
              <a:buFont typeface="Wingdings" panose="05000000000000000000" pitchFamily="2" charset="2"/>
              <a:buNone/>
            </a:pPr>
            <a:r>
              <a:rPr lang="pl-PL" altLang="pl-PL" sz="3200"/>
              <a:t>Nieprzydatność dowodu, łączy się z sytuacją w której w następstwie konfrontacji oznaczonego we wniosku dowodu z okolicznością, która ma być za jego pomocą udowodniona, organ procesowy dochodzi do wniosku, iż nie sposób za pomocą tegoż dowodu udowodnić to, czego oczekuje wnioskodawca. Tak tylko można rozumieć ową określoną w pkt 3 § 1 art. 170 k.p.k. podstawę oddalenia wniosku dowodowego.</a:t>
            </a:r>
          </a:p>
          <a:p>
            <a:pPr marL="0" indent="0">
              <a:buFont typeface="Wingdings" panose="05000000000000000000" pitchFamily="2" charset="2"/>
              <a:buNone/>
            </a:pPr>
            <a:endParaRPr lang="pl-PL" altLang="pl-PL" sz="3300" b="1">
              <a:solidFill>
                <a:srgbClr val="00B050"/>
              </a:solidFill>
            </a:endParaRPr>
          </a:p>
        </p:txBody>
      </p:sp>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450" name="Symbol zastępczy zawartości 2">
            <a:extLst>
              <a:ext uri="{FF2B5EF4-FFF2-40B4-BE49-F238E27FC236}">
                <a16:creationId xmlns:a16="http://schemas.microsoft.com/office/drawing/2014/main" id="{A866587C-B741-B324-BA24-ABC13255ED31}"/>
              </a:ext>
            </a:extLst>
          </p:cNvPr>
          <p:cNvSpPr>
            <a:spLocks noGrp="1" noChangeArrowheads="1"/>
          </p:cNvSpPr>
          <p:nvPr>
            <p:ph idx="1"/>
          </p:nvPr>
        </p:nvSpPr>
        <p:spPr>
          <a:xfrm>
            <a:off x="71438" y="990600"/>
            <a:ext cx="8934450" cy="5534025"/>
          </a:xfrm>
        </p:spPr>
        <p:txBody>
          <a:bodyPr/>
          <a:lstStyle/>
          <a:p>
            <a:pPr marL="0" indent="0">
              <a:buFont typeface="Wingdings" panose="05000000000000000000" pitchFamily="2" charset="2"/>
              <a:buNone/>
            </a:pPr>
            <a:r>
              <a:rPr lang="pl-PL" altLang="pl-PL" sz="7200">
                <a:solidFill>
                  <a:srgbClr val="C00000"/>
                </a:solidFill>
              </a:rPr>
              <a:t>4. dowodu nie da się przeprowadzić</a:t>
            </a:r>
            <a:endParaRPr lang="pl-PL" altLang="pl-PL" sz="7200" b="1">
              <a:solidFill>
                <a:srgbClr val="C00000"/>
              </a:solidFill>
            </a:endParaRPr>
          </a:p>
        </p:txBody>
      </p:sp>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5474" name="Symbol zastępczy zawartości 2">
            <a:extLst>
              <a:ext uri="{FF2B5EF4-FFF2-40B4-BE49-F238E27FC236}">
                <a16:creationId xmlns:a16="http://schemas.microsoft.com/office/drawing/2014/main" id="{DF6F001F-1740-9E19-5134-480EF5615C94}"/>
              </a:ext>
            </a:extLst>
          </p:cNvPr>
          <p:cNvSpPr>
            <a:spLocks noGrp="1" noChangeArrowheads="1"/>
          </p:cNvSpPr>
          <p:nvPr>
            <p:ph idx="1"/>
          </p:nvPr>
        </p:nvSpPr>
        <p:spPr>
          <a:xfrm>
            <a:off x="107950" y="260350"/>
            <a:ext cx="8897938" cy="5795963"/>
          </a:xfrm>
        </p:spPr>
        <p:txBody>
          <a:bodyPr/>
          <a:lstStyle/>
          <a:p>
            <a:pPr marL="0" indent="0">
              <a:buFont typeface="Wingdings" panose="05000000000000000000" pitchFamily="2" charset="2"/>
              <a:buNone/>
            </a:pPr>
            <a:r>
              <a:rPr lang="pl-PL" altLang="pl-PL" sz="4000" b="1"/>
              <a:t>Postanowienie Sądu Najwyższego z dnia 29 grudnia 2015 r., II KK 371/15</a:t>
            </a:r>
          </a:p>
          <a:p>
            <a:pPr marL="0" indent="0" algn="just">
              <a:buFont typeface="Wingdings" panose="05000000000000000000" pitchFamily="2" charset="2"/>
              <a:buNone/>
            </a:pPr>
            <a:r>
              <a:rPr lang="pl-PL" altLang="pl-PL" sz="4000"/>
              <a:t>Niemożność przeprowadzenia dowodu jako podstawa oddalenia wniosku dowodowego to sytuacja, gdy dany dowód nie tylko w ogóle, ale też w przewidywanym naturalnie terminie nie będzie mógł być przeprowadzony.</a:t>
            </a:r>
          </a:p>
        </p:txBody>
      </p:sp>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6498" name="Symbol zastępczy zawartości 2">
            <a:extLst>
              <a:ext uri="{FF2B5EF4-FFF2-40B4-BE49-F238E27FC236}">
                <a16:creationId xmlns:a16="http://schemas.microsoft.com/office/drawing/2014/main" id="{3601AA10-74A9-2778-0419-3B90E69531B4}"/>
              </a:ext>
            </a:extLst>
          </p:cNvPr>
          <p:cNvSpPr>
            <a:spLocks noGrp="1" noChangeArrowheads="1"/>
          </p:cNvSpPr>
          <p:nvPr>
            <p:ph idx="1"/>
          </p:nvPr>
        </p:nvSpPr>
        <p:spPr>
          <a:xfrm>
            <a:off x="107950" y="188913"/>
            <a:ext cx="9036050" cy="5792787"/>
          </a:xfrm>
        </p:spPr>
        <p:txBody>
          <a:bodyPr/>
          <a:lstStyle/>
          <a:p>
            <a:pPr marL="0" indent="0">
              <a:buFont typeface="Wingdings" panose="05000000000000000000" pitchFamily="2" charset="2"/>
              <a:buNone/>
            </a:pPr>
            <a:r>
              <a:rPr lang="pl-PL" altLang="pl-PL" sz="2800"/>
              <a:t>Art.  391 §  1 k.p.k.</a:t>
            </a:r>
          </a:p>
          <a:p>
            <a:pPr marL="0" indent="0">
              <a:buFont typeface="Wingdings" panose="05000000000000000000" pitchFamily="2" charset="2"/>
              <a:buNone/>
            </a:pPr>
            <a:r>
              <a:rPr lang="pl-PL" altLang="pl-PL" sz="2800"/>
              <a:t>Jeżeli świadek bezpodstawnie odmawia zeznań, zeznaje odmiennie niż poprzednio albo oświadczy, że pewnych okoliczności nie pamięta, albo </a:t>
            </a:r>
            <a:r>
              <a:rPr lang="pl-PL" altLang="pl-PL" sz="2800" b="1">
                <a:solidFill>
                  <a:srgbClr val="C00000"/>
                </a:solidFill>
              </a:rPr>
              <a:t>przebywa za granicą</a:t>
            </a:r>
            <a:r>
              <a:rPr lang="pl-PL" altLang="pl-PL" sz="2800"/>
              <a:t> lub nie można mu było doręczyć wezwania, albo nie stawił się z powodu niedających się usunąć przeszkód lub przewodniczący zaniechał wezwania świadka na podstawie art. 350a, a także wtedy, gdy świadek zmarł, wolno odczytywać w odpowiednim zakresie protokoły złożonych poprzednio przez niego zeznań w postępowaniu przygotowawczym lub przed sądem w tej lub innej sprawie albo w innym postępowaniu przewidzianym przez ustawę.</a:t>
            </a:r>
          </a:p>
          <a:p>
            <a:pPr marL="0" indent="0">
              <a:buFont typeface="Wingdings" panose="05000000000000000000" pitchFamily="2" charset="2"/>
              <a:buNone/>
            </a:pPr>
            <a:endParaRPr lang="pl-PL" altLang="pl-PL" sz="3600"/>
          </a:p>
        </p:txBody>
      </p:sp>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7522" name="Symbol zastępczy zawartości 2">
            <a:extLst>
              <a:ext uri="{FF2B5EF4-FFF2-40B4-BE49-F238E27FC236}">
                <a16:creationId xmlns:a16="http://schemas.microsoft.com/office/drawing/2014/main" id="{F864FDD4-3359-CABE-EA20-8D998DC849CA}"/>
              </a:ext>
            </a:extLst>
          </p:cNvPr>
          <p:cNvSpPr>
            <a:spLocks noGrp="1" noChangeArrowheads="1"/>
          </p:cNvSpPr>
          <p:nvPr>
            <p:ph idx="1"/>
          </p:nvPr>
        </p:nvSpPr>
        <p:spPr>
          <a:xfrm>
            <a:off x="107950" y="188913"/>
            <a:ext cx="9036050" cy="5792787"/>
          </a:xfrm>
        </p:spPr>
        <p:txBody>
          <a:bodyPr/>
          <a:lstStyle/>
          <a:p>
            <a:pPr marL="0" indent="0">
              <a:buFont typeface="Wingdings" panose="05000000000000000000" pitchFamily="2" charset="2"/>
              <a:buNone/>
            </a:pPr>
            <a:r>
              <a:rPr lang="pl-PL" altLang="pl-PL" sz="3600">
                <a:cs typeface="Calibri" panose="020F0502020204030204" pitchFamily="34" charset="0"/>
              </a:rPr>
              <a:t>Gdy zeznania świadka przebywającego za granicą mają istotne znaczenie dla merytorycznego rozpoznania sprawy, sąd nie powinien automatycznie stosować odstępstwa od zasady bezpośredniości, lecz dążyć do spowodowania stawiennictwa świadka na rozprawę lub przesłuchania go na odległość albo w drodze pomocy prawnej (vide uzasadnienie wyroku SN, IV KK 543/24).</a:t>
            </a:r>
            <a:endParaRPr lang="pl-PL" altLang="pl-PL" sz="3600"/>
          </a:p>
        </p:txBody>
      </p:sp>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83EA87B2-24C1-89D7-1DB8-9165FE15DB2E}"/>
              </a:ext>
            </a:extLst>
          </p:cNvPr>
          <p:cNvSpPr>
            <a:spLocks noGrp="1"/>
          </p:cNvSpPr>
          <p:nvPr>
            <p:ph idx="1"/>
          </p:nvPr>
        </p:nvSpPr>
        <p:spPr>
          <a:xfrm>
            <a:off x="179388" y="260350"/>
            <a:ext cx="8826500" cy="6769100"/>
          </a:xfrm>
        </p:spPr>
        <p:txBody>
          <a:bodyPr>
            <a:normAutofit/>
          </a:bodyPr>
          <a:lstStyle/>
          <a:p>
            <a:pPr marL="0" indent="0" algn="just">
              <a:buFont typeface="Wingdings" panose="05000000000000000000" pitchFamily="2" charset="2"/>
              <a:buNone/>
              <a:defRPr/>
            </a:pPr>
            <a:r>
              <a:rPr lang="pl-PL" sz="2000" kern="100" dirty="0">
                <a:ea typeface="Calibri" panose="020F0502020204030204" pitchFamily="34" charset="0"/>
                <a:cs typeface="Times New Roman" panose="02020603050405020304" pitchFamily="18" charset="0"/>
              </a:rPr>
              <a:t>Pamiętać przy tym należy, że art. 6 ust. 3 lit. d Europejskiej Konwencji Praw Człowieka, przez którego pryzmat również należy oceniać przesłankę poprzestania na odczytaniu zeznań świadka przebywającego za granicą na podstawie art. 391 § 1 k.p.k., statuuje zasadę, zgodnie z którą przed skazaniem oskarżonego wszystkie dowody przeciwko niemu muszą zostać przedstawione w jego obecności podczas jawnej rozprawy w celu umożliwienia przeprowadzenia kontradyktoryjnej argumentacji. Wykorzystanie depozycji procesowych uzyskanych na etapie postępowania przygotowawczego nie jest samo w sobie niezgodne z art. 6 ust. 1 i 3 lit. d), pod warunkiem, że prawo do obrony zostało zachowane. Zasadniczo prawa te wymagają, aby oskarżony miał odpowiednią i właściwą możliwość zakwestionowania i przesłuchania świadka obciążającego go – albo w momencie składania przez niego zeznań, albo na późniejszym etapie postępowania (wyrok </a:t>
            </a:r>
            <a:r>
              <a:rPr lang="pl-PL" sz="2000" kern="100" dirty="0" err="1">
                <a:ea typeface="Calibri" panose="020F0502020204030204" pitchFamily="34" charset="0"/>
                <a:cs typeface="Times New Roman" panose="02020603050405020304" pitchFamily="18" charset="0"/>
              </a:rPr>
              <a:t>ETPCz</a:t>
            </a:r>
            <a:r>
              <a:rPr lang="pl-PL" sz="2000" kern="100" dirty="0">
                <a:ea typeface="Calibri" panose="020F0502020204030204" pitchFamily="34" charset="0"/>
                <a:cs typeface="Times New Roman" panose="02020603050405020304" pitchFamily="18" charset="0"/>
              </a:rPr>
              <a:t> w sprawie </a:t>
            </a:r>
            <a:r>
              <a:rPr lang="pl-PL" sz="2000" i="1" kern="100" dirty="0" err="1">
                <a:ea typeface="Calibri" panose="020F0502020204030204" pitchFamily="34" charset="0"/>
                <a:cs typeface="Times New Roman" panose="02020603050405020304" pitchFamily="18" charset="0"/>
              </a:rPr>
              <a:t>Schatschaschwili</a:t>
            </a:r>
            <a:r>
              <a:rPr lang="pl-PL" sz="2000" i="1" kern="100" dirty="0">
                <a:ea typeface="Calibri" panose="020F0502020204030204" pitchFamily="34" charset="0"/>
                <a:cs typeface="Times New Roman" panose="02020603050405020304" pitchFamily="18" charset="0"/>
              </a:rPr>
              <a:t> v. Germany</a:t>
            </a:r>
            <a:r>
              <a:rPr lang="pl-PL" sz="2000" kern="100" dirty="0">
                <a:ea typeface="Calibri" panose="020F0502020204030204" pitchFamily="34" charset="0"/>
                <a:cs typeface="Times New Roman" panose="02020603050405020304" pitchFamily="18" charset="0"/>
              </a:rPr>
              <a:t> z dnia 15 grudnia 2015 r., skarga nr 9154/10, § 103 – 105). Oczywiście wykorzystanie w celach dowodowych zeznań świadka, który nie został przesłuchany na rozprawie (i to nawet wówczas, gdy dowód ten stanowi jedyny lub decydujący dowód przeciwko oskarżonemu), nie prowadzi automatycznie do naruszenia standardu rzetelnego procesu karnego. Istotne jest bowiem to, by postępowanie jako całość było rzetelne.</a:t>
            </a:r>
            <a:endParaRPr lang="pl-PL" sz="2000" kern="100" dirty="0">
              <a:latin typeface="Calibri" panose="020F0502020204030204" pitchFamily="34" charset="0"/>
              <a:ea typeface="Calibri" panose="020F0502020204030204" pitchFamily="34" charset="0"/>
              <a:cs typeface="Times New Roman" panose="02020603050405020304" pitchFamily="18" charset="0"/>
            </a:endParaRPr>
          </a:p>
          <a:p>
            <a:pPr marL="0" indent="0">
              <a:buFont typeface="Wingdings" panose="05000000000000000000" pitchFamily="2" charset="2"/>
              <a:buNone/>
              <a:defRPr/>
            </a:pPr>
            <a:endParaRPr lang="pl-PL" sz="3300" b="1" dirty="0">
              <a:solidFill>
                <a:srgbClr val="00B050"/>
              </a:solidFill>
            </a:endParaRPr>
          </a:p>
        </p:txBody>
      </p:sp>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5091" name="Symbol zastępczy zawartości 2">
            <a:extLst>
              <a:ext uri="{FF2B5EF4-FFF2-40B4-BE49-F238E27FC236}">
                <a16:creationId xmlns:a16="http://schemas.microsoft.com/office/drawing/2014/main" id="{1F38E82A-5723-D184-0AF2-2A08F245076F}"/>
              </a:ext>
            </a:extLst>
          </p:cNvPr>
          <p:cNvSpPr>
            <a:spLocks noGrp="1" noChangeArrowheads="1"/>
          </p:cNvSpPr>
          <p:nvPr>
            <p:ph idx="1"/>
          </p:nvPr>
        </p:nvSpPr>
        <p:spPr>
          <a:xfrm>
            <a:off x="0" y="115888"/>
            <a:ext cx="9005888" cy="5940425"/>
          </a:xfrm>
        </p:spPr>
        <p:txBody>
          <a:bodyPr>
            <a:normAutofit fontScale="92500" lnSpcReduction="10000"/>
          </a:bodyPr>
          <a:lstStyle/>
          <a:p>
            <a:pPr algn="just">
              <a:lnSpc>
                <a:spcPct val="150000"/>
              </a:lnSpc>
              <a:spcAft>
                <a:spcPts val="800"/>
              </a:spcAft>
              <a:defRPr/>
            </a:pPr>
            <a:r>
              <a:rPr lang="pl-PL" sz="1800" kern="100" dirty="0">
                <a:ea typeface="Calibri" panose="020F0502020204030204" pitchFamily="34" charset="0"/>
                <a:cs typeface="Times New Roman" panose="02020603050405020304" pitchFamily="18" charset="0"/>
              </a:rPr>
              <a:t>Do ustalenia czy wykorzystanie w celach dowodowych zeznań świadka, który nie został przesłuchany na rozprawie konieczne jest przeprowadzenie trzyetapowego testu Al-</a:t>
            </a:r>
            <a:r>
              <a:rPr lang="pl-PL" sz="1800" kern="100" dirty="0" err="1">
                <a:ea typeface="Calibri" panose="020F0502020204030204" pitchFamily="34" charset="0"/>
                <a:cs typeface="Times New Roman" panose="02020603050405020304" pitchFamily="18" charset="0"/>
              </a:rPr>
              <a:t>Khawaja</a:t>
            </a:r>
            <a:r>
              <a:rPr lang="pl-PL" sz="1800" kern="100" dirty="0">
                <a:ea typeface="Calibri" panose="020F0502020204030204" pitchFamily="34" charset="0"/>
                <a:cs typeface="Times New Roman" panose="02020603050405020304" pitchFamily="18" charset="0"/>
              </a:rPr>
              <a:t> i </a:t>
            </a:r>
            <a:r>
              <a:rPr lang="pl-PL" sz="1800" kern="100" dirty="0" err="1">
                <a:ea typeface="Calibri" panose="020F0502020204030204" pitchFamily="34" charset="0"/>
                <a:cs typeface="Times New Roman" panose="02020603050405020304" pitchFamily="18" charset="0"/>
              </a:rPr>
              <a:t>Tahery</a:t>
            </a:r>
            <a:r>
              <a:rPr lang="pl-PL" sz="1800" kern="100" dirty="0">
                <a:ea typeface="Calibri" panose="020F0502020204030204" pitchFamily="34" charset="0"/>
                <a:cs typeface="Times New Roman" panose="02020603050405020304" pitchFamily="18" charset="0"/>
              </a:rPr>
              <a:t>, do którego również odwołał się Trybunał w powołanym wyżej orzeczeniu (</a:t>
            </a:r>
            <a:r>
              <a:rPr lang="pl-PL" sz="1800" i="1" kern="100" dirty="0" err="1">
                <a:ea typeface="Calibri" panose="020F0502020204030204" pitchFamily="34" charset="0"/>
                <a:cs typeface="Times New Roman" panose="02020603050405020304" pitchFamily="18" charset="0"/>
              </a:rPr>
              <a:t>Schatschaschwili</a:t>
            </a:r>
            <a:r>
              <a:rPr lang="pl-PL" sz="1800" i="1" kern="100" dirty="0">
                <a:ea typeface="Calibri" panose="020F0502020204030204" pitchFamily="34" charset="0"/>
                <a:cs typeface="Times New Roman" panose="02020603050405020304" pitchFamily="18" charset="0"/>
              </a:rPr>
              <a:t> v. Germany</a:t>
            </a:r>
            <a:r>
              <a:rPr lang="pl-PL" sz="1800" kern="100" dirty="0">
                <a:ea typeface="Calibri" panose="020F0502020204030204" pitchFamily="34" charset="0"/>
                <a:cs typeface="Times New Roman" panose="02020603050405020304" pitchFamily="18" charset="0"/>
              </a:rPr>
              <a:t>; §§ 107 – 110).</a:t>
            </a:r>
            <a:endParaRPr lang="pl-PL" sz="18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defRPr/>
            </a:pPr>
            <a:r>
              <a:rPr lang="pl-PL" sz="1800" kern="100" dirty="0">
                <a:ea typeface="Calibri" panose="020F0502020204030204" pitchFamily="34" charset="0"/>
                <a:cs typeface="Times New Roman" panose="02020603050405020304" pitchFamily="18" charset="0"/>
              </a:rPr>
              <a:t>W ramach owego testu konieczne jest </a:t>
            </a:r>
            <a:r>
              <a:rPr lang="pl-PL" sz="1800" b="1" kern="100" dirty="0">
                <a:solidFill>
                  <a:srgbClr val="C00000"/>
                </a:solidFill>
                <a:ea typeface="Calibri" panose="020F0502020204030204" pitchFamily="34" charset="0"/>
                <a:cs typeface="Times New Roman" panose="02020603050405020304" pitchFamily="18" charset="0"/>
              </a:rPr>
              <a:t>po pierwsze zbadanie, czy istniał ważny powód nieobecności świadka na rozprawie. </a:t>
            </a:r>
            <a:r>
              <a:rPr lang="pl-PL" sz="1800" kern="100" dirty="0">
                <a:ea typeface="Calibri" panose="020F0502020204030204" pitchFamily="34" charset="0"/>
                <a:cs typeface="Times New Roman" panose="02020603050405020304" pitchFamily="18" charset="0"/>
              </a:rPr>
              <a:t>W ocenie Trybunału, do uznania tego wymogu za spełniony konieczne jest, by sąd pierwszej instancji podjął </a:t>
            </a:r>
            <a:r>
              <a:rPr lang="pl-PL" sz="1800" b="1" kern="100" dirty="0">
                <a:solidFill>
                  <a:srgbClr val="C00000"/>
                </a:solidFill>
                <a:ea typeface="Calibri" panose="020F0502020204030204" pitchFamily="34" charset="0"/>
                <a:cs typeface="Times New Roman" panose="02020603050405020304" pitchFamily="18" charset="0"/>
              </a:rPr>
              <a:t>wszelkie uzasadnione działania w celu zapewnienia obecności świadka. </a:t>
            </a:r>
            <a:r>
              <a:rPr lang="pl-PL" sz="1800" kern="100" dirty="0">
                <a:ea typeface="Calibri" panose="020F0502020204030204" pitchFamily="34" charset="0"/>
                <a:cs typeface="Times New Roman" panose="02020603050405020304" pitchFamily="18" charset="0"/>
              </a:rPr>
              <a:t>I choć Trybunał podkreśla, że nie do niego należy sporządzenie wykazu konkretnych środków, które sądy krajowe musiały podjąć, aby dołożyć wszelkich starań w celu zapewnienia obecności świadka, którego ostatecznie uznały za niemożliwego do doprowadzenia. Jest jednak oczywiste, że sądy te muszą aktywnie poszukiwać świadka z pomocą organów krajowych, w tym policji oraz muszą co do zasady skorzystać z międzynarodowej pomocy prawnej, jeżeli świadek mieszka za granicą i takie mechanizmy są dostępne (</a:t>
            </a:r>
            <a:r>
              <a:rPr lang="pl-PL" sz="1800" i="1" kern="100" dirty="0" err="1">
                <a:ea typeface="Calibri" panose="020F0502020204030204" pitchFamily="34" charset="0"/>
                <a:cs typeface="Times New Roman" panose="02020603050405020304" pitchFamily="18" charset="0"/>
              </a:rPr>
              <a:t>Schatschaschwili</a:t>
            </a:r>
            <a:r>
              <a:rPr lang="pl-PL" sz="1800" i="1" kern="100" dirty="0">
                <a:ea typeface="Calibri" panose="020F0502020204030204" pitchFamily="34" charset="0"/>
                <a:cs typeface="Times New Roman" panose="02020603050405020304" pitchFamily="18" charset="0"/>
              </a:rPr>
              <a:t> v. Germany</a:t>
            </a:r>
            <a:r>
              <a:rPr lang="pl-PL" sz="1800" kern="100" dirty="0">
                <a:ea typeface="Calibri" panose="020F0502020204030204" pitchFamily="34" charset="0"/>
                <a:cs typeface="Times New Roman" panose="02020603050405020304" pitchFamily="18" charset="0"/>
              </a:rPr>
              <a:t>; §§ 119 – 122). </a:t>
            </a:r>
            <a:endParaRPr lang="pl-PL" altLang="pl-PL" sz="2400" dirty="0"/>
          </a:p>
        </p:txBody>
      </p:sp>
    </p:spTree>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Symbol zastępczy zawartości 2">
            <a:extLst>
              <a:ext uri="{FF2B5EF4-FFF2-40B4-BE49-F238E27FC236}">
                <a16:creationId xmlns:a16="http://schemas.microsoft.com/office/drawing/2014/main" id="{4EBCBB17-A8B4-0383-4B98-02FAD7BFE043}"/>
              </a:ext>
            </a:extLst>
          </p:cNvPr>
          <p:cNvSpPr>
            <a:spLocks noGrp="1" noChangeArrowheads="1"/>
          </p:cNvSpPr>
          <p:nvPr>
            <p:ph idx="1"/>
          </p:nvPr>
        </p:nvSpPr>
        <p:spPr>
          <a:xfrm>
            <a:off x="209550" y="1023938"/>
            <a:ext cx="8934450" cy="4957762"/>
          </a:xfrm>
        </p:spPr>
        <p:txBody>
          <a:bodyPr/>
          <a:lstStyle/>
          <a:p>
            <a:pPr marL="0" indent="0" algn="just">
              <a:buFont typeface="Wingdings" panose="05000000000000000000" pitchFamily="2" charset="2"/>
              <a:buNone/>
            </a:pPr>
            <a:endParaRPr lang="pl-PL" altLang="pl-PL" sz="3300" b="1">
              <a:solidFill>
                <a:srgbClr val="00B050"/>
              </a:solidFill>
            </a:endParaRPr>
          </a:p>
          <a:p>
            <a:pPr marL="0" indent="0" algn="just">
              <a:buFont typeface="Wingdings" panose="05000000000000000000" pitchFamily="2" charset="2"/>
              <a:buNone/>
            </a:pPr>
            <a:endParaRPr lang="pl-PL" altLang="pl-PL" sz="3300" b="1">
              <a:solidFill>
                <a:srgbClr val="00B050"/>
              </a:solidFill>
            </a:endParaRPr>
          </a:p>
        </p:txBody>
      </p:sp>
      <p:sp>
        <p:nvSpPr>
          <p:cNvPr id="4" name="pole tekstowe 3">
            <a:extLst>
              <a:ext uri="{FF2B5EF4-FFF2-40B4-BE49-F238E27FC236}">
                <a16:creationId xmlns:a16="http://schemas.microsoft.com/office/drawing/2014/main" id="{A4821CA8-9980-F44F-87C3-D2EEF6E55605}"/>
              </a:ext>
            </a:extLst>
          </p:cNvPr>
          <p:cNvSpPr txBox="1"/>
          <p:nvPr/>
        </p:nvSpPr>
        <p:spPr>
          <a:xfrm>
            <a:off x="209549" y="620687"/>
            <a:ext cx="8692335" cy="5193666"/>
          </a:xfrm>
          <a:prstGeom prst="rect">
            <a:avLst/>
          </a:prstGeom>
          <a:noFill/>
        </p:spPr>
        <p:txBody>
          <a:bodyPr wrap="square">
            <a:spAutoFit/>
          </a:bodyPr>
          <a:lstStyle/>
          <a:p>
            <a:pPr algn="just">
              <a:lnSpc>
                <a:spcPct val="150000"/>
              </a:lnSpc>
              <a:spcAft>
                <a:spcPts val="800"/>
              </a:spcAft>
              <a:defRPr/>
            </a:pPr>
            <a:r>
              <a:rPr lang="pl-PL" sz="2800" kern="100" dirty="0">
                <a:ea typeface="Calibri" panose="020F0502020204030204" pitchFamily="34" charset="0"/>
                <a:cs typeface="Times New Roman" panose="02020603050405020304" pitchFamily="18" charset="0"/>
              </a:rPr>
              <a:t>Na kolejnych etapach testu bada się z kolei, </a:t>
            </a:r>
            <a:r>
              <a:rPr lang="pl-PL" sz="2800" b="1" kern="100" dirty="0">
                <a:ea typeface="Calibri" panose="020F0502020204030204" pitchFamily="34" charset="0"/>
                <a:cs typeface="Times New Roman" panose="02020603050405020304" pitchFamily="18" charset="0"/>
              </a:rPr>
              <a:t>czy dowody przedstawione przez nieobecnego świadka były jedyną lub decydującą podstawą skazania oskarżonego, a nadto, czy istniały wystarczające czynniki równoważące, które mogłyby zrekompensować utrudnienia, z jakimi borykała się obrona </a:t>
            </a:r>
            <a:r>
              <a:rPr lang="pl-PL" sz="2800" kern="100" dirty="0">
                <a:ea typeface="Calibri" panose="020F0502020204030204" pitchFamily="34" charset="0"/>
                <a:cs typeface="Times New Roman" panose="02020603050405020304" pitchFamily="18" charset="0"/>
              </a:rPr>
              <a:t>(</a:t>
            </a:r>
            <a:r>
              <a:rPr lang="pl-PL" sz="2800" i="1" kern="100" dirty="0" err="1">
                <a:ea typeface="Calibri" panose="020F0502020204030204" pitchFamily="34" charset="0"/>
                <a:cs typeface="Times New Roman" panose="02020603050405020304" pitchFamily="18" charset="0"/>
              </a:rPr>
              <a:t>Schatschaschwili</a:t>
            </a:r>
            <a:r>
              <a:rPr lang="pl-PL" sz="2800" i="1" kern="100" dirty="0">
                <a:ea typeface="Calibri" panose="020F0502020204030204" pitchFamily="34" charset="0"/>
                <a:cs typeface="Times New Roman" panose="02020603050405020304" pitchFamily="18" charset="0"/>
              </a:rPr>
              <a:t> v. Germany</a:t>
            </a:r>
            <a:r>
              <a:rPr lang="pl-PL" sz="2800" kern="100" dirty="0">
                <a:ea typeface="Calibri" panose="020F0502020204030204" pitchFamily="34" charset="0"/>
                <a:cs typeface="Times New Roman" panose="02020603050405020304" pitchFamily="18" charset="0"/>
              </a:rPr>
              <a:t>; §§ 123 – 131).</a:t>
            </a:r>
            <a:endParaRPr lang="pl-PL" sz="2800" kern="100" dirty="0">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1618" name="Symbol zastępczy zawartości 2">
            <a:extLst>
              <a:ext uri="{FF2B5EF4-FFF2-40B4-BE49-F238E27FC236}">
                <a16:creationId xmlns:a16="http://schemas.microsoft.com/office/drawing/2014/main" id="{6F6049F7-B9B9-0DA7-995B-46D63B8C12DA}"/>
              </a:ext>
            </a:extLst>
          </p:cNvPr>
          <p:cNvSpPr>
            <a:spLocks noGrp="1" noChangeArrowheads="1"/>
          </p:cNvSpPr>
          <p:nvPr>
            <p:ph idx="1"/>
          </p:nvPr>
        </p:nvSpPr>
        <p:spPr>
          <a:xfrm>
            <a:off x="107950" y="260350"/>
            <a:ext cx="8897938" cy="5795963"/>
          </a:xfrm>
        </p:spPr>
        <p:txBody>
          <a:bodyPr/>
          <a:lstStyle/>
          <a:p>
            <a:pPr marL="0" indent="0" algn="just">
              <a:buFont typeface="Wingdings" panose="05000000000000000000" pitchFamily="2" charset="2"/>
              <a:buNone/>
            </a:pPr>
            <a:r>
              <a:rPr lang="pl-PL" altLang="pl-PL" sz="4800" b="1">
                <a:solidFill>
                  <a:srgbClr val="C00000"/>
                </a:solidFill>
              </a:rPr>
              <a:t>5. wniosek dowodowy </a:t>
            </a:r>
            <a:r>
              <a:rPr lang="pl-PL" altLang="pl-PL" sz="4800" b="1">
                <a:solidFill>
                  <a:srgbClr val="00B050"/>
                </a:solidFill>
              </a:rPr>
              <a:t>w sposób oczywisty</a:t>
            </a:r>
            <a:r>
              <a:rPr lang="pl-PL" altLang="pl-PL" sz="4800" b="1">
                <a:solidFill>
                  <a:srgbClr val="C00000"/>
                </a:solidFill>
              </a:rPr>
              <a:t> zmierza do przedłużenia postępowania</a:t>
            </a:r>
          </a:p>
        </p:txBody>
      </p:sp>
    </p:spTree>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A2A5D704-CBD1-88CC-1ED8-08B2BDA186C6}"/>
              </a:ext>
            </a:extLst>
          </p:cNvPr>
          <p:cNvSpPr>
            <a:spLocks noGrp="1"/>
          </p:cNvSpPr>
          <p:nvPr>
            <p:ph idx="1"/>
          </p:nvPr>
        </p:nvSpPr>
        <p:spPr>
          <a:xfrm>
            <a:off x="107950" y="260350"/>
            <a:ext cx="9036050" cy="6264275"/>
          </a:xfrm>
        </p:spPr>
        <p:txBody>
          <a:bodyPr>
            <a:normAutofit fontScale="62500" lnSpcReduction="20000"/>
          </a:bodyPr>
          <a:lstStyle/>
          <a:p>
            <a:pPr marL="0" indent="0">
              <a:buFont typeface="Wingdings" panose="05000000000000000000" pitchFamily="2" charset="2"/>
              <a:buNone/>
              <a:defRPr/>
            </a:pPr>
            <a:r>
              <a:rPr lang="pl-PL" sz="3600" dirty="0"/>
              <a:t>Postanowienie Sądu Najwyższego z dnia 15 października 2020 r., II KK 289/20</a:t>
            </a:r>
          </a:p>
          <a:p>
            <a:pPr>
              <a:defRPr/>
            </a:pPr>
            <a:r>
              <a:rPr lang="pl-PL" sz="3600" dirty="0"/>
              <a:t>Przesłanka zawarta w art. 170 § 1 pkt 5 k.p.k. powinna być rozważana przy uwzględnieniu nie tylko czasu złożenia wniosku dowodowego, ale także okresu dzielącego decyzję przewidzianą w tym postanowieniu od czynności polegającej na przeprowadzeniu dowodu. Jeżeli w czasie, kiedy sąd </a:t>
            </a:r>
            <a:r>
              <a:rPr lang="pl-PL" sz="3600" dirty="0" err="1"/>
              <a:t>meriti</a:t>
            </a:r>
            <a:r>
              <a:rPr lang="pl-PL" sz="3600" dirty="0"/>
              <a:t>, jest zobowiązany do podjęcia decyzji, czy podejmować dalsze czynności w celu przeprowadzenia dowodu, czy też wniosek dowodowy oddalić musi mieć więc w polu widzenia zarówno czas, jaki upłynie od podjęcia czynności organizacyjnych do planowanego czasu przeprowadzenia dowodu, a także realną perspektywę skuteczności tych czynności, a więc ich efektywność. Jeżeli okoliczności wynikające z oceny tych czynników prowadzą do wniosku, że przeprowadzenie dowodu jest teoretycznie możliwe, ale w bardzo odległym okresie, a nadto, kiedy z innych okoliczności sprawy wynikają wątpliwości co do przeprowadzenia dowodu, postanowienie wydane na podstawie art. 170 § 1 pkt 5 k.p.k. jest uzasadnione. </a:t>
            </a:r>
          </a:p>
          <a:p>
            <a:pPr>
              <a:defRPr/>
            </a:pPr>
            <a:r>
              <a:rPr lang="pl-PL" sz="3600" b="1" dirty="0"/>
              <a:t>Podstawa odrębna</a:t>
            </a:r>
          </a:p>
        </p:txBody>
      </p:sp>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8EC979D-52B2-8B68-2DAD-2AC3583F4044}"/>
              </a:ext>
            </a:extLst>
          </p:cNvPr>
          <p:cNvSpPr>
            <a:spLocks noGrp="1"/>
          </p:cNvSpPr>
          <p:nvPr>
            <p:ph type="title"/>
          </p:nvPr>
        </p:nvSpPr>
        <p:spPr>
          <a:xfrm>
            <a:off x="628650" y="1131888"/>
            <a:ext cx="7886700" cy="239712"/>
          </a:xfrm>
        </p:spPr>
        <p:txBody>
          <a:bodyPr>
            <a:normAutofit fontScale="90000"/>
          </a:bodyPr>
          <a:lstStyle/>
          <a:p>
            <a:pPr algn="ctr">
              <a:defRPr/>
            </a:pPr>
            <a:r>
              <a:rPr lang="pl-PL" dirty="0"/>
              <a:t>art. 170 k.p.k. – dodana podstawa oddalenia wniosku dowodowego – 5.10.2019 r.</a:t>
            </a:r>
          </a:p>
        </p:txBody>
      </p:sp>
      <p:sp>
        <p:nvSpPr>
          <p:cNvPr id="113667" name="Symbol zastępczy zawartości 2">
            <a:extLst>
              <a:ext uri="{FF2B5EF4-FFF2-40B4-BE49-F238E27FC236}">
                <a16:creationId xmlns:a16="http://schemas.microsoft.com/office/drawing/2014/main" id="{067BD290-DCF6-F618-7673-EACA5FE3F9E6}"/>
              </a:ext>
            </a:extLst>
          </p:cNvPr>
          <p:cNvSpPr>
            <a:spLocks noGrp="1" noChangeArrowheads="1"/>
          </p:cNvSpPr>
          <p:nvPr>
            <p:ph idx="1"/>
          </p:nvPr>
        </p:nvSpPr>
        <p:spPr>
          <a:xfrm>
            <a:off x="71438" y="1865313"/>
            <a:ext cx="8934450" cy="4732337"/>
          </a:xfrm>
        </p:spPr>
        <p:txBody>
          <a:bodyPr/>
          <a:lstStyle/>
          <a:p>
            <a:pPr marL="0" indent="0" algn="just">
              <a:buFont typeface="Wingdings" panose="05000000000000000000" pitchFamily="2" charset="2"/>
              <a:buNone/>
            </a:pPr>
            <a:endParaRPr lang="pl-PL" altLang="pl-PL" sz="2700" b="1"/>
          </a:p>
          <a:p>
            <a:pPr marL="0" indent="0" algn="just">
              <a:buFont typeface="Wingdings" panose="05000000000000000000" pitchFamily="2" charset="2"/>
              <a:buNone/>
            </a:pPr>
            <a:r>
              <a:rPr lang="pl-PL" altLang="pl-PL" sz="2700" b="1"/>
              <a:t>§ 1.</a:t>
            </a:r>
            <a:r>
              <a:rPr lang="pl-PL" altLang="pl-PL" sz="2700"/>
              <a:t> Oddala się wniosek dowodowy, jeżeli: (…)</a:t>
            </a:r>
          </a:p>
          <a:p>
            <a:pPr marL="0" indent="0" algn="just">
              <a:buFont typeface="Wingdings" panose="05000000000000000000" pitchFamily="2" charset="2"/>
              <a:buNone/>
            </a:pPr>
            <a:r>
              <a:rPr lang="pl-PL" altLang="pl-PL" sz="2700" b="1">
                <a:solidFill>
                  <a:srgbClr val="00B050"/>
                </a:solidFill>
              </a:rPr>
              <a:t>6) wniosek dowodowy został złożony </a:t>
            </a:r>
            <a:r>
              <a:rPr lang="pl-PL" altLang="pl-PL" sz="2700" b="1">
                <a:solidFill>
                  <a:srgbClr val="FF0000"/>
                </a:solidFill>
              </a:rPr>
              <a:t>po zakreślonym przez organ procesowy terminie</a:t>
            </a:r>
            <a:r>
              <a:rPr lang="pl-PL" altLang="pl-PL" sz="2700" b="1">
                <a:solidFill>
                  <a:srgbClr val="00B050"/>
                </a:solidFill>
              </a:rPr>
              <a:t>, o którym strona składająca wniosek została zawiadomiona (względna prekluzja dowodowa)</a:t>
            </a:r>
          </a:p>
          <a:p>
            <a:pPr marL="0" indent="0" algn="just">
              <a:buFont typeface="Wingdings" panose="05000000000000000000" pitchFamily="2" charset="2"/>
              <a:buNone/>
            </a:pPr>
            <a:r>
              <a:rPr lang="pl-PL" altLang="pl-PL" sz="2700"/>
              <a:t>Przepis ten ma umożliwić dynamizowanie postępowania oraz zapobiegać jego przewlekłości (postępowanie przygotowawcze i sądowe). </a:t>
            </a:r>
          </a:p>
          <a:p>
            <a:pPr marL="0" indent="0" algn="just">
              <a:buFont typeface="Wingdings" panose="05000000000000000000" pitchFamily="2" charset="2"/>
              <a:buNone/>
            </a:pPr>
            <a:r>
              <a:rPr lang="pl-PL" altLang="pl-PL" sz="2700"/>
              <a:t>Czy nie wystarczały  dotychczasowe pkty 1- 5? </a:t>
            </a:r>
          </a:p>
        </p:txBody>
      </p:sp>
    </p:spTree>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4690" name="Symbol zastępczy zawartości 2">
            <a:extLst>
              <a:ext uri="{FF2B5EF4-FFF2-40B4-BE49-F238E27FC236}">
                <a16:creationId xmlns:a16="http://schemas.microsoft.com/office/drawing/2014/main" id="{F67BE977-0333-58D4-06AA-E820560A1579}"/>
              </a:ext>
            </a:extLst>
          </p:cNvPr>
          <p:cNvSpPr>
            <a:spLocks noGrp="1" noChangeArrowheads="1"/>
          </p:cNvSpPr>
          <p:nvPr>
            <p:ph idx="1"/>
          </p:nvPr>
        </p:nvSpPr>
        <p:spPr>
          <a:xfrm>
            <a:off x="71438" y="969963"/>
            <a:ext cx="8934450" cy="5086350"/>
          </a:xfrm>
        </p:spPr>
        <p:txBody>
          <a:bodyPr/>
          <a:lstStyle/>
          <a:p>
            <a:pPr marL="0" indent="0" algn="just">
              <a:buFont typeface="Wingdings" panose="05000000000000000000" pitchFamily="2" charset="2"/>
              <a:buNone/>
            </a:pPr>
            <a:r>
              <a:rPr lang="pl-PL" altLang="pl-PL" sz="2700" b="1">
                <a:solidFill>
                  <a:srgbClr val="00B050"/>
                </a:solidFill>
              </a:rPr>
              <a:t>Czy nie ucierpi zasada prawdy materialnej?</a:t>
            </a:r>
          </a:p>
          <a:p>
            <a:pPr marL="0" indent="0" algn="just">
              <a:buFont typeface="Wingdings" panose="05000000000000000000" pitchFamily="2" charset="2"/>
              <a:buNone/>
            </a:pPr>
            <a:endParaRPr lang="pl-PL" altLang="pl-PL" sz="2700" b="1">
              <a:solidFill>
                <a:srgbClr val="00B050"/>
              </a:solidFill>
            </a:endParaRPr>
          </a:p>
          <a:p>
            <a:pPr marL="0" indent="0" algn="just">
              <a:buFont typeface="Wingdings" panose="05000000000000000000" pitchFamily="2" charset="2"/>
              <a:buNone/>
            </a:pPr>
            <a:r>
              <a:rPr lang="pl-PL" altLang="pl-PL" sz="6600" b="1">
                <a:solidFill>
                  <a:srgbClr val="00B050"/>
                </a:solidFill>
              </a:rPr>
              <a:t>Czy wystarczający jest tutaj art. 170 par. 1a k.p.k.?</a:t>
            </a:r>
          </a:p>
        </p:txBody>
      </p:sp>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A0686E78-4B1C-F2C7-965A-CB83B65B7376}"/>
              </a:ext>
            </a:extLst>
          </p:cNvPr>
          <p:cNvSpPr>
            <a:spLocks noGrp="1"/>
          </p:cNvSpPr>
          <p:nvPr>
            <p:ph idx="1"/>
          </p:nvPr>
        </p:nvSpPr>
        <p:spPr>
          <a:xfrm>
            <a:off x="179388" y="333375"/>
            <a:ext cx="8653462" cy="6191250"/>
          </a:xfrm>
        </p:spPr>
        <p:txBody>
          <a:bodyPr>
            <a:normAutofit/>
          </a:bodyPr>
          <a:lstStyle/>
          <a:p>
            <a:pPr marL="0" indent="0" algn="just">
              <a:buFont typeface="Wingdings" panose="05000000000000000000" pitchFamily="2" charset="2"/>
              <a:buNone/>
              <a:defRPr/>
            </a:pPr>
            <a:r>
              <a:rPr lang="pl-PL" b="1" dirty="0">
                <a:solidFill>
                  <a:srgbClr val="FF0000"/>
                </a:solidFill>
              </a:rPr>
              <a:t>Względne podstawy oddalenia (względna prekluzja)</a:t>
            </a:r>
          </a:p>
          <a:p>
            <a:pPr marL="0" indent="0" algn="just">
              <a:buFont typeface="Wingdings" panose="05000000000000000000" pitchFamily="2" charset="2"/>
              <a:buNone/>
              <a:defRPr/>
            </a:pPr>
            <a:r>
              <a:rPr lang="pl-PL" b="1" dirty="0">
                <a:solidFill>
                  <a:srgbClr val="00B050"/>
                </a:solidFill>
              </a:rPr>
              <a:t>§ 1a. Nie można oddalić wniosku dowodowego na podstawie § 1 pkt 5 lub 6, jeżeli okoliczność, która ma być udowodniona, ma istotne znaczenie dla ustalenia, czy został popełniony czyn zabroniony, czy stanowi on przestępstwo i jakie*, czy czyn zabroniony został popełniony w warunkach, o których mowa w art. 64 lub art. 65 Kodeksu karnego, lub czy zachodzą warunki do orzeczenia pobytu w zakładzie psychiatrycznym na podstawie art. 93g Kodeksu karnego.</a:t>
            </a:r>
          </a:p>
          <a:p>
            <a:pPr marL="0" indent="0" algn="just">
              <a:buFont typeface="Wingdings" panose="05000000000000000000" pitchFamily="2" charset="2"/>
              <a:buNone/>
              <a:defRPr/>
            </a:pPr>
            <a:endParaRPr lang="pl-PL" sz="2700" b="1" dirty="0">
              <a:solidFill>
                <a:srgbClr val="00B050"/>
              </a:solidFill>
            </a:endParaRPr>
          </a:p>
        </p:txBody>
      </p:sp>
    </p:spTree>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6738" name="Symbol zastępczy zawartości 2">
            <a:extLst>
              <a:ext uri="{FF2B5EF4-FFF2-40B4-BE49-F238E27FC236}">
                <a16:creationId xmlns:a16="http://schemas.microsoft.com/office/drawing/2014/main" id="{9842FEC7-2194-959D-F366-ABE63B54FCEC}"/>
              </a:ext>
            </a:extLst>
          </p:cNvPr>
          <p:cNvSpPr>
            <a:spLocks noGrp="1" noChangeArrowheads="1"/>
          </p:cNvSpPr>
          <p:nvPr>
            <p:ph idx="1"/>
          </p:nvPr>
        </p:nvSpPr>
        <p:spPr>
          <a:xfrm>
            <a:off x="239713" y="1423988"/>
            <a:ext cx="8593137" cy="4576762"/>
          </a:xfrm>
        </p:spPr>
        <p:txBody>
          <a:bodyPr/>
          <a:lstStyle/>
          <a:p>
            <a:pPr marL="0" indent="0" algn="just">
              <a:buFont typeface="Wingdings" panose="05000000000000000000" pitchFamily="2" charset="2"/>
              <a:buNone/>
            </a:pPr>
            <a:r>
              <a:rPr lang="pl-PL" altLang="pl-PL"/>
              <a:t>Projektodawcy dość pokrętnie odnoszą się do przesłanki prawdy materialnej, jako najwyższej wartości w procesie, zastrzegając, że brak możliwości oddalenia wniosku dowodowego dotyczyć miałby sytuacji wyłącznie gdy zmierza on do wykazania okoliczności o „istotnym znaczeniu dla ustalenia czy został popełniony czyn zabroniony…”, powołując się w tej mierze na rozwiązania przyjęte w procesie cywilnym. </a:t>
            </a:r>
            <a:endParaRPr lang="pl-PL" altLang="pl-PL" b="1">
              <a:solidFill>
                <a:srgbClr val="00B050"/>
              </a:solidFill>
            </a:endParaRPr>
          </a:p>
        </p:txBody>
      </p:sp>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C662D265-7F2C-8CA4-A587-1C0AB85CD7CD}"/>
              </a:ext>
            </a:extLst>
          </p:cNvPr>
          <p:cNvSpPr>
            <a:spLocks noGrp="1"/>
          </p:cNvSpPr>
          <p:nvPr>
            <p:ph idx="1"/>
          </p:nvPr>
        </p:nvSpPr>
        <p:spPr>
          <a:xfrm>
            <a:off x="239713" y="1423988"/>
            <a:ext cx="8593137" cy="4576762"/>
          </a:xfrm>
        </p:spPr>
        <p:txBody>
          <a:bodyPr>
            <a:normAutofit/>
          </a:bodyPr>
          <a:lstStyle/>
          <a:p>
            <a:pPr marL="0" indent="0" algn="just">
              <a:buFont typeface="Wingdings" panose="05000000000000000000" pitchFamily="2" charset="2"/>
              <a:buNone/>
              <a:defRPr/>
            </a:pPr>
            <a:r>
              <a:rPr lang="pl-PL" dirty="0"/>
              <a:t>c.d. </a:t>
            </a:r>
          </a:p>
          <a:p>
            <a:pPr marL="0" indent="0" algn="just">
              <a:buFont typeface="Wingdings" panose="05000000000000000000" pitchFamily="2" charset="2"/>
              <a:buNone/>
              <a:defRPr/>
            </a:pPr>
            <a:r>
              <a:rPr lang="pl-PL" dirty="0"/>
              <a:t>Problem w tym, że proces cywilny chroni zupełnie inny rodzaj wartości, a w konsekwencji nie został oparty o zasadę prawdy materialnej, lecz po prostu o zasadę prawdy (lub jak wskazują niektórzy autorzy „prawdy formalnej”, „procesowej”, czyli takiej jaka kształtuje się w umyśle sędziego na podstawie stanowisk i dowodów przedstawianych przez strony) - D. </a:t>
            </a:r>
            <a:r>
              <a:rPr lang="pl-PL" dirty="0" err="1"/>
              <a:t>Szumiło</a:t>
            </a:r>
            <a:r>
              <a:rPr lang="pl-PL" dirty="0"/>
              <a:t> – Kulczycka. </a:t>
            </a:r>
          </a:p>
          <a:p>
            <a:pPr marL="0" indent="0" algn="just">
              <a:buFont typeface="Wingdings" panose="05000000000000000000" pitchFamily="2" charset="2"/>
              <a:buNone/>
              <a:defRPr/>
            </a:pPr>
            <a:endParaRPr lang="pl-PL" b="1" dirty="0">
              <a:solidFill>
                <a:srgbClr val="00B050"/>
              </a:solidFill>
            </a:endParaRPr>
          </a:p>
        </p:txBody>
      </p:sp>
    </p:spTree>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8786" name="Symbol zastępczy zawartości 2">
            <a:extLst>
              <a:ext uri="{FF2B5EF4-FFF2-40B4-BE49-F238E27FC236}">
                <a16:creationId xmlns:a16="http://schemas.microsoft.com/office/drawing/2014/main" id="{12899FDC-9F2F-3D65-9509-D591996FFB4E}"/>
              </a:ext>
            </a:extLst>
          </p:cNvPr>
          <p:cNvSpPr>
            <a:spLocks noGrp="1" noChangeArrowheads="1"/>
          </p:cNvSpPr>
          <p:nvPr>
            <p:ph idx="1"/>
          </p:nvPr>
        </p:nvSpPr>
        <p:spPr>
          <a:xfrm>
            <a:off x="107950" y="333375"/>
            <a:ext cx="8724900" cy="5667375"/>
          </a:xfrm>
        </p:spPr>
        <p:txBody>
          <a:bodyPr/>
          <a:lstStyle/>
          <a:p>
            <a:pPr marL="0" indent="0">
              <a:buFont typeface="Wingdings" panose="05000000000000000000" pitchFamily="2" charset="2"/>
              <a:buNone/>
            </a:pPr>
            <a:r>
              <a:rPr lang="pl-PL" altLang="pl-PL" sz="2400"/>
              <a:t>Z tego punktu widzenia w procesie cywilnym istnieje możliwość pozostawiania ocenie czy wniosek dowodowy ma „istotne znaczenie” dla rozstrzygnięcia sprawy, czy tylko „znaczenie”. W procesie karnym, tam gdzie chodzi o ustalenie konsekwencji prawnokarnych popełnienia czynu zabronionego nie sposób przyjmować, że sprawiedliwości staje się zadość, choćby orzeczenie zapadło mimo rezygnacji z ustalenia czy został popełniony czyn zabroniony itd…, byleby rezygnacja ta nie dotyczyła „istotnego ustalenia”. Owa stopniowalność ustaleń faktycznych mających wpływ na treść rozstrzygnięcia w procesie karnym jest po prostu aksjologicznie nie do przyjęcia - D. Szumiło – Kulczycka. </a:t>
            </a:r>
          </a:p>
          <a:p>
            <a:pPr marL="0" indent="0" algn="just">
              <a:buFont typeface="Wingdings" panose="05000000000000000000" pitchFamily="2" charset="2"/>
              <a:buNone/>
            </a:pPr>
            <a:endParaRPr lang="pl-PL" altLang="pl-PL" sz="2700" b="1">
              <a:solidFill>
                <a:srgbClr val="00B050"/>
              </a:solidFill>
            </a:endParaRPr>
          </a:p>
        </p:txBody>
      </p:sp>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9810" name="Symbol zastępczy zawartości 2">
            <a:extLst>
              <a:ext uri="{FF2B5EF4-FFF2-40B4-BE49-F238E27FC236}">
                <a16:creationId xmlns:a16="http://schemas.microsoft.com/office/drawing/2014/main" id="{2F679D48-E760-10C5-38B1-C58BA1A452CB}"/>
              </a:ext>
            </a:extLst>
          </p:cNvPr>
          <p:cNvSpPr>
            <a:spLocks noGrp="1" noChangeArrowheads="1"/>
          </p:cNvSpPr>
          <p:nvPr>
            <p:ph idx="1"/>
          </p:nvPr>
        </p:nvSpPr>
        <p:spPr>
          <a:xfrm>
            <a:off x="239713" y="976313"/>
            <a:ext cx="8593137" cy="5024437"/>
          </a:xfrm>
        </p:spPr>
        <p:txBody>
          <a:bodyPr/>
          <a:lstStyle/>
          <a:p>
            <a:pPr marL="0" indent="0">
              <a:buFont typeface="Wingdings" panose="05000000000000000000" pitchFamily="2" charset="2"/>
              <a:buNone/>
            </a:pPr>
            <a:r>
              <a:rPr lang="pl-PL" altLang="pl-PL"/>
              <a:t>Sąd musi dokonać apriorycznej oceny (inne podstawy z art. 170 zobiektywizowane – przyp. D.K.), czy okoliczność która ma być udowodniona, ma istotne znaczenie dla ustalenia kwestii, o których mowa w tym przepisie. Pozostawiając sądowi możliwość decydowania o tym, jakie dowody będą przeprowadzone na rozprawie, w istocie łamie się zakaz antycypacji, zakazujący dokonywania oceny dowodu jeszcze przed jego przeprowadzeniem (K. Dudka, Opinia..).</a:t>
            </a:r>
            <a:endParaRPr lang="pl-PL" altLang="pl-PL" b="1">
              <a:solidFill>
                <a:srgbClr val="00B050"/>
              </a:solidFill>
            </a:endParaRPr>
          </a:p>
        </p:txBody>
      </p:sp>
    </p:spTree>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2546FBCA-80D3-00AF-B1FF-61D78A1AF38C}"/>
              </a:ext>
            </a:extLst>
          </p:cNvPr>
          <p:cNvSpPr>
            <a:spLocks noGrp="1"/>
          </p:cNvSpPr>
          <p:nvPr>
            <p:ph idx="1"/>
          </p:nvPr>
        </p:nvSpPr>
        <p:spPr>
          <a:xfrm>
            <a:off x="179388" y="260350"/>
            <a:ext cx="8653462" cy="6192838"/>
          </a:xfrm>
        </p:spPr>
        <p:txBody>
          <a:bodyPr>
            <a:normAutofit lnSpcReduction="10000"/>
          </a:bodyPr>
          <a:lstStyle/>
          <a:p>
            <a:pPr algn="just">
              <a:defRPr/>
            </a:pPr>
            <a:r>
              <a:rPr lang="pl-PL" sz="3200" dirty="0"/>
              <a:t>okoliczności istotne dla wymiaru kary, nadzwyczajne złagodzenie kary, niepodleganie karze (czynny żal)</a:t>
            </a:r>
          </a:p>
          <a:p>
            <a:pPr algn="just">
              <a:defRPr/>
            </a:pPr>
            <a:r>
              <a:rPr lang="pl-PL" sz="3200" dirty="0"/>
              <a:t>Wysokość szkody – rzutuje na stopień społecznej szkodliwości czynu; wysokość środka kompensacyjnego; </a:t>
            </a:r>
          </a:p>
          <a:p>
            <a:pPr algn="just">
              <a:defRPr/>
            </a:pPr>
            <a:r>
              <a:rPr lang="pl-PL" sz="3200" dirty="0"/>
              <a:t>Recydywa zwykła (karta karna)?</a:t>
            </a:r>
          </a:p>
          <a:p>
            <a:pPr algn="just">
              <a:defRPr/>
            </a:pPr>
            <a:r>
              <a:rPr lang="pl-PL" sz="3200" dirty="0"/>
              <a:t>art. 170 § 4 oddalenie wniosku dowodowego nie stoi na przeszkodzie późniejszemu dopuszczeniu dowodu.</a:t>
            </a:r>
          </a:p>
          <a:p>
            <a:pPr algn="just">
              <a:defRPr/>
            </a:pPr>
            <a:r>
              <a:rPr lang="pl-PL" sz="3200" b="1" dirty="0">
                <a:solidFill>
                  <a:srgbClr val="FF0000"/>
                </a:solidFill>
              </a:rPr>
              <a:t>forma zakreślenia terminu, jego charakter? Organ procesowy.</a:t>
            </a:r>
          </a:p>
          <a:p>
            <a:pPr marL="0" indent="0" algn="just">
              <a:buFont typeface="Wingdings" panose="05000000000000000000" pitchFamily="2" charset="2"/>
              <a:buNone/>
              <a:defRPr/>
            </a:pPr>
            <a:endParaRPr lang="pl-PL" sz="2700" b="1" dirty="0">
              <a:solidFill>
                <a:srgbClr val="00B050"/>
              </a:solidFill>
            </a:endParaRPr>
          </a:p>
        </p:txBody>
      </p:sp>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A319A216-B0BA-001C-744A-0A79914B3D07}"/>
              </a:ext>
            </a:extLst>
          </p:cNvPr>
          <p:cNvSpPr>
            <a:spLocks noGrp="1"/>
          </p:cNvSpPr>
          <p:nvPr>
            <p:ph idx="1"/>
          </p:nvPr>
        </p:nvSpPr>
        <p:spPr>
          <a:xfrm>
            <a:off x="239713" y="1130300"/>
            <a:ext cx="8593137" cy="4870450"/>
          </a:xfrm>
        </p:spPr>
        <p:txBody>
          <a:bodyPr>
            <a:normAutofit lnSpcReduction="10000"/>
          </a:bodyPr>
          <a:lstStyle/>
          <a:p>
            <a:pPr marL="0" indent="0" algn="just">
              <a:buFont typeface="Wingdings" panose="05000000000000000000" pitchFamily="2" charset="2"/>
              <a:buNone/>
              <a:defRPr/>
            </a:pPr>
            <a:r>
              <a:rPr lang="pl-PL" sz="2850" b="1" dirty="0">
                <a:solidFill>
                  <a:srgbClr val="7030A0"/>
                </a:solidFill>
              </a:rPr>
              <a:t>Art. 427 § 3a. W środku odwoławczym </a:t>
            </a:r>
            <a:r>
              <a:rPr lang="pl-PL" sz="2850" b="1" u="sng" dirty="0">
                <a:solidFill>
                  <a:srgbClr val="7030A0"/>
                </a:solidFill>
              </a:rPr>
              <a:t>nie można podnosić zarzutu nieprzeprowadzenia dowodu z urzędu</a:t>
            </a:r>
            <a:r>
              <a:rPr lang="pl-PL" sz="2850" b="1" dirty="0">
                <a:solidFill>
                  <a:srgbClr val="7030A0"/>
                </a:solidFill>
              </a:rPr>
              <a:t>, chyba że </a:t>
            </a:r>
            <a:r>
              <a:rPr lang="pl-PL" sz="2850" b="1" u="sng" dirty="0">
                <a:solidFill>
                  <a:srgbClr val="7030A0"/>
                </a:solidFill>
              </a:rPr>
              <a:t>okoliczność, która ma być udowodniona, ma istotne znaczenie dla ustalenia</a:t>
            </a:r>
            <a:r>
              <a:rPr lang="pl-PL" sz="2850" b="1" dirty="0">
                <a:solidFill>
                  <a:srgbClr val="7030A0"/>
                </a:solidFill>
              </a:rPr>
              <a:t>, czy został popełniony czyn zabroniony, czy stanowi on przestępstwo i jakie, czy czyn zabroniony został popełniony w warunkach, o których mowa w art. 64 lub art. 65 Kodeksu karnego, lub czy zachodzą warunki do orzeczenia pobytu w zakładzie psychiatrycznym na podstawie art. 93g Kodeksu karnego.</a:t>
            </a:r>
          </a:p>
          <a:p>
            <a:pPr marL="0" indent="0" algn="just">
              <a:buFont typeface="Wingdings" panose="05000000000000000000" pitchFamily="2" charset="2"/>
              <a:buNone/>
              <a:defRPr/>
            </a:pPr>
            <a:endParaRPr lang="pl-PL" sz="2700" b="1" dirty="0">
              <a:solidFill>
                <a:srgbClr val="00B050"/>
              </a:solidFill>
            </a:endParaRPr>
          </a:p>
        </p:txBody>
      </p:sp>
    </p:spTree>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DB76C72-A53C-D0C4-0ABA-9A937651A79A}"/>
              </a:ext>
            </a:extLst>
          </p:cNvPr>
          <p:cNvSpPr>
            <a:spLocks noGrp="1"/>
          </p:cNvSpPr>
          <p:nvPr>
            <p:ph idx="1"/>
          </p:nvPr>
        </p:nvSpPr>
        <p:spPr>
          <a:xfrm>
            <a:off x="107950" y="188913"/>
            <a:ext cx="8724900" cy="6335712"/>
          </a:xfrm>
        </p:spPr>
        <p:txBody>
          <a:bodyPr>
            <a:normAutofit lnSpcReduction="10000"/>
          </a:bodyPr>
          <a:lstStyle/>
          <a:p>
            <a:pPr marL="0" indent="0">
              <a:buFont typeface="Wingdings" panose="05000000000000000000" pitchFamily="2" charset="2"/>
              <a:buNone/>
              <a:defRPr/>
            </a:pPr>
            <a:r>
              <a:rPr lang="pl-PL" sz="4000" dirty="0"/>
              <a:t>Art. 170 par. 2 k.p.k. </a:t>
            </a:r>
          </a:p>
          <a:p>
            <a:pPr marL="0" indent="0">
              <a:buFont typeface="Wingdings" panose="05000000000000000000" pitchFamily="2" charset="2"/>
              <a:buNone/>
              <a:defRPr/>
            </a:pPr>
            <a:r>
              <a:rPr lang="pl-PL" sz="4000" dirty="0"/>
              <a:t>Nie można oddalić wniosku dowodowego na tej podstawie, że dotychczasowe dowody wykazały przeciwieństwo tego, co wnioskodawca zamierza udowodnić.</a:t>
            </a:r>
          </a:p>
          <a:p>
            <a:pPr marL="0" indent="0">
              <a:buFont typeface="Wingdings" panose="05000000000000000000" pitchFamily="2" charset="2"/>
              <a:buNone/>
              <a:defRPr/>
            </a:pPr>
            <a:r>
              <a:rPr lang="pl-PL" sz="4000" dirty="0"/>
              <a:t>Art. 170 par.  3 k.p.k. </a:t>
            </a:r>
          </a:p>
          <a:p>
            <a:pPr marL="0" indent="0">
              <a:buFont typeface="Wingdings" panose="05000000000000000000" pitchFamily="2" charset="2"/>
              <a:buNone/>
              <a:defRPr/>
            </a:pPr>
            <a:r>
              <a:rPr lang="pl-PL" sz="4000" dirty="0"/>
              <a:t>Oddalenie wniosku dowodowego następuje w formie postanowienia (z uzasadnieniem). </a:t>
            </a:r>
          </a:p>
          <a:p>
            <a:pPr marL="0" indent="0" algn="just">
              <a:buFont typeface="Wingdings" panose="05000000000000000000" pitchFamily="2" charset="2"/>
              <a:buNone/>
              <a:defRPr/>
            </a:pPr>
            <a:endParaRPr lang="pl-PL" sz="2700" b="1" dirty="0">
              <a:solidFill>
                <a:srgbClr val="00B050"/>
              </a:solidFill>
            </a:endParaRPr>
          </a:p>
        </p:txBody>
      </p:sp>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D04A87EE-9DAD-0C68-3DAF-65E967F532DE}"/>
              </a:ext>
            </a:extLst>
          </p:cNvPr>
          <p:cNvSpPr>
            <a:spLocks noGrp="1"/>
          </p:cNvSpPr>
          <p:nvPr>
            <p:ph idx="1"/>
          </p:nvPr>
        </p:nvSpPr>
        <p:spPr>
          <a:xfrm>
            <a:off x="107950" y="188913"/>
            <a:ext cx="8724900" cy="6335712"/>
          </a:xfrm>
        </p:spPr>
        <p:txBody>
          <a:bodyPr>
            <a:normAutofit lnSpcReduction="10000"/>
          </a:bodyPr>
          <a:lstStyle/>
          <a:p>
            <a:pPr marL="0" indent="0">
              <a:buFont typeface="Wingdings" panose="05000000000000000000" pitchFamily="2" charset="2"/>
              <a:buNone/>
              <a:defRPr/>
            </a:pPr>
            <a:r>
              <a:rPr lang="pl-PL" sz="3200" dirty="0"/>
              <a:t>Art.  98 §  1 k.p.k.</a:t>
            </a:r>
          </a:p>
          <a:p>
            <a:pPr marL="0" indent="0">
              <a:buFont typeface="Wingdings" panose="05000000000000000000" pitchFamily="2" charset="2"/>
              <a:buNone/>
              <a:defRPr/>
            </a:pPr>
            <a:r>
              <a:rPr lang="pl-PL" sz="3200" dirty="0"/>
              <a:t>Uzasadnienie postanowienia sporządza się na piśmie wraz z samym postanowieniem.</a:t>
            </a:r>
          </a:p>
          <a:p>
            <a:pPr marL="0" indent="0">
              <a:buFont typeface="Wingdings" panose="05000000000000000000" pitchFamily="2" charset="2"/>
              <a:buNone/>
              <a:defRPr/>
            </a:pPr>
            <a:r>
              <a:rPr lang="pl-PL" sz="3200" dirty="0"/>
              <a:t>§  2.</a:t>
            </a:r>
          </a:p>
          <a:p>
            <a:pPr marL="0" indent="0">
              <a:buFont typeface="Wingdings" panose="05000000000000000000" pitchFamily="2" charset="2"/>
              <a:buNone/>
              <a:defRPr/>
            </a:pPr>
            <a:r>
              <a:rPr lang="pl-PL" sz="3200" dirty="0"/>
              <a:t>W sprawie zawiłej lub z innych ważnych przyczyn można odroczyć sporządzenie uzasadnienia postanowienia na czas do 7 dni.</a:t>
            </a:r>
          </a:p>
          <a:p>
            <a:pPr marL="0" indent="0">
              <a:buFont typeface="Wingdings" panose="05000000000000000000" pitchFamily="2" charset="2"/>
              <a:buNone/>
              <a:defRPr/>
            </a:pPr>
            <a:r>
              <a:rPr lang="pl-PL" sz="3200" b="1" dirty="0">
                <a:solidFill>
                  <a:srgbClr val="00B050"/>
                </a:solidFill>
              </a:rPr>
              <a:t>§  3.</a:t>
            </a:r>
          </a:p>
          <a:p>
            <a:pPr marL="0" indent="0">
              <a:buFont typeface="Wingdings" panose="05000000000000000000" pitchFamily="2" charset="2"/>
              <a:buNone/>
              <a:defRPr/>
            </a:pPr>
            <a:r>
              <a:rPr lang="pl-PL" sz="3200" b="1" dirty="0">
                <a:solidFill>
                  <a:srgbClr val="00B050"/>
                </a:solidFill>
              </a:rPr>
              <a:t>Nie wymaga uzasadnienia dopuszczenie dowodu, jak również uwzględnienie wniosku, któremu inna strona nie sprzeciwiła się, chyba że orzeczenie podlega zaskarżeniu.</a:t>
            </a:r>
          </a:p>
          <a:p>
            <a:pPr marL="0" indent="0" algn="just">
              <a:buFont typeface="Wingdings" panose="05000000000000000000" pitchFamily="2" charset="2"/>
              <a:buNone/>
              <a:defRPr/>
            </a:pPr>
            <a:endParaRPr lang="pl-PL" sz="2700" b="1" dirty="0">
              <a:solidFill>
                <a:srgbClr val="00B050"/>
              </a:solidFill>
            </a:endParaRPr>
          </a:p>
        </p:txBody>
      </p:sp>
    </p:spTree>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EE084697-B792-E22A-BEAF-CAD4D1616733}"/>
              </a:ext>
            </a:extLst>
          </p:cNvPr>
          <p:cNvSpPr>
            <a:spLocks noGrp="1"/>
          </p:cNvSpPr>
          <p:nvPr>
            <p:ph idx="1"/>
          </p:nvPr>
        </p:nvSpPr>
        <p:spPr>
          <a:xfrm>
            <a:off x="179388" y="188913"/>
            <a:ext cx="8826500" cy="6669087"/>
          </a:xfrm>
        </p:spPr>
        <p:txBody>
          <a:bodyPr>
            <a:normAutofit/>
          </a:bodyPr>
          <a:lstStyle/>
          <a:p>
            <a:pPr marL="0" indent="0">
              <a:buFont typeface="Wingdings" panose="05000000000000000000" pitchFamily="2" charset="2"/>
              <a:buNone/>
              <a:defRPr/>
            </a:pPr>
            <a:r>
              <a:rPr lang="pl-PL" sz="2000" b="1" dirty="0"/>
              <a:t>Wyrok Sądu Najwyższego  z dnia 12 lipca 1988 r., IV KR 176/88</a:t>
            </a:r>
          </a:p>
          <a:p>
            <a:pPr>
              <a:defRPr/>
            </a:pPr>
            <a:r>
              <a:rPr lang="pl-PL" sz="2400" dirty="0"/>
              <a:t>Sąd winien był uwzględnić wniosek obrońcy w przedmiocie przesłuchania 7 świadków i dopuszczenia dowodu z opinii lekarza. Sąd Wojewódzki postanowieniem z dnia 24.VIII.1987 r. wniosku tego nie uwzględnił uzasadniając swoje stanowisko tym, że "jak uczy doświadczenie życiowe </a:t>
            </a:r>
            <a:r>
              <a:rPr lang="pl-PL" sz="2400" dirty="0" err="1"/>
              <a:t>współosądzeni</a:t>
            </a:r>
            <a:r>
              <a:rPr lang="pl-PL" sz="2400" dirty="0"/>
              <a:t> mający zeznawać w charakterze świadków zawsze podają okoliczności korzystne dla oskarżonego, współoskarżonego", zaś w zakresie opinii biegłego, że nie jest to istotne ponieważ oskarżony wyjaśnił, że brał udział w poszczególnych włamaniach. </a:t>
            </a:r>
          </a:p>
          <a:p>
            <a:pPr>
              <a:defRPr/>
            </a:pPr>
            <a:r>
              <a:rPr lang="pl-PL" sz="2400" dirty="0"/>
              <a:t>Niedopuszczalna jest ocena dowodu przed jego przeprowadzeniem, tak że stanowisko Sądu narusza obowiązującą w polskim procesie zasadę domniemania niewinności, a postanowienie Sądu I instancji nastąpiło z obrazą art. 155 § 1 k.p.k., który wyczerpująco określa powody oddalenia wniosku dowodowego.</a:t>
            </a:r>
          </a:p>
          <a:p>
            <a:pPr marL="0" indent="0">
              <a:buFont typeface="Wingdings" panose="05000000000000000000" pitchFamily="2" charset="2"/>
              <a:buNone/>
              <a:defRPr/>
            </a:pPr>
            <a:endParaRPr lang="pl-PL" sz="3300" b="1" dirty="0">
              <a:solidFill>
                <a:srgbClr val="00B050"/>
              </a:solidFill>
            </a:endParaRPr>
          </a:p>
        </p:txBody>
      </p:sp>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5954" name="Symbol zastępczy zawartości 2">
            <a:extLst>
              <a:ext uri="{FF2B5EF4-FFF2-40B4-BE49-F238E27FC236}">
                <a16:creationId xmlns:a16="http://schemas.microsoft.com/office/drawing/2014/main" id="{110E3F87-AE48-26F2-D08C-5A5F3279114B}"/>
              </a:ext>
            </a:extLst>
          </p:cNvPr>
          <p:cNvSpPr>
            <a:spLocks noGrp="1" noChangeArrowheads="1"/>
          </p:cNvSpPr>
          <p:nvPr>
            <p:ph idx="1"/>
          </p:nvPr>
        </p:nvSpPr>
        <p:spPr>
          <a:xfrm>
            <a:off x="107950" y="260350"/>
            <a:ext cx="8897938" cy="5795963"/>
          </a:xfrm>
        </p:spPr>
        <p:txBody>
          <a:bodyPr/>
          <a:lstStyle/>
          <a:p>
            <a:pPr marL="0" indent="0">
              <a:buFont typeface="Wingdings" panose="05000000000000000000" pitchFamily="2" charset="2"/>
              <a:buNone/>
            </a:pPr>
            <a:r>
              <a:rPr lang="pl-PL" altLang="pl-PL" sz="2000"/>
              <a:t>Art.  368 §  1 k.p.k.</a:t>
            </a:r>
          </a:p>
          <a:p>
            <a:pPr marL="0" indent="0">
              <a:buFont typeface="Wingdings" panose="05000000000000000000" pitchFamily="2" charset="2"/>
              <a:buNone/>
            </a:pPr>
            <a:r>
              <a:rPr lang="pl-PL" altLang="pl-PL" sz="2000"/>
              <a:t>O przychylnym załatwieniu wniosku dowodowego strony, któremu inna strona nie sprzeciwiła się, rozstrzyga ostatecznie przewodniczący; w innych wypadkach sąd wydaje postanowienie.</a:t>
            </a:r>
          </a:p>
          <a:p>
            <a:pPr marL="0" indent="0">
              <a:buFont typeface="Wingdings" panose="05000000000000000000" pitchFamily="2" charset="2"/>
              <a:buNone/>
            </a:pPr>
            <a:r>
              <a:rPr lang="pl-PL" altLang="pl-PL" sz="2000"/>
              <a:t>§  2. Wniosku o dopuszczenie tego samego dowodu, zgłoszonego ponownie po oddaleniu w postępowaniu przed sądem poprzedniego wniosku, </a:t>
            </a:r>
            <a:r>
              <a:rPr lang="pl-PL" altLang="pl-PL" sz="2000" b="1">
                <a:solidFill>
                  <a:srgbClr val="00B050"/>
                </a:solidFill>
              </a:rPr>
              <a:t>nie rozpoznaje się, jeżeli został on oparty na tych samych podstawach faktycznych. Wzmiankę o tym zamieszcza się w protokole.</a:t>
            </a:r>
          </a:p>
          <a:p>
            <a:pPr marL="0" indent="0" algn="just">
              <a:buFont typeface="Wingdings" panose="05000000000000000000" pitchFamily="2" charset="2"/>
              <a:buNone/>
            </a:pPr>
            <a:endParaRPr lang="pl-PL" altLang="pl-PL" sz="1400"/>
          </a:p>
          <a:p>
            <a:pPr marL="0" indent="0" algn="just">
              <a:buFont typeface="Wingdings" panose="05000000000000000000" pitchFamily="2" charset="2"/>
              <a:buNone/>
            </a:pPr>
            <a:r>
              <a:rPr lang="pl-PL" altLang="pl-PL" sz="4400"/>
              <a:t>Zarządzenie z uzasadnieniem; przedmiot zarzutu apelacyjnego. </a:t>
            </a:r>
          </a:p>
        </p:txBody>
      </p:sp>
    </p:spTree>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FDB4F6E-3975-C610-A1CE-A088768E8915}"/>
              </a:ext>
            </a:extLst>
          </p:cNvPr>
          <p:cNvSpPr>
            <a:spLocks noGrp="1"/>
          </p:cNvSpPr>
          <p:nvPr>
            <p:ph type="title"/>
          </p:nvPr>
        </p:nvSpPr>
        <p:spPr>
          <a:xfrm>
            <a:off x="457200" y="268288"/>
            <a:ext cx="8229600" cy="1216025"/>
          </a:xfrm>
        </p:spPr>
        <p:txBody>
          <a:bodyPr>
            <a:normAutofit fontScale="90000"/>
          </a:bodyPr>
          <a:lstStyle/>
          <a:p>
            <a:pPr>
              <a:defRPr/>
            </a:pPr>
            <a:r>
              <a:rPr lang="pl-PL" b="1" dirty="0"/>
              <a:t>Zasada bezpośredniości – </a:t>
            </a:r>
            <a:r>
              <a:rPr lang="pl-PL" sz="2700" b="1" dirty="0">
                <a:solidFill>
                  <a:srgbClr val="FF0000"/>
                </a:solidFill>
              </a:rPr>
              <a:t>prawda materialna cel, zasada bezpośredniości środek do celu </a:t>
            </a:r>
          </a:p>
        </p:txBody>
      </p:sp>
      <p:sp>
        <p:nvSpPr>
          <p:cNvPr id="3" name="Symbol zastępczy zawartości 2">
            <a:extLst>
              <a:ext uri="{FF2B5EF4-FFF2-40B4-BE49-F238E27FC236}">
                <a16:creationId xmlns:a16="http://schemas.microsoft.com/office/drawing/2014/main" id="{8F1C1B97-7A82-DB91-0FE0-FE2F6A51D9C5}"/>
              </a:ext>
            </a:extLst>
          </p:cNvPr>
          <p:cNvSpPr>
            <a:spLocks noGrp="1"/>
          </p:cNvSpPr>
          <p:nvPr>
            <p:ph idx="1"/>
          </p:nvPr>
        </p:nvSpPr>
        <p:spPr>
          <a:xfrm>
            <a:off x="179388" y="1628775"/>
            <a:ext cx="8355012" cy="4960938"/>
          </a:xfrm>
        </p:spPr>
        <p:txBody>
          <a:bodyPr>
            <a:normAutofit fontScale="92500" lnSpcReduction="10000"/>
          </a:bodyPr>
          <a:lstStyle/>
          <a:p>
            <a:pPr>
              <a:buFont typeface="Wingdings" panose="05000000000000000000" pitchFamily="2" charset="2"/>
              <a:buNone/>
              <a:defRPr/>
            </a:pPr>
            <a:r>
              <a:rPr lang="pl-PL" dirty="0"/>
              <a:t>Prawda materialna:</a:t>
            </a:r>
          </a:p>
          <a:p>
            <a:pPr>
              <a:buFont typeface="Wingdings" panose="05000000000000000000" pitchFamily="2" charset="2"/>
              <a:buNone/>
              <a:defRPr/>
            </a:pPr>
            <a:r>
              <a:rPr lang="pl-PL" dirty="0"/>
              <a:t>    </a:t>
            </a:r>
            <a:r>
              <a:rPr lang="pl-PL" sz="2800" b="1" dirty="0"/>
              <a:t>-  dyrektywa, w myśl której podstawę wszelkich rozstrzygnięć powinny stanowić ustalenia faktyczne cechujące się prawdziwością</a:t>
            </a:r>
          </a:p>
          <a:p>
            <a:pPr>
              <a:buFont typeface="Wingdings" panose="05000000000000000000" pitchFamily="2" charset="2"/>
              <a:buNone/>
              <a:defRPr/>
            </a:pPr>
            <a:r>
              <a:rPr lang="pl-PL" sz="2800" b="1" dirty="0"/>
              <a:t>   - w kodeksie postępowania karnego wyrażona w art.  2 </a:t>
            </a:r>
            <a:r>
              <a:rPr lang="pl-PL" sz="2800" b="1" dirty="0">
                <a:latin typeface="Times New Roman"/>
                <a:cs typeface="Times New Roman"/>
              </a:rPr>
              <a:t>§ 2 k.p.k.</a:t>
            </a:r>
          </a:p>
          <a:p>
            <a:pPr>
              <a:buFont typeface="Wingdings" panose="05000000000000000000" pitchFamily="2" charset="2"/>
              <a:buNone/>
              <a:defRPr/>
            </a:pPr>
            <a:r>
              <a:rPr lang="pl-PL" sz="2800" b="1" dirty="0"/>
              <a:t>   </a:t>
            </a:r>
            <a:r>
              <a:rPr lang="pl-PL" sz="2800" b="1" i="1" dirty="0">
                <a:solidFill>
                  <a:srgbClr val="FF0000"/>
                </a:solidFill>
              </a:rPr>
              <a:t>Podstawę wszelkich rozstrzygnięć powinny stanowić prawdziwe ustalenia faktyczne.</a:t>
            </a:r>
          </a:p>
          <a:p>
            <a:pPr>
              <a:buFont typeface="Wingdings" panose="05000000000000000000" pitchFamily="2" charset="2"/>
              <a:buNone/>
              <a:defRPr/>
            </a:pPr>
            <a:r>
              <a:rPr lang="pl-PL" sz="2800" b="1" i="1" dirty="0">
                <a:solidFill>
                  <a:srgbClr val="0070C0"/>
                </a:solidFill>
              </a:rPr>
              <a:t>Korespondencyjna (relacyjna) koncepcja prawdy – zgodność między twierdzeniem a rzeczywistością. </a:t>
            </a:r>
          </a:p>
          <a:p>
            <a:pPr>
              <a:defRPr/>
            </a:pPr>
            <a:endParaRPr lang="pl-PL" dirty="0"/>
          </a:p>
        </p:txBody>
      </p:sp>
    </p:spTree>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9026" name="Tytuł 1">
            <a:extLst>
              <a:ext uri="{FF2B5EF4-FFF2-40B4-BE49-F238E27FC236}">
                <a16:creationId xmlns:a16="http://schemas.microsoft.com/office/drawing/2014/main" id="{A552925B-B02B-051F-0345-CE5B19632BA8}"/>
              </a:ext>
            </a:extLst>
          </p:cNvPr>
          <p:cNvSpPr>
            <a:spLocks noGrp="1" noChangeArrowheads="1"/>
          </p:cNvSpPr>
          <p:nvPr>
            <p:ph type="title"/>
          </p:nvPr>
        </p:nvSpPr>
        <p:spPr>
          <a:xfrm>
            <a:off x="457200" y="268288"/>
            <a:ext cx="8229600" cy="1216025"/>
          </a:xfrm>
        </p:spPr>
        <p:txBody>
          <a:bodyPr/>
          <a:lstStyle/>
          <a:p>
            <a:r>
              <a:rPr lang="pl-PL" altLang="pl-PL" b="1"/>
              <a:t>Zasada bezpośredniości</a:t>
            </a:r>
            <a:endParaRPr lang="pl-PL" altLang="pl-PL" sz="2700" b="1">
              <a:solidFill>
                <a:srgbClr val="FF0000"/>
              </a:solidFill>
            </a:endParaRPr>
          </a:p>
        </p:txBody>
      </p:sp>
      <p:sp>
        <p:nvSpPr>
          <p:cNvPr id="3" name="Symbol zastępczy zawartości 2">
            <a:extLst>
              <a:ext uri="{FF2B5EF4-FFF2-40B4-BE49-F238E27FC236}">
                <a16:creationId xmlns:a16="http://schemas.microsoft.com/office/drawing/2014/main" id="{6734EE05-137E-FB13-F58A-91BCB3B1C4E5}"/>
              </a:ext>
            </a:extLst>
          </p:cNvPr>
          <p:cNvSpPr>
            <a:spLocks noGrp="1"/>
          </p:cNvSpPr>
          <p:nvPr>
            <p:ph idx="1"/>
          </p:nvPr>
        </p:nvSpPr>
        <p:spPr>
          <a:xfrm>
            <a:off x="179388" y="1484313"/>
            <a:ext cx="8355012" cy="5105400"/>
          </a:xfrm>
        </p:spPr>
        <p:txBody>
          <a:bodyPr>
            <a:normAutofit lnSpcReduction="10000"/>
          </a:bodyPr>
          <a:lstStyle/>
          <a:p>
            <a:pPr>
              <a:defRPr/>
            </a:pPr>
            <a:r>
              <a:rPr lang="pl-PL" dirty="0"/>
              <a:t>Dyrektywa, w myśl której organ procesowy winien zetknąć się </a:t>
            </a:r>
            <a:r>
              <a:rPr lang="pl-PL" b="1" dirty="0">
                <a:solidFill>
                  <a:srgbClr val="C00000"/>
                </a:solidFill>
              </a:rPr>
              <a:t>ze źródłem i środkiem dowodowym osobiście</a:t>
            </a:r>
            <a:r>
              <a:rPr lang="pl-PL" dirty="0"/>
              <a:t>; środkiem dowodowym, na którym opiera swe ustalenia powinien być </a:t>
            </a:r>
            <a:r>
              <a:rPr lang="pl-PL" b="1" dirty="0">
                <a:solidFill>
                  <a:srgbClr val="C00000"/>
                </a:solidFill>
              </a:rPr>
              <a:t>przede wszystkim środek dowodowy </a:t>
            </a:r>
            <a:r>
              <a:rPr lang="pl-PL" b="1" dirty="0">
                <a:solidFill>
                  <a:srgbClr val="0000FF"/>
                </a:solidFill>
              </a:rPr>
              <a:t>pierwotny</a:t>
            </a:r>
            <a:r>
              <a:rPr lang="pl-PL" b="1" dirty="0">
                <a:solidFill>
                  <a:srgbClr val="C00000"/>
                </a:solidFill>
              </a:rPr>
              <a:t> </a:t>
            </a:r>
            <a:r>
              <a:rPr lang="pl-PL" dirty="0"/>
              <a:t>(z pierwszej ręki; pierwsze ogniwo)</a:t>
            </a:r>
          </a:p>
          <a:p>
            <a:pPr>
              <a:defRPr/>
            </a:pPr>
            <a:r>
              <a:rPr lang="pl-PL" b="1" dirty="0">
                <a:solidFill>
                  <a:srgbClr val="002060"/>
                </a:solidFill>
              </a:rPr>
              <a:t>Zasada prawnie niezdefiniowana</a:t>
            </a:r>
          </a:p>
          <a:p>
            <a:pPr>
              <a:defRPr/>
            </a:pPr>
            <a:r>
              <a:rPr lang="pl-PL" dirty="0"/>
              <a:t>Wywodzi się ją z szeregu przepisów, z których wynika wyjątkowość zapoznawania się sądu z materiałami dowodowymi powstałymi poza rozprawą oraz m.in. z art. 365 statuującego zasadę ustności.</a:t>
            </a:r>
          </a:p>
        </p:txBody>
      </p:sp>
    </p:spTree>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0050" name="Tytuł 1">
            <a:extLst>
              <a:ext uri="{FF2B5EF4-FFF2-40B4-BE49-F238E27FC236}">
                <a16:creationId xmlns:a16="http://schemas.microsoft.com/office/drawing/2014/main" id="{DDA05921-4095-07BA-4C54-35D4C1E46062}"/>
              </a:ext>
            </a:extLst>
          </p:cNvPr>
          <p:cNvSpPr>
            <a:spLocks noGrp="1" noChangeArrowheads="1"/>
          </p:cNvSpPr>
          <p:nvPr>
            <p:ph type="title"/>
          </p:nvPr>
        </p:nvSpPr>
        <p:spPr>
          <a:xfrm>
            <a:off x="457200" y="268288"/>
            <a:ext cx="8229600" cy="1216025"/>
          </a:xfrm>
        </p:spPr>
        <p:txBody>
          <a:bodyPr/>
          <a:lstStyle/>
          <a:p>
            <a:r>
              <a:rPr lang="pl-PL" altLang="pl-PL" b="1">
                <a:solidFill>
                  <a:srgbClr val="C00000"/>
                </a:solidFill>
              </a:rPr>
              <a:t>Zasada ustności</a:t>
            </a:r>
            <a:endParaRPr lang="pl-PL" altLang="pl-PL" sz="2700" b="1">
              <a:solidFill>
                <a:srgbClr val="C00000"/>
              </a:solidFill>
            </a:endParaRPr>
          </a:p>
        </p:txBody>
      </p:sp>
      <p:sp>
        <p:nvSpPr>
          <p:cNvPr id="3" name="Symbol zastępczy zawartości 2">
            <a:extLst>
              <a:ext uri="{FF2B5EF4-FFF2-40B4-BE49-F238E27FC236}">
                <a16:creationId xmlns:a16="http://schemas.microsoft.com/office/drawing/2014/main" id="{54CDE880-7E56-518D-CF8D-7C9A05979655}"/>
              </a:ext>
            </a:extLst>
          </p:cNvPr>
          <p:cNvSpPr>
            <a:spLocks noGrp="1"/>
          </p:cNvSpPr>
          <p:nvPr>
            <p:ph idx="1"/>
          </p:nvPr>
        </p:nvSpPr>
        <p:spPr>
          <a:xfrm>
            <a:off x="179388" y="1268413"/>
            <a:ext cx="8355012" cy="5321300"/>
          </a:xfrm>
        </p:spPr>
        <p:txBody>
          <a:bodyPr>
            <a:normAutofit/>
          </a:bodyPr>
          <a:lstStyle/>
          <a:p>
            <a:pPr marL="0" indent="0">
              <a:buFont typeface="Wingdings" panose="05000000000000000000" pitchFamily="2" charset="2"/>
              <a:buNone/>
              <a:defRPr/>
            </a:pPr>
            <a:r>
              <a:rPr lang="pl-PL" sz="6000" dirty="0"/>
              <a:t>Art.  365 k.p.k. </a:t>
            </a:r>
          </a:p>
          <a:p>
            <a:pPr marL="0" indent="0">
              <a:buFont typeface="Wingdings" panose="05000000000000000000" pitchFamily="2" charset="2"/>
              <a:buNone/>
              <a:defRPr/>
            </a:pPr>
            <a:r>
              <a:rPr lang="pl-PL" sz="6000" dirty="0"/>
              <a:t>Rozprawa odbywa się ustnie.</a:t>
            </a:r>
          </a:p>
          <a:p>
            <a:pPr>
              <a:defRPr/>
            </a:pPr>
            <a:endParaRPr lang="pl-PL" dirty="0"/>
          </a:p>
        </p:txBody>
      </p:sp>
    </p:spTree>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239220D9-D1AE-58FB-8998-97060E86E154}"/>
              </a:ext>
            </a:extLst>
          </p:cNvPr>
          <p:cNvSpPr>
            <a:spLocks noGrp="1"/>
          </p:cNvSpPr>
          <p:nvPr>
            <p:ph idx="1"/>
          </p:nvPr>
        </p:nvSpPr>
        <p:spPr>
          <a:xfrm>
            <a:off x="179388" y="188913"/>
            <a:ext cx="8355012" cy="6400800"/>
          </a:xfrm>
        </p:spPr>
        <p:txBody>
          <a:bodyPr>
            <a:normAutofit/>
          </a:bodyPr>
          <a:lstStyle/>
          <a:p>
            <a:pPr marL="64008" indent="0">
              <a:buFont typeface="Wingdings" panose="05000000000000000000" pitchFamily="2" charset="2"/>
              <a:buNone/>
              <a:defRPr/>
            </a:pPr>
            <a:r>
              <a:rPr lang="pl-PL" b="1" dirty="0">
                <a:solidFill>
                  <a:srgbClr val="00B050"/>
                </a:solidFill>
              </a:rPr>
              <a:t>Wyrok Sądu Najwyższego z dnia 9 marca 1988 r.,  I KR 391/87</a:t>
            </a:r>
          </a:p>
          <a:p>
            <a:pPr>
              <a:defRPr/>
            </a:pPr>
            <a:endParaRPr lang="pl-PL" dirty="0"/>
          </a:p>
          <a:p>
            <a:pPr>
              <a:defRPr/>
            </a:pPr>
            <a:r>
              <a:rPr lang="pl-PL" dirty="0"/>
              <a:t>Zasada ustności rozprawy statuowana w art. 365 k.p.k. wymaga przesłuchania biegłych na rozprawie, zwłaszcza w sytuacji gdy wątpliwości na tle ich opinii mogły być wyjaśnione w drodze bezpośredniego zadawania pytań i w drodze bezpośrednich odpowiedzi, których charakteru i znaczenia merytorycznego oraz ilości pytań Sąd przeprowadzający dowód i uczestnicy postępowania nie są przecież w stanie przewidzieć.</a:t>
            </a:r>
          </a:p>
          <a:p>
            <a:pPr>
              <a:defRPr/>
            </a:pPr>
            <a:r>
              <a:rPr lang="pl-PL" dirty="0"/>
              <a:t>Art. 201 k.p.k. to inna sfera. </a:t>
            </a:r>
          </a:p>
        </p:txBody>
      </p:sp>
    </p:spTree>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2098" name="Symbol zastępczy zawartości 2">
            <a:extLst>
              <a:ext uri="{FF2B5EF4-FFF2-40B4-BE49-F238E27FC236}">
                <a16:creationId xmlns:a16="http://schemas.microsoft.com/office/drawing/2014/main" id="{AF97227D-10C9-4057-423A-9F24942F5573}"/>
              </a:ext>
            </a:extLst>
          </p:cNvPr>
          <p:cNvSpPr>
            <a:spLocks noGrp="1" noChangeArrowheads="1"/>
          </p:cNvSpPr>
          <p:nvPr>
            <p:ph idx="1"/>
          </p:nvPr>
        </p:nvSpPr>
        <p:spPr>
          <a:xfrm>
            <a:off x="0" y="-100013"/>
            <a:ext cx="8534400" cy="6689726"/>
          </a:xfrm>
        </p:spPr>
        <p:txBody>
          <a:bodyPr>
            <a:normAutofit lnSpcReduction="10000"/>
          </a:bodyPr>
          <a:lstStyle/>
          <a:p>
            <a:r>
              <a:rPr lang="pl-PL" altLang="pl-PL" sz="3400"/>
              <a:t>Do dowodów pierwotnych zalicza się źródła dowodowe, które miały bezpośredni kontakt z faktem mającym znaczenie dla rozstrzygnięcia sprawy (faktem głównym) - oryginał dokumentu bądź też relacja świadka, który był bezpośrednim obserwatorem (bezpośrednio słyszał, nie świadek ex auditu) okoliczności wykazywanych w toku procesu.</a:t>
            </a:r>
          </a:p>
          <a:p>
            <a:r>
              <a:rPr lang="pl-PL" altLang="pl-PL" sz="3400"/>
              <a:t>Nie mylimy z podziałem na dowody bezpośrednie (fakt główny) i pośrednie (poszlaka).</a:t>
            </a:r>
          </a:p>
        </p:txBody>
      </p:sp>
    </p:spTree>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136A8FB4-A72E-916A-2C2B-D42865B7C45D}"/>
              </a:ext>
            </a:extLst>
          </p:cNvPr>
          <p:cNvSpPr>
            <a:spLocks noGrp="1"/>
          </p:cNvSpPr>
          <p:nvPr>
            <p:ph idx="1"/>
          </p:nvPr>
        </p:nvSpPr>
        <p:spPr>
          <a:xfrm>
            <a:off x="179388" y="333375"/>
            <a:ext cx="8507412" cy="6121400"/>
          </a:xfrm>
        </p:spPr>
        <p:txBody>
          <a:bodyPr>
            <a:normAutofit fontScale="92500" lnSpcReduction="20000"/>
          </a:bodyPr>
          <a:lstStyle/>
          <a:p>
            <a:pPr marL="0" indent="0">
              <a:buFont typeface="Wingdings" panose="05000000000000000000" pitchFamily="2" charset="2"/>
              <a:buNone/>
              <a:defRPr/>
            </a:pPr>
            <a:r>
              <a:rPr lang="pl-PL" sz="5400" dirty="0"/>
              <a:t>Art.  410 k.p.k.</a:t>
            </a:r>
          </a:p>
          <a:p>
            <a:pPr>
              <a:defRPr/>
            </a:pPr>
            <a:r>
              <a:rPr lang="pl-PL" sz="5400" dirty="0"/>
              <a:t> Podstawę wyroku może stanowić </a:t>
            </a:r>
            <a:r>
              <a:rPr lang="pl-PL" sz="5400" dirty="0">
                <a:solidFill>
                  <a:srgbClr val="FF0000"/>
                </a:solidFill>
              </a:rPr>
              <a:t>tylko</a:t>
            </a:r>
            <a:r>
              <a:rPr lang="pl-PL" sz="5400" dirty="0"/>
              <a:t> </a:t>
            </a:r>
            <a:r>
              <a:rPr lang="pl-PL" sz="5400" dirty="0">
                <a:solidFill>
                  <a:srgbClr val="00B050"/>
                </a:solidFill>
              </a:rPr>
              <a:t>całokształt</a:t>
            </a:r>
            <a:r>
              <a:rPr lang="pl-PL" sz="5400" dirty="0"/>
              <a:t> okoliczności ujawnionych w toku </a:t>
            </a:r>
            <a:r>
              <a:rPr lang="pl-PL" sz="5400" dirty="0">
                <a:solidFill>
                  <a:srgbClr val="FF0000"/>
                </a:solidFill>
              </a:rPr>
              <a:t>rozprawy głównej</a:t>
            </a:r>
          </a:p>
          <a:p>
            <a:pPr>
              <a:defRPr/>
            </a:pPr>
            <a:r>
              <a:rPr lang="pl-PL" sz="5400" dirty="0"/>
              <a:t>(jawność wewnętrzna i bezpośredniość)</a:t>
            </a:r>
          </a:p>
          <a:p>
            <a:pPr>
              <a:defRPr/>
            </a:pPr>
            <a:r>
              <a:rPr lang="pl-PL" sz="5400" dirty="0"/>
              <a:t>Przepis bardzo restrykcyjny do 4.10.2019 r. </a:t>
            </a:r>
            <a:endParaRPr lang="pl-PL" dirty="0"/>
          </a:p>
        </p:txBody>
      </p:sp>
    </p:spTree>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4146" name="Symbol zastępczy zawartości 2">
            <a:extLst>
              <a:ext uri="{FF2B5EF4-FFF2-40B4-BE49-F238E27FC236}">
                <a16:creationId xmlns:a16="http://schemas.microsoft.com/office/drawing/2014/main" id="{E035797C-79AC-80AF-14ED-7E4DD40EAAFD}"/>
              </a:ext>
            </a:extLst>
          </p:cNvPr>
          <p:cNvSpPr>
            <a:spLocks noGrp="1" noChangeArrowheads="1"/>
          </p:cNvSpPr>
          <p:nvPr>
            <p:ph idx="1"/>
          </p:nvPr>
        </p:nvSpPr>
        <p:spPr>
          <a:xfrm>
            <a:off x="0" y="0"/>
            <a:ext cx="8686800" cy="6454775"/>
          </a:xfrm>
        </p:spPr>
        <p:txBody>
          <a:bodyPr>
            <a:normAutofit lnSpcReduction="10000"/>
          </a:bodyPr>
          <a:lstStyle/>
          <a:p>
            <a:r>
              <a:rPr lang="pl-PL" altLang="pl-PL" sz="2500"/>
              <a:t>Nowela, która weszła w życie 5.10. 2019 r., istotnie odformalizowała procedurę związaną z ujawnianiem dowodów zgromadzonych przez sąd w trakcie przewodu sądowego, wprowadzając regułę, iż z chwilą zamknięcia przez przewodniczącego składu orzekającego przewodu sądowego ujawnione zostają bez odczytywania wszelkie protokoły i dokumenty podlegające odczytaniu na rozprawie, które nie zostały odczytane (art. 405 par. 2 k.p.k.). W trybie, o którym mowa wyżej, mogą być ujawnione protokoły i dokumenty:</a:t>
            </a:r>
          </a:p>
          <a:p>
            <a:r>
              <a:rPr lang="pl-PL" altLang="pl-PL" sz="2500"/>
              <a:t>1) wskazane przez oskarżyciela w akcie oskarżenia jako dowody, których przeprowadzenia na rozprawie głównej się on domaga, z wyjątkiem tych, co do których sąd oddalił wniosek dowodowy;</a:t>
            </a:r>
          </a:p>
          <a:p>
            <a:r>
              <a:rPr lang="pl-PL" altLang="pl-PL" sz="2500"/>
              <a:t>2) wskazane we wniosku dowodowym strony, który został uwzględniony;</a:t>
            </a:r>
          </a:p>
          <a:p>
            <a:r>
              <a:rPr lang="pl-PL" altLang="pl-PL" sz="2500"/>
              <a:t>3) dopuszczone przez sąd z urzędu (art. 405 par. 3 k.p.k.) </a:t>
            </a:r>
          </a:p>
        </p:txBody>
      </p:sp>
    </p:spTree>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1FBD588-FD3F-B66D-51B9-658561AF3A62}"/>
              </a:ext>
            </a:extLst>
          </p:cNvPr>
          <p:cNvSpPr>
            <a:spLocks noGrp="1"/>
          </p:cNvSpPr>
          <p:nvPr>
            <p:ph idx="1"/>
          </p:nvPr>
        </p:nvSpPr>
        <p:spPr>
          <a:xfrm>
            <a:off x="179388" y="188913"/>
            <a:ext cx="8507412" cy="6265862"/>
          </a:xfrm>
        </p:spPr>
        <p:txBody>
          <a:bodyPr>
            <a:normAutofit fontScale="92500" lnSpcReduction="20000"/>
          </a:bodyPr>
          <a:lstStyle/>
          <a:p>
            <a:pPr marL="0" indent="0">
              <a:buFont typeface="Wingdings" panose="05000000000000000000" pitchFamily="2" charset="2"/>
              <a:buNone/>
              <a:defRPr/>
            </a:pPr>
            <a:r>
              <a:rPr lang="pl-PL" b="1" dirty="0"/>
              <a:t>Wyrok Sądu Najwyższego z dnia 25 lutego 2009 r., II KK 249/08</a:t>
            </a:r>
          </a:p>
          <a:p>
            <a:pPr marL="0" indent="0">
              <a:buFont typeface="Wingdings" panose="05000000000000000000" pitchFamily="2" charset="2"/>
              <a:buNone/>
              <a:defRPr/>
            </a:pPr>
            <a:r>
              <a:rPr lang="pl-PL" dirty="0"/>
              <a:t>Przepisy art. 92 k.p.k. i art. 410 k.p.k. zawierają wskazania dotyczące podstaw każdego orzeczenia. Podstawę taką stanowić mogą tylko materiały ujawnione na rozprawie, i to w zasadzie takie, z którymi sąd, a więc każdy z członków składu orzekającego, zetknął się bezpośrednio. Nie można zatem opierać orzeczenia na materiale, który nie został ujawniony na rozprawie, nie można także opierać orzeczenia jedynie na części ujawnionego materiału dowodowego (...). Z treści omawianych przepisów, które znajdują zastosowanie także do zeznań świadków anonimowych i to w części objętej tajemnicą wynika, że niedopuszczalnym jest, aby część członków składu orzekającego nie zapoznała się z całością materiałów dowodowych sprawy, a co gorsza nie miała obiektywnie takiej możliwości. Wyrok wydany w takich warunkach jest z reguły wyrokiem wadliwym i to w stopniu rażącym.</a:t>
            </a:r>
          </a:p>
          <a:p>
            <a:pPr>
              <a:defRPr/>
            </a:pPr>
            <a:endParaRPr lang="pl-PL" dirty="0"/>
          </a:p>
        </p:txBody>
      </p:sp>
    </p:spTree>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7218" name="Symbol zastępczy zawartości 2">
            <a:extLst>
              <a:ext uri="{FF2B5EF4-FFF2-40B4-BE49-F238E27FC236}">
                <a16:creationId xmlns:a16="http://schemas.microsoft.com/office/drawing/2014/main" id="{5227BA67-DEB4-2410-BF15-385FFA38BEF1}"/>
              </a:ext>
            </a:extLst>
          </p:cNvPr>
          <p:cNvSpPr>
            <a:spLocks noGrp="1" noChangeArrowheads="1"/>
          </p:cNvSpPr>
          <p:nvPr>
            <p:ph idx="1"/>
          </p:nvPr>
        </p:nvSpPr>
        <p:spPr>
          <a:xfrm>
            <a:off x="250825" y="476250"/>
            <a:ext cx="8435975" cy="5978525"/>
          </a:xfrm>
        </p:spPr>
        <p:txBody>
          <a:bodyPr/>
          <a:lstStyle/>
          <a:p>
            <a:r>
              <a:rPr lang="pl-PL" altLang="pl-PL" sz="4800"/>
              <a:t>Art.  92 k.p.k.</a:t>
            </a:r>
          </a:p>
          <a:p>
            <a:r>
              <a:rPr lang="pl-PL" altLang="pl-PL" sz="4800"/>
              <a:t> Podstawę orzeczenia może stanowić tylko całokształt okoliczności ujawnionych w postępowaniu, mających znaczenie dla rozstrzygnięcia.</a:t>
            </a:r>
          </a:p>
          <a:p>
            <a:endParaRPr lang="pl-PL" altLang="pl-PL"/>
          </a:p>
        </p:txBody>
      </p:sp>
    </p:spTree>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8242" name="Symbol zastępczy zawartości 2">
            <a:extLst>
              <a:ext uri="{FF2B5EF4-FFF2-40B4-BE49-F238E27FC236}">
                <a16:creationId xmlns:a16="http://schemas.microsoft.com/office/drawing/2014/main" id="{74049E25-9254-C770-FD07-EBB08A9F3CC3}"/>
              </a:ext>
            </a:extLst>
          </p:cNvPr>
          <p:cNvSpPr>
            <a:spLocks noGrp="1" noChangeArrowheads="1"/>
          </p:cNvSpPr>
          <p:nvPr>
            <p:ph idx="1"/>
          </p:nvPr>
        </p:nvSpPr>
        <p:spPr>
          <a:xfrm>
            <a:off x="0" y="0"/>
            <a:ext cx="8686800" cy="6858000"/>
          </a:xfrm>
        </p:spPr>
        <p:txBody>
          <a:bodyPr/>
          <a:lstStyle/>
          <a:p>
            <a:r>
              <a:rPr lang="pl-PL" altLang="pl-PL" sz="2300" b="1">
                <a:solidFill>
                  <a:srgbClr val="0000FF"/>
                </a:solidFill>
              </a:rPr>
              <a:t>Ujawnienie</a:t>
            </a:r>
            <a:r>
              <a:rPr lang="pl-PL" altLang="pl-PL" sz="2300"/>
              <a:t> – zasadniczo czynność przeprowadzenia dowodu (okoliczności, nie dowody).</a:t>
            </a:r>
          </a:p>
          <a:p>
            <a:r>
              <a:rPr lang="pl-PL" altLang="pl-PL" sz="2300"/>
              <a:t>Ujawnienie, o którym mowa w tym przepisie, należy pojmować przede wszystkim </a:t>
            </a:r>
            <a:r>
              <a:rPr lang="pl-PL" altLang="pl-PL" sz="2300" b="1">
                <a:solidFill>
                  <a:srgbClr val="0000FF"/>
                </a:solidFill>
              </a:rPr>
              <a:t>w znaczeniu czynności przeprowadzania dowodów jako czynności ujawniających dowody</a:t>
            </a:r>
            <a:r>
              <a:rPr lang="pl-PL" altLang="pl-PL" sz="2300"/>
              <a:t>, w tym pozyskane w trybie pomocy prawnej (</a:t>
            </a:r>
            <a:r>
              <a:rPr lang="pl-PL" altLang="pl-PL" sz="2300">
                <a:hlinkClick r:id="rId2"/>
              </a:rPr>
              <a:t>art. 396 § 2</a:t>
            </a:r>
            <a:r>
              <a:rPr lang="pl-PL" altLang="pl-PL" sz="2300"/>
              <a:t> k.p.k.), a nie wyłącznie w rozumieniu fikcji prawnej z </a:t>
            </a:r>
            <a:r>
              <a:rPr lang="pl-PL" altLang="pl-PL" sz="2300">
                <a:hlinkClick r:id="rId3"/>
              </a:rPr>
              <a:t>art. 405</a:t>
            </a:r>
            <a:r>
              <a:rPr lang="pl-PL" altLang="pl-PL" sz="2300"/>
              <a:t>, </a:t>
            </a:r>
            <a:r>
              <a:rPr lang="pl-PL" altLang="pl-PL" sz="2300">
                <a:hlinkClick r:id="rId4"/>
              </a:rPr>
              <a:t>387 § 5</a:t>
            </a:r>
            <a:r>
              <a:rPr lang="pl-PL" altLang="pl-PL" sz="2300"/>
              <a:t>, </a:t>
            </a:r>
            <a:r>
              <a:rPr lang="pl-PL" altLang="pl-PL" sz="2300">
                <a:hlinkClick r:id="rId5"/>
              </a:rPr>
              <a:t>art. 442 § 2</a:t>
            </a:r>
            <a:r>
              <a:rPr lang="pl-PL" altLang="pl-PL" sz="2300"/>
              <a:t> k.p.k., choć obejmuje ono też takie fikcje jako sposoby wprowadzania dowodów do procesu, a także inne sposoby niż dowody, </a:t>
            </a:r>
            <a:r>
              <a:rPr lang="pl-PL" altLang="pl-PL" sz="2300" b="1">
                <a:solidFill>
                  <a:srgbClr val="0000FF"/>
                </a:solidFill>
              </a:rPr>
              <a:t>np. notoryjność </a:t>
            </a:r>
            <a:r>
              <a:rPr lang="pl-PL" altLang="pl-PL" sz="2300"/>
              <a:t>– </a:t>
            </a:r>
            <a:r>
              <a:rPr lang="pl-PL" altLang="pl-PL" sz="2300">
                <a:hlinkClick r:id="rId6"/>
              </a:rPr>
              <a:t>art. 168</a:t>
            </a:r>
            <a:r>
              <a:rPr lang="pl-PL" altLang="pl-PL" sz="2300"/>
              <a:t> k.p.k. (można też twierdzić, że jest to dopuszczalne obok ujawnienia – wyrok SN z 26.11.1947 r., K 1623/47, PiP 1948/12, s. 150), a także okoliczności wynikające </a:t>
            </a:r>
            <a:r>
              <a:rPr lang="pl-PL" altLang="pl-PL" sz="2300" b="1">
                <a:solidFill>
                  <a:srgbClr val="0000FF"/>
                </a:solidFill>
              </a:rPr>
              <a:t>z oświadczeń procesowych niestanowiących dowodu, np. co do winy i wymiaru kary w głosach stron, </a:t>
            </a:r>
            <a:r>
              <a:rPr lang="pl-PL" altLang="pl-PL" sz="2300"/>
              <a:t>czy nawet dowody tzw. swobodne, jeśli w taki sposób ustawa pozwala na czynienie ustaleń mających znacznie dla rozstrzygnięć w wyroku i tym samym okoliczności z nich wynikających (zob. J. Zagrodnik, Komentarz).</a:t>
            </a:r>
          </a:p>
        </p:txBody>
      </p:sp>
    </p:spTree>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65389E6C-8E18-31DE-927C-DFA173F1D040}"/>
              </a:ext>
            </a:extLst>
          </p:cNvPr>
          <p:cNvSpPr>
            <a:spLocks noGrp="1"/>
          </p:cNvSpPr>
          <p:nvPr>
            <p:ph idx="1"/>
          </p:nvPr>
        </p:nvSpPr>
        <p:spPr>
          <a:xfrm>
            <a:off x="179388" y="115888"/>
            <a:ext cx="8507412" cy="6338887"/>
          </a:xfrm>
        </p:spPr>
        <p:txBody>
          <a:bodyPr>
            <a:normAutofit fontScale="92500"/>
          </a:bodyPr>
          <a:lstStyle/>
          <a:p>
            <a:pPr marL="0" indent="0">
              <a:buFont typeface="Wingdings" panose="05000000000000000000" pitchFamily="2" charset="2"/>
              <a:buNone/>
              <a:defRPr/>
            </a:pPr>
            <a:r>
              <a:rPr lang="pl-PL" dirty="0"/>
              <a:t>Postanowienie Sądu Najwyższego z dnia 14 lipca 2021 r., III KK 34/20</a:t>
            </a:r>
          </a:p>
          <a:p>
            <a:pPr>
              <a:defRPr/>
            </a:pPr>
            <a:r>
              <a:rPr lang="pl-PL" dirty="0"/>
              <a:t>Ratio legis art. 410 k.p.k. odnosi się nie tyle do kwestii czysto "technicznego" ujawnienia określonych dowodów - a więc dokonania stosownego zapisu w protokole rozprawy, lecz sięga sfery szerszej - a mianowicie nakłada na sąd obowiązek uwzględnienia </a:t>
            </a:r>
            <a:r>
              <a:rPr lang="pl-PL" b="1" dirty="0">
                <a:solidFill>
                  <a:srgbClr val="0000FF"/>
                </a:solidFill>
              </a:rPr>
              <a:t>w dochodzeniu do prawdy materialnej wszystkich dowodów</a:t>
            </a:r>
            <a:r>
              <a:rPr lang="pl-PL" dirty="0"/>
              <a:t>, jakie zostały przeprowadzone w trakcie postępowania. Innymi słowy - </a:t>
            </a:r>
            <a:r>
              <a:rPr lang="pl-PL" b="1" dirty="0">
                <a:solidFill>
                  <a:srgbClr val="C00000"/>
                </a:solidFill>
              </a:rPr>
              <a:t>sąd może czynić swe ustalenia faktyczne w oparciu o niektóre tylko dowody, które uzna za wiarygodne, ale w procesie ustalania bądź wykluczania zawinienia danej osoby jest zobligowany do poddania procesowi </a:t>
            </a:r>
            <a:r>
              <a:rPr lang="pl-PL" b="1" dirty="0" err="1">
                <a:solidFill>
                  <a:srgbClr val="C00000"/>
                </a:solidFill>
              </a:rPr>
              <a:t>ocennemu</a:t>
            </a:r>
            <a:r>
              <a:rPr lang="pl-PL" b="1" dirty="0">
                <a:solidFill>
                  <a:srgbClr val="C00000"/>
                </a:solidFill>
              </a:rPr>
              <a:t> całokształtu materiału dowodowego.</a:t>
            </a:r>
          </a:p>
          <a:p>
            <a:pPr>
              <a:defRPr/>
            </a:pPr>
            <a:endParaRPr lang="pl-PL" dirty="0"/>
          </a:p>
        </p:txBody>
      </p:sp>
    </p:spTree>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BF240CA8-DD7A-BA8F-07A4-44ECECCFB35E}"/>
              </a:ext>
            </a:extLst>
          </p:cNvPr>
          <p:cNvSpPr>
            <a:spLocks noGrp="1"/>
          </p:cNvSpPr>
          <p:nvPr>
            <p:ph idx="1"/>
          </p:nvPr>
        </p:nvSpPr>
        <p:spPr>
          <a:xfrm>
            <a:off x="107950" y="115888"/>
            <a:ext cx="8578850" cy="6553200"/>
          </a:xfrm>
        </p:spPr>
        <p:txBody>
          <a:bodyPr>
            <a:normAutofit fontScale="70000" lnSpcReduction="20000"/>
          </a:bodyPr>
          <a:lstStyle/>
          <a:p>
            <a:pPr marL="0" indent="0">
              <a:buFont typeface="Wingdings" panose="05000000000000000000" pitchFamily="2" charset="2"/>
              <a:buNone/>
              <a:defRPr/>
            </a:pPr>
            <a:r>
              <a:rPr lang="pl-PL" b="1" dirty="0"/>
              <a:t>Wyrok Sądu Apelacyjnego w Łodzi z dnia 3 listopada 2004 r. </a:t>
            </a:r>
          </a:p>
          <a:p>
            <a:pPr marL="0" indent="0">
              <a:buFont typeface="Wingdings" panose="05000000000000000000" pitchFamily="2" charset="2"/>
              <a:buNone/>
              <a:defRPr/>
            </a:pPr>
            <a:r>
              <a:rPr lang="pl-PL" b="1" dirty="0"/>
              <a:t>II </a:t>
            </a:r>
            <a:r>
              <a:rPr lang="pl-PL" b="1" dirty="0" err="1"/>
              <a:t>AKa</a:t>
            </a:r>
            <a:r>
              <a:rPr lang="pl-PL" b="1" dirty="0"/>
              <a:t> 189/04</a:t>
            </a:r>
          </a:p>
          <a:p>
            <a:pPr>
              <a:defRPr/>
            </a:pPr>
            <a:r>
              <a:rPr lang="pl-PL" sz="3600" dirty="0"/>
              <a:t>Przeprowadzenie tego dowodu (przesłuchanie świadka) w trybie art. 396 § 2 k.p.k. wymagało ujawnienia złożonych zeznań na rozprawie głównej. Zgodnie bowiem z art. 410 k.p.k. podstawę wyroku może stanowić tylko całokształt okoliczności ujawnionych w toku rozprawy głównej. Czynność poinformowania stron o przesłuchaniu świadka, jaką podjął przewodniczący składu orzekającego (...), nie stanowi ujawnienia dowodu w rozumieniu przywołanego przepisu.</a:t>
            </a:r>
          </a:p>
          <a:p>
            <a:pPr>
              <a:defRPr/>
            </a:pPr>
            <a:r>
              <a:rPr lang="pl-PL" sz="3600" dirty="0"/>
              <a:t>Tym samym dowód ten nie mógł być podstawą faktyczną wyroku.</a:t>
            </a:r>
          </a:p>
          <a:p>
            <a:pPr>
              <a:defRPr/>
            </a:pPr>
            <a:r>
              <a:rPr lang="pl-PL" sz="3600" dirty="0"/>
              <a:t>W uzasadnieniu orzeczenia nie powinno się używać (...) zwrotów, nawet w formie ich cytowania, które zawierają słowa wulgarne, czy używane w "slangu" środowiskowym. Nie jest to bowiem język, który mógłby być stosowany przy sporządzaniu dokumentów urzędowych.</a:t>
            </a:r>
          </a:p>
          <a:p>
            <a:pPr>
              <a:defRPr/>
            </a:pPr>
            <a:endParaRPr lang="pl-PL" dirty="0"/>
          </a:p>
        </p:txBody>
      </p:sp>
    </p:spTree>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2E57B264-03CD-E54B-0F3D-542D6C28693C}"/>
              </a:ext>
            </a:extLst>
          </p:cNvPr>
          <p:cNvSpPr>
            <a:spLocks noGrp="1"/>
          </p:cNvSpPr>
          <p:nvPr>
            <p:ph idx="1"/>
          </p:nvPr>
        </p:nvSpPr>
        <p:spPr>
          <a:xfrm>
            <a:off x="107950" y="188913"/>
            <a:ext cx="8578850" cy="6669087"/>
          </a:xfrm>
        </p:spPr>
        <p:txBody>
          <a:bodyPr>
            <a:normAutofit/>
          </a:bodyPr>
          <a:lstStyle/>
          <a:p>
            <a:pPr marL="0" indent="0">
              <a:buFont typeface="Wingdings" panose="05000000000000000000" pitchFamily="2" charset="2"/>
              <a:buNone/>
              <a:defRPr/>
            </a:pPr>
            <a:r>
              <a:rPr lang="pl-PL" sz="4000" dirty="0"/>
              <a:t>Wyrok Sądu Apelacyjnego w Krakowie z dnia 17 stycznia 2013 r., II </a:t>
            </a:r>
            <a:r>
              <a:rPr lang="pl-PL" sz="4000" dirty="0" err="1"/>
              <a:t>AKa</a:t>
            </a:r>
            <a:r>
              <a:rPr lang="pl-PL" sz="4000" dirty="0"/>
              <a:t> 256/12</a:t>
            </a:r>
          </a:p>
          <a:p>
            <a:pPr>
              <a:defRPr/>
            </a:pPr>
            <a:r>
              <a:rPr lang="pl-PL" sz="3600" dirty="0"/>
              <a:t>Obraza przepisu art. 410 k.p.k. zachodzi wówczas, gdy przy wyrokowaniu sąd opiera się na materiale nieujawnionym na rozprawie głównej oraz gdy </a:t>
            </a:r>
            <a:r>
              <a:rPr lang="pl-PL" sz="3600" b="1" dirty="0"/>
              <a:t>opiera się na części materiału ujawnionego.</a:t>
            </a:r>
            <a:r>
              <a:rPr lang="pl-PL" sz="3600" dirty="0"/>
              <a:t> Dokonanie oceny dowodów nie stanowi natomiast uchybienia dyspozycji art. 410 k.p.k.</a:t>
            </a:r>
          </a:p>
        </p:txBody>
      </p:sp>
    </p:spTree>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A460961F-860E-1C46-F6B7-08A653595798}"/>
              </a:ext>
            </a:extLst>
          </p:cNvPr>
          <p:cNvSpPr>
            <a:spLocks noGrp="1"/>
          </p:cNvSpPr>
          <p:nvPr>
            <p:ph idx="1"/>
          </p:nvPr>
        </p:nvSpPr>
        <p:spPr>
          <a:xfrm>
            <a:off x="107950" y="188913"/>
            <a:ext cx="8578850" cy="6669087"/>
          </a:xfrm>
        </p:spPr>
        <p:txBody>
          <a:bodyPr>
            <a:normAutofit fontScale="92500"/>
          </a:bodyPr>
          <a:lstStyle/>
          <a:p>
            <a:pPr marL="0" indent="0">
              <a:buFont typeface="Wingdings" panose="05000000000000000000" pitchFamily="2" charset="2"/>
              <a:buNone/>
              <a:defRPr/>
            </a:pPr>
            <a:r>
              <a:rPr lang="pl-PL" dirty="0"/>
              <a:t>Art. 7 k.p.k.</a:t>
            </a:r>
          </a:p>
          <a:p>
            <a:pPr marL="0" indent="0">
              <a:buFont typeface="Wingdings" panose="05000000000000000000" pitchFamily="2" charset="2"/>
              <a:buNone/>
              <a:defRPr/>
            </a:pPr>
            <a:r>
              <a:rPr lang="pl-PL" sz="4400" dirty="0"/>
              <a:t>Organy postępowania kształtują swe przekonanie </a:t>
            </a:r>
            <a:r>
              <a:rPr lang="pl-PL" sz="4400" b="1" dirty="0">
                <a:solidFill>
                  <a:srgbClr val="00B050"/>
                </a:solidFill>
              </a:rPr>
              <a:t>na podstawie wszystkich przeprowadzonych dowodów, </a:t>
            </a:r>
            <a:r>
              <a:rPr lang="pl-PL" sz="4400" dirty="0"/>
              <a:t>ocenianych swobodnie z uwzględnieniem zasad prawidłowego rozumowania oraz wskazań wiedzy i doświadczenia życiowego.</a:t>
            </a:r>
          </a:p>
          <a:p>
            <a:pPr marL="0" indent="0">
              <a:buFont typeface="Wingdings" panose="05000000000000000000" pitchFamily="2" charset="2"/>
              <a:buNone/>
              <a:defRPr/>
            </a:pPr>
            <a:r>
              <a:rPr lang="pl-PL" sz="4400" dirty="0" err="1"/>
              <a:t>B.u.f</a:t>
            </a:r>
            <a:r>
              <a:rPr lang="pl-PL" sz="4400" dirty="0"/>
              <a:t>. – błąd braku lub dowolności. </a:t>
            </a:r>
          </a:p>
        </p:txBody>
      </p:sp>
    </p:spTree>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62" name="Symbol zastępczy zawartości 2">
            <a:extLst>
              <a:ext uri="{FF2B5EF4-FFF2-40B4-BE49-F238E27FC236}">
                <a16:creationId xmlns:a16="http://schemas.microsoft.com/office/drawing/2014/main" id="{6D62CB05-3D70-01EB-5F1B-FD2962C71B86}"/>
              </a:ext>
            </a:extLst>
          </p:cNvPr>
          <p:cNvSpPr>
            <a:spLocks noGrp="1" noChangeArrowheads="1"/>
          </p:cNvSpPr>
          <p:nvPr>
            <p:ph idx="1"/>
          </p:nvPr>
        </p:nvSpPr>
        <p:spPr>
          <a:xfrm>
            <a:off x="107950" y="188913"/>
            <a:ext cx="8578850" cy="6669087"/>
          </a:xfrm>
        </p:spPr>
        <p:txBody>
          <a:bodyPr/>
          <a:lstStyle/>
          <a:p>
            <a:pPr marL="0" indent="0">
              <a:buFont typeface="Wingdings" panose="05000000000000000000" pitchFamily="2" charset="2"/>
              <a:buNone/>
            </a:pPr>
            <a:r>
              <a:rPr lang="pl-PL" altLang="pl-PL" sz="2800" b="1"/>
              <a:t>Wyrok Sądu Najwyższego z dnia 15 maja 2012 r.,</a:t>
            </a:r>
          </a:p>
          <a:p>
            <a:pPr marL="0" indent="0">
              <a:buFont typeface="Wingdings" panose="05000000000000000000" pitchFamily="2" charset="2"/>
              <a:buNone/>
            </a:pPr>
            <a:r>
              <a:rPr lang="pl-PL" altLang="pl-PL" sz="2800" b="1"/>
              <a:t>IV KK 398/11</a:t>
            </a:r>
          </a:p>
          <a:p>
            <a:pPr marL="0" indent="0">
              <a:buFont typeface="Wingdings" panose="05000000000000000000" pitchFamily="2" charset="2"/>
              <a:buNone/>
            </a:pPr>
            <a:r>
              <a:rPr lang="pl-PL" altLang="pl-PL" sz="3600"/>
              <a:t>Co prawda, przepisy art. 7 k.p.k. i art. 410 k.p.k. mają charakter regulacji adresowanych generalnie do sądu pierwszej instancji, ale ich naruszenia może dopuścić się również sąd odwoławczy, jeśli czyni własne ustalenia faktyczne oparte na niekompletnym materiale dowodowym ocenionym nie swobodnie, lecz dowolnie.</a:t>
            </a:r>
          </a:p>
          <a:p>
            <a:pPr marL="0" indent="0">
              <a:buFont typeface="Wingdings" panose="05000000000000000000" pitchFamily="2" charset="2"/>
              <a:buNone/>
            </a:pPr>
            <a:endParaRPr lang="pl-PL" altLang="pl-PL" sz="4400"/>
          </a:p>
        </p:txBody>
      </p:sp>
    </p:spTree>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E242C9B3-1FDA-1624-667E-A64D9A08DB2D}"/>
              </a:ext>
            </a:extLst>
          </p:cNvPr>
          <p:cNvSpPr>
            <a:spLocks noGrp="1" noChangeArrowheads="1"/>
          </p:cNvSpPr>
          <p:nvPr>
            <p:ph type="body" idx="1"/>
          </p:nvPr>
        </p:nvSpPr>
        <p:spPr>
          <a:xfrm>
            <a:off x="250825" y="260350"/>
            <a:ext cx="8642350" cy="6048375"/>
          </a:xfrm>
        </p:spPr>
        <p:txBody>
          <a:bodyPr/>
          <a:lstStyle/>
          <a:p>
            <a:pPr marL="0" indent="0">
              <a:buFont typeface="Wingdings" panose="05000000000000000000" pitchFamily="2" charset="2"/>
              <a:buNone/>
              <a:defRPr/>
            </a:pPr>
            <a:r>
              <a:rPr lang="pl-PL" sz="2300" dirty="0">
                <a:solidFill>
                  <a:srgbClr val="FF0000"/>
                </a:solidFill>
              </a:rPr>
              <a:t>wyrok  SA w Katowicach z dnia  </a:t>
            </a:r>
          </a:p>
          <a:p>
            <a:pPr marL="0" indent="0">
              <a:buFont typeface="Wingdings" panose="05000000000000000000" pitchFamily="2" charset="2"/>
              <a:buNone/>
              <a:defRPr/>
            </a:pPr>
            <a:r>
              <a:rPr lang="pl-PL" sz="2300" dirty="0">
                <a:solidFill>
                  <a:srgbClr val="FF0000"/>
                </a:solidFill>
              </a:rPr>
              <a:t>24 marca 2016  r., </a:t>
            </a:r>
            <a:r>
              <a:rPr lang="pl-PL" sz="2300" b="1" dirty="0">
                <a:solidFill>
                  <a:srgbClr val="FF0000"/>
                </a:solidFill>
              </a:rPr>
              <a:t>II </a:t>
            </a:r>
            <a:r>
              <a:rPr lang="pl-PL" sz="2300" b="1" dirty="0" err="1">
                <a:solidFill>
                  <a:srgbClr val="FF0000"/>
                </a:solidFill>
              </a:rPr>
              <a:t>AKa</a:t>
            </a:r>
            <a:r>
              <a:rPr lang="pl-PL" sz="2300" b="1" dirty="0">
                <a:solidFill>
                  <a:srgbClr val="FF0000"/>
                </a:solidFill>
              </a:rPr>
              <a:t> 521/16</a:t>
            </a:r>
          </a:p>
          <a:p>
            <a:pPr marL="0" indent="0">
              <a:buFont typeface="Wingdings" panose="05000000000000000000" pitchFamily="2" charset="2"/>
              <a:buNone/>
              <a:defRPr/>
            </a:pPr>
            <a:r>
              <a:rPr lang="pl-PL" sz="2300" dirty="0">
                <a:solidFill>
                  <a:srgbClr val="FF0000"/>
                </a:solidFill>
              </a:rPr>
              <a:t>LEX nr 2229258 </a:t>
            </a:r>
          </a:p>
          <a:p>
            <a:pPr marL="0" indent="0">
              <a:buFont typeface="Wingdings" panose="05000000000000000000" pitchFamily="2" charset="2"/>
              <a:buNone/>
              <a:defRPr/>
            </a:pPr>
            <a:r>
              <a:rPr lang="pl-PL" sz="2100" dirty="0"/>
              <a:t>Zgodnie z treścią art. 455a k.p.k. nie można uchylić wyroku z tego powodu, że jego uzasadnienie nie spełnia wymogów określonych w art. 424 k.p.k. Nie oznacza to wszakże, że wady pisemnych motywów zaskarżonego wyroku utraciły jakiekolwiek znaczenie w ramach instancyjnej kontroli wyroku. Podkreślić bowiem należy, że przekonanie sądu o wiarygodności lub niewiarygodności określonych dowodów pozostaje pod ochroną zasady wyrażonej w art. 7 k.p.k. nie tylko wtedy, gdy jest ono poprzedzone ujawnieniem w toku rozprawy głównej całokształtu okoliczności sprawy, stanowi wynik rozważenia wszystkich istotnych okoliczności przemawiających zarówno na korzyść, jak i na niekorzyść oskarżonego, ale też zostało prawidłowo uargumentowane w uzasadnieniu wyroku. Pominięcie zatem istotnych dowodów winno być oceniane pod kątem nie tyle wad samego uzasadnienia, ale obrazy art. 7 k.p.k. i art. 410 k.p.k.</a:t>
            </a:r>
          </a:p>
          <a:p>
            <a:pPr eaLnBrk="1" hangingPunct="1">
              <a:buFont typeface="Wingdings" panose="05000000000000000000" pitchFamily="2" charset="2"/>
              <a:buNone/>
              <a:defRPr/>
            </a:pPr>
            <a:endParaRPr lang="pl-PL" altLang="pl-PL" sz="2400" dirty="0"/>
          </a:p>
        </p:txBody>
      </p:sp>
    </p:spTree>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8549B955-7E1A-6EF1-1DFB-FBDEFDA53E0A}"/>
              </a:ext>
            </a:extLst>
          </p:cNvPr>
          <p:cNvSpPr>
            <a:spLocks noGrp="1"/>
          </p:cNvSpPr>
          <p:nvPr>
            <p:ph idx="1"/>
          </p:nvPr>
        </p:nvSpPr>
        <p:spPr>
          <a:xfrm>
            <a:off x="107950" y="188913"/>
            <a:ext cx="8578850" cy="6669087"/>
          </a:xfrm>
        </p:spPr>
        <p:txBody>
          <a:bodyPr>
            <a:normAutofit fontScale="85000" lnSpcReduction="20000"/>
          </a:bodyPr>
          <a:lstStyle/>
          <a:p>
            <a:pPr marL="0" indent="0">
              <a:buFont typeface="Wingdings" panose="05000000000000000000" pitchFamily="2" charset="2"/>
              <a:buNone/>
              <a:defRPr/>
            </a:pPr>
            <a:r>
              <a:rPr lang="pl-PL" sz="4800" dirty="0"/>
              <a:t>Wyrok Sądu Najwyższego  z dnia 25 sierpnia 2009 r., V KK 93/09</a:t>
            </a:r>
          </a:p>
          <a:p>
            <a:pPr marL="0" indent="0">
              <a:buFont typeface="Wingdings" panose="05000000000000000000" pitchFamily="2" charset="2"/>
              <a:buNone/>
              <a:defRPr/>
            </a:pPr>
            <a:r>
              <a:rPr lang="pl-PL" sz="2800" dirty="0"/>
              <a:t>Ustawa procesowa nie przewiduje konkretnego sposobu zapoznania się przez sędziego ze sprawą. Niemniej nie ulega wątpliwości, po pierwsze - że ogólne reguły prawidłowego wyrokowania (art. 410 k.p.k., art. 7 k.p.k.) opierają się na założeniu o kształtowaniu sędziowskiego przekonania na podstawie wszystkich przeprowadzonych dowodów, </a:t>
            </a:r>
            <a:r>
              <a:rPr lang="pl-PL" sz="2800" b="1" dirty="0"/>
              <a:t>z którymi sąd, a więc każdy z członków składu orzekającego, w zasadzie zetknął się bezpośrednio, </a:t>
            </a:r>
            <a:r>
              <a:rPr lang="pl-PL" sz="2800" dirty="0"/>
              <a:t>po wtóre zaś - że tak specyficzny dowód, jakim są zeznania świadka anonimowego, wymaga szczególnej sumienności i dbałości </a:t>
            </a:r>
            <a:r>
              <a:rPr lang="pl-PL" sz="2800" b="1" dirty="0"/>
              <a:t>w zakresie uzyskania przez sędziego wiedzy co do treści tych zeznań, i to zarówno w części udostępnionej w aktach sprawy, jak i w ich części niejawnej.</a:t>
            </a:r>
            <a:r>
              <a:rPr lang="pl-PL" sz="2800" dirty="0"/>
              <a:t> Nie sposób, przeto, nie uznać, że uzyskanie takiej wiedzy może nastąpić właściwie tylko przez osobiste zapoznanie się przez każdego z orzekających sędziów z całością zeznań świadka anonimowego.</a:t>
            </a:r>
          </a:p>
          <a:p>
            <a:pPr marL="0" indent="0">
              <a:buFont typeface="Wingdings" panose="05000000000000000000" pitchFamily="2" charset="2"/>
              <a:buNone/>
              <a:defRPr/>
            </a:pPr>
            <a:r>
              <a:rPr lang="pl-PL" sz="2800" dirty="0"/>
              <a:t> (także ławnicy). </a:t>
            </a:r>
            <a:endParaRPr lang="pl-PL" sz="4400" dirty="0"/>
          </a:p>
        </p:txBody>
      </p:sp>
    </p:spTree>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66A8F63D-D287-CD7D-0480-42113DA88F7D}"/>
              </a:ext>
            </a:extLst>
          </p:cNvPr>
          <p:cNvSpPr>
            <a:spLocks noGrp="1"/>
          </p:cNvSpPr>
          <p:nvPr>
            <p:ph idx="1"/>
          </p:nvPr>
        </p:nvSpPr>
        <p:spPr>
          <a:xfrm>
            <a:off x="107950" y="115888"/>
            <a:ext cx="8578850" cy="7345362"/>
          </a:xfrm>
        </p:spPr>
        <p:txBody>
          <a:bodyPr>
            <a:normAutofit fontScale="70000" lnSpcReduction="20000"/>
          </a:bodyPr>
          <a:lstStyle/>
          <a:p>
            <a:pPr marL="0" indent="0">
              <a:buFont typeface="Wingdings" panose="05000000000000000000" pitchFamily="2" charset="2"/>
              <a:buNone/>
              <a:defRPr/>
            </a:pPr>
            <a:r>
              <a:rPr lang="pl-PL" b="1" dirty="0"/>
              <a:t>Wyrok Sądu Apelacyjnego w Warszawie z dnia 18 stycznia 2021 r. </a:t>
            </a:r>
          </a:p>
          <a:p>
            <a:pPr marL="0" indent="0">
              <a:buFont typeface="Wingdings" panose="05000000000000000000" pitchFamily="2" charset="2"/>
              <a:buNone/>
              <a:defRPr/>
            </a:pPr>
            <a:r>
              <a:rPr lang="pl-PL" b="1" dirty="0"/>
              <a:t>II </a:t>
            </a:r>
            <a:r>
              <a:rPr lang="pl-PL" b="1" dirty="0" err="1"/>
              <a:t>AKa</a:t>
            </a:r>
            <a:r>
              <a:rPr lang="pl-PL" b="1" dirty="0"/>
              <a:t> 139/20</a:t>
            </a:r>
          </a:p>
          <a:p>
            <a:pPr>
              <a:defRPr/>
            </a:pPr>
            <a:r>
              <a:rPr lang="pl-PL" sz="3400" b="1" dirty="0">
                <a:solidFill>
                  <a:srgbClr val="7030A0"/>
                </a:solidFill>
              </a:rPr>
              <a:t>Przepisu art. 410 k.p.k. nie można rozumieć w ten sposób, że każdy z przeprowadzonych na rozprawie głównej dowodów ma stanowić podstawę ustaleń faktycznych. Byłoby to w wielu wypadkach w istocie niemożliwe ze względu na wzajemną sprzeczność okoliczności wynikających z różnych dowodów. </a:t>
            </a:r>
            <a:r>
              <a:rPr lang="pl-PL" sz="3400" dirty="0"/>
              <a:t>Odmówienie wiary niektórym zeznaniom lub wyjaśnieniom złożonym przez świadków lub oskarżonych, a w rezultacie ich pominięcie jako podstawy dowodowej podczas dokonywanych ustaleń faktycznych, </a:t>
            </a:r>
            <a:r>
              <a:rPr lang="pl-PL" sz="3400" b="1" dirty="0">
                <a:solidFill>
                  <a:srgbClr val="7030A0"/>
                </a:solidFill>
              </a:rPr>
              <a:t>nie może być utożsamiane ani z brakiem oceny okoliczności, których tego rodzaju dowód dotyczy w kontekście finalnego rozstrzygnięcia, ani też nie jest wyrazem złamania zasady bezstronności sądu,</a:t>
            </a:r>
            <a:r>
              <a:rPr lang="pl-PL" sz="3400" dirty="0"/>
              <a:t> bowiem odmowa przyznania waloru wiarygodności niektórym z przeprowadzonych dowodów, przy jednoczesnej aprobacie i uwzględnieniu innych dowodów, jest niczym więcej niż realizacją przysługującego sądowi orzekającemu uprawnienia w ramach czynienia ustaleń faktycznych, z pełnym uwzględnieniem zasady swobodnej oceny dowodów.</a:t>
            </a:r>
          </a:p>
          <a:p>
            <a:pPr>
              <a:defRPr/>
            </a:pPr>
            <a:endParaRPr lang="pl-PL" dirty="0"/>
          </a:p>
        </p:txBody>
      </p:sp>
    </p:spTree>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2818" name="Symbol zastępczy zawartości 2">
            <a:extLst>
              <a:ext uri="{FF2B5EF4-FFF2-40B4-BE49-F238E27FC236}">
                <a16:creationId xmlns:a16="http://schemas.microsoft.com/office/drawing/2014/main" id="{61DC87DE-41BA-650D-420B-DDC83D1F72A9}"/>
              </a:ext>
            </a:extLst>
          </p:cNvPr>
          <p:cNvSpPr>
            <a:spLocks noGrp="1" noChangeArrowheads="1"/>
          </p:cNvSpPr>
          <p:nvPr>
            <p:ph idx="1"/>
          </p:nvPr>
        </p:nvSpPr>
        <p:spPr>
          <a:xfrm>
            <a:off x="0" y="-458788"/>
            <a:ext cx="8686800" cy="6913563"/>
          </a:xfrm>
        </p:spPr>
        <p:txBody>
          <a:bodyPr/>
          <a:lstStyle/>
          <a:p>
            <a:pPr>
              <a:buFont typeface="Wingdings" panose="05000000000000000000" pitchFamily="2" charset="2"/>
              <a:buNone/>
            </a:pPr>
            <a:endParaRPr lang="pl-PL" altLang="pl-PL" b="1"/>
          </a:p>
          <a:p>
            <a:pPr>
              <a:buFont typeface="Wingdings" panose="05000000000000000000" pitchFamily="2" charset="2"/>
              <a:buNone/>
            </a:pPr>
            <a:r>
              <a:rPr lang="pl-PL" altLang="pl-PL"/>
              <a:t>   </a:t>
            </a:r>
            <a:r>
              <a:rPr lang="pl-PL" altLang="pl-PL" b="1">
                <a:solidFill>
                  <a:srgbClr val="FF0000"/>
                </a:solidFill>
              </a:rPr>
              <a:t>Wyrok Sądu Apelacyjnego we Wrocławiu z dnia 31 maja 2012 r. II AKa 123/12</a:t>
            </a:r>
          </a:p>
          <a:p>
            <a:pPr>
              <a:buFont typeface="Wingdings" panose="05000000000000000000" pitchFamily="2" charset="2"/>
              <a:buNone/>
            </a:pPr>
            <a:r>
              <a:rPr lang="pl-PL" altLang="pl-PL"/>
              <a:t> 1. Stosowanie przez sąd procedury przewidzianej w ustawie nie może być oceniane jako naruszenie prawa do obrony.</a:t>
            </a:r>
          </a:p>
          <a:p>
            <a:pPr>
              <a:buFont typeface="Wingdings" panose="05000000000000000000" pitchFamily="2" charset="2"/>
              <a:buNone/>
            </a:pPr>
            <a:r>
              <a:rPr lang="pl-PL" altLang="pl-PL"/>
              <a:t> 2. W sytuacji, gdy sąd jest uprawniony do skorzystania z art. 391 § 1 k.p.k. nie można mówić o naruszeniu zasady bezpośredniości wyrażonej w art. 365 k.p.k. Przepis art. 391 § 1 k.p.k. powinien stanowić podstawę oddalenia wniosków o bezpośrednie przesłuchanie świadków przebywających za granicą.</a:t>
            </a:r>
          </a:p>
          <a:p>
            <a:endParaRPr lang="pl-PL" altLang="pl-PL"/>
          </a:p>
          <a:p>
            <a:endParaRPr lang="pl-PL" altLang="pl-PL"/>
          </a:p>
        </p:txBody>
      </p:sp>
    </p:spTree>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B76ABCAA-A62E-73B7-1354-1D463F223CCD}"/>
              </a:ext>
            </a:extLst>
          </p:cNvPr>
          <p:cNvSpPr>
            <a:spLocks noGrp="1"/>
          </p:cNvSpPr>
          <p:nvPr>
            <p:ph idx="1"/>
          </p:nvPr>
        </p:nvSpPr>
        <p:spPr>
          <a:xfrm>
            <a:off x="179388" y="260350"/>
            <a:ext cx="8507412" cy="6194425"/>
          </a:xfrm>
        </p:spPr>
        <p:txBody>
          <a:bodyPr>
            <a:normAutofit fontScale="77500" lnSpcReduction="20000"/>
          </a:bodyPr>
          <a:lstStyle/>
          <a:p>
            <a:pPr>
              <a:buFont typeface="Wingdings" panose="05000000000000000000" pitchFamily="2" charset="2"/>
              <a:buNone/>
              <a:defRPr/>
            </a:pPr>
            <a:r>
              <a:rPr lang="pl-PL" dirty="0"/>
              <a:t>Art. 389 k.p.k.  (plus art. 391, 392, 396 par. 2, 185a i n. k.p.k. – wyjątki od zasady bezpośredniości).</a:t>
            </a:r>
          </a:p>
          <a:p>
            <a:pPr marL="0" indent="0">
              <a:buFont typeface="Wingdings" panose="05000000000000000000" pitchFamily="2" charset="2"/>
              <a:buNone/>
              <a:defRPr/>
            </a:pPr>
            <a:r>
              <a:rPr lang="pl-PL" dirty="0"/>
              <a:t>§  1.</a:t>
            </a:r>
          </a:p>
          <a:p>
            <a:pPr marL="0" indent="0">
              <a:buFont typeface="Wingdings" panose="05000000000000000000" pitchFamily="2" charset="2"/>
              <a:buNone/>
              <a:defRPr/>
            </a:pPr>
            <a:r>
              <a:rPr lang="pl-PL" dirty="0"/>
              <a:t>Jeżeli oskarżony (sensu largo) nie stawił się na rozprawę, odmawia wyjaśnień lub wyjaśnia odmiennie niż poprzednio albo oświadcza, że pewnych okoliczności nie pamięta, </a:t>
            </a:r>
            <a:r>
              <a:rPr lang="pl-PL" dirty="0">
                <a:solidFill>
                  <a:srgbClr val="FF3300"/>
                </a:solidFill>
              </a:rPr>
              <a:t>wolno</a:t>
            </a:r>
            <a:r>
              <a:rPr lang="pl-PL" dirty="0"/>
              <a:t> na rozprawie odczytywać </a:t>
            </a:r>
            <a:r>
              <a:rPr lang="pl-PL" dirty="0">
                <a:solidFill>
                  <a:srgbClr val="00B050"/>
                </a:solidFill>
              </a:rPr>
              <a:t>tylko w odpowiednim zakresie </a:t>
            </a:r>
            <a:r>
              <a:rPr lang="pl-PL" dirty="0"/>
              <a:t>protokoły jego wyjaśnień złożonych poprzednio w charakterze oskarżonego w tej lub innej sprawie w postępowaniu przygotowawczym lub przed sądem albo w innym postępowaniu przewidzianym przez ustawę.</a:t>
            </a:r>
          </a:p>
          <a:p>
            <a:pPr marL="0" indent="0">
              <a:buFont typeface="Wingdings" panose="05000000000000000000" pitchFamily="2" charset="2"/>
              <a:buNone/>
              <a:defRPr/>
            </a:pPr>
            <a:r>
              <a:rPr lang="pl-PL" dirty="0"/>
              <a:t>§  2.</a:t>
            </a:r>
          </a:p>
          <a:p>
            <a:pPr marL="0" indent="0">
              <a:buFont typeface="Wingdings" panose="05000000000000000000" pitchFamily="2" charset="2"/>
              <a:buNone/>
              <a:defRPr/>
            </a:pPr>
            <a:r>
              <a:rPr lang="pl-PL" dirty="0"/>
              <a:t>Po odczytaniu protokołu przewodniczący zwraca się do oskarżonego o wypowiedzenie się co do jego treści i o wyjaśnienie zachodzących sprzeczności.</a:t>
            </a:r>
          </a:p>
          <a:p>
            <a:pPr marL="0" indent="0">
              <a:buFont typeface="Wingdings" panose="05000000000000000000" pitchFamily="2" charset="2"/>
              <a:buNone/>
              <a:defRPr/>
            </a:pPr>
            <a:r>
              <a:rPr lang="pl-PL" dirty="0"/>
              <a:t>§  3.</a:t>
            </a:r>
          </a:p>
          <a:p>
            <a:pPr marL="0" indent="0">
              <a:buFont typeface="Wingdings" panose="05000000000000000000" pitchFamily="2" charset="2"/>
              <a:buNone/>
              <a:defRPr/>
            </a:pPr>
            <a:r>
              <a:rPr lang="pl-PL" dirty="0"/>
              <a:t>Wolno na rozprawie odczytać wyjaśnienia współoskarżonego, który zmarł.</a:t>
            </a:r>
          </a:p>
          <a:p>
            <a:pPr marL="0" indent="0">
              <a:buFont typeface="Wingdings" panose="05000000000000000000" pitchFamily="2" charset="2"/>
              <a:buNone/>
              <a:defRPr/>
            </a:pPr>
            <a:endParaRPr lang="pl-PL" dirty="0"/>
          </a:p>
          <a:p>
            <a:pPr marL="0" indent="0">
              <a:buFont typeface="Wingdings" panose="05000000000000000000" pitchFamily="2" charset="2"/>
              <a:buNone/>
              <a:defRPr/>
            </a:pPr>
            <a:r>
              <a:rPr lang="pl-PL" dirty="0"/>
              <a:t>Dowód pochodny (środek nie źródło). Prawda jako punkt odniesienia (art. 2 par. 2, art. 366 par. 1 k.p.k.).</a:t>
            </a:r>
          </a:p>
          <a:p>
            <a:pPr>
              <a:buFont typeface="Wingdings" panose="05000000000000000000" pitchFamily="2" charset="2"/>
              <a:buNone/>
              <a:defRPr/>
            </a:pPr>
            <a:endParaRPr lang="pl-PL" dirty="0"/>
          </a:p>
        </p:txBody>
      </p:sp>
    </p:spTree>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5890" name="Symbol zastępczy zawartości 2">
            <a:extLst>
              <a:ext uri="{FF2B5EF4-FFF2-40B4-BE49-F238E27FC236}">
                <a16:creationId xmlns:a16="http://schemas.microsoft.com/office/drawing/2014/main" id="{FDC617A6-B7DC-6870-25F8-538BAF0329A8}"/>
              </a:ext>
            </a:extLst>
          </p:cNvPr>
          <p:cNvSpPr>
            <a:spLocks noGrp="1" noChangeArrowheads="1"/>
          </p:cNvSpPr>
          <p:nvPr>
            <p:ph idx="1"/>
          </p:nvPr>
        </p:nvSpPr>
        <p:spPr>
          <a:xfrm>
            <a:off x="179388" y="260350"/>
            <a:ext cx="8507412" cy="6194425"/>
          </a:xfrm>
        </p:spPr>
        <p:txBody>
          <a:bodyPr>
            <a:normAutofit lnSpcReduction="10000"/>
          </a:bodyPr>
          <a:lstStyle/>
          <a:p>
            <a:r>
              <a:rPr lang="pl-PL" altLang="pl-PL" sz="4400"/>
              <a:t>Art.  366 k.p.k.</a:t>
            </a:r>
          </a:p>
          <a:p>
            <a:r>
              <a:rPr lang="pl-PL" altLang="pl-PL" sz="4400"/>
              <a:t>§  1.</a:t>
            </a:r>
          </a:p>
          <a:p>
            <a:r>
              <a:rPr lang="pl-PL" altLang="pl-PL" sz="4400"/>
              <a:t> Przewodniczący kieruje rozprawą i czuwa nad jej prawidłowym przebiegiem, </a:t>
            </a:r>
            <a:r>
              <a:rPr lang="pl-PL" altLang="pl-PL" sz="4400" b="1">
                <a:solidFill>
                  <a:srgbClr val="FF3300"/>
                </a:solidFill>
              </a:rPr>
              <a:t>bacząc, aby zostały wyjaśnione wszystkie istotne okoliczności sprawy.</a:t>
            </a:r>
          </a:p>
          <a:p>
            <a:pPr>
              <a:buFont typeface="Wingdings" panose="05000000000000000000" pitchFamily="2" charset="2"/>
              <a:buNone/>
            </a:pPr>
            <a:endParaRPr lang="pl-PL" altLang="pl-PL"/>
          </a:p>
        </p:txBody>
      </p:sp>
    </p:spTree>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15190E48-B246-61D1-0594-63C09C33614E}"/>
              </a:ext>
            </a:extLst>
          </p:cNvPr>
          <p:cNvSpPr>
            <a:spLocks noGrp="1"/>
          </p:cNvSpPr>
          <p:nvPr>
            <p:ph idx="1"/>
          </p:nvPr>
        </p:nvSpPr>
        <p:spPr>
          <a:xfrm>
            <a:off x="-107950" y="260350"/>
            <a:ext cx="8794750" cy="6194425"/>
          </a:xfrm>
        </p:spPr>
        <p:txBody>
          <a:bodyPr>
            <a:normAutofit/>
          </a:bodyPr>
          <a:lstStyle/>
          <a:p>
            <a:pPr marL="0" indent="0">
              <a:buFont typeface="Wingdings" panose="05000000000000000000" pitchFamily="2" charset="2"/>
              <a:buNone/>
              <a:defRPr/>
            </a:pPr>
            <a:r>
              <a:rPr lang="pl-PL" dirty="0"/>
              <a:t> Wyrok Sądu Najwyższego z dnia 22 listopada 1974 r., IV KR 426/73</a:t>
            </a:r>
          </a:p>
          <a:p>
            <a:pPr>
              <a:defRPr/>
            </a:pPr>
            <a:r>
              <a:rPr lang="pl-PL" dirty="0"/>
              <a:t>Przepisu art. 334 § 1 k.p.k., zezwalającego w ściśle określonych warunkach na odstępstwo od zasady bezpośredniości, ze względu na jego charakter wyjątkowy </a:t>
            </a:r>
            <a:r>
              <a:rPr lang="pl-PL" b="1" dirty="0">
                <a:solidFill>
                  <a:srgbClr val="FF0000"/>
                </a:solidFill>
              </a:rPr>
              <a:t>nie można ani interpretować rozszerzająco, ani uzależniać jego wykładni od tego, czy w konkretnym wypadku wychodzi ona na korzyść, czy na niekorzyść oskarżonego.</a:t>
            </a:r>
            <a:r>
              <a:rPr lang="pl-PL" dirty="0"/>
              <a:t> Wykładnia bowiem każdego przepisu powinna być jednolita i mieć walor ogólnie obowiązujący, a nie zmienna i dostosowana każdorazowo do indywidualnego interesu danej strony. </a:t>
            </a:r>
          </a:p>
          <a:p>
            <a:pPr>
              <a:buFont typeface="Wingdings" panose="05000000000000000000" pitchFamily="2" charset="2"/>
              <a:buNone/>
              <a:defRPr/>
            </a:pPr>
            <a:endParaRPr lang="pl-PL" dirty="0"/>
          </a:p>
        </p:txBody>
      </p:sp>
    </p:spTree>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E36BEB7-B9BC-2FE5-E476-18859D5DB2DC}"/>
              </a:ext>
            </a:extLst>
          </p:cNvPr>
          <p:cNvSpPr>
            <a:spLocks noGrp="1"/>
          </p:cNvSpPr>
          <p:nvPr>
            <p:ph idx="1"/>
          </p:nvPr>
        </p:nvSpPr>
        <p:spPr>
          <a:xfrm>
            <a:off x="250825" y="692150"/>
            <a:ext cx="8569325" cy="6697663"/>
          </a:xfrm>
        </p:spPr>
        <p:txBody>
          <a:bodyPr>
            <a:normAutofit/>
          </a:bodyPr>
          <a:lstStyle/>
          <a:p>
            <a:pPr marL="0" indent="0">
              <a:buFont typeface="Wingdings" panose="05000000000000000000" pitchFamily="2" charset="2"/>
              <a:buNone/>
              <a:defRPr/>
            </a:pPr>
            <a:r>
              <a:rPr lang="pl-PL" b="1" dirty="0"/>
              <a:t>Wyrok Sądu Najwyższego z dnia 19 października 1979 r., </a:t>
            </a:r>
            <a:r>
              <a:rPr lang="pl-PL" b="1" dirty="0" err="1"/>
              <a:t>Rw</a:t>
            </a:r>
            <a:r>
              <a:rPr lang="pl-PL" b="1" dirty="0"/>
              <a:t> 335/79</a:t>
            </a:r>
          </a:p>
          <a:p>
            <a:pPr>
              <a:defRPr/>
            </a:pPr>
            <a:r>
              <a:rPr lang="pl-PL" dirty="0"/>
              <a:t>Jakkolwiek art. 334 § 1 k.p.k. nie statuuje powinności sądu co do odczytywania na rozprawie protokołów złożonych poprzednio przez oskarżonego wyjaśnień, </a:t>
            </a:r>
            <a:r>
              <a:rPr lang="pl-PL" b="1" dirty="0">
                <a:solidFill>
                  <a:srgbClr val="7030A0"/>
                </a:solidFill>
              </a:rPr>
              <a:t>jednakże możliwość, o której mowa w tym przepisie, przeistacza się w obowiązek sądu, zwłaszcza w sytuacji, gdy nieodczytanie wyjaśnień oskarżonego może prowadzić do niezgodnych z prawdą ustaleń faktycznych.</a:t>
            </a:r>
          </a:p>
          <a:p>
            <a:pPr>
              <a:buFont typeface="Wingdings" panose="05000000000000000000" pitchFamily="2" charset="2"/>
              <a:buNone/>
              <a:defRPr/>
            </a:pPr>
            <a:endParaRPr lang="pl-PL" dirty="0"/>
          </a:p>
        </p:txBody>
      </p:sp>
    </p:spTree>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EA8F0CF2-4F68-E3F8-B1D1-9675F5433343}"/>
              </a:ext>
            </a:extLst>
          </p:cNvPr>
          <p:cNvSpPr>
            <a:spLocks noGrp="1"/>
          </p:cNvSpPr>
          <p:nvPr>
            <p:ph idx="1"/>
          </p:nvPr>
        </p:nvSpPr>
        <p:spPr>
          <a:xfrm>
            <a:off x="107950" y="115888"/>
            <a:ext cx="8578850" cy="6742112"/>
          </a:xfrm>
        </p:spPr>
        <p:txBody>
          <a:bodyPr>
            <a:normAutofit lnSpcReduction="10000"/>
          </a:bodyPr>
          <a:lstStyle/>
          <a:p>
            <a:pPr marL="0" indent="0">
              <a:buFont typeface="Wingdings" panose="05000000000000000000" pitchFamily="2" charset="2"/>
              <a:buNone/>
              <a:defRPr/>
            </a:pPr>
            <a:r>
              <a:rPr lang="pl-PL" b="1" dirty="0"/>
              <a:t>Wyrok Sądu Najwyższego z dnia 6 października 1987 r., IV KR 263/87</a:t>
            </a:r>
          </a:p>
          <a:p>
            <a:pPr>
              <a:buFont typeface="Wingdings" panose="05000000000000000000" pitchFamily="2" charset="2"/>
              <a:buNone/>
              <a:defRPr/>
            </a:pPr>
            <a:r>
              <a:rPr lang="pl-PL" sz="3600" dirty="0"/>
              <a:t>Przepisy prawa procesowego nie wprowadzają rozróżnień w kwestii sposobu traktowania dowodów, w tym także wyjaśnień współoskarżonych, w zależności od tego, w jakim stadium postępowania zostały złożone. Konieczna natomiast jest wnikliwa, z zachowaniem należytego krytycyzmu, ocena zmienionych wyjaśnień, podobnie zresztą jak i innych dowodów mających znaczenie w sprawie.</a:t>
            </a:r>
          </a:p>
        </p:txBody>
      </p:sp>
    </p:spTree>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9986" name="Symbol zastępczy zawartości 2">
            <a:extLst>
              <a:ext uri="{FF2B5EF4-FFF2-40B4-BE49-F238E27FC236}">
                <a16:creationId xmlns:a16="http://schemas.microsoft.com/office/drawing/2014/main" id="{774FE803-E0B5-915F-3E52-5D8FDF0E5B9D}"/>
              </a:ext>
            </a:extLst>
          </p:cNvPr>
          <p:cNvSpPr>
            <a:spLocks noGrp="1" noChangeArrowheads="1"/>
          </p:cNvSpPr>
          <p:nvPr>
            <p:ph idx="1"/>
          </p:nvPr>
        </p:nvSpPr>
        <p:spPr>
          <a:xfrm>
            <a:off x="179388" y="1125538"/>
            <a:ext cx="8507412" cy="5329237"/>
          </a:xfrm>
        </p:spPr>
        <p:txBody>
          <a:bodyPr/>
          <a:lstStyle/>
          <a:p>
            <a:r>
              <a:rPr lang="pl-PL" altLang="pl-PL" sz="7200"/>
              <a:t>Odczytanie – kto decyduje? </a:t>
            </a:r>
          </a:p>
        </p:txBody>
      </p:sp>
    </p:spTree>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7EC3EC28-7E58-C542-8FDA-C113B89D7647}"/>
              </a:ext>
            </a:extLst>
          </p:cNvPr>
          <p:cNvSpPr>
            <a:spLocks noGrp="1"/>
          </p:cNvSpPr>
          <p:nvPr>
            <p:ph idx="1"/>
          </p:nvPr>
        </p:nvSpPr>
        <p:spPr>
          <a:xfrm>
            <a:off x="323850" y="188913"/>
            <a:ext cx="8362950" cy="6265862"/>
          </a:xfrm>
        </p:spPr>
        <p:txBody>
          <a:bodyPr>
            <a:normAutofit lnSpcReduction="10000"/>
          </a:bodyPr>
          <a:lstStyle/>
          <a:p>
            <a:pPr>
              <a:defRPr/>
            </a:pPr>
            <a:r>
              <a:rPr lang="pl-PL" sz="7200" dirty="0"/>
              <a:t>Postanowienie sądu, choć brak wskazania tej kwestii wprost. </a:t>
            </a:r>
          </a:p>
          <a:p>
            <a:pPr>
              <a:defRPr/>
            </a:pPr>
            <a:r>
              <a:rPr lang="pl-PL" sz="7200" dirty="0"/>
              <a:t>Art. 352 i 368 k.p.k.?</a:t>
            </a:r>
          </a:p>
        </p:txBody>
      </p:sp>
    </p:spTree>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5170025D-E215-E949-4489-E4A2DD0AC54E}"/>
              </a:ext>
            </a:extLst>
          </p:cNvPr>
          <p:cNvSpPr>
            <a:spLocks noGrp="1"/>
          </p:cNvSpPr>
          <p:nvPr>
            <p:ph idx="1"/>
          </p:nvPr>
        </p:nvSpPr>
        <p:spPr>
          <a:xfrm>
            <a:off x="179388" y="188913"/>
            <a:ext cx="8507412" cy="6265862"/>
          </a:xfrm>
        </p:spPr>
        <p:txBody>
          <a:bodyPr>
            <a:normAutofit fontScale="92500" lnSpcReduction="10000"/>
          </a:bodyPr>
          <a:lstStyle/>
          <a:p>
            <a:pPr marL="0" indent="0">
              <a:buFont typeface="Wingdings" panose="05000000000000000000" pitchFamily="2" charset="2"/>
              <a:buNone/>
              <a:defRPr/>
            </a:pPr>
            <a:r>
              <a:rPr lang="pl-PL" sz="4800" dirty="0"/>
              <a:t>Art.  368 k.p.k.</a:t>
            </a:r>
          </a:p>
          <a:p>
            <a:pPr marL="0" indent="0">
              <a:buFont typeface="Wingdings" panose="05000000000000000000" pitchFamily="2" charset="2"/>
              <a:buNone/>
              <a:defRPr/>
            </a:pPr>
            <a:r>
              <a:rPr lang="pl-PL" sz="4800" dirty="0"/>
              <a:t>§  1.</a:t>
            </a:r>
          </a:p>
          <a:p>
            <a:pPr>
              <a:defRPr/>
            </a:pPr>
            <a:r>
              <a:rPr lang="pl-PL" sz="4800" dirty="0"/>
              <a:t>O przychylnym załatwieniu wniosku dowodowego strony, któremu inna strona nie sprzeciwiła się, rozstrzyga ostatecznie przewodniczący; w innych wypadkach sąd wydaje postanowienie.</a:t>
            </a:r>
          </a:p>
          <a:p>
            <a:pPr marL="0" indent="0">
              <a:buFont typeface="Wingdings" panose="05000000000000000000" pitchFamily="2" charset="2"/>
              <a:buNone/>
              <a:defRPr/>
            </a:pPr>
            <a:endParaRPr lang="pl-PL" sz="7200" dirty="0"/>
          </a:p>
        </p:txBody>
      </p:sp>
    </p:spTree>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8DC93EFF-3CC9-E121-7A29-78162CDDD9C7}"/>
              </a:ext>
            </a:extLst>
          </p:cNvPr>
          <p:cNvSpPr>
            <a:spLocks noGrp="1"/>
          </p:cNvSpPr>
          <p:nvPr>
            <p:ph idx="1"/>
          </p:nvPr>
        </p:nvSpPr>
        <p:spPr>
          <a:xfrm>
            <a:off x="179388" y="188913"/>
            <a:ext cx="8507412" cy="6265862"/>
          </a:xfrm>
        </p:spPr>
        <p:txBody>
          <a:bodyPr>
            <a:normAutofit lnSpcReduction="10000"/>
          </a:bodyPr>
          <a:lstStyle/>
          <a:p>
            <a:pPr>
              <a:defRPr/>
            </a:pPr>
            <a:r>
              <a:rPr lang="pl-PL" sz="4800" dirty="0"/>
              <a:t>Art.  352 k.p.k.</a:t>
            </a:r>
          </a:p>
          <a:p>
            <a:pPr>
              <a:defRPr/>
            </a:pPr>
            <a:r>
              <a:rPr lang="pl-PL" sz="4800" dirty="0"/>
              <a:t> Przewodniczący składu orzekającego po rozważeniu wniosków stron albo sąd z urzędu dopuszcza dowody, a przewodniczący zarządza ich sprowadzenie na rozprawę. Przepis art. 368 § 1 stosuje się odpowiednio.</a:t>
            </a:r>
          </a:p>
          <a:p>
            <a:pPr marL="0" indent="0">
              <a:buFont typeface="Wingdings" panose="05000000000000000000" pitchFamily="2" charset="2"/>
              <a:buNone/>
              <a:defRPr/>
            </a:pPr>
            <a:endParaRPr lang="pl-PL" sz="7200" dirty="0"/>
          </a:p>
        </p:txBody>
      </p:sp>
    </p:spTree>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9446C6F8-5304-A204-871C-7008F5BF37A5}"/>
              </a:ext>
            </a:extLst>
          </p:cNvPr>
          <p:cNvSpPr>
            <a:spLocks noGrp="1"/>
          </p:cNvSpPr>
          <p:nvPr>
            <p:ph idx="1"/>
          </p:nvPr>
        </p:nvSpPr>
        <p:spPr>
          <a:xfrm>
            <a:off x="107950" y="115888"/>
            <a:ext cx="8578850" cy="6842125"/>
          </a:xfrm>
        </p:spPr>
        <p:txBody>
          <a:bodyPr>
            <a:normAutofit fontScale="85000" lnSpcReduction="20000"/>
          </a:bodyPr>
          <a:lstStyle/>
          <a:p>
            <a:pPr marL="0" indent="0">
              <a:buFont typeface="Wingdings" panose="05000000000000000000" pitchFamily="2" charset="2"/>
              <a:buNone/>
              <a:defRPr/>
            </a:pPr>
            <a:r>
              <a:rPr lang="pl-PL" b="1" dirty="0">
                <a:solidFill>
                  <a:srgbClr val="7030A0"/>
                </a:solidFill>
              </a:rPr>
              <a:t>Jeśli aktualizują się warunki z art. 389 par. 1 k.p.k. w sytuacji, gdy oskarżony stawił się na rozprawę, to jeśli nie odczytano wyjaśnień – naruszenie art. 410 k.p.k.,  nie działa dyspozycja art. 405 par. 2 i 3 k.p.k. </a:t>
            </a:r>
          </a:p>
          <a:p>
            <a:pPr>
              <a:defRPr/>
            </a:pPr>
            <a:r>
              <a:rPr lang="pl-PL" dirty="0"/>
              <a:t>Art. 405 §  2 k.p.k. </a:t>
            </a:r>
          </a:p>
          <a:p>
            <a:pPr>
              <a:defRPr/>
            </a:pPr>
            <a:r>
              <a:rPr lang="pl-PL" dirty="0"/>
              <a:t> Z chwilą zamknięcia przewodu sądowego ujawnione są bez odczytywania wszystkie protokoły i dokumenty podlegające odczytaniu na rozprawie, które nie zostały odczytane.</a:t>
            </a:r>
          </a:p>
          <a:p>
            <a:pPr>
              <a:defRPr/>
            </a:pPr>
            <a:r>
              <a:rPr lang="pl-PL" dirty="0"/>
              <a:t>§  3.</a:t>
            </a:r>
          </a:p>
          <a:p>
            <a:pPr>
              <a:defRPr/>
            </a:pPr>
            <a:r>
              <a:rPr lang="pl-PL" dirty="0"/>
              <a:t> Protokołami i dokumentami, o których mowa w § 2, są protokoły i dokumenty:</a:t>
            </a:r>
          </a:p>
          <a:p>
            <a:pPr>
              <a:defRPr/>
            </a:pPr>
            <a:r>
              <a:rPr lang="pl-PL" dirty="0"/>
              <a:t>1)</a:t>
            </a:r>
          </a:p>
          <a:p>
            <a:pPr>
              <a:defRPr/>
            </a:pPr>
            <a:r>
              <a:rPr lang="pl-PL" dirty="0"/>
              <a:t>wskazane przez oskarżyciela w akcie oskarżenia jako dowody, których przeprowadzenia na rozprawie głównej się on domaga, z wyjątkiem tych, co do których sąd oddalił wniosek dowodowy;</a:t>
            </a:r>
          </a:p>
          <a:p>
            <a:pPr>
              <a:defRPr/>
            </a:pPr>
            <a:r>
              <a:rPr lang="pl-PL" dirty="0"/>
              <a:t>2)</a:t>
            </a:r>
          </a:p>
          <a:p>
            <a:pPr>
              <a:defRPr/>
            </a:pPr>
            <a:r>
              <a:rPr lang="pl-PL" dirty="0"/>
              <a:t>wskazane we wniosku dowodowym strony, który został uwzględniony;</a:t>
            </a:r>
          </a:p>
          <a:p>
            <a:pPr>
              <a:defRPr/>
            </a:pPr>
            <a:r>
              <a:rPr lang="pl-PL" dirty="0"/>
              <a:t>3)</a:t>
            </a:r>
          </a:p>
          <a:p>
            <a:pPr>
              <a:defRPr/>
            </a:pPr>
            <a:r>
              <a:rPr lang="pl-PL" dirty="0"/>
              <a:t>dopuszczone przez sąd z urzędu.</a:t>
            </a:r>
          </a:p>
          <a:p>
            <a:pPr marL="0" indent="0">
              <a:buFont typeface="Wingdings" panose="05000000000000000000" pitchFamily="2" charset="2"/>
              <a:buNone/>
              <a:defRPr/>
            </a:pPr>
            <a:endParaRPr lang="pl-PL" dirty="0"/>
          </a:p>
        </p:txBody>
      </p:sp>
    </p:spTree>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EBE6455C-48F1-8CC1-F947-4C746B8CA95A}"/>
              </a:ext>
            </a:extLst>
          </p:cNvPr>
          <p:cNvSpPr>
            <a:spLocks noGrp="1"/>
          </p:cNvSpPr>
          <p:nvPr>
            <p:ph idx="1"/>
          </p:nvPr>
        </p:nvSpPr>
        <p:spPr>
          <a:xfrm>
            <a:off x="179388" y="260350"/>
            <a:ext cx="8507412" cy="6985000"/>
          </a:xfrm>
        </p:spPr>
        <p:txBody>
          <a:bodyPr>
            <a:normAutofit fontScale="92500" lnSpcReduction="10000"/>
          </a:bodyPr>
          <a:lstStyle/>
          <a:p>
            <a:pPr marL="0" indent="0">
              <a:buFont typeface="Wingdings" panose="05000000000000000000" pitchFamily="2" charset="2"/>
              <a:buNone/>
              <a:defRPr/>
            </a:pPr>
            <a:r>
              <a:rPr lang="pl-PL" dirty="0"/>
              <a:t>Art. 389 par. 2 k.p.k. nakazujący odczytanie protokołu w celu zwrócenia się do oskarżonego o wypowiedzenie się co do jego treści jest </a:t>
            </a:r>
            <a:r>
              <a:rPr lang="pl-PL" i="1" dirty="0"/>
              <a:t>lex </a:t>
            </a:r>
            <a:r>
              <a:rPr lang="pl-PL" i="1" dirty="0" err="1"/>
              <a:t>specialis</a:t>
            </a:r>
            <a:r>
              <a:rPr lang="pl-PL" dirty="0"/>
              <a:t> w stosunku do art. 394 par. 2 k.p.k. Wykładnia systemowa prowadzi zatem do stwierdzenia, że art. 394 par. 2 k.p.k. reguluje </a:t>
            </a:r>
            <a:r>
              <a:rPr lang="pl-PL" b="1" dirty="0">
                <a:solidFill>
                  <a:srgbClr val="FF3300"/>
                </a:solidFill>
              </a:rPr>
              <a:t>tylko taką sytuację, w której odczytanie protokołu przesłuchania następuje w związku z niestawiennictwem oskarżonego na rozprawę.</a:t>
            </a:r>
          </a:p>
          <a:p>
            <a:pPr>
              <a:defRPr/>
            </a:pPr>
            <a:r>
              <a:rPr lang="pl-PL" dirty="0"/>
              <a:t>Art.  394 k.p.k.</a:t>
            </a:r>
          </a:p>
          <a:p>
            <a:pPr>
              <a:defRPr/>
            </a:pPr>
            <a:r>
              <a:rPr lang="pl-PL" dirty="0"/>
              <a:t>§  2.</a:t>
            </a:r>
          </a:p>
          <a:p>
            <a:pPr>
              <a:defRPr/>
            </a:pPr>
            <a:r>
              <a:rPr lang="pl-PL" dirty="0"/>
              <a:t> Protokoły i dokumenty podlegające odczytaniu na rozprawie odczytuje się:</a:t>
            </a:r>
          </a:p>
          <a:p>
            <a:pPr>
              <a:defRPr/>
            </a:pPr>
            <a:r>
              <a:rPr lang="pl-PL" dirty="0"/>
              <a:t>1)</a:t>
            </a:r>
          </a:p>
          <a:p>
            <a:pPr>
              <a:defRPr/>
            </a:pPr>
            <a:r>
              <a:rPr lang="pl-PL" dirty="0"/>
              <a:t>na wniosek strony, która nie miała możliwości zapoznania się z ich treścią; przepis art. 392 § 2 stosuje się odpowiednio, lub</a:t>
            </a:r>
          </a:p>
          <a:p>
            <a:pPr>
              <a:defRPr/>
            </a:pPr>
            <a:r>
              <a:rPr lang="pl-PL" dirty="0"/>
              <a:t>2)</a:t>
            </a:r>
          </a:p>
          <a:p>
            <a:pPr>
              <a:defRPr/>
            </a:pPr>
            <a:r>
              <a:rPr lang="pl-PL" dirty="0"/>
              <a:t>gdy sąd uzna to za niezbędne.</a:t>
            </a:r>
          </a:p>
          <a:p>
            <a:pPr marL="0" indent="0">
              <a:buFont typeface="Wingdings" panose="05000000000000000000" pitchFamily="2" charset="2"/>
              <a:buNone/>
              <a:defRPr/>
            </a:pPr>
            <a:endParaRPr lang="pl-PL" b="1" dirty="0">
              <a:solidFill>
                <a:srgbClr val="FF3300"/>
              </a:solidFill>
            </a:endParaRPr>
          </a:p>
        </p:txBody>
      </p:sp>
    </p:spTree>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6130" name="Symbol zastępczy zawartości 2">
            <a:extLst>
              <a:ext uri="{FF2B5EF4-FFF2-40B4-BE49-F238E27FC236}">
                <a16:creationId xmlns:a16="http://schemas.microsoft.com/office/drawing/2014/main" id="{6F39DC70-6FE0-5281-3CCD-E363CBC375B5}"/>
              </a:ext>
            </a:extLst>
          </p:cNvPr>
          <p:cNvSpPr>
            <a:spLocks noGrp="1" noChangeArrowheads="1"/>
          </p:cNvSpPr>
          <p:nvPr>
            <p:ph idx="1"/>
          </p:nvPr>
        </p:nvSpPr>
        <p:spPr>
          <a:xfrm>
            <a:off x="179388" y="115888"/>
            <a:ext cx="8507412" cy="7129462"/>
          </a:xfrm>
        </p:spPr>
        <p:txBody>
          <a:bodyPr/>
          <a:lstStyle/>
          <a:p>
            <a:pPr marL="0" indent="0">
              <a:buFont typeface="Wingdings" panose="05000000000000000000" pitchFamily="2" charset="2"/>
              <a:buNone/>
            </a:pPr>
            <a:r>
              <a:rPr lang="pl-PL" altLang="pl-PL" b="1">
                <a:solidFill>
                  <a:srgbClr val="C00000"/>
                </a:solidFill>
              </a:rPr>
              <a:t>Postanowienie Sądu Najwyższego z dnia 22 czerwca 2022 r., V KK 171/22</a:t>
            </a:r>
          </a:p>
          <a:p>
            <a:pPr marL="0" indent="0">
              <a:buFont typeface="Wingdings" panose="05000000000000000000" pitchFamily="2" charset="2"/>
              <a:buNone/>
            </a:pPr>
            <a:r>
              <a:rPr lang="pl-PL" altLang="pl-PL"/>
              <a:t>Ujawnienie w trybie art. 405 § 2 k.p.k. protokołów bez odczytywania z chwilą zamknięcia przewodu sądowego może nastąpić tylko w stosunku do takich, które zostały wskazane w art. 405 § 3 k.p.k. W wypadku protokołów przesłuchania oskarżonego oraz świadka, o których mowa w art. 389 § 1 k.p.k., art. 391 § 1 i 2 k.p.k. i art. 392 § 1 k.p.k., ujawnienie tych dokumentów na rozprawie jest dopuszczalne pod warunkiem spełnienia przesłanek określonych w tych przepisach. </a:t>
            </a:r>
            <a:endParaRPr lang="pl-PL" altLang="pl-PL" b="1">
              <a:solidFill>
                <a:srgbClr val="FF3300"/>
              </a:solidFill>
            </a:endParaRPr>
          </a:p>
        </p:txBody>
      </p:sp>
    </p:spTree>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7154" name="Symbol zastępczy zawartości 2">
            <a:extLst>
              <a:ext uri="{FF2B5EF4-FFF2-40B4-BE49-F238E27FC236}">
                <a16:creationId xmlns:a16="http://schemas.microsoft.com/office/drawing/2014/main" id="{544A009B-CCE1-4C34-5961-BD851C9DDC5F}"/>
              </a:ext>
            </a:extLst>
          </p:cNvPr>
          <p:cNvSpPr>
            <a:spLocks noGrp="1" noChangeArrowheads="1"/>
          </p:cNvSpPr>
          <p:nvPr>
            <p:ph idx="1"/>
          </p:nvPr>
        </p:nvSpPr>
        <p:spPr>
          <a:xfrm>
            <a:off x="179388" y="115888"/>
            <a:ext cx="8507412" cy="7129462"/>
          </a:xfrm>
        </p:spPr>
        <p:txBody>
          <a:bodyPr/>
          <a:lstStyle/>
          <a:p>
            <a:pPr marL="0" indent="0">
              <a:buFont typeface="Wingdings" panose="05000000000000000000" pitchFamily="2" charset="2"/>
              <a:buNone/>
            </a:pPr>
            <a:r>
              <a:rPr lang="pl-PL" altLang="pl-PL" sz="4000"/>
              <a:t>c.d. W razie niestawiennictwa oskarżonego na rozprawę (art. 389 § 1 in princ. i § 3 k.p.k.) albo odstąpienia od bezpośredniego przesłuchania świadka na podstawie art. 391 § 1 k.p.k. albo art. 392 § 1 k.p.k., ujawnienie protokołów ich przesłuchania przez odczytanie następuje tylko wtedy, gdy wystąpi jedna z podstaw wskazanych w art. 394 § 2 k.p.k.</a:t>
            </a:r>
            <a:endParaRPr lang="pl-PL" altLang="pl-PL" sz="4000" b="1">
              <a:solidFill>
                <a:srgbClr val="FF3300"/>
              </a:solidFill>
            </a:endParaRPr>
          </a:p>
        </p:txBody>
      </p:sp>
    </p:spTree>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8178" name="Symbol zastępczy zawartości 2">
            <a:extLst>
              <a:ext uri="{FF2B5EF4-FFF2-40B4-BE49-F238E27FC236}">
                <a16:creationId xmlns:a16="http://schemas.microsoft.com/office/drawing/2014/main" id="{CA8EE308-CD1A-4916-A887-4F5D60634B40}"/>
              </a:ext>
            </a:extLst>
          </p:cNvPr>
          <p:cNvSpPr>
            <a:spLocks noGrp="1" noChangeArrowheads="1"/>
          </p:cNvSpPr>
          <p:nvPr>
            <p:ph idx="1"/>
          </p:nvPr>
        </p:nvSpPr>
        <p:spPr>
          <a:xfrm>
            <a:off x="179388" y="115888"/>
            <a:ext cx="8507412" cy="6553200"/>
          </a:xfrm>
        </p:spPr>
        <p:txBody>
          <a:bodyPr/>
          <a:lstStyle/>
          <a:p>
            <a:pPr marL="0" indent="0">
              <a:buFont typeface="Wingdings" panose="05000000000000000000" pitchFamily="2" charset="2"/>
              <a:buNone/>
            </a:pPr>
            <a:r>
              <a:rPr lang="pl-PL" altLang="pl-PL"/>
              <a:t>c.d.</a:t>
            </a:r>
          </a:p>
          <a:p>
            <a:pPr marL="0" indent="0">
              <a:buFont typeface="Wingdings" panose="05000000000000000000" pitchFamily="2" charset="2"/>
              <a:buNone/>
            </a:pPr>
            <a:r>
              <a:rPr lang="pl-PL" altLang="pl-PL" sz="3200"/>
              <a:t>Jeżeli żadna z nich nie zachodzi, to objęcie tych protokołów mechanizmem ujawnienia bez odczytywania przewidzianym w art. 405 § 2 k.p.k., wymaga z kolei spełnienia warunków zawartych w art. 405 § 3 k.p.k. W sytuacji, gdy oskarżyciel w akcie oskarżenia żądał bezpośredniego przesłuchania oskarżonego i świadków (art. 333 § 1 pkt 1 k.p.k.), protokoły ich przesłuchania nie są dowodami, których przeprowadzenia na rozprawie głównej się on domaga (art. 405 § 3 pkt 1 k.p.k.). </a:t>
            </a:r>
            <a:endParaRPr lang="pl-PL" altLang="pl-PL" sz="3200" b="1">
              <a:solidFill>
                <a:srgbClr val="FF3300"/>
              </a:solidFill>
            </a:endParaRPr>
          </a:p>
        </p:txBody>
      </p:sp>
    </p:spTree>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9202" name="Symbol zastępczy zawartości 2">
            <a:extLst>
              <a:ext uri="{FF2B5EF4-FFF2-40B4-BE49-F238E27FC236}">
                <a16:creationId xmlns:a16="http://schemas.microsoft.com/office/drawing/2014/main" id="{64A96F21-30E6-2000-B314-F46F332A4035}"/>
              </a:ext>
            </a:extLst>
          </p:cNvPr>
          <p:cNvSpPr>
            <a:spLocks noGrp="1" noChangeArrowheads="1"/>
          </p:cNvSpPr>
          <p:nvPr>
            <p:ph idx="1"/>
          </p:nvPr>
        </p:nvSpPr>
        <p:spPr>
          <a:xfrm>
            <a:off x="107950" y="0"/>
            <a:ext cx="8578850" cy="7245350"/>
          </a:xfrm>
        </p:spPr>
        <p:txBody>
          <a:bodyPr/>
          <a:lstStyle/>
          <a:p>
            <a:pPr marL="0" indent="0">
              <a:buFont typeface="Wingdings" panose="05000000000000000000" pitchFamily="2" charset="2"/>
              <a:buNone/>
            </a:pPr>
            <a:r>
              <a:rPr lang="pl-PL" altLang="pl-PL" sz="3600"/>
              <a:t>c.d.</a:t>
            </a:r>
          </a:p>
          <a:p>
            <a:pPr marL="0" indent="0">
              <a:buFont typeface="Wingdings" panose="05000000000000000000" pitchFamily="2" charset="2"/>
              <a:buNone/>
            </a:pPr>
            <a:r>
              <a:rPr lang="pl-PL" altLang="pl-PL" sz="3600" b="1">
                <a:solidFill>
                  <a:srgbClr val="FF3300"/>
                </a:solidFill>
              </a:rPr>
              <a:t>Konieczne jest zatem wydanie z urzędu decyzji o dopuszczeniu dowodu z protokołu zamiast bezpośredniego przesłuchania oskarżonego lub świadka, która to decyzja pozwala dopiero na zastosowanie trybu uregulowanego w art. 405 § 2 k.p.k. w zw. z art. 405 § 3 pkt 3 k.p.k.</a:t>
            </a:r>
          </a:p>
        </p:txBody>
      </p:sp>
    </p:spTree>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9E70159A-B772-7BB3-1709-EEF9C8B7DCB3}"/>
              </a:ext>
            </a:extLst>
          </p:cNvPr>
          <p:cNvSpPr>
            <a:spLocks noGrp="1"/>
          </p:cNvSpPr>
          <p:nvPr>
            <p:ph idx="1"/>
          </p:nvPr>
        </p:nvSpPr>
        <p:spPr>
          <a:xfrm>
            <a:off x="35496" y="0"/>
            <a:ext cx="8651304" cy="7245350"/>
          </a:xfrm>
        </p:spPr>
        <p:txBody>
          <a:bodyPr>
            <a:normAutofit fontScale="92500" lnSpcReduction="10000"/>
          </a:bodyPr>
          <a:lstStyle/>
          <a:p>
            <a:pPr>
              <a:buFont typeface="Wingdings" panose="05000000000000000000" pitchFamily="2" charset="2"/>
              <a:buNone/>
              <a:defRPr/>
            </a:pPr>
            <a:r>
              <a:rPr lang="pl-PL" sz="2400" dirty="0"/>
              <a:t>Odczytujemy protokół przesłuchania, który spełnia wymogi formalne (ustawowe), w tym jest podpisany. </a:t>
            </a:r>
          </a:p>
          <a:p>
            <a:pPr>
              <a:defRPr/>
            </a:pPr>
            <a:r>
              <a:rPr lang="pl-PL" sz="2400" dirty="0"/>
              <a:t>Art.  149 k.p.k.</a:t>
            </a:r>
          </a:p>
          <a:p>
            <a:pPr>
              <a:defRPr/>
            </a:pPr>
            <a:r>
              <a:rPr lang="pl-PL" sz="2400" dirty="0"/>
              <a:t>§  1.</a:t>
            </a:r>
          </a:p>
          <a:p>
            <a:pPr>
              <a:defRPr/>
            </a:pPr>
            <a:r>
              <a:rPr lang="pl-PL" sz="2400" dirty="0"/>
              <a:t> Protokół rozprawy oraz posiedzenia podpisują niezwłocznie przewodniczący i protokolant.</a:t>
            </a:r>
          </a:p>
          <a:p>
            <a:pPr>
              <a:defRPr/>
            </a:pPr>
            <a:r>
              <a:rPr lang="pl-PL" sz="2400" dirty="0"/>
              <a:t>§  3.</a:t>
            </a:r>
          </a:p>
          <a:p>
            <a:pPr>
              <a:defRPr/>
            </a:pPr>
            <a:r>
              <a:rPr lang="pl-PL" sz="2400" dirty="0"/>
              <a:t> Jeżeli przewodniczący nie może podpisać protokołu, protokół podpisuje za niego jeden z członków składu orzekającego, zaznaczając przyczynę braku podpisu przewodniczącego.</a:t>
            </a:r>
          </a:p>
          <a:p>
            <a:pPr>
              <a:defRPr/>
            </a:pPr>
            <a:r>
              <a:rPr lang="pl-PL" sz="2400" dirty="0"/>
              <a:t>Art.  150 k.p.k.</a:t>
            </a:r>
          </a:p>
          <a:p>
            <a:pPr>
              <a:defRPr/>
            </a:pPr>
            <a:r>
              <a:rPr lang="pl-PL" sz="2400" dirty="0"/>
              <a:t>§  1.</a:t>
            </a:r>
          </a:p>
          <a:p>
            <a:pPr>
              <a:defRPr/>
            </a:pPr>
            <a:r>
              <a:rPr lang="pl-PL" sz="2400" dirty="0"/>
              <a:t> Z wyjątkiem protokołu rozprawy lub posiedzenia protokół podpisują osoby biorące udział w czynności. Przed podpisaniem należy go odczytać i uczynić o tym wzmiankę.</a:t>
            </a:r>
          </a:p>
          <a:p>
            <a:pPr>
              <a:defRPr/>
            </a:pPr>
            <a:r>
              <a:rPr lang="pl-PL" sz="2400" dirty="0"/>
              <a:t>§  2.</a:t>
            </a:r>
          </a:p>
          <a:p>
            <a:pPr>
              <a:defRPr/>
            </a:pPr>
            <a:r>
              <a:rPr lang="pl-PL" sz="2400" dirty="0"/>
              <a:t> Osoba uczestnicząca w czynności może podpisując protokół zgłosić jednocześnie zarzuty co do jego treści; zarzuty te należy wciągnąć do protokołu wraz z oświadczeniem osoby wykonującej czynność protokołowaną.</a:t>
            </a:r>
          </a:p>
          <a:p>
            <a:pPr marL="0" indent="0">
              <a:buFont typeface="Wingdings" panose="05000000000000000000" pitchFamily="2" charset="2"/>
              <a:buNone/>
              <a:defRPr/>
            </a:pPr>
            <a:endParaRPr lang="pl-PL" b="1" dirty="0">
              <a:solidFill>
                <a:srgbClr val="FF3300"/>
              </a:solidFill>
            </a:endParaRPr>
          </a:p>
        </p:txBody>
      </p:sp>
    </p:spTree>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34A68EB5-FEAE-CC92-7B31-C443740AAA1D}"/>
              </a:ext>
            </a:extLst>
          </p:cNvPr>
          <p:cNvSpPr>
            <a:spLocks noGrp="1"/>
          </p:cNvSpPr>
          <p:nvPr>
            <p:ph idx="1"/>
          </p:nvPr>
        </p:nvSpPr>
        <p:spPr>
          <a:xfrm>
            <a:off x="107950" y="0"/>
            <a:ext cx="8578850" cy="7245350"/>
          </a:xfrm>
        </p:spPr>
        <p:txBody>
          <a:bodyPr>
            <a:normAutofit/>
          </a:bodyPr>
          <a:lstStyle/>
          <a:p>
            <a:pPr>
              <a:defRPr/>
            </a:pPr>
            <a:r>
              <a:rPr lang="pl-PL" sz="4400" dirty="0"/>
              <a:t>Art.  151 k.p.k.</a:t>
            </a:r>
          </a:p>
          <a:p>
            <a:pPr>
              <a:defRPr/>
            </a:pPr>
            <a:r>
              <a:rPr lang="pl-PL" sz="4400" dirty="0"/>
              <a:t>§  2.</a:t>
            </a:r>
          </a:p>
          <a:p>
            <a:pPr>
              <a:defRPr/>
            </a:pPr>
            <a:r>
              <a:rPr lang="pl-PL" sz="4400" dirty="0"/>
              <a:t> Jeżeli protokół nie został należycie podpisany bezpośrednio po zakończeniu czynności, brakujące podpisy mogą być złożone później, ze wskazaniem daty ich złożenia i przyczyn opóźnienia.</a:t>
            </a:r>
          </a:p>
          <a:p>
            <a:pPr marL="0" indent="0">
              <a:buFont typeface="Wingdings" panose="05000000000000000000" pitchFamily="2" charset="2"/>
              <a:buNone/>
              <a:defRPr/>
            </a:pPr>
            <a:endParaRPr lang="pl-PL" b="1" dirty="0">
              <a:solidFill>
                <a:srgbClr val="FF3300"/>
              </a:solidFill>
            </a:endParaRPr>
          </a:p>
        </p:txBody>
      </p:sp>
    </p:spTree>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18D04756-BAFD-FB3B-7488-4B537C0A32F3}"/>
              </a:ext>
            </a:extLst>
          </p:cNvPr>
          <p:cNvSpPr>
            <a:spLocks noGrp="1"/>
          </p:cNvSpPr>
          <p:nvPr>
            <p:ph idx="1"/>
          </p:nvPr>
        </p:nvSpPr>
        <p:spPr>
          <a:xfrm>
            <a:off x="107950" y="0"/>
            <a:ext cx="8578850" cy="7245350"/>
          </a:xfrm>
        </p:spPr>
        <p:txBody>
          <a:bodyPr>
            <a:normAutofit/>
          </a:bodyPr>
          <a:lstStyle/>
          <a:p>
            <a:pPr marL="0" indent="0">
              <a:buFont typeface="Wingdings" panose="05000000000000000000" pitchFamily="2" charset="2"/>
              <a:buNone/>
              <a:defRPr/>
            </a:pPr>
            <a:r>
              <a:rPr lang="pl-PL" sz="4000" b="1" dirty="0"/>
              <a:t>Wyrok Sądu Najwyższego z dnia 10 lipca 1987 r., IV KR 220/87</a:t>
            </a:r>
          </a:p>
          <a:p>
            <a:pPr>
              <a:defRPr/>
            </a:pPr>
            <a:r>
              <a:rPr lang="pl-PL" sz="4000" dirty="0"/>
              <a:t>Świadek "zeznaje odmiennie" w rozumieniu art. 337 § 1 k.p.k. zwłaszcza wtedy, gdy zmienia wcześniejszą, </a:t>
            </a:r>
            <a:r>
              <a:rPr lang="pl-PL" sz="4000" b="1" dirty="0"/>
              <a:t>istotną dla rozstrzygnięcia sprawy</a:t>
            </a:r>
            <a:r>
              <a:rPr lang="pl-PL" sz="4000" dirty="0"/>
              <a:t>, treść swojej wypowiedzi, określając inaczej podane przedtem fakty, opisując je nie tak jak poprzednio.</a:t>
            </a:r>
          </a:p>
          <a:p>
            <a:pPr marL="0" indent="0">
              <a:buFont typeface="Wingdings" panose="05000000000000000000" pitchFamily="2" charset="2"/>
              <a:buNone/>
              <a:defRPr/>
            </a:pPr>
            <a:endParaRPr lang="pl-PL" b="1" dirty="0">
              <a:solidFill>
                <a:srgbClr val="FF3300"/>
              </a:solidFill>
            </a:endParaRPr>
          </a:p>
        </p:txBody>
      </p:sp>
    </p:spTree>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3298" name="Symbol zastępczy zawartości 2">
            <a:extLst>
              <a:ext uri="{FF2B5EF4-FFF2-40B4-BE49-F238E27FC236}">
                <a16:creationId xmlns:a16="http://schemas.microsoft.com/office/drawing/2014/main" id="{9B261E57-39CC-205B-3231-EEE81C1F9AF1}"/>
              </a:ext>
            </a:extLst>
          </p:cNvPr>
          <p:cNvSpPr>
            <a:spLocks noGrp="1" noChangeArrowheads="1"/>
          </p:cNvSpPr>
          <p:nvPr>
            <p:ph idx="1"/>
          </p:nvPr>
        </p:nvSpPr>
        <p:spPr>
          <a:xfrm>
            <a:off x="107950" y="115888"/>
            <a:ext cx="8578850" cy="6338887"/>
          </a:xfrm>
        </p:spPr>
        <p:txBody>
          <a:bodyPr>
            <a:normAutofit lnSpcReduction="10000"/>
          </a:bodyPr>
          <a:lstStyle/>
          <a:p>
            <a:r>
              <a:rPr lang="pl-PL" altLang="pl-PL" sz="4400"/>
              <a:t>Odniesienie się do uprzednio odczytanych wyjaśnień </a:t>
            </a:r>
          </a:p>
          <a:p>
            <a:r>
              <a:rPr lang="pl-PL" altLang="pl-PL" sz="4400"/>
              <a:t>Art. 389 §  2 k.p.k. </a:t>
            </a:r>
          </a:p>
          <a:p>
            <a:r>
              <a:rPr lang="pl-PL" altLang="pl-PL" sz="4400"/>
              <a:t> Po odczytaniu protokołu przewodniczący zwraca się do oskarżonego o wypowiedzenie się co do jego treści </a:t>
            </a:r>
            <a:r>
              <a:rPr lang="pl-PL" altLang="pl-PL" sz="4400" b="1">
                <a:solidFill>
                  <a:srgbClr val="FF0000"/>
                </a:solidFill>
              </a:rPr>
              <a:t>i </a:t>
            </a:r>
            <a:r>
              <a:rPr lang="pl-PL" altLang="pl-PL" sz="4400"/>
              <a:t>o wyjaśnienie zachodzących sprzeczności.</a:t>
            </a:r>
          </a:p>
        </p:txBody>
      </p:sp>
    </p:spTree>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76E42D0E-F3FD-151C-6307-55011071F855}"/>
              </a:ext>
            </a:extLst>
          </p:cNvPr>
          <p:cNvSpPr>
            <a:spLocks noGrp="1"/>
          </p:cNvSpPr>
          <p:nvPr>
            <p:ph idx="1"/>
          </p:nvPr>
        </p:nvSpPr>
        <p:spPr>
          <a:xfrm>
            <a:off x="107950" y="115888"/>
            <a:ext cx="8578850" cy="6338887"/>
          </a:xfrm>
        </p:spPr>
        <p:txBody>
          <a:bodyPr>
            <a:normAutofit fontScale="92500" lnSpcReduction="20000"/>
          </a:bodyPr>
          <a:lstStyle/>
          <a:p>
            <a:pPr marL="0" indent="0">
              <a:buFont typeface="Wingdings" panose="05000000000000000000" pitchFamily="2" charset="2"/>
              <a:buNone/>
              <a:defRPr/>
            </a:pPr>
            <a:r>
              <a:rPr lang="pl-PL" b="1" dirty="0"/>
              <a:t>Wyrok Sądu Najwyższego z dnia 14 marca 1974 r., II KR 311/73</a:t>
            </a:r>
          </a:p>
          <a:p>
            <a:pPr>
              <a:defRPr/>
            </a:pPr>
            <a:r>
              <a:rPr lang="pl-PL" dirty="0"/>
              <a:t>Przepis art. 334 § 2 k.p.k. nakłada na przewodniczącego rozprawy obowiązek wezwania oskarżonego do wypowiedzenia się co do treści ujawnionych jego wyjaśnień. W ten sposób oskarżony ma możność wytłumaczenia powodów zmiany swoich wyjaśnień, co pozwala sądowi na właściwą ocenę tych powodów, a w konsekwencji na ocenę, które z wyjaśnień są wiarygodne. Rola sądu nie powinna przy tym sprowadzać się do biernego wysłuchania oskarżonego co do powodów zmiany jego wyjaśnień, lecz </a:t>
            </a:r>
            <a:r>
              <a:rPr lang="pl-PL" b="1" dirty="0">
                <a:solidFill>
                  <a:srgbClr val="C00000"/>
                </a:solidFill>
              </a:rPr>
              <a:t>do szczegółowego pytania oskarżonego co do istotnych okoliczności, które wynikają z ujawnionych wyjaśnień. Dopiero szczegółowe pytanie oskarżonego co do powodów zmiany wyjaśnień z jednoczesnym ich przypomnieniem (ujawnieniem) daje sądowi możność dokonania właściwej oceny ich wiarygodności.</a:t>
            </a:r>
          </a:p>
        </p:txBody>
      </p:sp>
    </p:spTree>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C30EE8C2-7F73-A373-C778-784F14A9C4B3}"/>
              </a:ext>
            </a:extLst>
          </p:cNvPr>
          <p:cNvSpPr>
            <a:spLocks noGrp="1"/>
          </p:cNvSpPr>
          <p:nvPr>
            <p:ph idx="1"/>
          </p:nvPr>
        </p:nvSpPr>
        <p:spPr>
          <a:xfrm>
            <a:off x="-7938" y="188913"/>
            <a:ext cx="8580438" cy="6337300"/>
          </a:xfrm>
        </p:spPr>
        <p:txBody>
          <a:bodyPr>
            <a:normAutofit fontScale="77500" lnSpcReduction="20000"/>
          </a:bodyPr>
          <a:lstStyle/>
          <a:p>
            <a:pPr>
              <a:defRPr/>
            </a:pPr>
            <a:r>
              <a:rPr lang="pl-PL" b="1" dirty="0">
                <a:solidFill>
                  <a:srgbClr val="C00000"/>
                </a:solidFill>
              </a:rPr>
              <a:t>Art.  370 k.p.k.</a:t>
            </a:r>
          </a:p>
          <a:p>
            <a:pPr>
              <a:defRPr/>
            </a:pPr>
            <a:r>
              <a:rPr lang="pl-PL" dirty="0"/>
              <a:t>§  1.</a:t>
            </a:r>
          </a:p>
          <a:p>
            <a:pPr>
              <a:defRPr/>
            </a:pPr>
            <a:r>
              <a:rPr lang="pl-PL" dirty="0"/>
              <a:t> Po swobodnym wypowiedzeniu się osoby przesłuchiwanej na wezwanie przewodniczącego, stosownie do art. 171 § 1, mogą zadawać jej pytania w następującym porządku: oskarżyciel publiczny, oskarżyciel posiłkowy, pełnomocnik oskarżyciela posiłkowego, oskarżyciel prywatny, pełnomocnik oskarżyciela prywatnego, biegły, obrońca, oskarżony, członkowie składu orzekającego.</a:t>
            </a:r>
          </a:p>
          <a:p>
            <a:pPr>
              <a:defRPr/>
            </a:pPr>
            <a:r>
              <a:rPr lang="pl-PL" dirty="0"/>
              <a:t>§  2.</a:t>
            </a:r>
          </a:p>
          <a:p>
            <a:pPr>
              <a:defRPr/>
            </a:pPr>
            <a:r>
              <a:rPr lang="pl-PL" dirty="0"/>
              <a:t> Strona, na której wniosek świadek został dopuszczony, zadaje pytania przed pozostałymi stronami.</a:t>
            </a:r>
          </a:p>
          <a:p>
            <a:pPr>
              <a:defRPr/>
            </a:pPr>
            <a:r>
              <a:rPr lang="pl-PL" dirty="0"/>
              <a:t>§  2a.</a:t>
            </a:r>
          </a:p>
          <a:p>
            <a:pPr>
              <a:defRPr/>
            </a:pPr>
            <a:r>
              <a:rPr lang="pl-PL" dirty="0"/>
              <a:t> W razie potrzeby członkowie składu orzekającego mogą zadawać dodatkowe pytania poza kolejnością.</a:t>
            </a:r>
          </a:p>
          <a:p>
            <a:pPr>
              <a:defRPr/>
            </a:pPr>
            <a:r>
              <a:rPr lang="pl-PL" dirty="0"/>
              <a:t>§  3.</a:t>
            </a:r>
          </a:p>
          <a:p>
            <a:pPr>
              <a:defRPr/>
            </a:pPr>
            <a:r>
              <a:rPr lang="pl-PL" dirty="0"/>
              <a:t> W przypadku dopuszczenia dowodu z urzędu pytania jako pierwsi zadają członkowie składu orzekającego.</a:t>
            </a:r>
          </a:p>
          <a:p>
            <a:pPr>
              <a:defRPr/>
            </a:pPr>
            <a:r>
              <a:rPr lang="pl-PL" dirty="0"/>
              <a:t>§  4.</a:t>
            </a:r>
          </a:p>
          <a:p>
            <a:pPr>
              <a:defRPr/>
            </a:pPr>
            <a:r>
              <a:rPr lang="pl-PL" dirty="0"/>
              <a:t> Przewodniczący uchyla pytania, o których mowa w art. 171 § 6, lub gdy z innych powodów uznaje je za niestosowne.</a:t>
            </a:r>
          </a:p>
          <a:p>
            <a:pPr marL="0" indent="0">
              <a:buFont typeface="Wingdings" panose="05000000000000000000" pitchFamily="2" charset="2"/>
              <a:buNone/>
              <a:defRPr/>
            </a:pPr>
            <a:endParaRPr lang="pl-PL" b="1" dirty="0">
              <a:solidFill>
                <a:srgbClr val="C00000"/>
              </a:solidFill>
            </a:endParaRPr>
          </a:p>
        </p:txBody>
      </p:sp>
    </p:spTree>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82710CBF-7E96-5DD8-7F7F-2A2B760C3CC5}"/>
              </a:ext>
            </a:extLst>
          </p:cNvPr>
          <p:cNvSpPr>
            <a:spLocks noGrp="1"/>
          </p:cNvSpPr>
          <p:nvPr>
            <p:ph idx="1"/>
          </p:nvPr>
        </p:nvSpPr>
        <p:spPr>
          <a:xfrm>
            <a:off x="457200" y="115888"/>
            <a:ext cx="8229600" cy="6338887"/>
          </a:xfrm>
        </p:spPr>
        <p:txBody>
          <a:bodyPr>
            <a:normAutofit fontScale="77500" lnSpcReduction="20000"/>
          </a:bodyPr>
          <a:lstStyle/>
          <a:p>
            <a:pPr>
              <a:buFont typeface="Wingdings" panose="05000000000000000000" pitchFamily="2" charset="2"/>
              <a:buNone/>
              <a:defRPr/>
            </a:pPr>
            <a:r>
              <a:rPr lang="pl-PL" sz="6000" dirty="0"/>
              <a:t>Pytania stron, w którym momencie – przed czy po odczytaniu? Przed. </a:t>
            </a:r>
          </a:p>
          <a:p>
            <a:pPr>
              <a:buFont typeface="Wingdings" panose="05000000000000000000" pitchFamily="2" charset="2"/>
              <a:buNone/>
              <a:defRPr/>
            </a:pPr>
            <a:r>
              <a:rPr lang="pl-PL" sz="6000" dirty="0"/>
              <a:t>Pytanie o ustosunkowanie się do poprzednio złożonych i odczytanych wyjaśnień jeśli oświadcza, że odmawia ich składania oraz udzielania odpowiedzi na pytania?</a:t>
            </a:r>
          </a:p>
          <a:p>
            <a:pPr>
              <a:buFont typeface="Wingdings" panose="05000000000000000000" pitchFamily="2" charset="2"/>
              <a:buNone/>
              <a:defRPr/>
            </a:pPr>
            <a:r>
              <a:rPr lang="pl-PL" sz="6000" dirty="0"/>
              <a:t>Bezprzedmiotowe chyba, że… </a:t>
            </a:r>
          </a:p>
          <a:p>
            <a:pPr>
              <a:buFont typeface="Wingdings" panose="05000000000000000000" pitchFamily="2" charset="2"/>
              <a:buNone/>
              <a:defRPr/>
            </a:pPr>
            <a:endParaRPr lang="pl-PL" dirty="0"/>
          </a:p>
        </p:txBody>
      </p:sp>
    </p:spTree>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D6E1F85-E51E-6F7A-9B6E-42B45A90AA6E}"/>
              </a:ext>
            </a:extLst>
          </p:cNvPr>
          <p:cNvSpPr>
            <a:spLocks noGrp="1"/>
          </p:cNvSpPr>
          <p:nvPr>
            <p:ph idx="1"/>
          </p:nvPr>
        </p:nvSpPr>
        <p:spPr>
          <a:xfrm>
            <a:off x="107950" y="188913"/>
            <a:ext cx="8578850" cy="6265862"/>
          </a:xfrm>
        </p:spPr>
        <p:txBody>
          <a:bodyPr>
            <a:normAutofit/>
          </a:bodyPr>
          <a:lstStyle/>
          <a:p>
            <a:pPr>
              <a:buFont typeface="Wingdings" panose="05000000000000000000" pitchFamily="2" charset="2"/>
              <a:buNone/>
              <a:defRPr/>
            </a:pPr>
            <a:r>
              <a:rPr lang="pl-PL" dirty="0"/>
              <a:t>Art. 389 par. 3 k.p.k. </a:t>
            </a:r>
          </a:p>
          <a:p>
            <a:pPr marL="0" indent="0">
              <a:buFont typeface="Wingdings" panose="05000000000000000000" pitchFamily="2" charset="2"/>
              <a:buNone/>
              <a:defRPr/>
            </a:pPr>
            <a:r>
              <a:rPr lang="pl-PL" dirty="0"/>
              <a:t>Wolno na rozprawie odczytać wyjaśnienia współoskarżonego, który zmarł.</a:t>
            </a:r>
          </a:p>
          <a:p>
            <a:pPr marL="0" indent="0">
              <a:buFont typeface="Wingdings" panose="05000000000000000000" pitchFamily="2" charset="2"/>
              <a:buNone/>
              <a:defRPr/>
            </a:pPr>
            <a:r>
              <a:rPr lang="pl-PL" b="1" dirty="0"/>
              <a:t>Wyrok Sądu Najwyższego z dnia 6 grudnia 2006 r., III KK 181/06</a:t>
            </a:r>
          </a:p>
          <a:p>
            <a:pPr marL="0" indent="0">
              <a:buFont typeface="Wingdings" panose="05000000000000000000" pitchFamily="2" charset="2"/>
              <a:buNone/>
              <a:defRPr/>
            </a:pPr>
            <a:r>
              <a:rPr lang="pl-PL" sz="4400" dirty="0"/>
              <a:t>Protokół, zawierający wyjaśnienia oskarżonego (podejrzanego), który zmarł po ich złożeniu, może być odczytany przez sąd na podstawie art. 389 § 1 k.p.k.</a:t>
            </a:r>
          </a:p>
          <a:p>
            <a:pPr>
              <a:buFont typeface="Wingdings" panose="05000000000000000000" pitchFamily="2" charset="2"/>
              <a:buNone/>
              <a:defRPr/>
            </a:pPr>
            <a:endParaRPr lang="pl-PL" dirty="0"/>
          </a:p>
        </p:txBody>
      </p:sp>
    </p:spTree>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75BF9E65-003C-477B-8009-16E2F4AF8A75}"/>
              </a:ext>
            </a:extLst>
          </p:cNvPr>
          <p:cNvSpPr>
            <a:spLocks noGrp="1"/>
          </p:cNvSpPr>
          <p:nvPr>
            <p:ph idx="1"/>
          </p:nvPr>
        </p:nvSpPr>
        <p:spPr>
          <a:xfrm>
            <a:off x="107950" y="115888"/>
            <a:ext cx="8578850" cy="6742112"/>
          </a:xfrm>
        </p:spPr>
        <p:txBody>
          <a:bodyPr>
            <a:normAutofit fontScale="70000" lnSpcReduction="20000"/>
          </a:bodyPr>
          <a:lstStyle/>
          <a:p>
            <a:pPr marL="0" indent="0">
              <a:buFont typeface="Wingdings" panose="05000000000000000000" pitchFamily="2" charset="2"/>
              <a:buNone/>
              <a:defRPr/>
            </a:pPr>
            <a:r>
              <a:rPr lang="pl-PL" b="1" dirty="0"/>
              <a:t>Wyrok Sądu Najwyższego z dnia 14 października 1970 r., IV KR 177/70</a:t>
            </a:r>
          </a:p>
          <a:p>
            <a:pPr>
              <a:defRPr/>
            </a:pPr>
            <a:r>
              <a:rPr lang="pl-PL" sz="3600" b="1" dirty="0">
                <a:solidFill>
                  <a:srgbClr val="FF0000"/>
                </a:solidFill>
              </a:rPr>
              <a:t>Przepis art. 334 § 1 k.p.k. wyłącza możliwość odczytywania zeznań złożonych w charakterze świadka przez osobę, która następnie stała się oskarżonym.</a:t>
            </a:r>
          </a:p>
          <a:p>
            <a:pPr>
              <a:defRPr/>
            </a:pPr>
            <a:r>
              <a:rPr lang="pl-PL" sz="3600" dirty="0"/>
              <a:t>Wprawdzie sąd może za zgodą stron odczytywać na rozprawie głównej wszelkie protokoły przesłuchania świadków i oskarżonych, sporządzone w postępowaniu przygotowawczym albo w innym postępowaniu przewidzianym przez ustawę, jednakże nie dotyczy to sytuacji, w której nastąpiła zmiana roli procesowej ze świadka na oskarżonego. </a:t>
            </a:r>
          </a:p>
          <a:p>
            <a:pPr>
              <a:defRPr/>
            </a:pPr>
            <a:r>
              <a:rPr lang="pl-PL" sz="3600" dirty="0"/>
              <a:t>Z zestawienia art. 334 § 1 i 337 § 2 k.p.k. wynika, że ustawa niejednakowo reguluje kwestię dopuszczalności odczytywania protokołów zeznań i wyjaśnień złożonych w odmiennym charakterze procesowym, zezwalając jedynie na odczytywanie wcześniejszych wyjaśnień osoby występującej w sądzie w charakterze świadka.</a:t>
            </a:r>
          </a:p>
          <a:p>
            <a:pPr>
              <a:defRPr/>
            </a:pPr>
            <a:endParaRPr lang="pl-PL" dirty="0"/>
          </a:p>
        </p:txBody>
      </p:sp>
    </p:spTree>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D84A0E7B-393E-2DF5-DD6B-732C57B30D23}"/>
              </a:ext>
            </a:extLst>
          </p:cNvPr>
          <p:cNvSpPr>
            <a:spLocks noGrp="1"/>
          </p:cNvSpPr>
          <p:nvPr>
            <p:ph idx="1"/>
          </p:nvPr>
        </p:nvSpPr>
        <p:spPr>
          <a:xfrm>
            <a:off x="179388" y="115888"/>
            <a:ext cx="8507412" cy="7200900"/>
          </a:xfrm>
        </p:spPr>
        <p:txBody>
          <a:bodyPr>
            <a:normAutofit fontScale="85000" lnSpcReduction="20000"/>
          </a:bodyPr>
          <a:lstStyle/>
          <a:p>
            <a:pPr>
              <a:defRPr/>
            </a:pPr>
            <a:r>
              <a:rPr lang="pl-PL" dirty="0"/>
              <a:t>Art.  391 k.p.k.</a:t>
            </a:r>
          </a:p>
          <a:p>
            <a:pPr>
              <a:defRPr/>
            </a:pPr>
            <a:r>
              <a:rPr lang="pl-PL" dirty="0"/>
              <a:t>§  1.</a:t>
            </a:r>
          </a:p>
          <a:p>
            <a:pPr>
              <a:defRPr/>
            </a:pPr>
            <a:r>
              <a:rPr lang="pl-PL" dirty="0"/>
              <a:t> </a:t>
            </a:r>
            <a:r>
              <a:rPr lang="pl-PL" b="1" dirty="0">
                <a:solidFill>
                  <a:srgbClr val="C00000"/>
                </a:solidFill>
              </a:rPr>
              <a:t>Jeżeli świadek bezpodstawnie odmawia zeznań, zeznaje odmiennie niż poprzednio albo oświadczy, że pewnych okoliczności nie pamięta, albo przebywa za granicą lub nie można mu było doręczyć wezwania, albo nie stawił się z powodu niedających się usunąć przeszkód lub przewodniczący zaniechał wezwania świadka na podstawie art. 350a, a także wtedy, gdy świadek zmarł, </a:t>
            </a:r>
            <a:r>
              <a:rPr lang="pl-PL" dirty="0"/>
              <a:t>wolno odczytywać w odpowiednim zakresie protokoły złożonych poprzednio przez niego zeznań w postępowaniu przygotowawczym lub przed sądem w tej lub innej sprawie albo w innym postępowaniu przewidzianym przez ustawę.</a:t>
            </a:r>
          </a:p>
          <a:p>
            <a:pPr>
              <a:defRPr/>
            </a:pPr>
            <a:r>
              <a:rPr lang="pl-PL" dirty="0"/>
              <a:t>(…)</a:t>
            </a:r>
          </a:p>
          <a:p>
            <a:pPr>
              <a:defRPr/>
            </a:pPr>
            <a:r>
              <a:rPr lang="pl-PL" dirty="0"/>
              <a:t>§  2.</a:t>
            </a:r>
          </a:p>
          <a:p>
            <a:pPr>
              <a:defRPr/>
            </a:pPr>
            <a:r>
              <a:rPr lang="pl-PL" dirty="0"/>
              <a:t> W warunkach określonych w § 1, a także w wypadku określonym w art. 182 § 3, wolno również odczytywać na rozprawie protokoły złożonych poprzednio przez świadka wyjaśnień w charakterze oskarżonego.</a:t>
            </a:r>
          </a:p>
          <a:p>
            <a:pPr>
              <a:defRPr/>
            </a:pPr>
            <a:r>
              <a:rPr lang="pl-PL" dirty="0"/>
              <a:t>§  3.</a:t>
            </a:r>
          </a:p>
          <a:p>
            <a:pPr>
              <a:defRPr/>
            </a:pPr>
            <a:r>
              <a:rPr lang="pl-PL" dirty="0"/>
              <a:t> Przepis art. 389 § 2 stosuje się odpowiednio.</a:t>
            </a:r>
          </a:p>
          <a:p>
            <a:pPr>
              <a:defRPr/>
            </a:pPr>
            <a:endParaRPr lang="pl-PL" dirty="0"/>
          </a:p>
        </p:txBody>
      </p:sp>
    </p:spTree>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0466" name="Symbol zastępczy zawartości 2">
            <a:extLst>
              <a:ext uri="{FF2B5EF4-FFF2-40B4-BE49-F238E27FC236}">
                <a16:creationId xmlns:a16="http://schemas.microsoft.com/office/drawing/2014/main" id="{57A086B4-4A9B-BA42-F977-C30139B93F20}"/>
              </a:ext>
            </a:extLst>
          </p:cNvPr>
          <p:cNvSpPr>
            <a:spLocks noGrp="1" noChangeArrowheads="1"/>
          </p:cNvSpPr>
          <p:nvPr>
            <p:ph idx="1"/>
          </p:nvPr>
        </p:nvSpPr>
        <p:spPr>
          <a:xfrm>
            <a:off x="0" y="0"/>
            <a:ext cx="8686800" cy="7316788"/>
          </a:xfrm>
        </p:spPr>
        <p:txBody>
          <a:bodyPr/>
          <a:lstStyle/>
          <a:p>
            <a:r>
              <a:rPr lang="pl-PL" altLang="pl-PL" sz="3900"/>
              <a:t>W razie obecności świadka na rozprawie i składania przez niego zeznań art. 394 par. 2 k.p.k. nie ma zastosowania (</a:t>
            </a:r>
            <a:r>
              <a:rPr lang="pl-PL" altLang="pl-PL" sz="3900" i="1"/>
              <a:t>lex specialis jest wówczas art. 391 k.p.k.</a:t>
            </a:r>
            <a:r>
              <a:rPr lang="pl-PL" altLang="pl-PL" sz="3900"/>
              <a:t>).</a:t>
            </a:r>
          </a:p>
          <a:p>
            <a:r>
              <a:rPr lang="pl-PL" altLang="pl-PL" sz="3900"/>
              <a:t>Analogicznie jak w przypadku art. 389 k.p.k.,  gdy oskarżony się stawił. </a:t>
            </a:r>
          </a:p>
          <a:p>
            <a:r>
              <a:rPr lang="pl-PL" altLang="pl-PL" sz="3900"/>
              <a:t>Uwagi dotyczące tożsamych pojęć i kwestii poczynione na gruncie art. 389 k.p.k. mają zastosowanie do art. 391 k.p.k. (wyjątkowość, wolno)</a:t>
            </a:r>
          </a:p>
        </p:txBody>
      </p:sp>
    </p:spTree>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1490" name="Symbol zastępczy zawartości 2">
            <a:extLst>
              <a:ext uri="{FF2B5EF4-FFF2-40B4-BE49-F238E27FC236}">
                <a16:creationId xmlns:a16="http://schemas.microsoft.com/office/drawing/2014/main" id="{0E635C2F-7A61-0A42-EED4-DFA209350591}"/>
              </a:ext>
            </a:extLst>
          </p:cNvPr>
          <p:cNvSpPr>
            <a:spLocks noGrp="1" noChangeArrowheads="1"/>
          </p:cNvSpPr>
          <p:nvPr>
            <p:ph idx="1"/>
          </p:nvPr>
        </p:nvSpPr>
        <p:spPr>
          <a:xfrm>
            <a:off x="0" y="115888"/>
            <a:ext cx="8686800" cy="7200900"/>
          </a:xfrm>
        </p:spPr>
        <p:txBody>
          <a:bodyPr/>
          <a:lstStyle/>
          <a:p>
            <a:r>
              <a:rPr lang="pl-PL" altLang="pl-PL" sz="4000" b="1">
                <a:solidFill>
                  <a:srgbClr val="FF0000"/>
                </a:solidFill>
              </a:rPr>
              <a:t>Bezpodstawna odmowa złożenia zeznań</a:t>
            </a:r>
            <a:r>
              <a:rPr lang="pl-PL" altLang="pl-PL" sz="4000"/>
              <a:t>, - gdy świadek postępuje wbrew </a:t>
            </a:r>
            <a:r>
              <a:rPr lang="pl-PL" altLang="pl-PL" sz="4000">
                <a:hlinkClick r:id="rId2"/>
              </a:rPr>
              <a:t>art. 177 § 1</a:t>
            </a:r>
            <a:r>
              <a:rPr lang="pl-PL" altLang="pl-PL" sz="4000"/>
              <a:t> k.p.k. i jednocześnie nie zachodzi podstawa z </a:t>
            </a:r>
            <a:r>
              <a:rPr lang="pl-PL" altLang="pl-PL" sz="4000">
                <a:hlinkClick r:id="rId3"/>
              </a:rPr>
              <a:t>art. 182</a:t>
            </a:r>
            <a:r>
              <a:rPr lang="pl-PL" altLang="pl-PL" sz="4000"/>
              <a:t> lub </a:t>
            </a:r>
            <a:r>
              <a:rPr lang="pl-PL" altLang="pl-PL" sz="4000">
                <a:hlinkClick r:id="rId4"/>
              </a:rPr>
              <a:t>185</a:t>
            </a:r>
            <a:r>
              <a:rPr lang="pl-PL" altLang="pl-PL" sz="4000"/>
              <a:t> k.p.k. albo nie istnieje zakaz dowodowy przesłuchania. Najpierw podejmujemy próbę wymuszenia złożenia zeznania bezpośrednio. </a:t>
            </a:r>
          </a:p>
          <a:p>
            <a:r>
              <a:rPr lang="pl-PL" altLang="pl-PL" sz="4000"/>
              <a:t>Sankcje wymuszające </a:t>
            </a:r>
          </a:p>
        </p:txBody>
      </p:sp>
    </p:spTree>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D41C89DE-76FA-8EFE-BE79-D292A581D6A1}"/>
              </a:ext>
            </a:extLst>
          </p:cNvPr>
          <p:cNvSpPr>
            <a:spLocks noGrp="1"/>
          </p:cNvSpPr>
          <p:nvPr>
            <p:ph idx="1"/>
          </p:nvPr>
        </p:nvSpPr>
        <p:spPr>
          <a:xfrm>
            <a:off x="179388" y="115888"/>
            <a:ext cx="8507412" cy="7200900"/>
          </a:xfrm>
        </p:spPr>
        <p:txBody>
          <a:bodyPr>
            <a:normAutofit fontScale="77500" lnSpcReduction="20000"/>
          </a:bodyPr>
          <a:lstStyle/>
          <a:p>
            <a:pPr>
              <a:defRPr/>
            </a:pPr>
            <a:r>
              <a:rPr lang="pl-PL" sz="2800" dirty="0"/>
              <a:t>Art.  287 k.p.k.</a:t>
            </a:r>
          </a:p>
          <a:p>
            <a:pPr>
              <a:defRPr/>
            </a:pPr>
            <a:r>
              <a:rPr lang="pl-PL" sz="2800" dirty="0"/>
              <a:t>§  1.</a:t>
            </a:r>
          </a:p>
          <a:p>
            <a:pPr>
              <a:defRPr/>
            </a:pPr>
            <a:r>
              <a:rPr lang="pl-PL" sz="2800" dirty="0"/>
              <a:t> Przepis art. 285 § 1 stosuje się odpowiednio do osoby, która </a:t>
            </a:r>
            <a:r>
              <a:rPr lang="pl-PL" sz="2800" b="1" dirty="0">
                <a:solidFill>
                  <a:srgbClr val="FF0000"/>
                </a:solidFill>
              </a:rPr>
              <a:t>bezpodstawnie uchyla się od złożenia zeznania</a:t>
            </a:r>
            <a:r>
              <a:rPr lang="pl-PL" sz="2800" dirty="0"/>
              <a:t>, wykonania czynności biegłego, tłumacza lub specjalisty, złożenia przyrzeczenia, wydania przedmiotu, dopełnienia obowiązków poręczyciela albo spełnienia innego ciążącego na niej obowiązku w toku postępowania, jak również do przedstawiciela lub kierownika instytucji, osoby prawnej lub jednostki organizacyjnej niemającej osobowości prawnej obowiązanej udzielić pomocy organowi prowadzącemu postępowanie karne, która bezpodstawnie nie udziela pomocy w wyznaczonym terminie.</a:t>
            </a:r>
          </a:p>
          <a:p>
            <a:pPr>
              <a:defRPr/>
            </a:pPr>
            <a:r>
              <a:rPr lang="pl-PL" sz="2800" dirty="0"/>
              <a:t>§  2.</a:t>
            </a:r>
          </a:p>
          <a:p>
            <a:pPr>
              <a:defRPr/>
            </a:pPr>
            <a:r>
              <a:rPr lang="pl-PL" sz="2800" dirty="0"/>
              <a:t> </a:t>
            </a:r>
            <a:r>
              <a:rPr lang="pl-PL" sz="2800" b="1" dirty="0">
                <a:solidFill>
                  <a:srgbClr val="FF0000"/>
                </a:solidFill>
              </a:rPr>
              <a:t>W razie uporczywego uchylania się od złożenia zeznania, </a:t>
            </a:r>
            <a:r>
              <a:rPr lang="pl-PL" sz="2800" dirty="0"/>
              <a:t>wykonania czynności biegłego, tłumacza lub specjalisty oraz wydania przedmiotu można zastosować, niezależnie od kary pieniężnej, aresztowanie na czas nieprzekraczający 30 dni. Przepis ten stosuje się odpowiednio w razie uporczywego niestawiennictwa na wezwanie organu prowadzącego postępowanie, jeżeli zarządzenie zatrzymania i przymusowego doprowadzenia, o którym mowa w art. 285 § 2, nie jest wystarczające dla zapewnienia stawiennictwa osoby wezwanej.</a:t>
            </a:r>
          </a:p>
          <a:p>
            <a:pPr>
              <a:defRPr/>
            </a:pPr>
            <a:endParaRPr lang="pl-PL" sz="4400" dirty="0"/>
          </a:p>
        </p:txBody>
      </p:sp>
    </p:spTree>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B323F32F-D93E-146F-1B30-FF7D239D95EE}"/>
              </a:ext>
            </a:extLst>
          </p:cNvPr>
          <p:cNvSpPr>
            <a:spLocks noGrp="1"/>
          </p:cNvSpPr>
          <p:nvPr>
            <p:ph idx="1"/>
          </p:nvPr>
        </p:nvSpPr>
        <p:spPr>
          <a:xfrm>
            <a:off x="107950" y="620713"/>
            <a:ext cx="8578850" cy="6696075"/>
          </a:xfrm>
        </p:spPr>
        <p:txBody>
          <a:bodyPr>
            <a:normAutofit/>
          </a:bodyPr>
          <a:lstStyle/>
          <a:p>
            <a:pPr>
              <a:defRPr/>
            </a:pPr>
            <a:r>
              <a:rPr lang="pl-PL" sz="3200" b="1" dirty="0">
                <a:solidFill>
                  <a:srgbClr val="FF0000"/>
                </a:solidFill>
              </a:rPr>
              <a:t>niemożność doręczenia wezwania </a:t>
            </a:r>
            <a:r>
              <a:rPr lang="pl-PL" sz="3200" dirty="0"/>
              <a:t>– vide przepisy rozdziału XV k.p.k. Wszystkie rodzaje doręczenia, ale pamiętać musimy o tym, że nie jest to strona i trudno od niej wymagać, aby pozostawała w kontakcie z organami ścigania czy wymiaru sprawiedliwości w oczekiwaniu na wezwanie. Plus zasada bezpośredniości. Tak więc będziemy szukali możliwości bezpośredniego lub choćby pośredniego doręczenia wezwania zanim podejmiemy ewentualne działania w trybie art. 287 k.p.k. </a:t>
            </a:r>
          </a:p>
          <a:p>
            <a:pPr marL="0" indent="0">
              <a:buFont typeface="Wingdings" panose="05000000000000000000" pitchFamily="2" charset="2"/>
              <a:buNone/>
              <a:defRPr/>
            </a:pPr>
            <a:endParaRPr lang="pl-PL" sz="4400" dirty="0"/>
          </a:p>
        </p:txBody>
      </p:sp>
    </p:spTree>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62" name="Symbol zastępczy zawartości 2">
            <a:extLst>
              <a:ext uri="{FF2B5EF4-FFF2-40B4-BE49-F238E27FC236}">
                <a16:creationId xmlns:a16="http://schemas.microsoft.com/office/drawing/2014/main" id="{43B75345-4A1E-8328-A173-4EABAE886FCE}"/>
              </a:ext>
            </a:extLst>
          </p:cNvPr>
          <p:cNvSpPr>
            <a:spLocks noGrp="1" noChangeArrowheads="1"/>
          </p:cNvSpPr>
          <p:nvPr>
            <p:ph idx="1"/>
          </p:nvPr>
        </p:nvSpPr>
        <p:spPr>
          <a:xfrm>
            <a:off x="179388" y="115888"/>
            <a:ext cx="8507412" cy="7200900"/>
          </a:xfrm>
        </p:spPr>
        <p:txBody>
          <a:bodyPr/>
          <a:lstStyle/>
          <a:p>
            <a:pPr marL="0" indent="0">
              <a:buFont typeface="Wingdings" panose="05000000000000000000" pitchFamily="2" charset="2"/>
              <a:buNone/>
            </a:pPr>
            <a:r>
              <a:rPr lang="pl-PL" altLang="pl-PL" sz="4400" dirty="0">
                <a:solidFill>
                  <a:srgbClr val="002060"/>
                </a:solidFill>
              </a:rPr>
              <a:t>niestawiennictwo świadka z powodu niedających się usunąć przeszkód, mających charakter realny i trwały (np. stany klęsk żywiołowych), których usunięcie jest niemożliwe w toku rozprawy, także np. stan zdrowia świadka – vide jednak art. 396 par. 2 k.p.k. </a:t>
            </a:r>
          </a:p>
        </p:txBody>
      </p:sp>
    </p:spTree>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F0D83AFF-0C18-38C1-C4F1-37059512E246}"/>
              </a:ext>
            </a:extLst>
          </p:cNvPr>
          <p:cNvSpPr>
            <a:spLocks noGrp="1"/>
          </p:cNvSpPr>
          <p:nvPr>
            <p:ph idx="1"/>
          </p:nvPr>
        </p:nvSpPr>
        <p:spPr>
          <a:xfrm>
            <a:off x="179388" y="115888"/>
            <a:ext cx="8507412" cy="7200900"/>
          </a:xfrm>
        </p:spPr>
        <p:txBody>
          <a:bodyPr>
            <a:normAutofit/>
          </a:bodyPr>
          <a:lstStyle/>
          <a:p>
            <a:pPr marL="0" indent="0">
              <a:buFont typeface="Wingdings" panose="05000000000000000000" pitchFamily="2" charset="2"/>
              <a:buNone/>
              <a:defRPr/>
            </a:pPr>
            <a:r>
              <a:rPr lang="pl-PL" sz="2800" dirty="0"/>
              <a:t>Wyrok Sądu Najwyższego z dnia 4 listopada 1988 r., IV KR 291/88</a:t>
            </a:r>
          </a:p>
          <a:p>
            <a:pPr>
              <a:defRPr/>
            </a:pPr>
            <a:r>
              <a:rPr lang="pl-PL" sz="2800" dirty="0"/>
              <a:t>Nie stanowi obrazy art. 337 § 1 k.p.k. odczytanie, mimo braku zgody którejkolwiek ze stron, zeznań świadka pokrzywdzonego przestępstwem, który z powodu złego stanu zdrowia fizycznego lub psychicznego, zwłaszcza spowodowanego przestępstwem, i realnej możliwości pogorszenia się tego na skutek przeżyć związanych ze stawianiem się przed sądem, nie może stawić się w celu złożenia zeznań. Ta właśnie realna możliwość może stanowić "nie dającą się usunąć przeszkodę" w rozumieniu art. 337 § 1 k.p.k., uprawniającą do odczytania zeznań złożonych w postępowaniu przygotowawczym.</a:t>
            </a:r>
          </a:p>
          <a:p>
            <a:pPr marL="0" indent="0">
              <a:buFont typeface="Wingdings" panose="05000000000000000000" pitchFamily="2" charset="2"/>
              <a:buNone/>
              <a:defRPr/>
            </a:pPr>
            <a:endParaRPr lang="pl-PL" sz="4400" dirty="0"/>
          </a:p>
        </p:txBody>
      </p:sp>
    </p:spTree>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B4009A5F-B248-5FFA-E87C-2FD3581E47BA}"/>
              </a:ext>
            </a:extLst>
          </p:cNvPr>
          <p:cNvSpPr>
            <a:spLocks noGrp="1"/>
          </p:cNvSpPr>
          <p:nvPr>
            <p:ph idx="1"/>
          </p:nvPr>
        </p:nvSpPr>
        <p:spPr>
          <a:xfrm>
            <a:off x="0" y="0"/>
            <a:ext cx="8686800" cy="7316788"/>
          </a:xfrm>
        </p:spPr>
        <p:txBody>
          <a:bodyPr>
            <a:normAutofit/>
          </a:bodyPr>
          <a:lstStyle/>
          <a:p>
            <a:pPr marL="0" indent="0" algn="just">
              <a:buFont typeface="Wingdings" panose="05000000000000000000" pitchFamily="2" charset="2"/>
              <a:buNone/>
              <a:defRPr/>
            </a:pPr>
            <a:r>
              <a:rPr lang="pl-PL" sz="4400" dirty="0"/>
              <a:t>Art. 396 §  2 k.p.k.</a:t>
            </a:r>
          </a:p>
          <a:p>
            <a:pPr algn="just">
              <a:defRPr/>
            </a:pPr>
            <a:r>
              <a:rPr lang="pl-PL" sz="4400" dirty="0"/>
              <a:t> Sąd może zlecić przesłuchanie świadka sędziemu wyznaczonemu ze swego składu lub sądowi wezwanemu, w którego okręgu świadek przebywa, jeżeli </a:t>
            </a:r>
            <a:r>
              <a:rPr lang="pl-PL" sz="4400" b="1" dirty="0"/>
              <a:t>świadek nie stawił się z powodu przeszkód zbyt trudnych do usunięcia.</a:t>
            </a:r>
          </a:p>
        </p:txBody>
      </p:sp>
    </p:spTree>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7634" name="Symbol zastępczy zawartości 2">
            <a:extLst>
              <a:ext uri="{FF2B5EF4-FFF2-40B4-BE49-F238E27FC236}">
                <a16:creationId xmlns:a16="http://schemas.microsoft.com/office/drawing/2014/main" id="{1A74BCDC-0AA5-0E8D-F595-F36A794A9F9F}"/>
              </a:ext>
            </a:extLst>
          </p:cNvPr>
          <p:cNvSpPr>
            <a:spLocks noGrp="1" noChangeArrowheads="1"/>
          </p:cNvSpPr>
          <p:nvPr>
            <p:ph idx="1"/>
          </p:nvPr>
        </p:nvSpPr>
        <p:spPr>
          <a:xfrm>
            <a:off x="0" y="0"/>
            <a:ext cx="8686800" cy="7316788"/>
          </a:xfrm>
        </p:spPr>
        <p:txBody>
          <a:bodyPr/>
          <a:lstStyle/>
          <a:p>
            <a:pPr marL="0" indent="0" algn="just">
              <a:buFont typeface="Wingdings" panose="05000000000000000000" pitchFamily="2" charset="2"/>
              <a:buNone/>
            </a:pPr>
            <a:r>
              <a:rPr lang="pl-PL" altLang="pl-PL" sz="7200">
                <a:solidFill>
                  <a:srgbClr val="C00000"/>
                </a:solidFill>
              </a:rPr>
              <a:t>Zaniechanie wezwania świadka na rozprawę na podstawie </a:t>
            </a:r>
            <a:r>
              <a:rPr lang="pl-PL" altLang="pl-PL" sz="7200">
                <a:solidFill>
                  <a:srgbClr val="C00000"/>
                </a:solidFill>
                <a:hlinkClick r:id="rId2"/>
              </a:rPr>
              <a:t>art. 350a</a:t>
            </a:r>
            <a:r>
              <a:rPr lang="pl-PL" altLang="pl-PL" sz="7200">
                <a:solidFill>
                  <a:srgbClr val="C00000"/>
                </a:solidFill>
              </a:rPr>
              <a:t> k.p.k. </a:t>
            </a:r>
            <a:endParaRPr lang="pl-PL" altLang="pl-PL" sz="7200" b="1">
              <a:solidFill>
                <a:srgbClr val="C00000"/>
              </a:solidFill>
            </a:endParaRPr>
          </a:p>
        </p:txBody>
      </p:sp>
    </p:spTree>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BF199AFD-F028-3DFF-3240-566D9F2B8437}"/>
              </a:ext>
            </a:extLst>
          </p:cNvPr>
          <p:cNvSpPr>
            <a:spLocks noGrp="1"/>
          </p:cNvSpPr>
          <p:nvPr>
            <p:ph idx="1"/>
          </p:nvPr>
        </p:nvSpPr>
        <p:spPr>
          <a:xfrm>
            <a:off x="-107950" y="0"/>
            <a:ext cx="8794750" cy="7316788"/>
          </a:xfrm>
        </p:spPr>
        <p:txBody>
          <a:bodyPr>
            <a:normAutofit fontScale="92500" lnSpcReduction="10000"/>
          </a:bodyPr>
          <a:lstStyle/>
          <a:p>
            <a:pPr>
              <a:defRPr/>
            </a:pPr>
            <a:r>
              <a:rPr lang="pl-PL" sz="4100" b="1" dirty="0">
                <a:solidFill>
                  <a:srgbClr val="C00000"/>
                </a:solidFill>
              </a:rPr>
              <a:t>Art.  350a k.p.k.</a:t>
            </a:r>
          </a:p>
          <a:p>
            <a:pPr>
              <a:defRPr/>
            </a:pPr>
            <a:r>
              <a:rPr lang="pl-PL" sz="4100" dirty="0"/>
              <a:t> Przewodniczący składu orzekającego może zaniechać wezwania na rozprawę świadków, którzy zostali przesłuchani, przebywających za granicą lub mających stwierdzić okoliczności, które nie są tak doniosłe, aby konieczne było bezpośrednie przesłuchanie świadków na rozprawie, w szczególności takie, którym oskarżony w wyjaśnieniach swych nie zaprzeczył. </a:t>
            </a:r>
            <a:r>
              <a:rPr lang="pl-PL" sz="4100" b="1" dirty="0">
                <a:solidFill>
                  <a:srgbClr val="C00000"/>
                </a:solidFill>
              </a:rPr>
              <a:t>Nie dotyczy to osób wymienionych w art. 182.</a:t>
            </a:r>
          </a:p>
          <a:p>
            <a:pPr marL="0" indent="0" algn="just">
              <a:buFont typeface="Wingdings" panose="05000000000000000000" pitchFamily="2" charset="2"/>
              <a:buNone/>
              <a:defRPr/>
            </a:pPr>
            <a:endParaRPr lang="pl-PL" sz="7200" b="1" dirty="0">
              <a:solidFill>
                <a:srgbClr val="C00000"/>
              </a:solidFill>
            </a:endParaRPr>
          </a:p>
        </p:txBody>
      </p:sp>
    </p:spTree>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87FAA692-E657-F2D8-6519-CBA1F1899171}"/>
              </a:ext>
            </a:extLst>
          </p:cNvPr>
          <p:cNvSpPr>
            <a:spLocks noGrp="1"/>
          </p:cNvSpPr>
          <p:nvPr>
            <p:ph idx="1"/>
          </p:nvPr>
        </p:nvSpPr>
        <p:spPr>
          <a:xfrm>
            <a:off x="0" y="0"/>
            <a:ext cx="8686800" cy="7316788"/>
          </a:xfrm>
        </p:spPr>
        <p:txBody>
          <a:bodyPr>
            <a:normAutofit lnSpcReduction="10000"/>
          </a:bodyPr>
          <a:lstStyle/>
          <a:p>
            <a:pPr>
              <a:defRPr/>
            </a:pPr>
            <a:r>
              <a:rPr lang="pl-PL" sz="2800" dirty="0"/>
              <a:t>Trzy sytuacje:</a:t>
            </a:r>
          </a:p>
          <a:p>
            <a:pPr>
              <a:defRPr/>
            </a:pPr>
            <a:r>
              <a:rPr lang="pl-PL" sz="2800" dirty="0"/>
              <a:t>1) gdy prokurator w akcie oskarżenia wniósł o zaniechanie wezwania i odczytanie zeznań świadków, o których mowa w </a:t>
            </a:r>
            <a:r>
              <a:rPr lang="pl-PL" sz="2800" dirty="0">
                <a:hlinkClick r:id="rId2"/>
              </a:rPr>
              <a:t>art. 350a</a:t>
            </a:r>
            <a:r>
              <a:rPr lang="pl-PL" sz="2800" dirty="0"/>
              <a:t> (</a:t>
            </a:r>
            <a:r>
              <a:rPr lang="pl-PL" sz="2800" dirty="0">
                <a:hlinkClick r:id="rId3"/>
              </a:rPr>
              <a:t>art. 333 § 2</a:t>
            </a:r>
            <a:r>
              <a:rPr lang="pl-PL" sz="2800" dirty="0"/>
              <a:t> k.p.k.);</a:t>
            </a:r>
          </a:p>
          <a:p>
            <a:pPr>
              <a:defRPr/>
            </a:pPr>
            <a:r>
              <a:rPr lang="pl-PL" sz="2800" dirty="0"/>
              <a:t>2) gdy prokurator wniósł o wezwanie świadków na rozprawę, ale przewodniczący uznał, że należy odstąpić od wezwania z uwagi na spełnienie warunków, o których mowa w tym przepisie;</a:t>
            </a:r>
          </a:p>
          <a:p>
            <a:pPr>
              <a:defRPr/>
            </a:pPr>
            <a:r>
              <a:rPr lang="pl-PL" sz="2800" dirty="0"/>
              <a:t>3)gdy sąd odwoławczy uchylił zaskarżony wyrok i przekazał sprawę do ponownego rozpoznania, wskazując na potrzebę bezpośredniego przesłuchania tylko niektórych świadków wymienionych w akcie oskarżenia. Wówczas na podstawie tego przepisu w związku z </a:t>
            </a:r>
            <a:r>
              <a:rPr lang="pl-PL" sz="2800" dirty="0">
                <a:hlinkClick r:id="rId4"/>
              </a:rPr>
              <a:t>art. 442 § 2</a:t>
            </a:r>
            <a:r>
              <a:rPr lang="pl-PL" sz="2800" dirty="0"/>
              <a:t> k.p.k. przewodniczący może zaniechać wezwania pozostałych świadków.</a:t>
            </a:r>
          </a:p>
          <a:p>
            <a:pPr marL="0" indent="0" algn="just">
              <a:buFont typeface="Wingdings" panose="05000000000000000000" pitchFamily="2" charset="2"/>
              <a:buNone/>
              <a:defRPr/>
            </a:pPr>
            <a:endParaRPr lang="pl-PL" sz="4400" b="1" dirty="0"/>
          </a:p>
        </p:txBody>
      </p:sp>
    </p:spTree>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6236BED4-DA67-B157-DA6A-60E761EEA32C}"/>
              </a:ext>
            </a:extLst>
          </p:cNvPr>
          <p:cNvSpPr>
            <a:spLocks noGrp="1"/>
          </p:cNvSpPr>
          <p:nvPr>
            <p:ph idx="1"/>
          </p:nvPr>
        </p:nvSpPr>
        <p:spPr>
          <a:xfrm>
            <a:off x="0" y="0"/>
            <a:ext cx="8686800" cy="7316788"/>
          </a:xfrm>
        </p:spPr>
        <p:txBody>
          <a:bodyPr>
            <a:normAutofit lnSpcReduction="10000"/>
          </a:bodyPr>
          <a:lstStyle/>
          <a:p>
            <a:pPr marL="0" indent="0" algn="just">
              <a:buFont typeface="Wingdings" panose="05000000000000000000" pitchFamily="2" charset="2"/>
              <a:buNone/>
              <a:defRPr/>
            </a:pPr>
            <a:r>
              <a:rPr lang="pl-PL" sz="4400" dirty="0"/>
              <a:t>Jeśli skorzystaliśmy z możliwości, które stwarza art. 391 par. 1 k.p.k. w zw. z art. 350 a k.p.k. to zeznania podlegają odczytaniu na rozprawie albo po dopuszczeniu dowodu ze stosownych protokołów nie muszą zostać odczytane. Z chwilą zamknięcia przewodu sądowego następuje ich ujawnienie bez odczytania na podstawie </a:t>
            </a:r>
            <a:r>
              <a:rPr lang="pl-PL" sz="4400" dirty="0">
                <a:hlinkClick r:id="rId2"/>
              </a:rPr>
              <a:t>art. 405 § 2</a:t>
            </a:r>
            <a:r>
              <a:rPr lang="pl-PL" sz="4400" dirty="0"/>
              <a:t> i </a:t>
            </a:r>
            <a:r>
              <a:rPr lang="pl-PL" sz="4400" dirty="0">
                <a:hlinkClick r:id="rId3"/>
              </a:rPr>
              <a:t>§ 3</a:t>
            </a:r>
            <a:r>
              <a:rPr lang="pl-PL" sz="4400" dirty="0"/>
              <a:t> k.p.k. </a:t>
            </a:r>
          </a:p>
          <a:p>
            <a:pPr marL="0" indent="0" algn="just">
              <a:buFont typeface="Wingdings" panose="05000000000000000000" pitchFamily="2" charset="2"/>
              <a:buNone/>
              <a:defRPr/>
            </a:pPr>
            <a:endParaRPr lang="pl-PL" sz="4400" b="1" dirty="0"/>
          </a:p>
        </p:txBody>
      </p:sp>
    </p:spTree>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99895EB6-6F5A-2BE9-AF0A-72093C4313D0}"/>
              </a:ext>
            </a:extLst>
          </p:cNvPr>
          <p:cNvSpPr>
            <a:spLocks noGrp="1"/>
          </p:cNvSpPr>
          <p:nvPr>
            <p:ph idx="1"/>
          </p:nvPr>
        </p:nvSpPr>
        <p:spPr>
          <a:xfrm>
            <a:off x="0" y="0"/>
            <a:ext cx="8686800" cy="7316788"/>
          </a:xfrm>
        </p:spPr>
        <p:txBody>
          <a:bodyPr>
            <a:normAutofit lnSpcReduction="10000"/>
          </a:bodyPr>
          <a:lstStyle/>
          <a:p>
            <a:pPr>
              <a:defRPr/>
            </a:pPr>
            <a:r>
              <a:rPr lang="pl-PL" sz="2800" b="1" dirty="0">
                <a:solidFill>
                  <a:srgbClr val="C00000"/>
                </a:solidFill>
              </a:rPr>
              <a:t>Śmierć świadka a odczytanie zeznań (udokumentowana) </a:t>
            </a:r>
          </a:p>
          <a:p>
            <a:pPr marL="0" indent="0">
              <a:buFont typeface="Wingdings" panose="05000000000000000000" pitchFamily="2" charset="2"/>
              <a:buNone/>
              <a:defRPr/>
            </a:pPr>
            <a:r>
              <a:rPr lang="pl-PL" sz="2800" b="1" dirty="0"/>
              <a:t>Uchwała Sądu Najwyższego (7) z dnia 30 września 1970 r.,  VI KZP 25/70 </a:t>
            </a:r>
            <a:r>
              <a:rPr lang="pl-PL" sz="2800" dirty="0"/>
              <a:t>(dwa poglądy- drugi że nie wolno z uwagi na możliwość skorzystania z prawa do odmowy zeznań na rozprawie,  ten pierwszy prawidłowy)</a:t>
            </a:r>
          </a:p>
          <a:p>
            <a:pPr>
              <a:defRPr/>
            </a:pPr>
            <a:r>
              <a:rPr lang="pl-PL" sz="3200" dirty="0"/>
              <a:t>Zeznania złożone w postępowaniu przygotowawczym przez świadka, który przed złożeniem tych zeznań został uprzedzony o przysługującym mu prawie odmowy zeznań (art. 165 k.p.k., art. 173 § 2 k.p.k.), ale z uprawnienia tego nie skorzystał, mogą być odczytane na rozprawie na podstawie art. 337 k.p.k. również wtedy, gdy świadek ten zmarł przed rozprawą. </a:t>
            </a:r>
          </a:p>
          <a:p>
            <a:pPr marL="0" indent="0" algn="just">
              <a:buFont typeface="Wingdings" panose="05000000000000000000" pitchFamily="2" charset="2"/>
              <a:buNone/>
              <a:defRPr/>
            </a:pPr>
            <a:endParaRPr lang="pl-PL" sz="4400" b="1" dirty="0"/>
          </a:p>
        </p:txBody>
      </p:sp>
    </p:spTree>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2754" name="Symbol zastępczy zawartości 2">
            <a:extLst>
              <a:ext uri="{FF2B5EF4-FFF2-40B4-BE49-F238E27FC236}">
                <a16:creationId xmlns:a16="http://schemas.microsoft.com/office/drawing/2014/main" id="{B7DBC4E7-D1EA-AE07-4229-1E11D0CF73AD}"/>
              </a:ext>
            </a:extLst>
          </p:cNvPr>
          <p:cNvSpPr>
            <a:spLocks noGrp="1" noChangeArrowheads="1"/>
          </p:cNvSpPr>
          <p:nvPr>
            <p:ph idx="1"/>
          </p:nvPr>
        </p:nvSpPr>
        <p:spPr>
          <a:xfrm>
            <a:off x="107950" y="981075"/>
            <a:ext cx="9036050" cy="6192838"/>
          </a:xfrm>
        </p:spPr>
        <p:txBody>
          <a:bodyPr/>
          <a:lstStyle/>
          <a:p>
            <a:pPr marL="0" indent="0" algn="just">
              <a:buFont typeface="Wingdings" panose="05000000000000000000" pitchFamily="2" charset="2"/>
              <a:buNone/>
            </a:pPr>
            <a:r>
              <a:rPr lang="pl-PL" altLang="pl-PL" sz="3600"/>
              <a:t>Prawo do odmowy składania zeznań zostało ustanowione w celu ochrony stosunków rodzinnych świadka, a z chwilą śmierci jednej ze stron stosunki te przestają istnieć, więc odpada </a:t>
            </a:r>
            <a:r>
              <a:rPr lang="pl-PL" altLang="pl-PL" sz="3600" i="1"/>
              <a:t>ratio legis </a:t>
            </a:r>
            <a:r>
              <a:rPr lang="pl-PL" altLang="pl-PL" sz="3600">
                <a:hlinkClick r:id="rId2"/>
              </a:rPr>
              <a:t>art. 182 § 1</a:t>
            </a:r>
            <a:r>
              <a:rPr lang="pl-PL" altLang="pl-PL" sz="3600"/>
              <a:t> k.p.k. i w konsekwencji sens utrzymania zakazu z </a:t>
            </a:r>
            <a:r>
              <a:rPr lang="pl-PL" altLang="pl-PL" sz="3600">
                <a:hlinkClick r:id="rId3"/>
              </a:rPr>
              <a:t>art. 186 § 1</a:t>
            </a:r>
            <a:r>
              <a:rPr lang="pl-PL" altLang="pl-PL" sz="3600"/>
              <a:t> k.p.k.  (por. R.A. Stefański [w:] Stefański, Zabłocki, </a:t>
            </a:r>
            <a:r>
              <a:rPr lang="pl-PL" altLang="pl-PL" sz="3600" i="1"/>
              <a:t>Kodeks; </a:t>
            </a:r>
            <a:r>
              <a:rPr lang="pl-PL" altLang="pl-PL" sz="3600"/>
              <a:t>M. Błoński, </a:t>
            </a:r>
            <a:r>
              <a:rPr lang="pl-PL" altLang="pl-PL" sz="3600" i="1"/>
              <a:t>Odczytywanie</a:t>
            </a:r>
            <a:r>
              <a:rPr lang="pl-PL" altLang="pl-PL" sz="3600"/>
              <a:t>...,).</a:t>
            </a:r>
            <a:endParaRPr lang="pl-PL" altLang="pl-PL" sz="3600" b="1"/>
          </a:p>
        </p:txBody>
      </p:sp>
    </p:spTree>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D62E3497-941B-60BB-7410-5469DC522075}"/>
              </a:ext>
            </a:extLst>
          </p:cNvPr>
          <p:cNvSpPr>
            <a:spLocks noGrp="1"/>
          </p:cNvSpPr>
          <p:nvPr>
            <p:ph idx="1"/>
          </p:nvPr>
        </p:nvSpPr>
        <p:spPr>
          <a:xfrm>
            <a:off x="0" y="0"/>
            <a:ext cx="8686800" cy="7316788"/>
          </a:xfrm>
        </p:spPr>
        <p:txBody>
          <a:bodyPr>
            <a:normAutofit/>
          </a:bodyPr>
          <a:lstStyle/>
          <a:p>
            <a:pPr>
              <a:defRPr/>
            </a:pPr>
            <a:r>
              <a:rPr lang="pl-PL" sz="4400" dirty="0"/>
              <a:t>Art. 391 §  2 k.p.k.</a:t>
            </a:r>
          </a:p>
          <a:p>
            <a:pPr>
              <a:defRPr/>
            </a:pPr>
            <a:r>
              <a:rPr lang="pl-PL" sz="4400" dirty="0"/>
              <a:t> W warunkach określonych w § 1, a także w wypadku określonym w art. 182 § 3, wolno również odczytywać na rozprawie protokoły złożonych poprzednio przez świadka wyjaśnień w charakterze oskarżonego.</a:t>
            </a:r>
          </a:p>
          <a:p>
            <a:pPr marL="0" indent="0" algn="just">
              <a:buFont typeface="Wingdings" panose="05000000000000000000" pitchFamily="2" charset="2"/>
              <a:buNone/>
              <a:defRPr/>
            </a:pPr>
            <a:endParaRPr lang="pl-PL" sz="4400" b="1" dirty="0"/>
          </a:p>
        </p:txBody>
      </p:sp>
    </p:spTree>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B3FEE83C-BE4E-51D0-F96A-4F21288C10FE}"/>
              </a:ext>
            </a:extLst>
          </p:cNvPr>
          <p:cNvSpPr>
            <a:spLocks noGrp="1"/>
          </p:cNvSpPr>
          <p:nvPr>
            <p:ph idx="1"/>
          </p:nvPr>
        </p:nvSpPr>
        <p:spPr>
          <a:xfrm>
            <a:off x="0" y="0"/>
            <a:ext cx="8686800" cy="7316788"/>
          </a:xfrm>
        </p:spPr>
        <p:txBody>
          <a:bodyPr>
            <a:normAutofit/>
          </a:bodyPr>
          <a:lstStyle/>
          <a:p>
            <a:pPr>
              <a:defRPr/>
            </a:pPr>
            <a:r>
              <a:rPr lang="pl-PL" sz="5400" dirty="0"/>
              <a:t>Art. 182 §  3 k.p.k. </a:t>
            </a:r>
          </a:p>
          <a:p>
            <a:pPr>
              <a:defRPr/>
            </a:pPr>
            <a:r>
              <a:rPr lang="pl-PL" sz="5400" dirty="0"/>
              <a:t> Prawo odmowy zeznań przysługuje także świadkowi, który w innej toczącej się sprawie jest oskarżony o </a:t>
            </a:r>
            <a:r>
              <a:rPr lang="pl-PL" sz="5400" b="1" dirty="0"/>
              <a:t>współudział </a:t>
            </a:r>
            <a:r>
              <a:rPr lang="pl-PL" sz="5400" dirty="0"/>
              <a:t>w przestępstwie objętym postępowaniem.</a:t>
            </a:r>
          </a:p>
          <a:p>
            <a:pPr marL="0" indent="0">
              <a:buFont typeface="Wingdings" panose="05000000000000000000" pitchFamily="2" charset="2"/>
              <a:buNone/>
              <a:defRPr/>
            </a:pPr>
            <a:endParaRPr lang="pl-PL" sz="4400" b="1" dirty="0"/>
          </a:p>
        </p:txBody>
      </p:sp>
    </p:spTree>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820BB181-4353-3310-C223-3C5379F4C6C1}"/>
              </a:ext>
            </a:extLst>
          </p:cNvPr>
          <p:cNvSpPr>
            <a:spLocks noGrp="1"/>
          </p:cNvSpPr>
          <p:nvPr>
            <p:ph idx="1"/>
          </p:nvPr>
        </p:nvSpPr>
        <p:spPr>
          <a:xfrm>
            <a:off x="179388" y="188913"/>
            <a:ext cx="8507412" cy="7127875"/>
          </a:xfrm>
        </p:spPr>
        <p:txBody>
          <a:bodyPr>
            <a:normAutofit/>
          </a:bodyPr>
          <a:lstStyle/>
          <a:p>
            <a:pPr>
              <a:defRPr/>
            </a:pPr>
            <a:r>
              <a:rPr lang="pl-PL" sz="2800" dirty="0"/>
              <a:t>Art.  392 k.p.k.</a:t>
            </a:r>
          </a:p>
          <a:p>
            <a:pPr>
              <a:defRPr/>
            </a:pPr>
            <a:r>
              <a:rPr lang="pl-PL" sz="2800" dirty="0"/>
              <a:t>§  1.</a:t>
            </a:r>
          </a:p>
          <a:p>
            <a:pPr>
              <a:defRPr/>
            </a:pPr>
            <a:r>
              <a:rPr lang="pl-PL" sz="2800" dirty="0"/>
              <a:t> Wolno odczytywać na rozprawie głównej protokoły przesłuchania świadków i oskarżonych, sporządzone w postępowaniu przygotowawczym lub przed sądem albo w innym postępowaniu przewidzianym przez ustawę, gdy </a:t>
            </a:r>
            <a:r>
              <a:rPr lang="pl-PL" sz="2800" b="1" dirty="0">
                <a:solidFill>
                  <a:srgbClr val="FF0000"/>
                </a:solidFill>
              </a:rPr>
              <a:t>bezpośrednie przeprowadzenie dowodu nie jest niezbędne, </a:t>
            </a:r>
            <a:r>
              <a:rPr lang="pl-PL" sz="2800" dirty="0"/>
              <a:t>a żadna z obecnych stron temu się nie sprzeciwia.</a:t>
            </a:r>
          </a:p>
          <a:p>
            <a:pPr>
              <a:defRPr/>
            </a:pPr>
            <a:r>
              <a:rPr lang="pl-PL" sz="2800" dirty="0"/>
              <a:t>§  2.</a:t>
            </a:r>
          </a:p>
          <a:p>
            <a:pPr>
              <a:defRPr/>
            </a:pPr>
            <a:r>
              <a:rPr lang="pl-PL" sz="2800" dirty="0"/>
              <a:t> Sprzeciw strony, której zeznania lub wyjaśnienia nie dotyczą, nie stoi na przeszkodzie odczytaniu protokołu.</a:t>
            </a:r>
          </a:p>
          <a:p>
            <a:pPr marL="0" indent="0">
              <a:buFont typeface="Wingdings" panose="05000000000000000000" pitchFamily="2" charset="2"/>
              <a:buNone/>
              <a:defRPr/>
            </a:pPr>
            <a:endParaRPr lang="pl-PL" sz="4400" b="1" dirty="0"/>
          </a:p>
        </p:txBody>
      </p:sp>
    </p:spTree>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B00BDBBD-B996-F5C8-D22A-9ECE91FA4C56}"/>
              </a:ext>
            </a:extLst>
          </p:cNvPr>
          <p:cNvSpPr>
            <a:spLocks noGrp="1"/>
          </p:cNvSpPr>
          <p:nvPr>
            <p:ph idx="1"/>
          </p:nvPr>
        </p:nvSpPr>
        <p:spPr>
          <a:xfrm>
            <a:off x="0" y="0"/>
            <a:ext cx="8686800" cy="7316788"/>
          </a:xfrm>
        </p:spPr>
        <p:txBody>
          <a:bodyPr>
            <a:normAutofit fontScale="92500" lnSpcReduction="10000"/>
          </a:bodyPr>
          <a:lstStyle/>
          <a:p>
            <a:pPr marL="0" indent="0">
              <a:buFont typeface="Wingdings" panose="05000000000000000000" pitchFamily="2" charset="2"/>
              <a:buNone/>
              <a:defRPr/>
            </a:pPr>
            <a:r>
              <a:rPr lang="pl-PL" sz="2800" b="1" dirty="0"/>
              <a:t>Wyrok Sądu Najwyższego  z dnia 28 sierpnia 1970 r. </a:t>
            </a:r>
            <a:r>
              <a:rPr lang="pl-PL" sz="2800" b="1" dirty="0" err="1"/>
              <a:t>Rw</a:t>
            </a:r>
            <a:r>
              <a:rPr lang="pl-PL" sz="2800" b="1" dirty="0"/>
              <a:t> 793/70</a:t>
            </a:r>
          </a:p>
          <a:p>
            <a:pPr>
              <a:defRPr/>
            </a:pPr>
            <a:r>
              <a:rPr lang="pl-PL" sz="2800" dirty="0"/>
              <a:t>Wykryciu i ustaleniu prawdy obiektywnej służą między innymi zasady bezpośredniości i ustności rozprawy głównej, od których wolno sądowi odstępować wyjątkowo i tylko wtedy, gdy jest to z punktu widzenia celów procesu karnego możliwe. Z uprawnień określonych w art. 338 § 1 k.p.k. można korzystać zwłaszcza wtedy, gdy zeznania świadka mają służyć ustaleniu okoliczności nie zasadniczych, lecz drugorzędnych, albo gdy nie pozostają one w wyraźnej sprzeczności z innymi dowodami. </a:t>
            </a:r>
            <a:r>
              <a:rPr lang="pl-PL" sz="2800" dirty="0">
                <a:solidFill>
                  <a:srgbClr val="FF0000"/>
                </a:solidFill>
              </a:rPr>
              <a:t>Jeżeli jednak zeznania świadka mogą mieć istotne znaczenie dla oceny innych dowodów, a w tym kontekście również dla rozstrzygnięcia winy oskarżonego, to wówczas skorzystanie przez sąd z formalnych uprawnień przewidzianych w art. 338 § 1 k.p.k. (…) należy uznać za niedopuszczalne, obrażające zasady ustności i bezpośredniości.</a:t>
            </a:r>
          </a:p>
          <a:p>
            <a:pPr marL="0" indent="0">
              <a:buFont typeface="Wingdings" panose="05000000000000000000" pitchFamily="2" charset="2"/>
              <a:buNone/>
              <a:defRPr/>
            </a:pPr>
            <a:endParaRPr lang="pl-PL" sz="4400" b="1" dirty="0"/>
          </a:p>
        </p:txBody>
      </p:sp>
    </p:spTree>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E198CFC8-35DD-11A9-5A61-330EEEA9F484}"/>
              </a:ext>
            </a:extLst>
          </p:cNvPr>
          <p:cNvSpPr>
            <a:spLocks noGrp="1"/>
          </p:cNvSpPr>
          <p:nvPr>
            <p:ph idx="1"/>
          </p:nvPr>
        </p:nvSpPr>
        <p:spPr>
          <a:xfrm>
            <a:off x="107950" y="115888"/>
            <a:ext cx="8578850" cy="7200900"/>
          </a:xfrm>
        </p:spPr>
        <p:txBody>
          <a:bodyPr>
            <a:normAutofit/>
          </a:bodyPr>
          <a:lstStyle/>
          <a:p>
            <a:pPr marL="0" indent="0">
              <a:buFont typeface="Wingdings" panose="05000000000000000000" pitchFamily="2" charset="2"/>
              <a:buNone/>
              <a:defRPr/>
            </a:pPr>
            <a:r>
              <a:rPr lang="pl-PL" sz="4000" b="1" dirty="0">
                <a:solidFill>
                  <a:srgbClr val="C00000"/>
                </a:solidFill>
              </a:rPr>
              <a:t>Odczytywanie protokołów powstałych w trybie art.  185a k.p.k. i n.</a:t>
            </a:r>
          </a:p>
          <a:p>
            <a:pPr marL="0" indent="0">
              <a:buFont typeface="Wingdings" panose="05000000000000000000" pitchFamily="2" charset="2"/>
              <a:buNone/>
              <a:defRPr/>
            </a:pPr>
            <a:r>
              <a:rPr lang="pl-PL" sz="4000" dirty="0"/>
              <a:t>(…) </a:t>
            </a:r>
          </a:p>
          <a:p>
            <a:pPr>
              <a:defRPr/>
            </a:pPr>
            <a:r>
              <a:rPr lang="pl-PL" sz="4000" dirty="0"/>
              <a:t>§  3.</a:t>
            </a:r>
          </a:p>
          <a:p>
            <a:pPr>
              <a:defRPr/>
            </a:pPr>
            <a:r>
              <a:rPr lang="pl-PL" sz="4000" dirty="0"/>
              <a:t> </a:t>
            </a:r>
            <a:r>
              <a:rPr lang="pl-PL" sz="3900" dirty="0"/>
              <a:t>Na rozprawie głównej odtwarza się sporządzony zapis obrazu i dźwięku przesłuchania oraz odczytuje się protokół przesłuchania (vide art. 405 par. 2 i 3 pkt 1 k.p.k. </a:t>
            </a:r>
          </a:p>
          <a:p>
            <a:pPr marL="0" indent="0">
              <a:buFont typeface="Wingdings" panose="05000000000000000000" pitchFamily="2" charset="2"/>
              <a:buNone/>
              <a:defRPr/>
            </a:pPr>
            <a:endParaRPr lang="pl-PL" sz="4400" b="1" dirty="0"/>
          </a:p>
        </p:txBody>
      </p:sp>
    </p:spTree>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8114" name="Symbol zastępczy zawartości 2">
            <a:extLst>
              <a:ext uri="{FF2B5EF4-FFF2-40B4-BE49-F238E27FC236}">
                <a16:creationId xmlns:a16="http://schemas.microsoft.com/office/drawing/2014/main" id="{22299CDC-82FC-DD1C-8486-0632597D7E3B}"/>
              </a:ext>
            </a:extLst>
          </p:cNvPr>
          <p:cNvSpPr>
            <a:spLocks noGrp="1" noChangeArrowheads="1"/>
          </p:cNvSpPr>
          <p:nvPr>
            <p:ph idx="1"/>
          </p:nvPr>
        </p:nvSpPr>
        <p:spPr>
          <a:xfrm>
            <a:off x="0" y="0"/>
            <a:ext cx="8686800" cy="7316788"/>
          </a:xfrm>
        </p:spPr>
        <p:txBody>
          <a:bodyPr/>
          <a:lstStyle/>
          <a:p>
            <a:pPr marL="0" indent="0">
              <a:buFont typeface="Wingdings" panose="05000000000000000000" pitchFamily="2" charset="2"/>
              <a:buNone/>
            </a:pPr>
            <a:r>
              <a:rPr lang="pl-PL" altLang="pl-PL" sz="2800"/>
              <a:t>Art.  405 k.p.k. </a:t>
            </a:r>
          </a:p>
          <a:p>
            <a:pPr marL="0" indent="0">
              <a:buFont typeface="Wingdings" panose="05000000000000000000" pitchFamily="2" charset="2"/>
              <a:buNone/>
            </a:pPr>
            <a:r>
              <a:rPr lang="pl-PL" altLang="pl-PL" sz="2800"/>
              <a:t>§  2.</a:t>
            </a:r>
          </a:p>
          <a:p>
            <a:pPr marL="0" indent="0">
              <a:buFont typeface="Wingdings" panose="05000000000000000000" pitchFamily="2" charset="2"/>
              <a:buNone/>
            </a:pPr>
            <a:r>
              <a:rPr lang="pl-PL" altLang="pl-PL" sz="2800"/>
              <a:t>Z chwilą zamknięcia przewodu sądowego ujawnione są bez odczytywania wszystkie protokoły i dokumenty podlegające odczytaniu na rozprawie, które nie zostały odczytane.</a:t>
            </a:r>
          </a:p>
          <a:p>
            <a:pPr marL="0" indent="0">
              <a:buFont typeface="Wingdings" panose="05000000000000000000" pitchFamily="2" charset="2"/>
              <a:buNone/>
            </a:pPr>
            <a:r>
              <a:rPr lang="pl-PL" altLang="pl-PL" sz="2800"/>
              <a:t>§  3.</a:t>
            </a:r>
          </a:p>
          <a:p>
            <a:pPr marL="0" indent="0">
              <a:buFont typeface="Wingdings" panose="05000000000000000000" pitchFamily="2" charset="2"/>
              <a:buNone/>
            </a:pPr>
            <a:r>
              <a:rPr lang="pl-PL" altLang="pl-PL" sz="2800" b="1">
                <a:solidFill>
                  <a:srgbClr val="C00000"/>
                </a:solidFill>
              </a:rPr>
              <a:t>Protokołami i dokumentami, o których mowa w § 2, są protokoły i dokumenty:</a:t>
            </a:r>
          </a:p>
          <a:p>
            <a:pPr marL="0" indent="0">
              <a:buFont typeface="Wingdings" panose="05000000000000000000" pitchFamily="2" charset="2"/>
              <a:buNone/>
            </a:pPr>
            <a:r>
              <a:rPr lang="pl-PL" altLang="pl-PL" sz="2800" b="1">
                <a:solidFill>
                  <a:srgbClr val="C00000"/>
                </a:solidFill>
              </a:rPr>
              <a:t>1) wskazane przez oskarżyciela w akcie oskarżenia jako dowody, których przeprowadzenia na rozprawie głównej się on domaga, z wyjątkiem tych, co do których sąd oddalił wniosek dowodowy;</a:t>
            </a:r>
          </a:p>
          <a:p>
            <a:pPr marL="0" indent="0">
              <a:buFont typeface="Wingdings" panose="05000000000000000000" pitchFamily="2" charset="2"/>
              <a:buNone/>
            </a:pPr>
            <a:endParaRPr lang="pl-PL" altLang="pl-PL" sz="4400" b="1"/>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iejski">
  <a:themeElements>
    <a:clrScheme name="Miejski">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Miejski">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Miejski">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29906</TotalTime>
  <Words>37034</Words>
  <Application>Microsoft Office PowerPoint</Application>
  <PresentationFormat>Pokaz na ekranie (4:3)</PresentationFormat>
  <Paragraphs>1768</Paragraphs>
  <Slides>448</Slides>
  <Notes>27</Notes>
  <HiddenSlides>0</HiddenSlides>
  <MMClips>0</MMClips>
  <ScaleCrop>false</ScaleCrop>
  <HeadingPairs>
    <vt:vector size="6" baseType="variant">
      <vt:variant>
        <vt:lpstr>Używane czcionki</vt:lpstr>
      </vt:variant>
      <vt:variant>
        <vt:i4>8</vt:i4>
      </vt:variant>
      <vt:variant>
        <vt:lpstr>Motyw</vt:lpstr>
      </vt:variant>
      <vt:variant>
        <vt:i4>1</vt:i4>
      </vt:variant>
      <vt:variant>
        <vt:lpstr>Tytuły slajdów</vt:lpstr>
      </vt:variant>
      <vt:variant>
        <vt:i4>448</vt:i4>
      </vt:variant>
    </vt:vector>
  </HeadingPairs>
  <TitlesOfParts>
    <vt:vector size="457" baseType="lpstr">
      <vt:lpstr>Arial</vt:lpstr>
      <vt:lpstr>Calibri</vt:lpstr>
      <vt:lpstr>Georgia</vt:lpstr>
      <vt:lpstr>Times</vt:lpstr>
      <vt:lpstr>Times New Roman</vt:lpstr>
      <vt:lpstr>Verdana</vt:lpstr>
      <vt:lpstr>Wingdings</vt:lpstr>
      <vt:lpstr>Wingdings 2</vt:lpstr>
      <vt:lpstr>Miejski</vt:lpstr>
      <vt:lpstr>  Warunki dopuszczalności procesu (przesłanki procesowe) – zagadnienia wybrane (art. 17 k.p.k.)</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POSZCZEGÓLNE PRZESŁANKI PROCESOWE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Art. 17 par. 1 pkt 1 k.p.k. cd. </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Postanowienie SN z 22.09.2008 r., IV KK 241/08</vt:lpstr>
      <vt:lpstr>Kontratypy ustawowe</vt:lpstr>
      <vt:lpstr>Kontratypy ustawowe</vt:lpstr>
      <vt:lpstr>Kontratypy pozaustawowe</vt:lpstr>
      <vt:lpstr>Ujęcie (zatrzymanie obywatelskie) Każdy ma prawo ująć osobę na gorącym uczynku przestępstwa lub w pościgu podjętym bezpośrednio po popełnieniu przestępstwa, jeżeli zachodzi obawa ukrycia się tej osoby lub nie można ustalić jej  tożsamości. Osobę ujętą należy niezwłocznie oddać w ręce Policji (art. 243 par. 1 i 2 k.p.k.)</vt:lpstr>
      <vt:lpstr>Jedynie strona przedmiotowa? Co z niepoczytalnością?</vt:lpstr>
      <vt:lpstr>Prezentacja programu PowerPoint</vt:lpstr>
      <vt:lpstr>Prezentacja programu PowerPoint</vt:lpstr>
      <vt:lpstr>Okoliczności wyłączające winę</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Art. 17 par. 1 pkt 3 k.p.k. </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Błędy przy dokonywaniu oceny społecznej szkodliwości czynu - podstawa zarzutów</vt:lpstr>
      <vt:lpstr>Prezentacja programu PowerPoint</vt:lpstr>
      <vt:lpstr>Prezentacja programu PowerPoint</vt:lpstr>
      <vt:lpstr>Prezentacja programu PowerPoint</vt:lpstr>
      <vt:lpstr>Prezentacja programu PowerPoint</vt:lpstr>
      <vt:lpstr>Prezentacja programu PowerPoint</vt:lpstr>
      <vt:lpstr> </vt:lpstr>
      <vt:lpstr> </vt:lpstr>
      <vt:lpstr> </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D. Świecki</vt:lpstr>
      <vt:lpstr>Prezentacja programu PowerPoint</vt:lpstr>
      <vt:lpstr>L.K. PAPRZYCKI</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  3a.  W przypadku przestępstwa popełnionego w czasie dłuższym niż jeden dzień bieg przedawnienia rozpoczyna się z upływem ostatniego dnia, w którym sprawca swoim zachowaniem wypełniał znamiona przestępstwa. §  4.  W przypadku przestępstw: 1) przeciwko życiu i zdrowiu, popełnionych na szkodę małoletniego, zagrożonych karą, której górna granica przekracza 5 lat pozbawienia wolności, 2) określonych w rozdziale XXV, popełnionych na szkodę małoletniego, albo gdy treści pornograficzne obejmują udział małoletniego, 3) określonych w art. 156a i art. 191b, popełnionych na szkodę małoletniego - przedawnienie karalności przestępstwa nie może nastąpić przed ukończeniem przez niego 40. roku życia. </vt:lpstr>
      <vt:lpstr>Art.  102 §  1 k.k.   Jeżeli w okresie, o którym mowa w art. 101, wszczęto postępowanie, karalność przestępstw określonych w art. 101 § 1 ustaje z upływem 10 lat, a w pozostałych wypadkach - z upływem 5 lat od zakończenia tego okresu. §  2.  Jeżeli w toku wszczętego postępowania powzięto uzasadnione podejrzenie popełnienia innego przestępstwa, karalność tego przestępstwa ulega przedłużeniu w sposób określony w § 1 z dniem, w którym podjęto pierwszą czynność procesową zmierzającą do ustalenia, czy zostało ono popełnione.</vt:lpstr>
      <vt:lpstr>Z uzasadnienia: Aby nie było wątpliwości w kwestii tego, która z takich czynności jest pierwszą, w rozporządzeniu Ministra Sprawiedliwości z dnia 7 kwietnia 2016 r – Regulamin wewnętrznego urzędowania powszechnych jednostek organizacyjnych prokuratury (Dz. U. z 2017 r. poz. 1206, z późn. zm.) zostanie dodane unormowanie obligujące prokuratora do odnotowania w formie stosownego dokumentu (wzmianki) podjęcia pierwszej czynności procesowej zmierzającej do ustalenia, czy ww. przestępstwo zostało popełnione, co umożliwi sądowi określenie terminu przedłużenia przedawnienia, o którym mowa w projektowanym przepisie.  </vt:lpstr>
      <vt:lpstr>Postanowienie SN z 29.06.2017 r., IV KK 203/17, LEX nr 2342179, oraz uchwała SN (7) z 20.09.2018 r., I KZP 7/18, LEX nr 2549481: „W wypadku czynu, wyczerpującego znamiona dwóch albo więcej przepisów ustawy karnej, który stanowi przestępstwo podlegające kumulatywnej kwalifikacji prawnej (art. 11 § 2 k.k.), termin przedawnienia jego karalności wyznaczany jest, na podstawie art. 101 k.k., w oparciu o wysokość kary grożącej za to przestępstwo określonej w myśl art. 11 § 3 k.k. albo inne przesłanki wymienione w przepisach dotyczących terminu przedawnienia, a stosuje się go do całego kumulatywnie kwalifikowanego przestępstwa”. Por. także postanowienie SN z 29.06.2020 r., II KK 292/19, LEX nr 3040327: „Poszczególne zachowania opisane w czynie ciągłym, co do którego zastosowano kumulatywną kwalifikację z art. 11 § 2 k.k., nawet jeśli pozwalają na ich «naturalne» wyodrębnienie oraz gdy wypełniają w całości znamiona poszczególnych czynów zabronionych, nie mogą być analizowane w kontekście terminów przedawnienia w oderwaniu od treści art. 11 § 3 k.k. oraz art. 101 k.k., co sprawia, że następuje przedawnienie całości przestępstwa, a nie jego poszczególnych składników”.</vt:lpstr>
      <vt:lpstr>Prezentacja programu PowerPoint</vt:lpstr>
      <vt:lpstr>Prezentacja programu PowerPoint</vt:lpstr>
      <vt:lpstr>Prezentacja programu PowerPoint</vt:lpstr>
      <vt:lpstr>Prezentacja programu PowerPoint</vt:lpstr>
      <vt:lpstr>Prezentacja programu PowerPoint</vt:lpstr>
      <vt:lpstr>Przedawnienie karalności</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Prokurator w dniu 12 maja 2024 r. wszczął postępowanie przygotowawcze in rem co do czynu z art. 217 par. 1 k.k., obejmując ściganiem ten czyn jako prywatnoskargowy (popełniony on został w dniu 12 maja 2023 r. przez Zygfryda U. na szkodę Zenobii L.). Uznał bowiem, że wymaga tego interes społeczny. Po postawieniu Zygfrydowi U. 14 maja 2024 r.  zarzutu, wniósł następnie do sądu akt oskarżenia. Na rozprawie Zenobia L., działając jako oskarżycielka posiłkowa, wniosła, podobnie jak prokurator,  o skazanie oskarżonego. Czy w niniejszej sprawie może zostać wydany wyrok skazujący? </vt:lpstr>
      <vt:lpstr>Okresy przedawnienia karalności wskazane w art. 101 § 2 k.k. (oraz art. 102 k.k.) przewidziane dla przestępstw prywatnoskargowych obowiązują także wtedy, gdy dojdzie do objęcia takiego przestępstwa ściganiem z urzędu w trybie art. 60 § 1 k.p.k. (zob. np. wyrok SN z 12.04.2018 r., III KK 121/18, LEX nr 2490902; wyrok SN z 9.01.2019 r., V KK 427/18, LEX nr 2603541; wyrok SN z 20.12.2021 r., IV KK 687/21, LEX nr 3324564).</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Art. 17 par. 1 pkt 7 k.p.k. </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Ale:</vt:lpstr>
      <vt:lpstr>Prezentacja programu PowerPoint</vt:lpstr>
      <vt:lpstr>Prezentacja programu PowerPoint</vt:lpstr>
      <vt:lpstr>Res iudicata a czyn ciągły</vt:lpstr>
      <vt:lpstr>Prezentacja programu PowerPoint</vt:lpstr>
      <vt:lpstr>Res iudicata w przypadku przestępstw zbiorowych</vt:lpstr>
      <vt:lpstr>Prezentacja programu PowerPoint</vt:lpstr>
      <vt:lpstr>Prezentacja programu PowerPoint</vt:lpstr>
      <vt:lpstr>Prezentacja programu PowerPoint</vt:lpstr>
      <vt:lpstr>Prezentacja programu PowerPoint</vt:lpstr>
      <vt:lpstr>Prezentacja programu PowerPoint</vt:lpstr>
      <vt:lpstr>Ne bis in idem- orzeczenia kończące postępowanie w innych krajach UE</vt:lpstr>
      <vt:lpstr>Prezentacja programu PowerPoint</vt:lpstr>
      <vt:lpstr>Prezentacja programu PowerPoint</vt:lpstr>
      <vt:lpstr> </vt:lpstr>
      <vt:lpstr>Prezentacja programu PowerPoint</vt:lpstr>
      <vt:lpstr>Wyrok Trybunału Sprawiedliwości UE z dnia 22.12.2008 r. , C-491/07</vt:lpstr>
      <vt:lpstr> </vt:lpstr>
      <vt:lpstr>Prezentacja programu PowerPoint</vt:lpstr>
      <vt:lpstr>Niepodleganie orzecznictwu polskich sądów karnych – art. 17 par. 1 pkt 8 k.p.k. </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Ustawa z dnia 9 maja 1996 r. o wykonywaniu mandatu posła i senatora</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Brak skargi uprawnionego oskarżyciela  </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art. 17 par. 1 pkt 11 – zachodzi inna okoliczność wyłączająca ściganie</vt:lpstr>
      <vt:lpstr>Prezentacja programu PowerPoint</vt:lpstr>
      <vt:lpstr>Prezentacja programu PowerPoint</vt:lpstr>
      <vt:lpstr>Prezentacja programu PowerPoint</vt:lpstr>
      <vt:lpstr>Prezentacja programu PowerPoint</vt:lpstr>
      <vt:lpstr>Zbieg przesłanek procesowych</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art. 170 k.p.k. – dodana podstawa oddalenia wniosku dowodowego – 5.10.2019 r.</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Zasada bezpośredniości – prawda materialna cel, zasada bezpośredniości środek do celu </vt:lpstr>
      <vt:lpstr>Zasada bezpośredniości</vt:lpstr>
      <vt:lpstr>Zasada ustności</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Przesłanki procesowe</dc:title>
  <dc:creator>Maja</dc:creator>
  <cp:lastModifiedBy>Kala Dariusz</cp:lastModifiedBy>
  <cp:revision>1833</cp:revision>
  <dcterms:created xsi:type="dcterms:W3CDTF">2013-10-16T17:12:21Z</dcterms:created>
  <dcterms:modified xsi:type="dcterms:W3CDTF">2025-10-07T12:59:44Z</dcterms:modified>
</cp:coreProperties>
</file>