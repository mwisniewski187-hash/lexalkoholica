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42"/>
  </p:notesMasterIdLst>
  <p:handoutMasterIdLst>
    <p:handoutMasterId r:id="rId43"/>
  </p:handoutMasterIdLst>
  <p:sldIdLst>
    <p:sldId id="321" r:id="rId2"/>
    <p:sldId id="550" r:id="rId3"/>
    <p:sldId id="555" r:id="rId4"/>
    <p:sldId id="554" r:id="rId5"/>
    <p:sldId id="505" r:id="rId6"/>
    <p:sldId id="460" r:id="rId7"/>
    <p:sldId id="551" r:id="rId8"/>
    <p:sldId id="547" r:id="rId9"/>
    <p:sldId id="549" r:id="rId10"/>
    <p:sldId id="474" r:id="rId11"/>
    <p:sldId id="534" r:id="rId12"/>
    <p:sldId id="467" r:id="rId13"/>
    <p:sldId id="552" r:id="rId14"/>
    <p:sldId id="504" r:id="rId15"/>
    <p:sldId id="553" r:id="rId16"/>
    <p:sldId id="564" r:id="rId17"/>
    <p:sldId id="565" r:id="rId18"/>
    <p:sldId id="566" r:id="rId19"/>
    <p:sldId id="567" r:id="rId20"/>
    <p:sldId id="575" r:id="rId21"/>
    <p:sldId id="576" r:id="rId22"/>
    <p:sldId id="577" r:id="rId23"/>
    <p:sldId id="578" r:id="rId24"/>
    <p:sldId id="579" r:id="rId25"/>
    <p:sldId id="574" r:id="rId26"/>
    <p:sldId id="569" r:id="rId27"/>
    <p:sldId id="570" r:id="rId28"/>
    <p:sldId id="571" r:id="rId29"/>
    <p:sldId id="568" r:id="rId30"/>
    <p:sldId id="572" r:id="rId31"/>
    <p:sldId id="573" r:id="rId32"/>
    <p:sldId id="518" r:id="rId33"/>
    <p:sldId id="557" r:id="rId34"/>
    <p:sldId id="558" r:id="rId35"/>
    <p:sldId id="559" r:id="rId36"/>
    <p:sldId id="560" r:id="rId37"/>
    <p:sldId id="561" r:id="rId38"/>
    <p:sldId id="562" r:id="rId39"/>
    <p:sldId id="563" r:id="rId40"/>
    <p:sldId id="556" r:id="rId41"/>
  </p:sldIdLst>
  <p:sldSz cx="9144000" cy="6858000" type="screen4x3"/>
  <p:notesSz cx="6794500" cy="9931400"/>
  <p:defaultTextStyle>
    <a:defPPr>
      <a:defRPr lang="en-US"/>
    </a:defPPr>
    <a:lvl1pPr algn="l" rtl="0" fontAlgn="base">
      <a:spcBef>
        <a:spcPct val="20000"/>
      </a:spcBef>
      <a:spcAft>
        <a:spcPct val="0"/>
      </a:spcAft>
      <a:buChar char="•"/>
      <a:defRPr sz="3200" kern="1200">
        <a:solidFill>
          <a:schemeClr val="tx1"/>
        </a:solidFill>
        <a:latin typeface="Arial" charset="0"/>
        <a:ea typeface="+mn-ea"/>
        <a:cs typeface="+mn-cs"/>
      </a:defRPr>
    </a:lvl1pPr>
    <a:lvl2pPr marL="457200" algn="l" rtl="0" fontAlgn="base">
      <a:spcBef>
        <a:spcPct val="20000"/>
      </a:spcBef>
      <a:spcAft>
        <a:spcPct val="0"/>
      </a:spcAft>
      <a:buChar char="•"/>
      <a:defRPr sz="3200" kern="1200">
        <a:solidFill>
          <a:schemeClr val="tx1"/>
        </a:solidFill>
        <a:latin typeface="Arial" charset="0"/>
        <a:ea typeface="+mn-ea"/>
        <a:cs typeface="+mn-cs"/>
      </a:defRPr>
    </a:lvl2pPr>
    <a:lvl3pPr marL="914400" algn="l" rtl="0" fontAlgn="base">
      <a:spcBef>
        <a:spcPct val="20000"/>
      </a:spcBef>
      <a:spcAft>
        <a:spcPct val="0"/>
      </a:spcAft>
      <a:buChar char="•"/>
      <a:defRPr sz="3200" kern="1200">
        <a:solidFill>
          <a:schemeClr val="tx1"/>
        </a:solidFill>
        <a:latin typeface="Arial" charset="0"/>
        <a:ea typeface="+mn-ea"/>
        <a:cs typeface="+mn-cs"/>
      </a:defRPr>
    </a:lvl3pPr>
    <a:lvl4pPr marL="1371600" algn="l" rtl="0" fontAlgn="base">
      <a:spcBef>
        <a:spcPct val="20000"/>
      </a:spcBef>
      <a:spcAft>
        <a:spcPct val="0"/>
      </a:spcAft>
      <a:buChar char="•"/>
      <a:defRPr sz="3200" kern="1200">
        <a:solidFill>
          <a:schemeClr val="tx1"/>
        </a:solidFill>
        <a:latin typeface="Arial" charset="0"/>
        <a:ea typeface="+mn-ea"/>
        <a:cs typeface="+mn-cs"/>
      </a:defRPr>
    </a:lvl4pPr>
    <a:lvl5pPr marL="1828800" algn="l" rtl="0" fontAlgn="base">
      <a:spcBef>
        <a:spcPct val="20000"/>
      </a:spcBef>
      <a:spcAft>
        <a:spcPct val="0"/>
      </a:spcAft>
      <a:buChar char="•"/>
      <a:defRPr sz="3200" kern="1200">
        <a:solidFill>
          <a:schemeClr val="tx1"/>
        </a:solidFill>
        <a:latin typeface="Arial" charset="0"/>
        <a:ea typeface="+mn-ea"/>
        <a:cs typeface="+mn-cs"/>
      </a:defRPr>
    </a:lvl5pPr>
    <a:lvl6pPr marL="2286000" algn="l" defTabSz="914400" rtl="0" eaLnBrk="1" latinLnBrk="0" hangingPunct="1">
      <a:defRPr sz="3200" kern="1200">
        <a:solidFill>
          <a:schemeClr val="tx1"/>
        </a:solidFill>
        <a:latin typeface="Arial" charset="0"/>
        <a:ea typeface="+mn-ea"/>
        <a:cs typeface="+mn-cs"/>
      </a:defRPr>
    </a:lvl6pPr>
    <a:lvl7pPr marL="2743200" algn="l" defTabSz="914400" rtl="0" eaLnBrk="1" latinLnBrk="0" hangingPunct="1">
      <a:defRPr sz="3200" kern="1200">
        <a:solidFill>
          <a:schemeClr val="tx1"/>
        </a:solidFill>
        <a:latin typeface="Arial" charset="0"/>
        <a:ea typeface="+mn-ea"/>
        <a:cs typeface="+mn-cs"/>
      </a:defRPr>
    </a:lvl7pPr>
    <a:lvl8pPr marL="3200400" algn="l" defTabSz="914400" rtl="0" eaLnBrk="1" latinLnBrk="0" hangingPunct="1">
      <a:defRPr sz="3200" kern="1200">
        <a:solidFill>
          <a:schemeClr val="tx1"/>
        </a:solidFill>
        <a:latin typeface="Arial" charset="0"/>
        <a:ea typeface="+mn-ea"/>
        <a:cs typeface="+mn-cs"/>
      </a:defRPr>
    </a:lvl8pPr>
    <a:lvl9pPr marL="3657600" algn="l" defTabSz="914400" rtl="0" eaLnBrk="1" latinLnBrk="0" hangingPunct="1">
      <a:defRPr sz="3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795">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7FC5F5"/>
    <a:srgbClr val="91E2FF"/>
    <a:srgbClr val="0099CC"/>
    <a:srgbClr val="6AA7D4"/>
    <a:srgbClr val="0099FF"/>
    <a:srgbClr val="F463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94638" autoAdjust="0"/>
  </p:normalViewPr>
  <p:slideViewPr>
    <p:cSldViewPr>
      <p:cViewPr varScale="1">
        <p:scale>
          <a:sx n="112" d="100"/>
          <a:sy n="112" d="100"/>
        </p:scale>
        <p:origin x="1620" y="96"/>
      </p:cViewPr>
      <p:guideLst>
        <p:guide orient="horz" pos="2795"/>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1890" y="-90"/>
      </p:cViewPr>
      <p:guideLst>
        <p:guide orient="horz" pos="3127"/>
        <p:guide pos="214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3170" name="Rectangle 2"/>
          <p:cNvSpPr>
            <a:spLocks noGrp="1" noChangeArrowheads="1"/>
          </p:cNvSpPr>
          <p:nvPr>
            <p:ph type="hdr" sz="quarter"/>
          </p:nvPr>
        </p:nvSpPr>
        <p:spPr bwMode="auto">
          <a:xfrm>
            <a:off x="0" y="0"/>
            <a:ext cx="2944813"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atin typeface="Times New Roman" pitchFamily="18" charset="0"/>
              </a:defRPr>
            </a:lvl1pPr>
          </a:lstStyle>
          <a:p>
            <a:pPr>
              <a:defRPr/>
            </a:pPr>
            <a:endParaRPr lang="pl-PL"/>
          </a:p>
        </p:txBody>
      </p:sp>
      <p:sp>
        <p:nvSpPr>
          <p:cNvPr id="263171" name="Rectangle 3"/>
          <p:cNvSpPr>
            <a:spLocks noGrp="1" noChangeArrowheads="1"/>
          </p:cNvSpPr>
          <p:nvPr>
            <p:ph type="dt" sz="quarter" idx="1"/>
          </p:nvPr>
        </p:nvSpPr>
        <p:spPr bwMode="auto">
          <a:xfrm>
            <a:off x="3848100" y="0"/>
            <a:ext cx="2944813"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atin typeface="Times New Roman" pitchFamily="18" charset="0"/>
              </a:defRPr>
            </a:lvl1pPr>
          </a:lstStyle>
          <a:p>
            <a:pPr>
              <a:defRPr/>
            </a:pPr>
            <a:endParaRPr lang="pl-PL"/>
          </a:p>
        </p:txBody>
      </p:sp>
      <p:sp>
        <p:nvSpPr>
          <p:cNvPr id="263172" name="Rectangle 4"/>
          <p:cNvSpPr>
            <a:spLocks noGrp="1" noChangeArrowheads="1"/>
          </p:cNvSpPr>
          <p:nvPr>
            <p:ph type="ftr" sz="quarter" idx="2"/>
          </p:nvPr>
        </p:nvSpPr>
        <p:spPr bwMode="auto">
          <a:xfrm>
            <a:off x="0" y="9432925"/>
            <a:ext cx="2944813"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atin typeface="Times New Roman" pitchFamily="18" charset="0"/>
              </a:defRPr>
            </a:lvl1pPr>
          </a:lstStyle>
          <a:p>
            <a:pPr>
              <a:defRPr/>
            </a:pPr>
            <a:endParaRPr lang="pl-PL"/>
          </a:p>
        </p:txBody>
      </p:sp>
      <p:sp>
        <p:nvSpPr>
          <p:cNvPr id="263173" name="Rectangle 5"/>
          <p:cNvSpPr>
            <a:spLocks noGrp="1" noChangeArrowheads="1"/>
          </p:cNvSpPr>
          <p:nvPr>
            <p:ph type="sldNum" sz="quarter" idx="3"/>
          </p:nvPr>
        </p:nvSpPr>
        <p:spPr bwMode="auto">
          <a:xfrm>
            <a:off x="3848100" y="9432925"/>
            <a:ext cx="2944813"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atin typeface="Times New Roman" pitchFamily="18" charset="0"/>
              </a:defRPr>
            </a:lvl1pPr>
          </a:lstStyle>
          <a:p>
            <a:pPr>
              <a:defRPr/>
            </a:pPr>
            <a:fld id="{F5E3DB7C-9E64-40C2-A8AB-917F301DFEA9}" type="slidenum">
              <a:rPr lang="pl-PL"/>
              <a:pPr>
                <a:defRPr/>
              </a:pPr>
              <a:t>‹#›</a:t>
            </a:fld>
            <a:endParaRPr lang="pl-PL"/>
          </a:p>
        </p:txBody>
      </p:sp>
    </p:spTree>
    <p:extLst>
      <p:ext uri="{BB962C8B-B14F-4D97-AF65-F5344CB8AC3E}">
        <p14:creationId xmlns:p14="http://schemas.microsoft.com/office/powerpoint/2010/main" val="12451621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2944813"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vl1pPr>
          </a:lstStyle>
          <a:p>
            <a:pPr>
              <a:defRPr/>
            </a:pPr>
            <a:endParaRPr lang="pl-PL"/>
          </a:p>
        </p:txBody>
      </p:sp>
      <p:sp>
        <p:nvSpPr>
          <p:cNvPr id="53251" name="Rectangle 3"/>
          <p:cNvSpPr>
            <a:spLocks noGrp="1" noChangeArrowheads="1"/>
          </p:cNvSpPr>
          <p:nvPr>
            <p:ph type="dt" idx="1"/>
          </p:nvPr>
        </p:nvSpPr>
        <p:spPr bwMode="auto">
          <a:xfrm>
            <a:off x="3849688" y="0"/>
            <a:ext cx="2944812"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vl1pPr>
          </a:lstStyle>
          <a:p>
            <a:pPr>
              <a:defRPr/>
            </a:pPr>
            <a:endParaRPr lang="pl-PL"/>
          </a:p>
        </p:txBody>
      </p:sp>
      <p:sp>
        <p:nvSpPr>
          <p:cNvPr id="41988" name="Rectangle 4"/>
          <p:cNvSpPr>
            <a:spLocks noGrp="1" noRot="1" noChangeAspect="1" noChangeArrowheads="1" noTextEdit="1"/>
          </p:cNvSpPr>
          <p:nvPr>
            <p:ph type="sldImg" idx="2"/>
          </p:nvPr>
        </p:nvSpPr>
        <p:spPr bwMode="auto">
          <a:xfrm>
            <a:off x="914400" y="744538"/>
            <a:ext cx="4965700" cy="3724275"/>
          </a:xfrm>
          <a:prstGeom prst="rect">
            <a:avLst/>
          </a:prstGeom>
          <a:noFill/>
          <a:ln w="9525">
            <a:solidFill>
              <a:srgbClr val="000000"/>
            </a:solidFill>
            <a:miter lim="800000"/>
            <a:headEnd/>
            <a:tailEnd/>
          </a:ln>
        </p:spPr>
      </p:sp>
      <p:sp>
        <p:nvSpPr>
          <p:cNvPr id="53253" name="Rectangle 5"/>
          <p:cNvSpPr>
            <a:spLocks noGrp="1" noChangeArrowheads="1"/>
          </p:cNvSpPr>
          <p:nvPr>
            <p:ph type="body" sz="quarter" idx="3"/>
          </p:nvPr>
        </p:nvSpPr>
        <p:spPr bwMode="auto">
          <a:xfrm>
            <a:off x="906463" y="4716463"/>
            <a:ext cx="4981575" cy="447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l-PL" noProof="0"/>
              <a:t>Kliknij, aby edytować wzorce stylu tekstu</a:t>
            </a:r>
          </a:p>
          <a:p>
            <a:pPr lvl="1"/>
            <a:r>
              <a:rPr lang="pl-PL" noProof="0"/>
              <a:t>Drugi poziom</a:t>
            </a:r>
          </a:p>
          <a:p>
            <a:pPr lvl="2"/>
            <a:r>
              <a:rPr lang="pl-PL" noProof="0"/>
              <a:t>Trzeci poziom</a:t>
            </a:r>
          </a:p>
          <a:p>
            <a:pPr lvl="3"/>
            <a:r>
              <a:rPr lang="pl-PL" noProof="0"/>
              <a:t>Czwarty poziom</a:t>
            </a:r>
          </a:p>
          <a:p>
            <a:pPr lvl="4"/>
            <a:r>
              <a:rPr lang="pl-PL" noProof="0"/>
              <a:t>Piąty poziom</a:t>
            </a:r>
          </a:p>
        </p:txBody>
      </p:sp>
      <p:sp>
        <p:nvSpPr>
          <p:cNvPr id="53254" name="Rectangle 6"/>
          <p:cNvSpPr>
            <a:spLocks noGrp="1" noChangeArrowheads="1"/>
          </p:cNvSpPr>
          <p:nvPr>
            <p:ph type="ftr" sz="quarter" idx="4"/>
          </p:nvPr>
        </p:nvSpPr>
        <p:spPr bwMode="auto">
          <a:xfrm>
            <a:off x="0" y="9434513"/>
            <a:ext cx="2944813"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vl1pPr>
          </a:lstStyle>
          <a:p>
            <a:pPr>
              <a:defRPr/>
            </a:pPr>
            <a:endParaRPr lang="pl-PL"/>
          </a:p>
        </p:txBody>
      </p:sp>
      <p:sp>
        <p:nvSpPr>
          <p:cNvPr id="53255" name="Rectangle 7"/>
          <p:cNvSpPr>
            <a:spLocks noGrp="1" noChangeArrowheads="1"/>
          </p:cNvSpPr>
          <p:nvPr>
            <p:ph type="sldNum" sz="quarter" idx="5"/>
          </p:nvPr>
        </p:nvSpPr>
        <p:spPr bwMode="auto">
          <a:xfrm>
            <a:off x="3849688" y="9434513"/>
            <a:ext cx="2944812"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vl1pPr>
          </a:lstStyle>
          <a:p>
            <a:pPr>
              <a:defRPr/>
            </a:pPr>
            <a:fld id="{DCCC3C65-70C0-4D6C-9A87-5008F0FA484A}" type="slidenum">
              <a:rPr lang="pl-PL"/>
              <a:pPr>
                <a:defRPr/>
              </a:pPr>
              <a:t>‹#›</a:t>
            </a:fld>
            <a:endParaRPr lang="pl-PL"/>
          </a:p>
        </p:txBody>
      </p:sp>
    </p:spTree>
    <p:extLst>
      <p:ext uri="{BB962C8B-B14F-4D97-AF65-F5344CB8AC3E}">
        <p14:creationId xmlns:p14="http://schemas.microsoft.com/office/powerpoint/2010/main" val="20643469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CE7CF578-E809-4653-967B-16BA80F2E6CC}" type="slidenum">
              <a:rPr lang="pl-PL" smtClean="0"/>
              <a:pPr/>
              <a:t>1</a:t>
            </a:fld>
            <a:endParaRPr lang="pl-PL"/>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4264049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normAutofit/>
          </a:bodyPr>
          <a:lstStyle/>
          <a:p>
            <a:endParaRPr lang="pl-PL" dirty="0"/>
          </a:p>
        </p:txBody>
      </p:sp>
      <p:sp>
        <p:nvSpPr>
          <p:cNvPr id="4" name="Symbol zastępczy numeru slajdu 3"/>
          <p:cNvSpPr>
            <a:spLocks noGrp="1"/>
          </p:cNvSpPr>
          <p:nvPr>
            <p:ph type="sldNum" sz="quarter" idx="10"/>
          </p:nvPr>
        </p:nvSpPr>
        <p:spPr/>
        <p:txBody>
          <a:bodyPr/>
          <a:lstStyle/>
          <a:p>
            <a:pPr>
              <a:defRPr/>
            </a:pPr>
            <a:fld id="{DCCC3C65-70C0-4D6C-9A87-5008F0FA484A}" type="slidenum">
              <a:rPr lang="pl-PL" smtClean="0"/>
              <a:pPr>
                <a:defRPr/>
              </a:pPr>
              <a:t>5</a:t>
            </a:fld>
            <a:endParaRPr lang="pl-PL"/>
          </a:p>
        </p:txBody>
      </p:sp>
    </p:spTree>
    <p:extLst>
      <p:ext uri="{BB962C8B-B14F-4D97-AF65-F5344CB8AC3E}">
        <p14:creationId xmlns:p14="http://schemas.microsoft.com/office/powerpoint/2010/main" val="1531992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7B0EDCC5-DEA5-47A0-916F-7DC02BC8B551}" type="slidenum">
              <a:rPr lang="pl-PL" smtClean="0"/>
              <a:pPr/>
              <a:t>6</a:t>
            </a:fld>
            <a:endParaRPr lang="pl-PL"/>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4187428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10"/>
          </p:nvPr>
        </p:nvSpPr>
        <p:spPr/>
        <p:txBody>
          <a:bodyPr/>
          <a:lstStyle/>
          <a:p>
            <a:pPr>
              <a:defRPr/>
            </a:pPr>
            <a:fld id="{DCCC3C65-70C0-4D6C-9A87-5008F0FA484A}" type="slidenum">
              <a:rPr lang="pl-PL" smtClean="0"/>
              <a:pPr>
                <a:defRPr/>
              </a:pPr>
              <a:t>8</a:t>
            </a:fld>
            <a:endParaRPr lang="pl-PL"/>
          </a:p>
        </p:txBody>
      </p:sp>
    </p:spTree>
    <p:extLst>
      <p:ext uri="{BB962C8B-B14F-4D97-AF65-F5344CB8AC3E}">
        <p14:creationId xmlns:p14="http://schemas.microsoft.com/office/powerpoint/2010/main" val="3658237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685800" y="2130425"/>
            <a:ext cx="7772400" cy="1470025"/>
          </a:xfrm>
        </p:spPr>
        <p:txBody>
          <a:bodyPr/>
          <a:lstStyle/>
          <a:p>
            <a:r>
              <a:rPr lang="pl-PL"/>
              <a:t>Kliknij, aby edytować styl</a:t>
            </a:r>
          </a:p>
        </p:txBody>
      </p:sp>
      <p:sp>
        <p:nvSpPr>
          <p:cNvPr id="3" name="Podtytuł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pl-PL"/>
              <a:t>Kliknij, aby edytować styl wzorca podtytułu</a:t>
            </a:r>
          </a:p>
        </p:txBody>
      </p:sp>
      <p:sp>
        <p:nvSpPr>
          <p:cNvPr id="4" name="Rectangle 4"/>
          <p:cNvSpPr>
            <a:spLocks noGrp="1" noChangeArrowheads="1"/>
          </p:cNvSpPr>
          <p:nvPr>
            <p:ph type="dt" sz="half" idx="10"/>
          </p:nvPr>
        </p:nvSpPr>
        <p:spPr>
          <a:ln/>
        </p:spPr>
        <p:txBody>
          <a:bodyPr/>
          <a:lstStyle>
            <a:lvl1pPr>
              <a:defRPr/>
            </a:lvl1pPr>
          </a:lstStyle>
          <a:p>
            <a:pPr>
              <a:defRPr/>
            </a:pPr>
            <a:endParaRPr lang="pl-PL"/>
          </a:p>
        </p:txBody>
      </p:sp>
      <p:sp>
        <p:nvSpPr>
          <p:cNvPr id="5" name="Rectangle 5"/>
          <p:cNvSpPr>
            <a:spLocks noGrp="1" noChangeArrowheads="1"/>
          </p:cNvSpPr>
          <p:nvPr>
            <p:ph type="ftr" sz="quarter" idx="11"/>
          </p:nvPr>
        </p:nvSpPr>
        <p:spPr>
          <a:ln/>
        </p:spPr>
        <p:txBody>
          <a:bodyPr/>
          <a:lstStyle>
            <a:lvl1pPr>
              <a:defRPr/>
            </a:lvl1pPr>
          </a:lstStyle>
          <a:p>
            <a:pPr>
              <a:defRPr/>
            </a:pPr>
            <a:endParaRPr lang="pl-PL"/>
          </a:p>
        </p:txBody>
      </p:sp>
      <p:sp>
        <p:nvSpPr>
          <p:cNvPr id="6" name="Rectangle 6"/>
          <p:cNvSpPr>
            <a:spLocks noGrp="1" noChangeArrowheads="1"/>
          </p:cNvSpPr>
          <p:nvPr>
            <p:ph type="sldNum" sz="quarter" idx="12"/>
          </p:nvPr>
        </p:nvSpPr>
        <p:spPr>
          <a:ln/>
        </p:spPr>
        <p:txBody>
          <a:bodyPr/>
          <a:lstStyle>
            <a:lvl1pPr>
              <a:defRPr/>
            </a:lvl1pPr>
          </a:lstStyle>
          <a:p>
            <a:pPr>
              <a:defRPr/>
            </a:pPr>
            <a:fld id="{A1257C54-BA2F-4E8B-A5A8-62ACA78BD187}" type="slidenum">
              <a:rPr lang="pl-PL"/>
              <a:pPr>
                <a:defRPr/>
              </a:pPr>
              <a:t>‹#›</a:t>
            </a:fld>
            <a:endParaRPr lang="pl-P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4"/>
          <p:cNvSpPr>
            <a:spLocks noGrp="1" noChangeArrowheads="1"/>
          </p:cNvSpPr>
          <p:nvPr>
            <p:ph type="dt" sz="half" idx="10"/>
          </p:nvPr>
        </p:nvSpPr>
        <p:spPr>
          <a:ln/>
        </p:spPr>
        <p:txBody>
          <a:bodyPr/>
          <a:lstStyle>
            <a:lvl1pPr>
              <a:defRPr/>
            </a:lvl1pPr>
          </a:lstStyle>
          <a:p>
            <a:pPr>
              <a:defRPr/>
            </a:pPr>
            <a:endParaRPr lang="pl-PL"/>
          </a:p>
        </p:txBody>
      </p:sp>
      <p:sp>
        <p:nvSpPr>
          <p:cNvPr id="5" name="Rectangle 5"/>
          <p:cNvSpPr>
            <a:spLocks noGrp="1" noChangeArrowheads="1"/>
          </p:cNvSpPr>
          <p:nvPr>
            <p:ph type="ftr" sz="quarter" idx="11"/>
          </p:nvPr>
        </p:nvSpPr>
        <p:spPr>
          <a:ln/>
        </p:spPr>
        <p:txBody>
          <a:bodyPr/>
          <a:lstStyle>
            <a:lvl1pPr>
              <a:defRPr/>
            </a:lvl1pPr>
          </a:lstStyle>
          <a:p>
            <a:pPr>
              <a:defRPr/>
            </a:pPr>
            <a:endParaRPr lang="pl-PL"/>
          </a:p>
        </p:txBody>
      </p:sp>
      <p:sp>
        <p:nvSpPr>
          <p:cNvPr id="6" name="Rectangle 6"/>
          <p:cNvSpPr>
            <a:spLocks noGrp="1" noChangeArrowheads="1"/>
          </p:cNvSpPr>
          <p:nvPr>
            <p:ph type="sldNum" sz="quarter" idx="12"/>
          </p:nvPr>
        </p:nvSpPr>
        <p:spPr>
          <a:ln/>
        </p:spPr>
        <p:txBody>
          <a:bodyPr/>
          <a:lstStyle>
            <a:lvl1pPr>
              <a:defRPr/>
            </a:lvl1pPr>
          </a:lstStyle>
          <a:p>
            <a:pPr>
              <a:defRPr/>
            </a:pPr>
            <a:fld id="{EDE263E4-6580-44BF-AFF0-25F586621E82}" type="slidenum">
              <a:rPr lang="pl-PL"/>
              <a:pPr>
                <a:defRPr/>
              </a:pPr>
              <a:t>‹#›</a:t>
            </a:fld>
            <a:endParaRPr lang="pl-P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l-PL"/>
              <a:t>Kliknij, aby edytować style wzorca tekstu</a:t>
            </a:r>
          </a:p>
        </p:txBody>
      </p:sp>
      <p:sp>
        <p:nvSpPr>
          <p:cNvPr id="4" name="Rectangle 4"/>
          <p:cNvSpPr>
            <a:spLocks noGrp="1" noChangeArrowheads="1"/>
          </p:cNvSpPr>
          <p:nvPr>
            <p:ph type="dt" sz="half" idx="10"/>
          </p:nvPr>
        </p:nvSpPr>
        <p:spPr>
          <a:ln/>
        </p:spPr>
        <p:txBody>
          <a:bodyPr/>
          <a:lstStyle>
            <a:lvl1pPr>
              <a:defRPr/>
            </a:lvl1pPr>
          </a:lstStyle>
          <a:p>
            <a:pPr>
              <a:defRPr/>
            </a:pPr>
            <a:endParaRPr lang="pl-PL"/>
          </a:p>
        </p:txBody>
      </p:sp>
      <p:sp>
        <p:nvSpPr>
          <p:cNvPr id="5" name="Rectangle 5"/>
          <p:cNvSpPr>
            <a:spLocks noGrp="1" noChangeArrowheads="1"/>
          </p:cNvSpPr>
          <p:nvPr>
            <p:ph type="ftr" sz="quarter" idx="11"/>
          </p:nvPr>
        </p:nvSpPr>
        <p:spPr>
          <a:ln/>
        </p:spPr>
        <p:txBody>
          <a:bodyPr/>
          <a:lstStyle>
            <a:lvl1pPr>
              <a:defRPr/>
            </a:lvl1pPr>
          </a:lstStyle>
          <a:p>
            <a:pPr>
              <a:defRPr/>
            </a:pPr>
            <a:endParaRPr lang="pl-PL"/>
          </a:p>
        </p:txBody>
      </p:sp>
      <p:sp>
        <p:nvSpPr>
          <p:cNvPr id="6" name="Rectangle 6"/>
          <p:cNvSpPr>
            <a:spLocks noGrp="1" noChangeArrowheads="1"/>
          </p:cNvSpPr>
          <p:nvPr>
            <p:ph type="sldNum" sz="quarter" idx="12"/>
          </p:nvPr>
        </p:nvSpPr>
        <p:spPr>
          <a:ln/>
        </p:spPr>
        <p:txBody>
          <a:bodyPr/>
          <a:lstStyle>
            <a:lvl1pPr>
              <a:defRPr/>
            </a:lvl1pPr>
          </a:lstStyle>
          <a:p>
            <a:pPr>
              <a:defRPr/>
            </a:pPr>
            <a:fld id="{A10E7836-5D87-4D4D-AE9C-32688F5DBD2F}" type="slidenum">
              <a:rPr lang="pl-PL"/>
              <a:pPr>
                <a:defRPr/>
              </a:pPr>
              <a:t>‹#›</a:t>
            </a:fld>
            <a:endParaRPr lang="pl-P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Rectangle 4"/>
          <p:cNvSpPr>
            <a:spLocks noGrp="1" noChangeArrowheads="1"/>
          </p:cNvSpPr>
          <p:nvPr>
            <p:ph type="dt" sz="half" idx="10"/>
          </p:nvPr>
        </p:nvSpPr>
        <p:spPr>
          <a:ln/>
        </p:spPr>
        <p:txBody>
          <a:bodyPr/>
          <a:lstStyle>
            <a:lvl1pPr>
              <a:defRPr/>
            </a:lvl1pPr>
          </a:lstStyle>
          <a:p>
            <a:pPr>
              <a:defRPr/>
            </a:pPr>
            <a:endParaRPr lang="pl-PL"/>
          </a:p>
        </p:txBody>
      </p:sp>
      <p:sp>
        <p:nvSpPr>
          <p:cNvPr id="6" name="Rectangle 5"/>
          <p:cNvSpPr>
            <a:spLocks noGrp="1" noChangeArrowheads="1"/>
          </p:cNvSpPr>
          <p:nvPr>
            <p:ph type="ftr" sz="quarter" idx="11"/>
          </p:nvPr>
        </p:nvSpPr>
        <p:spPr>
          <a:ln/>
        </p:spPr>
        <p:txBody>
          <a:bodyPr/>
          <a:lstStyle>
            <a:lvl1pPr>
              <a:defRPr/>
            </a:lvl1pPr>
          </a:lstStyle>
          <a:p>
            <a:pPr>
              <a:defRPr/>
            </a:pPr>
            <a:endParaRPr lang="pl-PL"/>
          </a:p>
        </p:txBody>
      </p:sp>
      <p:sp>
        <p:nvSpPr>
          <p:cNvPr id="7" name="Rectangle 6"/>
          <p:cNvSpPr>
            <a:spLocks noGrp="1" noChangeArrowheads="1"/>
          </p:cNvSpPr>
          <p:nvPr>
            <p:ph type="sldNum" sz="quarter" idx="12"/>
          </p:nvPr>
        </p:nvSpPr>
        <p:spPr>
          <a:ln/>
        </p:spPr>
        <p:txBody>
          <a:bodyPr/>
          <a:lstStyle>
            <a:lvl1pPr>
              <a:defRPr/>
            </a:lvl1pPr>
          </a:lstStyle>
          <a:p>
            <a:pPr>
              <a:defRPr/>
            </a:pPr>
            <a:fld id="{AE90D219-9815-42B8-A77F-CDBBE8ECC4CB}" type="slidenum">
              <a:rPr lang="pl-PL"/>
              <a:pPr>
                <a:defRPr/>
              </a:pPr>
              <a:t>‹#›</a:t>
            </a:fld>
            <a:endParaRPr lang="pl-P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Rectangle 4"/>
          <p:cNvSpPr>
            <a:spLocks noGrp="1" noChangeArrowheads="1"/>
          </p:cNvSpPr>
          <p:nvPr>
            <p:ph type="dt" sz="half" idx="10"/>
          </p:nvPr>
        </p:nvSpPr>
        <p:spPr>
          <a:ln/>
        </p:spPr>
        <p:txBody>
          <a:bodyPr/>
          <a:lstStyle>
            <a:lvl1pPr>
              <a:defRPr/>
            </a:lvl1pPr>
          </a:lstStyle>
          <a:p>
            <a:pPr>
              <a:defRPr/>
            </a:pPr>
            <a:endParaRPr lang="pl-PL"/>
          </a:p>
        </p:txBody>
      </p:sp>
      <p:sp>
        <p:nvSpPr>
          <p:cNvPr id="8" name="Rectangle 5"/>
          <p:cNvSpPr>
            <a:spLocks noGrp="1" noChangeArrowheads="1"/>
          </p:cNvSpPr>
          <p:nvPr>
            <p:ph type="ftr" sz="quarter" idx="11"/>
          </p:nvPr>
        </p:nvSpPr>
        <p:spPr>
          <a:ln/>
        </p:spPr>
        <p:txBody>
          <a:bodyPr/>
          <a:lstStyle>
            <a:lvl1pPr>
              <a:defRPr/>
            </a:lvl1pPr>
          </a:lstStyle>
          <a:p>
            <a:pPr>
              <a:defRPr/>
            </a:pPr>
            <a:endParaRPr lang="pl-PL"/>
          </a:p>
        </p:txBody>
      </p:sp>
      <p:sp>
        <p:nvSpPr>
          <p:cNvPr id="9" name="Rectangle 6"/>
          <p:cNvSpPr>
            <a:spLocks noGrp="1" noChangeArrowheads="1"/>
          </p:cNvSpPr>
          <p:nvPr>
            <p:ph type="sldNum" sz="quarter" idx="12"/>
          </p:nvPr>
        </p:nvSpPr>
        <p:spPr>
          <a:ln/>
        </p:spPr>
        <p:txBody>
          <a:bodyPr/>
          <a:lstStyle>
            <a:lvl1pPr>
              <a:defRPr/>
            </a:lvl1pPr>
          </a:lstStyle>
          <a:p>
            <a:pPr>
              <a:defRPr/>
            </a:pPr>
            <a:fld id="{554A9DE4-02A4-4471-A0DB-79636C583842}" type="slidenum">
              <a:rPr lang="pl-PL"/>
              <a:pPr>
                <a:defRPr/>
              </a:pPr>
              <a:t>‹#›</a:t>
            </a:fld>
            <a:endParaRPr lang="pl-P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Rectangle 4"/>
          <p:cNvSpPr>
            <a:spLocks noGrp="1" noChangeArrowheads="1"/>
          </p:cNvSpPr>
          <p:nvPr>
            <p:ph type="dt" sz="half" idx="10"/>
          </p:nvPr>
        </p:nvSpPr>
        <p:spPr>
          <a:ln/>
        </p:spPr>
        <p:txBody>
          <a:bodyPr/>
          <a:lstStyle>
            <a:lvl1pPr>
              <a:defRPr/>
            </a:lvl1pPr>
          </a:lstStyle>
          <a:p>
            <a:pPr>
              <a:defRPr/>
            </a:pPr>
            <a:endParaRPr lang="pl-PL"/>
          </a:p>
        </p:txBody>
      </p:sp>
      <p:sp>
        <p:nvSpPr>
          <p:cNvPr id="4" name="Rectangle 5"/>
          <p:cNvSpPr>
            <a:spLocks noGrp="1" noChangeArrowheads="1"/>
          </p:cNvSpPr>
          <p:nvPr>
            <p:ph type="ftr" sz="quarter" idx="11"/>
          </p:nvPr>
        </p:nvSpPr>
        <p:spPr>
          <a:ln/>
        </p:spPr>
        <p:txBody>
          <a:bodyPr/>
          <a:lstStyle>
            <a:lvl1pPr>
              <a:defRPr/>
            </a:lvl1pPr>
          </a:lstStyle>
          <a:p>
            <a:pPr>
              <a:defRPr/>
            </a:pPr>
            <a:endParaRPr lang="pl-PL"/>
          </a:p>
        </p:txBody>
      </p:sp>
      <p:sp>
        <p:nvSpPr>
          <p:cNvPr id="5" name="Rectangle 6"/>
          <p:cNvSpPr>
            <a:spLocks noGrp="1" noChangeArrowheads="1"/>
          </p:cNvSpPr>
          <p:nvPr>
            <p:ph type="sldNum" sz="quarter" idx="12"/>
          </p:nvPr>
        </p:nvSpPr>
        <p:spPr>
          <a:ln/>
        </p:spPr>
        <p:txBody>
          <a:bodyPr/>
          <a:lstStyle>
            <a:lvl1pPr>
              <a:defRPr/>
            </a:lvl1pPr>
          </a:lstStyle>
          <a:p>
            <a:pPr>
              <a:defRPr/>
            </a:pPr>
            <a:fld id="{B979B7C6-0915-4405-AA0B-2B3A3367C816}" type="slidenum">
              <a:rPr lang="pl-PL"/>
              <a:pPr>
                <a:defRPr/>
              </a:pPr>
              <a:t>‹#›</a:t>
            </a:fld>
            <a:endParaRPr lang="pl-P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pl-PL"/>
          </a:p>
        </p:txBody>
      </p:sp>
      <p:sp>
        <p:nvSpPr>
          <p:cNvPr id="3" name="Rectangle 5"/>
          <p:cNvSpPr>
            <a:spLocks noGrp="1" noChangeArrowheads="1"/>
          </p:cNvSpPr>
          <p:nvPr>
            <p:ph type="ftr" sz="quarter" idx="11"/>
          </p:nvPr>
        </p:nvSpPr>
        <p:spPr>
          <a:ln/>
        </p:spPr>
        <p:txBody>
          <a:bodyPr/>
          <a:lstStyle>
            <a:lvl1pPr>
              <a:defRPr/>
            </a:lvl1pPr>
          </a:lstStyle>
          <a:p>
            <a:pPr>
              <a:defRPr/>
            </a:pPr>
            <a:endParaRPr lang="pl-PL"/>
          </a:p>
        </p:txBody>
      </p:sp>
      <p:sp>
        <p:nvSpPr>
          <p:cNvPr id="4" name="Rectangle 6"/>
          <p:cNvSpPr>
            <a:spLocks noGrp="1" noChangeArrowheads="1"/>
          </p:cNvSpPr>
          <p:nvPr>
            <p:ph type="sldNum" sz="quarter" idx="12"/>
          </p:nvPr>
        </p:nvSpPr>
        <p:spPr>
          <a:ln/>
        </p:spPr>
        <p:txBody>
          <a:bodyPr/>
          <a:lstStyle>
            <a:lvl1pPr>
              <a:defRPr/>
            </a:lvl1pPr>
          </a:lstStyle>
          <a:p>
            <a:pPr>
              <a:defRPr/>
            </a:pPr>
            <a:fld id="{54B3ACE7-3A62-4FA8-AC08-894676BBB6B3}" type="slidenum">
              <a:rPr lang="pl-PL"/>
              <a:pPr>
                <a:defRPr/>
              </a:pPr>
              <a:t>‹#›</a:t>
            </a:fld>
            <a:endParaRPr lang="pl-P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Rectangle 4"/>
          <p:cNvSpPr>
            <a:spLocks noGrp="1" noChangeArrowheads="1"/>
          </p:cNvSpPr>
          <p:nvPr>
            <p:ph type="dt" sz="half" idx="10"/>
          </p:nvPr>
        </p:nvSpPr>
        <p:spPr>
          <a:ln/>
        </p:spPr>
        <p:txBody>
          <a:bodyPr/>
          <a:lstStyle>
            <a:lvl1pPr>
              <a:defRPr/>
            </a:lvl1pPr>
          </a:lstStyle>
          <a:p>
            <a:pPr>
              <a:defRPr/>
            </a:pPr>
            <a:endParaRPr lang="pl-PL"/>
          </a:p>
        </p:txBody>
      </p:sp>
      <p:sp>
        <p:nvSpPr>
          <p:cNvPr id="6" name="Rectangle 5"/>
          <p:cNvSpPr>
            <a:spLocks noGrp="1" noChangeArrowheads="1"/>
          </p:cNvSpPr>
          <p:nvPr>
            <p:ph type="ftr" sz="quarter" idx="11"/>
          </p:nvPr>
        </p:nvSpPr>
        <p:spPr>
          <a:ln/>
        </p:spPr>
        <p:txBody>
          <a:bodyPr/>
          <a:lstStyle>
            <a:lvl1pPr>
              <a:defRPr/>
            </a:lvl1pPr>
          </a:lstStyle>
          <a:p>
            <a:pPr>
              <a:defRPr/>
            </a:pPr>
            <a:endParaRPr lang="pl-PL"/>
          </a:p>
        </p:txBody>
      </p:sp>
      <p:sp>
        <p:nvSpPr>
          <p:cNvPr id="7" name="Rectangle 6"/>
          <p:cNvSpPr>
            <a:spLocks noGrp="1" noChangeArrowheads="1"/>
          </p:cNvSpPr>
          <p:nvPr>
            <p:ph type="sldNum" sz="quarter" idx="12"/>
          </p:nvPr>
        </p:nvSpPr>
        <p:spPr>
          <a:ln/>
        </p:spPr>
        <p:txBody>
          <a:bodyPr/>
          <a:lstStyle>
            <a:lvl1pPr>
              <a:defRPr/>
            </a:lvl1pPr>
          </a:lstStyle>
          <a:p>
            <a:pPr>
              <a:defRPr/>
            </a:pPr>
            <a:fld id="{F5736002-0150-4300-8210-140F192FEAEC}" type="slidenum">
              <a:rPr lang="pl-PL"/>
              <a:pPr>
                <a:defRPr/>
              </a:pPr>
              <a:t>‹#›</a:t>
            </a:fld>
            <a:endParaRPr lang="pl-P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l-PL" noProof="0"/>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Rectangle 4"/>
          <p:cNvSpPr>
            <a:spLocks noGrp="1" noChangeArrowheads="1"/>
          </p:cNvSpPr>
          <p:nvPr>
            <p:ph type="dt" sz="half" idx="10"/>
          </p:nvPr>
        </p:nvSpPr>
        <p:spPr>
          <a:ln/>
        </p:spPr>
        <p:txBody>
          <a:bodyPr/>
          <a:lstStyle>
            <a:lvl1pPr>
              <a:defRPr/>
            </a:lvl1pPr>
          </a:lstStyle>
          <a:p>
            <a:pPr>
              <a:defRPr/>
            </a:pPr>
            <a:endParaRPr lang="pl-PL"/>
          </a:p>
        </p:txBody>
      </p:sp>
      <p:sp>
        <p:nvSpPr>
          <p:cNvPr id="6" name="Rectangle 5"/>
          <p:cNvSpPr>
            <a:spLocks noGrp="1" noChangeArrowheads="1"/>
          </p:cNvSpPr>
          <p:nvPr>
            <p:ph type="ftr" sz="quarter" idx="11"/>
          </p:nvPr>
        </p:nvSpPr>
        <p:spPr>
          <a:ln/>
        </p:spPr>
        <p:txBody>
          <a:bodyPr/>
          <a:lstStyle>
            <a:lvl1pPr>
              <a:defRPr/>
            </a:lvl1pPr>
          </a:lstStyle>
          <a:p>
            <a:pPr>
              <a:defRPr/>
            </a:pPr>
            <a:endParaRPr lang="pl-PL"/>
          </a:p>
        </p:txBody>
      </p:sp>
      <p:sp>
        <p:nvSpPr>
          <p:cNvPr id="7" name="Rectangle 6"/>
          <p:cNvSpPr>
            <a:spLocks noGrp="1" noChangeArrowheads="1"/>
          </p:cNvSpPr>
          <p:nvPr>
            <p:ph type="sldNum" sz="quarter" idx="12"/>
          </p:nvPr>
        </p:nvSpPr>
        <p:spPr>
          <a:ln/>
        </p:spPr>
        <p:txBody>
          <a:bodyPr/>
          <a:lstStyle>
            <a:lvl1pPr>
              <a:defRPr/>
            </a:lvl1pPr>
          </a:lstStyle>
          <a:p>
            <a:pPr>
              <a:defRPr/>
            </a:pPr>
            <a:fld id="{6CA65254-6AA3-445A-8300-33F2D7C13B73}" type="slidenum">
              <a:rPr lang="pl-PL"/>
              <a:pPr>
                <a:defRPr/>
              </a:pPr>
              <a:t>‹#›</a:t>
            </a:fld>
            <a:endParaRPr lang="pl-P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4"/>
          <p:cNvSpPr>
            <a:spLocks noGrp="1" noChangeArrowheads="1"/>
          </p:cNvSpPr>
          <p:nvPr>
            <p:ph type="dt" sz="half" idx="10"/>
          </p:nvPr>
        </p:nvSpPr>
        <p:spPr>
          <a:ln/>
        </p:spPr>
        <p:txBody>
          <a:bodyPr/>
          <a:lstStyle>
            <a:lvl1pPr>
              <a:defRPr/>
            </a:lvl1pPr>
          </a:lstStyle>
          <a:p>
            <a:pPr>
              <a:defRPr/>
            </a:pPr>
            <a:endParaRPr lang="pl-PL"/>
          </a:p>
        </p:txBody>
      </p:sp>
      <p:sp>
        <p:nvSpPr>
          <p:cNvPr id="5" name="Rectangle 5"/>
          <p:cNvSpPr>
            <a:spLocks noGrp="1" noChangeArrowheads="1"/>
          </p:cNvSpPr>
          <p:nvPr>
            <p:ph type="ftr" sz="quarter" idx="11"/>
          </p:nvPr>
        </p:nvSpPr>
        <p:spPr>
          <a:ln/>
        </p:spPr>
        <p:txBody>
          <a:bodyPr/>
          <a:lstStyle>
            <a:lvl1pPr>
              <a:defRPr/>
            </a:lvl1pPr>
          </a:lstStyle>
          <a:p>
            <a:pPr>
              <a:defRPr/>
            </a:pPr>
            <a:endParaRPr lang="pl-PL"/>
          </a:p>
        </p:txBody>
      </p:sp>
      <p:sp>
        <p:nvSpPr>
          <p:cNvPr id="6" name="Rectangle 6"/>
          <p:cNvSpPr>
            <a:spLocks noGrp="1" noChangeArrowheads="1"/>
          </p:cNvSpPr>
          <p:nvPr>
            <p:ph type="sldNum" sz="quarter" idx="12"/>
          </p:nvPr>
        </p:nvSpPr>
        <p:spPr>
          <a:ln/>
        </p:spPr>
        <p:txBody>
          <a:bodyPr/>
          <a:lstStyle>
            <a:lvl1pPr>
              <a:defRPr/>
            </a:lvl1pPr>
          </a:lstStyle>
          <a:p>
            <a:pPr>
              <a:defRPr/>
            </a:pPr>
            <a:fld id="{6FC354F3-55C1-4DDD-B47C-C5D2E9C6F708}" type="slidenum">
              <a:rPr lang="pl-PL"/>
              <a:pPr>
                <a:defRPr/>
              </a:pPr>
              <a:t>‹#›</a:t>
            </a:fld>
            <a:endParaRPr lang="pl-P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629400" y="274638"/>
            <a:ext cx="20574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457200" y="274638"/>
            <a:ext cx="60198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4"/>
          <p:cNvSpPr>
            <a:spLocks noGrp="1" noChangeArrowheads="1"/>
          </p:cNvSpPr>
          <p:nvPr>
            <p:ph type="dt" sz="half" idx="10"/>
          </p:nvPr>
        </p:nvSpPr>
        <p:spPr>
          <a:ln/>
        </p:spPr>
        <p:txBody>
          <a:bodyPr/>
          <a:lstStyle>
            <a:lvl1pPr>
              <a:defRPr/>
            </a:lvl1pPr>
          </a:lstStyle>
          <a:p>
            <a:pPr>
              <a:defRPr/>
            </a:pPr>
            <a:endParaRPr lang="pl-PL"/>
          </a:p>
        </p:txBody>
      </p:sp>
      <p:sp>
        <p:nvSpPr>
          <p:cNvPr id="5" name="Rectangle 5"/>
          <p:cNvSpPr>
            <a:spLocks noGrp="1" noChangeArrowheads="1"/>
          </p:cNvSpPr>
          <p:nvPr>
            <p:ph type="ftr" sz="quarter" idx="11"/>
          </p:nvPr>
        </p:nvSpPr>
        <p:spPr>
          <a:ln/>
        </p:spPr>
        <p:txBody>
          <a:bodyPr/>
          <a:lstStyle>
            <a:lvl1pPr>
              <a:defRPr/>
            </a:lvl1pPr>
          </a:lstStyle>
          <a:p>
            <a:pPr>
              <a:defRPr/>
            </a:pPr>
            <a:endParaRPr lang="pl-PL"/>
          </a:p>
        </p:txBody>
      </p:sp>
      <p:sp>
        <p:nvSpPr>
          <p:cNvPr id="6" name="Rectangle 6"/>
          <p:cNvSpPr>
            <a:spLocks noGrp="1" noChangeArrowheads="1"/>
          </p:cNvSpPr>
          <p:nvPr>
            <p:ph type="sldNum" sz="quarter" idx="12"/>
          </p:nvPr>
        </p:nvSpPr>
        <p:spPr>
          <a:ln/>
        </p:spPr>
        <p:txBody>
          <a:bodyPr/>
          <a:lstStyle>
            <a:lvl1pPr>
              <a:defRPr/>
            </a:lvl1pPr>
          </a:lstStyle>
          <a:p>
            <a:pPr>
              <a:defRPr/>
            </a:pPr>
            <a:fld id="{59D67E04-885E-4B15-9167-596749352202}" type="slidenum">
              <a:rPr lang="pl-PL"/>
              <a:pPr>
                <a:defRPr/>
              </a:pPr>
              <a:t>‹#›</a:t>
            </a:fld>
            <a:endParaRPr lang="pl-PL"/>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ytuł i tabela">
    <p:spTree>
      <p:nvGrpSpPr>
        <p:cNvPr id="1" name=""/>
        <p:cNvGrpSpPr/>
        <p:nvPr/>
      </p:nvGrpSpPr>
      <p:grpSpPr>
        <a:xfrm>
          <a:off x="0" y="0"/>
          <a:ext cx="0" cy="0"/>
          <a:chOff x="0" y="0"/>
          <a:chExt cx="0" cy="0"/>
        </a:xfrm>
      </p:grpSpPr>
      <p:sp>
        <p:nvSpPr>
          <p:cNvPr id="2" name="Tytuł 1"/>
          <p:cNvSpPr>
            <a:spLocks noGrp="1"/>
          </p:cNvSpPr>
          <p:nvPr>
            <p:ph type="title"/>
          </p:nvPr>
        </p:nvSpPr>
        <p:spPr>
          <a:xfrm>
            <a:off x="457200" y="274638"/>
            <a:ext cx="8229600" cy="1143000"/>
          </a:xfrm>
        </p:spPr>
        <p:txBody>
          <a:bodyPr/>
          <a:lstStyle/>
          <a:p>
            <a:r>
              <a:rPr lang="pl-PL"/>
              <a:t>Kliknij, aby edytować styl</a:t>
            </a:r>
          </a:p>
        </p:txBody>
      </p:sp>
      <p:sp>
        <p:nvSpPr>
          <p:cNvPr id="3" name="Symbol zastępczy tabeli 2"/>
          <p:cNvSpPr>
            <a:spLocks noGrp="1"/>
          </p:cNvSpPr>
          <p:nvPr>
            <p:ph type="tbl" idx="1"/>
          </p:nvPr>
        </p:nvSpPr>
        <p:spPr>
          <a:xfrm>
            <a:off x="457200" y="1600200"/>
            <a:ext cx="8229600" cy="4525963"/>
          </a:xfrm>
        </p:spPr>
        <p:txBody>
          <a:bodyPr/>
          <a:lstStyle/>
          <a:p>
            <a:pPr lvl="0"/>
            <a:endParaRPr lang="pl-PL" noProof="0"/>
          </a:p>
        </p:txBody>
      </p:sp>
      <p:sp>
        <p:nvSpPr>
          <p:cNvPr id="4" name="Rectangle 4"/>
          <p:cNvSpPr>
            <a:spLocks noGrp="1" noChangeArrowheads="1"/>
          </p:cNvSpPr>
          <p:nvPr>
            <p:ph type="dt" sz="half" idx="10"/>
          </p:nvPr>
        </p:nvSpPr>
        <p:spPr>
          <a:ln/>
        </p:spPr>
        <p:txBody>
          <a:bodyPr/>
          <a:lstStyle>
            <a:lvl1pPr>
              <a:defRPr/>
            </a:lvl1pPr>
          </a:lstStyle>
          <a:p>
            <a:pPr>
              <a:defRPr/>
            </a:pPr>
            <a:endParaRPr lang="pl-PL"/>
          </a:p>
        </p:txBody>
      </p:sp>
      <p:sp>
        <p:nvSpPr>
          <p:cNvPr id="5" name="Rectangle 5"/>
          <p:cNvSpPr>
            <a:spLocks noGrp="1" noChangeArrowheads="1"/>
          </p:cNvSpPr>
          <p:nvPr>
            <p:ph type="ftr" sz="quarter" idx="11"/>
          </p:nvPr>
        </p:nvSpPr>
        <p:spPr>
          <a:ln/>
        </p:spPr>
        <p:txBody>
          <a:bodyPr/>
          <a:lstStyle>
            <a:lvl1pPr>
              <a:defRPr/>
            </a:lvl1pPr>
          </a:lstStyle>
          <a:p>
            <a:pPr>
              <a:defRPr/>
            </a:pPr>
            <a:endParaRPr lang="pl-PL"/>
          </a:p>
        </p:txBody>
      </p:sp>
      <p:sp>
        <p:nvSpPr>
          <p:cNvPr id="6" name="Rectangle 6"/>
          <p:cNvSpPr>
            <a:spLocks noGrp="1" noChangeArrowheads="1"/>
          </p:cNvSpPr>
          <p:nvPr>
            <p:ph type="sldNum" sz="quarter" idx="12"/>
          </p:nvPr>
        </p:nvSpPr>
        <p:spPr>
          <a:ln/>
        </p:spPr>
        <p:txBody>
          <a:bodyPr/>
          <a:lstStyle>
            <a:lvl1pPr>
              <a:defRPr/>
            </a:lvl1pPr>
          </a:lstStyle>
          <a:p>
            <a:pPr>
              <a:defRPr/>
            </a:pPr>
            <a:fld id="{5264B833-AAC6-4897-9224-808A20D9BE05}" type="slidenum">
              <a:rPr lang="pl-PL"/>
              <a:pPr>
                <a:defRPr/>
              </a:pPr>
              <a:t>‹#›</a:t>
            </a:fld>
            <a:endParaRPr lang="pl-PL"/>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ytuł, zawartość i 2 elementy zawartości">
    <p:spTree>
      <p:nvGrpSpPr>
        <p:cNvPr id="1" name=""/>
        <p:cNvGrpSpPr/>
        <p:nvPr/>
      </p:nvGrpSpPr>
      <p:grpSpPr>
        <a:xfrm>
          <a:off x="0" y="0"/>
          <a:ext cx="0" cy="0"/>
          <a:chOff x="0" y="0"/>
          <a:chExt cx="0" cy="0"/>
        </a:xfrm>
      </p:grpSpPr>
      <p:sp>
        <p:nvSpPr>
          <p:cNvPr id="2" name="Tytuł 1"/>
          <p:cNvSpPr>
            <a:spLocks noGrp="1"/>
          </p:cNvSpPr>
          <p:nvPr>
            <p:ph type="title"/>
          </p:nvPr>
        </p:nvSpPr>
        <p:spPr>
          <a:xfrm>
            <a:off x="457200" y="274638"/>
            <a:ext cx="8229600" cy="1143000"/>
          </a:xfrm>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25963"/>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quarter" idx="2"/>
          </p:nvPr>
        </p:nvSpPr>
        <p:spPr>
          <a:xfrm>
            <a:off x="4648200" y="1600200"/>
            <a:ext cx="4038600" cy="21859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zawartości 4"/>
          <p:cNvSpPr>
            <a:spLocks noGrp="1"/>
          </p:cNvSpPr>
          <p:nvPr>
            <p:ph sz="quarter" idx="3"/>
          </p:nvPr>
        </p:nvSpPr>
        <p:spPr>
          <a:xfrm>
            <a:off x="4648200" y="3938588"/>
            <a:ext cx="4038600" cy="2187575"/>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Rectangle 4"/>
          <p:cNvSpPr>
            <a:spLocks noGrp="1" noChangeArrowheads="1"/>
          </p:cNvSpPr>
          <p:nvPr>
            <p:ph type="dt" sz="half" idx="10"/>
          </p:nvPr>
        </p:nvSpPr>
        <p:spPr>
          <a:ln/>
        </p:spPr>
        <p:txBody>
          <a:bodyPr/>
          <a:lstStyle>
            <a:lvl1pPr>
              <a:defRPr/>
            </a:lvl1pPr>
          </a:lstStyle>
          <a:p>
            <a:pPr>
              <a:defRPr/>
            </a:pPr>
            <a:endParaRPr lang="pl-PL"/>
          </a:p>
        </p:txBody>
      </p:sp>
      <p:sp>
        <p:nvSpPr>
          <p:cNvPr id="7" name="Rectangle 5"/>
          <p:cNvSpPr>
            <a:spLocks noGrp="1" noChangeArrowheads="1"/>
          </p:cNvSpPr>
          <p:nvPr>
            <p:ph type="ftr" sz="quarter" idx="11"/>
          </p:nvPr>
        </p:nvSpPr>
        <p:spPr>
          <a:ln/>
        </p:spPr>
        <p:txBody>
          <a:bodyPr/>
          <a:lstStyle>
            <a:lvl1pPr>
              <a:defRPr/>
            </a:lvl1pPr>
          </a:lstStyle>
          <a:p>
            <a:pPr>
              <a:defRPr/>
            </a:pPr>
            <a:endParaRPr lang="pl-PL"/>
          </a:p>
        </p:txBody>
      </p:sp>
      <p:sp>
        <p:nvSpPr>
          <p:cNvPr id="8" name="Rectangle 6"/>
          <p:cNvSpPr>
            <a:spLocks noGrp="1" noChangeArrowheads="1"/>
          </p:cNvSpPr>
          <p:nvPr>
            <p:ph type="sldNum" sz="quarter" idx="12"/>
          </p:nvPr>
        </p:nvSpPr>
        <p:spPr>
          <a:ln/>
        </p:spPr>
        <p:txBody>
          <a:bodyPr/>
          <a:lstStyle>
            <a:lvl1pPr>
              <a:defRPr/>
            </a:lvl1pPr>
          </a:lstStyle>
          <a:p>
            <a:pPr>
              <a:defRPr/>
            </a:pPr>
            <a:fld id="{6F0FEEE3-9309-4CC0-9B89-A1A83E9E4D7C}" type="slidenum">
              <a:rPr lang="pl-PL"/>
              <a:pPr>
                <a:defRPr/>
              </a:pPr>
              <a:t>‹#›</a:t>
            </a:fld>
            <a:endParaRPr lang="pl-P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pl-PL"/>
              <a:t>Kliknij, aby edytować styl wzorca tytułu</a:t>
            </a:r>
          </a:p>
        </p:txBody>
      </p:sp>
      <p:sp>
        <p:nvSpPr>
          <p:cNvPr id="10243"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1715204"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400"/>
            </a:lvl1pPr>
          </a:lstStyle>
          <a:p>
            <a:pPr>
              <a:defRPr/>
            </a:pPr>
            <a:endParaRPr lang="pl-PL"/>
          </a:p>
        </p:txBody>
      </p:sp>
      <p:sp>
        <p:nvSpPr>
          <p:cNvPr id="1715205"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400"/>
            </a:lvl1pPr>
          </a:lstStyle>
          <a:p>
            <a:pPr>
              <a:defRPr/>
            </a:pPr>
            <a:endParaRPr lang="pl-PL"/>
          </a:p>
        </p:txBody>
      </p:sp>
      <p:sp>
        <p:nvSpPr>
          <p:cNvPr id="1715206"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400"/>
            </a:lvl1pPr>
          </a:lstStyle>
          <a:p>
            <a:pPr>
              <a:defRPr/>
            </a:pPr>
            <a:fld id="{4D3B49AB-EBCE-47DF-A541-FC79C3D78CFC}" type="slidenum">
              <a:rPr lang="pl-PL"/>
              <a:pPr>
                <a:defRPr/>
              </a:pPr>
              <a:t>‹#›</a:t>
            </a:fld>
            <a:endParaRPr lang="pl-PL"/>
          </a:p>
        </p:txBody>
      </p:sp>
      <p:sp>
        <p:nvSpPr>
          <p:cNvPr id="1715207" name="Rectangle 7"/>
          <p:cNvSpPr>
            <a:spLocks noChangeArrowheads="1"/>
          </p:cNvSpPr>
          <p:nvPr/>
        </p:nvSpPr>
        <p:spPr bwMode="auto">
          <a:xfrm>
            <a:off x="0" y="6629400"/>
            <a:ext cx="9144000" cy="228600"/>
          </a:xfrm>
          <a:prstGeom prst="rect">
            <a:avLst/>
          </a:prstGeom>
          <a:solidFill>
            <a:srgbClr val="000066"/>
          </a:solidFill>
          <a:ln w="9525">
            <a:solidFill>
              <a:schemeClr val="tx1"/>
            </a:solidFill>
            <a:miter lim="800000"/>
            <a:headEnd/>
            <a:tailEnd/>
          </a:ln>
          <a:effectLst/>
        </p:spPr>
        <p:txBody>
          <a:bodyPr wrap="none" anchor="ctr"/>
          <a:lstStyle/>
          <a:p>
            <a:pPr>
              <a:defRPr/>
            </a:pPr>
            <a:endParaRPr lang="pl-PL"/>
          </a:p>
        </p:txBody>
      </p:sp>
      <p:sp>
        <p:nvSpPr>
          <p:cNvPr id="1715208" name="Rectangle 8"/>
          <p:cNvSpPr>
            <a:spLocks noChangeArrowheads="1"/>
          </p:cNvSpPr>
          <p:nvPr/>
        </p:nvSpPr>
        <p:spPr bwMode="auto">
          <a:xfrm>
            <a:off x="0" y="6553200"/>
            <a:ext cx="9144000" cy="76200"/>
          </a:xfrm>
          <a:prstGeom prst="rect">
            <a:avLst/>
          </a:prstGeom>
          <a:solidFill>
            <a:srgbClr val="FF9900"/>
          </a:solidFill>
          <a:ln w="9525">
            <a:solidFill>
              <a:schemeClr val="tx1"/>
            </a:solidFill>
            <a:miter lim="800000"/>
            <a:headEnd/>
            <a:tailEnd/>
          </a:ln>
          <a:effectLst/>
        </p:spPr>
        <p:txBody>
          <a:bodyPr wrap="none" anchor="ctr"/>
          <a:lstStyle/>
          <a:p>
            <a:pPr>
              <a:defRPr/>
            </a:pPr>
            <a:endParaRPr lang="pl-PL"/>
          </a:p>
        </p:txBody>
      </p:sp>
      <p:sp>
        <p:nvSpPr>
          <p:cNvPr id="1715209" name="Rectangle 9"/>
          <p:cNvSpPr>
            <a:spLocks noChangeArrowheads="1"/>
          </p:cNvSpPr>
          <p:nvPr/>
        </p:nvSpPr>
        <p:spPr bwMode="auto">
          <a:xfrm>
            <a:off x="0" y="1371600"/>
            <a:ext cx="9144000" cy="76200"/>
          </a:xfrm>
          <a:prstGeom prst="rect">
            <a:avLst/>
          </a:prstGeom>
          <a:solidFill>
            <a:srgbClr val="FF9900"/>
          </a:solidFill>
          <a:ln w="9525">
            <a:solidFill>
              <a:schemeClr val="tx1"/>
            </a:solidFill>
            <a:miter lim="800000"/>
            <a:headEnd/>
            <a:tailEnd/>
          </a:ln>
          <a:effectLst/>
        </p:spPr>
        <p:txBody>
          <a:bodyPr wrap="none" anchor="ctr"/>
          <a:lstStyle/>
          <a:p>
            <a:pPr>
              <a:defRPr/>
            </a:pPr>
            <a:endParaRPr lang="pl-PL"/>
          </a:p>
        </p:txBody>
      </p:sp>
      <p:sp>
        <p:nvSpPr>
          <p:cNvPr id="1715210" name="Rectangle 10"/>
          <p:cNvSpPr>
            <a:spLocks noChangeArrowheads="1"/>
          </p:cNvSpPr>
          <p:nvPr/>
        </p:nvSpPr>
        <p:spPr bwMode="auto">
          <a:xfrm>
            <a:off x="0" y="1447800"/>
            <a:ext cx="4572000" cy="76200"/>
          </a:xfrm>
          <a:prstGeom prst="rect">
            <a:avLst/>
          </a:prstGeom>
          <a:solidFill>
            <a:srgbClr val="000066"/>
          </a:solidFill>
          <a:ln w="9525">
            <a:solidFill>
              <a:schemeClr val="tx1"/>
            </a:solidFill>
            <a:miter lim="800000"/>
            <a:headEnd/>
            <a:tailEnd/>
          </a:ln>
          <a:effectLst/>
        </p:spPr>
        <p:txBody>
          <a:bodyPr wrap="none" anchor="ctr"/>
          <a:lstStyle/>
          <a:p>
            <a:pPr>
              <a:defRPr/>
            </a:pPr>
            <a:endParaRPr lang="pl-PL"/>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sip.lex.pl/#/document/16786199?unitId=art(44(1))&amp;cm=DOCUMENT"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sip.lex.pl/#/document/16786199?unitId=art(44(1))&amp;cm=DOCUMENT"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sip.lex.pl/#/document/16786199?unitId=art(44(1))&amp;cm=DOCUMENT" TargetMode="External"/><Relationship Id="rId2" Type="http://schemas.openxmlformats.org/officeDocument/2006/relationships/hyperlink" Target="https://sip.lex.pl/#/document/16786199?unitId=art(44(2))&amp;cm=DOCUMENT" TargetMode="External"/><Relationship Id="rId1" Type="http://schemas.openxmlformats.org/officeDocument/2006/relationships/slideLayout" Target="../slideLayouts/slideLayout2.xml"/><Relationship Id="rId4" Type="http://schemas.openxmlformats.org/officeDocument/2006/relationships/hyperlink" Target="https://sip.lex.pl/#/document/16798685?unitId=art(37)&amp;cm=DOCUMEN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Symbol zastępczy numeru slajdu 3"/>
          <p:cNvSpPr>
            <a:spLocks noGrp="1"/>
          </p:cNvSpPr>
          <p:nvPr>
            <p:ph type="sldNum" sz="quarter" idx="12"/>
          </p:nvPr>
        </p:nvSpPr>
        <p:spPr>
          <a:noFill/>
        </p:spPr>
        <p:txBody>
          <a:bodyPr/>
          <a:lstStyle/>
          <a:p>
            <a:fld id="{8130CB05-B89D-4DC3-93F2-66360096C776}" type="slidenum">
              <a:rPr lang="pl-PL" smtClean="0"/>
              <a:pPr/>
              <a:t>1</a:t>
            </a:fld>
            <a:endParaRPr lang="pl-PL"/>
          </a:p>
        </p:txBody>
      </p:sp>
      <p:sp>
        <p:nvSpPr>
          <p:cNvPr id="11267" name="Rectangle 3"/>
          <p:cNvSpPr>
            <a:spLocks noGrp="1" noChangeArrowheads="1"/>
          </p:cNvSpPr>
          <p:nvPr>
            <p:ph type="body" idx="4294967295"/>
          </p:nvPr>
        </p:nvSpPr>
        <p:spPr>
          <a:xfrm>
            <a:off x="395288" y="1628775"/>
            <a:ext cx="8229600" cy="4525963"/>
          </a:xfrm>
        </p:spPr>
        <p:txBody>
          <a:bodyPr/>
          <a:lstStyle/>
          <a:p>
            <a:pPr algn="ctr" eaLnBrk="1" hangingPunct="1">
              <a:lnSpc>
                <a:spcPct val="90000"/>
              </a:lnSpc>
              <a:buFontTx/>
              <a:buNone/>
            </a:pPr>
            <a:endParaRPr lang="pl-PL" sz="2000" dirty="0">
              <a:solidFill>
                <a:schemeClr val="accent2"/>
              </a:solidFill>
            </a:endParaRPr>
          </a:p>
          <a:p>
            <a:pPr algn="ctr" eaLnBrk="1" hangingPunct="1">
              <a:lnSpc>
                <a:spcPct val="90000"/>
              </a:lnSpc>
              <a:buFontTx/>
              <a:buNone/>
            </a:pPr>
            <a:endParaRPr lang="pl-PL" sz="2000" dirty="0">
              <a:solidFill>
                <a:schemeClr val="accent2"/>
              </a:solidFill>
            </a:endParaRPr>
          </a:p>
          <a:p>
            <a:pPr algn="ctr" eaLnBrk="1" hangingPunct="1">
              <a:lnSpc>
                <a:spcPct val="90000"/>
              </a:lnSpc>
              <a:buFontTx/>
              <a:buNone/>
            </a:pPr>
            <a:endParaRPr lang="pl-PL" sz="2000" dirty="0">
              <a:solidFill>
                <a:schemeClr val="accent2"/>
              </a:solidFill>
            </a:endParaRPr>
          </a:p>
          <a:p>
            <a:pPr algn="ctr" eaLnBrk="1" hangingPunct="1">
              <a:lnSpc>
                <a:spcPct val="90000"/>
              </a:lnSpc>
              <a:buFontTx/>
              <a:buNone/>
            </a:pPr>
            <a:endParaRPr lang="pl-PL" sz="2000" dirty="0">
              <a:solidFill>
                <a:schemeClr val="accent2"/>
              </a:solidFill>
            </a:endParaRPr>
          </a:p>
          <a:p>
            <a:pPr algn="ctr" eaLnBrk="1" hangingPunct="1">
              <a:lnSpc>
                <a:spcPct val="90000"/>
              </a:lnSpc>
              <a:buFontTx/>
              <a:buNone/>
            </a:pPr>
            <a:r>
              <a:rPr lang="pl-PL" b="1" dirty="0">
                <a:solidFill>
                  <a:schemeClr val="accent2"/>
                </a:solidFill>
              </a:rPr>
              <a:t>SZKODA W SYSTEJMIE PRAWA KARNEGO.</a:t>
            </a:r>
          </a:p>
          <a:p>
            <a:pPr algn="just" eaLnBrk="1" hangingPunct="1">
              <a:lnSpc>
                <a:spcPct val="90000"/>
              </a:lnSpc>
              <a:buFontTx/>
              <a:buNone/>
            </a:pPr>
            <a:endParaRPr lang="pl-PL" sz="1800" b="1" dirty="0">
              <a:solidFill>
                <a:schemeClr val="accent2"/>
              </a:solidFill>
            </a:endParaRPr>
          </a:p>
          <a:p>
            <a:pPr algn="just" eaLnBrk="1" hangingPunct="1">
              <a:lnSpc>
                <a:spcPct val="90000"/>
              </a:lnSpc>
              <a:buFontTx/>
              <a:buNone/>
            </a:pPr>
            <a:endParaRPr lang="pl-PL" sz="1800" b="1" dirty="0">
              <a:solidFill>
                <a:schemeClr val="accent2"/>
              </a:solidFill>
            </a:endParaRPr>
          </a:p>
          <a:p>
            <a:pPr algn="just" eaLnBrk="1" hangingPunct="1">
              <a:lnSpc>
                <a:spcPct val="90000"/>
              </a:lnSpc>
              <a:buFontTx/>
              <a:buNone/>
            </a:pPr>
            <a:endParaRPr lang="pl-PL" sz="1800" b="1" dirty="0">
              <a:solidFill>
                <a:schemeClr val="accent2"/>
              </a:solidFill>
            </a:endParaRPr>
          </a:p>
          <a:p>
            <a:pPr algn="just" eaLnBrk="1" hangingPunct="1">
              <a:lnSpc>
                <a:spcPct val="90000"/>
              </a:lnSpc>
              <a:buFontTx/>
              <a:buNone/>
            </a:pPr>
            <a:endParaRPr lang="pl-PL" sz="1800" b="1" dirty="0">
              <a:solidFill>
                <a:schemeClr val="accent2"/>
              </a:solidFill>
            </a:endParaRPr>
          </a:p>
          <a:p>
            <a:pPr algn="just" eaLnBrk="1" hangingPunct="1">
              <a:lnSpc>
                <a:spcPct val="90000"/>
              </a:lnSpc>
              <a:buFontTx/>
              <a:buNone/>
            </a:pPr>
            <a:endParaRPr lang="pl-PL" sz="1800" b="1" dirty="0">
              <a:solidFill>
                <a:schemeClr val="accent2"/>
              </a:solidFill>
            </a:endParaRPr>
          </a:p>
          <a:p>
            <a:pPr algn="just" eaLnBrk="1" hangingPunct="1">
              <a:lnSpc>
                <a:spcPct val="90000"/>
              </a:lnSpc>
              <a:buFontTx/>
              <a:buNone/>
            </a:pPr>
            <a:r>
              <a:rPr lang="pl-PL" sz="1800" dirty="0">
                <a:solidFill>
                  <a:schemeClr val="accent2"/>
                </a:solidFill>
              </a:rPr>
              <a:t>SSN prof. dr hab. Igor Zgoliński</a:t>
            </a:r>
          </a:p>
          <a:p>
            <a:pPr algn="ctr" eaLnBrk="1" hangingPunct="1">
              <a:lnSpc>
                <a:spcPct val="90000"/>
              </a:lnSpc>
              <a:buFontTx/>
              <a:buNone/>
            </a:pPr>
            <a:endParaRPr lang="pl-PL" sz="2800" dirty="0">
              <a:solidFill>
                <a:schemeClr val="accent2"/>
              </a:solidFill>
            </a:endParaRPr>
          </a:p>
          <a:p>
            <a:pPr algn="ctr" eaLnBrk="1" hangingPunct="1">
              <a:lnSpc>
                <a:spcPct val="90000"/>
              </a:lnSpc>
              <a:buFontTx/>
              <a:buNone/>
            </a:pPr>
            <a:endParaRPr lang="pl-PL" sz="2800" dirty="0">
              <a:solidFill>
                <a:schemeClr val="accent2"/>
              </a:solidFill>
            </a:endParaRPr>
          </a:p>
          <a:p>
            <a:pPr algn="ctr" eaLnBrk="1" hangingPunct="1">
              <a:lnSpc>
                <a:spcPct val="90000"/>
              </a:lnSpc>
              <a:buFontTx/>
              <a:buNone/>
            </a:pPr>
            <a:endParaRPr lang="pl-PL" sz="2800" dirty="0">
              <a:solidFill>
                <a:schemeClr val="accent2"/>
              </a:solidFill>
            </a:endParaRPr>
          </a:p>
          <a:p>
            <a:pPr algn="ctr" eaLnBrk="1" hangingPunct="1">
              <a:lnSpc>
                <a:spcPct val="90000"/>
              </a:lnSpc>
              <a:buFontTx/>
              <a:buNone/>
            </a:pPr>
            <a:r>
              <a:rPr lang="pl-PL" sz="2800" dirty="0">
                <a:solidFill>
                  <a:schemeClr val="accent2"/>
                </a:solidFill>
              </a:rPr>
              <a:t> </a:t>
            </a:r>
          </a:p>
          <a:p>
            <a:pPr algn="ctr" eaLnBrk="1" hangingPunct="1">
              <a:lnSpc>
                <a:spcPct val="90000"/>
              </a:lnSpc>
              <a:buFontTx/>
              <a:buNone/>
            </a:pPr>
            <a:endParaRPr lang="pl-PL" sz="2800" dirty="0">
              <a:solidFill>
                <a:schemeClr val="accent2"/>
              </a:solidFill>
            </a:endParaRPr>
          </a:p>
          <a:p>
            <a:pPr algn="ctr" eaLnBrk="1" hangingPunct="1">
              <a:lnSpc>
                <a:spcPct val="90000"/>
              </a:lnSpc>
              <a:buFontTx/>
              <a:buNone/>
            </a:pPr>
            <a:endParaRPr lang="pl-PL" sz="3600" dirty="0"/>
          </a:p>
          <a:p>
            <a:pPr algn="ctr" eaLnBrk="1" hangingPunct="1">
              <a:lnSpc>
                <a:spcPct val="90000"/>
              </a:lnSpc>
              <a:buFontTx/>
              <a:buNone/>
            </a:pPr>
            <a:endParaRPr lang="pl-PL" sz="3600" dirty="0"/>
          </a:p>
          <a:p>
            <a:pPr algn="ctr" eaLnBrk="1" hangingPunct="1">
              <a:lnSpc>
                <a:spcPct val="90000"/>
              </a:lnSpc>
              <a:buFontTx/>
              <a:buNone/>
            </a:pPr>
            <a:endParaRPr lang="pl-PL" sz="3600" dirty="0"/>
          </a:p>
          <a:p>
            <a:pPr algn="ctr" eaLnBrk="1" hangingPunct="1">
              <a:lnSpc>
                <a:spcPct val="90000"/>
              </a:lnSpc>
              <a:buFontTx/>
              <a:buNone/>
            </a:pPr>
            <a:endParaRPr lang="pl-PL" sz="5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pPr>
              <a:defRPr/>
            </a:pPr>
            <a:fld id="{54B3ACE7-3A62-4FA8-AC08-894676BBB6B3}" type="slidenum">
              <a:rPr lang="pl-PL" smtClean="0"/>
              <a:pPr>
                <a:defRPr/>
              </a:pPr>
              <a:t>2</a:t>
            </a:fld>
            <a:endParaRPr lang="pl-PL"/>
          </a:p>
        </p:txBody>
      </p:sp>
      <p:sp>
        <p:nvSpPr>
          <p:cNvPr id="5" name="Prostokąt 4"/>
          <p:cNvSpPr/>
          <p:nvPr/>
        </p:nvSpPr>
        <p:spPr>
          <a:xfrm>
            <a:off x="570384" y="2060848"/>
            <a:ext cx="8003232" cy="3933384"/>
          </a:xfrm>
          <a:prstGeom prst="rect">
            <a:avLst/>
          </a:prstGeom>
        </p:spPr>
        <p:txBody>
          <a:bodyPr wrap="square">
            <a:spAutoFit/>
          </a:bodyPr>
          <a:lstStyle/>
          <a:p>
            <a:pPr algn="ctr">
              <a:buNone/>
            </a:pPr>
            <a:r>
              <a:rPr lang="pl-PL" sz="2400" b="1" dirty="0">
                <a:solidFill>
                  <a:srgbClr val="333399"/>
                </a:solidFill>
              </a:rPr>
              <a:t>Zagadnienia odszkodowawcze w polskim systemie prawa karnego (sensu largo) zlokalizowane są w zasadniczej mierze w trzech aktach prawnych:</a:t>
            </a:r>
          </a:p>
          <a:p>
            <a:pPr algn="just">
              <a:buNone/>
            </a:pPr>
            <a:r>
              <a:rPr lang="pl-PL" sz="2400" b="1" dirty="0">
                <a:solidFill>
                  <a:srgbClr val="333399"/>
                </a:solidFill>
              </a:rPr>
              <a:t>1. Kodeks karny,</a:t>
            </a:r>
          </a:p>
          <a:p>
            <a:pPr algn="just">
              <a:buNone/>
            </a:pPr>
            <a:r>
              <a:rPr lang="pl-PL" sz="2400" b="1" dirty="0">
                <a:solidFill>
                  <a:srgbClr val="333399"/>
                </a:solidFill>
              </a:rPr>
              <a:t>2. Kodeks postępowania karnego (Rozdział 58),</a:t>
            </a:r>
          </a:p>
          <a:p>
            <a:pPr algn="just">
              <a:buNone/>
            </a:pPr>
            <a:r>
              <a:rPr lang="pl-PL" sz="2400" b="1" dirty="0">
                <a:solidFill>
                  <a:srgbClr val="333399"/>
                </a:solidFill>
              </a:rPr>
              <a:t>3. Ustawa z 23.02.1991r. O uznaniu za nieważne orzeczeń wydanych wobec osób represjonowanych za działalność na rzecz niepodległego bytu Państwa Polskiego (</a:t>
            </a:r>
            <a:r>
              <a:rPr lang="pl-PL" sz="2400" b="1" dirty="0" err="1">
                <a:solidFill>
                  <a:srgbClr val="333399"/>
                </a:solidFill>
              </a:rPr>
              <a:t>t.j</a:t>
            </a:r>
            <a:r>
              <a:rPr lang="pl-PL" sz="2400" b="1" dirty="0">
                <a:solidFill>
                  <a:srgbClr val="333399"/>
                </a:solidFill>
              </a:rPr>
              <a:t>. Dz. U. 2021 poz. 1693)</a:t>
            </a:r>
            <a:endParaRPr lang="pl-PL" sz="1400" dirty="0">
              <a:solidFill>
                <a:srgbClr val="333399"/>
              </a:solidFill>
            </a:endParaRPr>
          </a:p>
          <a:p>
            <a:pPr algn="ctr">
              <a:buNone/>
            </a:pPr>
            <a:endParaRPr lang="pl-PL" sz="1600" b="1" dirty="0">
              <a:solidFill>
                <a:srgbClr val="333399"/>
              </a:solidFill>
            </a:endParaRPr>
          </a:p>
        </p:txBody>
      </p:sp>
    </p:spTree>
    <p:extLst>
      <p:ext uri="{BB962C8B-B14F-4D97-AF65-F5344CB8AC3E}">
        <p14:creationId xmlns:p14="http://schemas.microsoft.com/office/powerpoint/2010/main" val="1748928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pPr>
              <a:defRPr/>
            </a:pPr>
            <a:fld id="{54B3ACE7-3A62-4FA8-AC08-894676BBB6B3}" type="slidenum">
              <a:rPr lang="pl-PL" smtClean="0"/>
              <a:pPr>
                <a:defRPr/>
              </a:pPr>
              <a:t>3</a:t>
            </a:fld>
            <a:endParaRPr lang="pl-PL"/>
          </a:p>
        </p:txBody>
      </p:sp>
      <p:sp>
        <p:nvSpPr>
          <p:cNvPr id="5" name="Prostokąt 4"/>
          <p:cNvSpPr/>
          <p:nvPr/>
        </p:nvSpPr>
        <p:spPr>
          <a:xfrm>
            <a:off x="683568" y="2644170"/>
            <a:ext cx="8003232" cy="3496342"/>
          </a:xfrm>
          <a:prstGeom prst="rect">
            <a:avLst/>
          </a:prstGeom>
        </p:spPr>
        <p:txBody>
          <a:bodyPr wrap="square">
            <a:spAutoFit/>
          </a:bodyPr>
          <a:lstStyle/>
          <a:p>
            <a:pPr algn="ctr">
              <a:buNone/>
            </a:pPr>
            <a:r>
              <a:rPr lang="pl-PL" sz="2400" b="1" dirty="0">
                <a:solidFill>
                  <a:srgbClr val="333399"/>
                </a:solidFill>
              </a:rPr>
              <a:t>Newralgiczne zmiany w stanie </a:t>
            </a:r>
            <a:r>
              <a:rPr lang="pl-PL" sz="2400" b="1" dirty="0">
                <a:solidFill>
                  <a:schemeClr val="accent2"/>
                </a:solidFill>
              </a:rPr>
              <a:t>prawnym</a:t>
            </a:r>
            <a:r>
              <a:rPr lang="pl-PL" sz="2400" b="1" dirty="0">
                <a:solidFill>
                  <a:srgbClr val="333399"/>
                </a:solidFill>
              </a:rPr>
              <a:t>:</a:t>
            </a:r>
            <a:endParaRPr lang="pl-PL" sz="1600" b="1" dirty="0">
              <a:solidFill>
                <a:srgbClr val="333399"/>
              </a:solidFill>
            </a:endParaRPr>
          </a:p>
          <a:p>
            <a:pPr marL="342900" indent="-342900" algn="just">
              <a:buFont typeface="Arial" panose="020B0604020202020204" pitchFamily="34" charset="0"/>
              <a:buChar char="•"/>
            </a:pPr>
            <a:r>
              <a:rPr lang="pl-PL" sz="2000" dirty="0">
                <a:solidFill>
                  <a:srgbClr val="333399"/>
                </a:solidFill>
              </a:rPr>
              <a:t>uchylenie przepisów </a:t>
            </a:r>
            <a:r>
              <a:rPr lang="pl-PL" sz="2000" dirty="0" err="1">
                <a:solidFill>
                  <a:srgbClr val="333399"/>
                </a:solidFill>
              </a:rPr>
              <a:t>kpk</a:t>
            </a:r>
            <a:r>
              <a:rPr lang="pl-PL" sz="2000" dirty="0">
                <a:solidFill>
                  <a:srgbClr val="333399"/>
                </a:solidFill>
              </a:rPr>
              <a:t> o powództwie adhezyjnym – rozdział 7 </a:t>
            </a:r>
            <a:r>
              <a:rPr lang="pl-PL" sz="2000" dirty="0" err="1">
                <a:solidFill>
                  <a:srgbClr val="333399"/>
                </a:solidFill>
              </a:rPr>
              <a:t>kpk</a:t>
            </a:r>
            <a:r>
              <a:rPr lang="pl-PL" sz="2000" dirty="0">
                <a:solidFill>
                  <a:srgbClr val="333399"/>
                </a:solidFill>
              </a:rPr>
              <a:t> (surogat orzekania o roszczeniu cywilnym w postępowaniu karnym)</a:t>
            </a:r>
          </a:p>
          <a:p>
            <a:pPr marL="342900" indent="-342900" algn="just">
              <a:buFont typeface="Arial" panose="020B0604020202020204" pitchFamily="34" charset="0"/>
              <a:buChar char="•"/>
            </a:pPr>
            <a:r>
              <a:rPr lang="pl-PL" sz="2000" dirty="0">
                <a:solidFill>
                  <a:srgbClr val="333399"/>
                </a:solidFill>
              </a:rPr>
              <a:t>ustanowienie w kk obowiązku naprawienia szkody środkiem kompensacyjnym przy jednoczesnym wyrugowaniu tej instytucji z katalogu środków karnych i istotnej modyfikacji jego treści</a:t>
            </a:r>
          </a:p>
          <a:p>
            <a:pPr algn="ctr">
              <a:buNone/>
            </a:pPr>
            <a:endParaRPr lang="pl-PL" sz="1600" b="1" dirty="0">
              <a:solidFill>
                <a:srgbClr val="333399"/>
              </a:solidFill>
            </a:endParaRPr>
          </a:p>
          <a:p>
            <a:pPr algn="just">
              <a:buNone/>
            </a:pPr>
            <a:r>
              <a:rPr lang="pl-PL" sz="1400" b="1" dirty="0">
                <a:solidFill>
                  <a:srgbClr val="333399"/>
                </a:solidFill>
              </a:rPr>
              <a:t>dokonane zostały ustawą z dnia 20 lutego 2015r. o zmianie ustawy Kodeks karny oraz niektórych innych ustaw (Dz. U. z dnia 20 marca 2015r. ) – art. 1 pkt 16 i art. 5 ust. 2. </a:t>
            </a:r>
          </a:p>
          <a:p>
            <a:pPr algn="ctr">
              <a:buNone/>
            </a:pPr>
            <a:endParaRPr lang="pl-PL" sz="1600" b="1" dirty="0">
              <a:solidFill>
                <a:srgbClr val="333399"/>
              </a:solidFill>
            </a:endParaRPr>
          </a:p>
        </p:txBody>
      </p:sp>
    </p:spTree>
    <p:extLst>
      <p:ext uri="{BB962C8B-B14F-4D97-AF65-F5344CB8AC3E}">
        <p14:creationId xmlns:p14="http://schemas.microsoft.com/office/powerpoint/2010/main" val="2895600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2000" b="1" dirty="0">
                <a:solidFill>
                  <a:srgbClr val="333399"/>
                </a:solidFill>
              </a:rPr>
              <a:t>Szkoda i jej dochodzenie przed sądem I instancji</a:t>
            </a:r>
            <a:endParaRPr lang="pl-PL" dirty="0"/>
          </a:p>
        </p:txBody>
      </p:sp>
      <p:sp>
        <p:nvSpPr>
          <p:cNvPr id="3" name="Symbol zastępczy zawartości 2"/>
          <p:cNvSpPr>
            <a:spLocks noGrp="1"/>
          </p:cNvSpPr>
          <p:nvPr>
            <p:ph idx="1"/>
          </p:nvPr>
        </p:nvSpPr>
        <p:spPr/>
        <p:txBody>
          <a:bodyPr/>
          <a:lstStyle/>
          <a:p>
            <a:pPr marL="0" indent="0">
              <a:buNone/>
            </a:pPr>
            <a:endParaRPr lang="pl-PL" sz="2000" dirty="0"/>
          </a:p>
          <a:p>
            <a:pPr marL="0" indent="0">
              <a:buNone/>
            </a:pPr>
            <a:endParaRPr lang="pl-PL" sz="2000" dirty="0"/>
          </a:p>
          <a:p>
            <a:pPr marL="0" indent="0" algn="just">
              <a:buNone/>
            </a:pPr>
            <a:endParaRPr lang="pl-PL" sz="2000" dirty="0">
              <a:solidFill>
                <a:schemeClr val="accent6"/>
              </a:solidFill>
            </a:endParaRPr>
          </a:p>
          <a:p>
            <a:pPr marL="0" indent="0" algn="just">
              <a:buNone/>
            </a:pPr>
            <a:r>
              <a:rPr lang="pl-PL" sz="2000" dirty="0">
                <a:solidFill>
                  <a:schemeClr val="accent6"/>
                </a:solidFill>
              </a:rPr>
              <a:t>art. 49a k.p.k. od 1 lipca 2015 r. stanowi, że pokrzywdzony, a także prokurator, może złożyć wniosek o orzeczenie obowiązku naprawienia szkody lub zadośćuczynienia za doznaną krzywdę </a:t>
            </a:r>
            <a:r>
              <a:rPr lang="pl-PL" sz="2000" b="1" dirty="0">
                <a:solidFill>
                  <a:schemeClr val="accent6"/>
                </a:solidFill>
              </a:rPr>
              <a:t>aż do zamknięcia przewodu sądowego na rozprawie głównej</a:t>
            </a:r>
            <a:r>
              <a:rPr lang="pl-PL" sz="2000" dirty="0">
                <a:solidFill>
                  <a:schemeClr val="accent6"/>
                </a:solidFill>
              </a:rPr>
              <a:t>. Dotąd cezurę tę wyznaczało zakończenie pierwszego przesłuchania pokrzywdzonego na rozprawie głównej. Kwestie intertemporalne związane z tą zmianą normuje art. 36 pkt 3 noweli z dnia 27 września 2013 r.</a:t>
            </a:r>
          </a:p>
        </p:txBody>
      </p:sp>
      <p:sp>
        <p:nvSpPr>
          <p:cNvPr id="4" name="Symbol zastępczy numeru slajdu 3"/>
          <p:cNvSpPr>
            <a:spLocks noGrp="1"/>
          </p:cNvSpPr>
          <p:nvPr>
            <p:ph type="sldNum" sz="quarter" idx="12"/>
          </p:nvPr>
        </p:nvSpPr>
        <p:spPr/>
        <p:txBody>
          <a:bodyPr/>
          <a:lstStyle/>
          <a:p>
            <a:pPr>
              <a:defRPr/>
            </a:pPr>
            <a:fld id="{EDE263E4-6580-44BF-AFF0-25F586621E82}" type="slidenum">
              <a:rPr lang="pl-PL" smtClean="0"/>
              <a:pPr>
                <a:defRPr/>
              </a:pPr>
              <a:t>4</a:t>
            </a:fld>
            <a:endParaRPr lang="pl-PL"/>
          </a:p>
        </p:txBody>
      </p:sp>
    </p:spTree>
    <p:extLst>
      <p:ext uri="{BB962C8B-B14F-4D97-AF65-F5344CB8AC3E}">
        <p14:creationId xmlns:p14="http://schemas.microsoft.com/office/powerpoint/2010/main" val="524549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pPr>
              <a:defRPr/>
            </a:pPr>
            <a:fld id="{EDE263E4-6580-44BF-AFF0-25F586621E82}" type="slidenum">
              <a:rPr lang="pl-PL" smtClean="0"/>
              <a:pPr>
                <a:defRPr/>
              </a:pPr>
              <a:t>5</a:t>
            </a:fld>
            <a:endParaRPr lang="pl-PL"/>
          </a:p>
        </p:txBody>
      </p:sp>
      <p:sp>
        <p:nvSpPr>
          <p:cNvPr id="5" name="Rectangle 3"/>
          <p:cNvSpPr txBox="1">
            <a:spLocks noChangeArrowheads="1"/>
          </p:cNvSpPr>
          <p:nvPr/>
        </p:nvSpPr>
        <p:spPr bwMode="auto">
          <a:xfrm>
            <a:off x="395288" y="1628775"/>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ctr" defTabSz="914400" rtl="0" eaLnBrk="1" fontAlgn="base" latinLnBrk="0" hangingPunct="1">
              <a:lnSpc>
                <a:spcPct val="90000"/>
              </a:lnSpc>
              <a:spcBef>
                <a:spcPct val="20000"/>
              </a:spcBef>
              <a:spcAft>
                <a:spcPct val="0"/>
              </a:spcAft>
              <a:buClrTx/>
              <a:buSzTx/>
              <a:buFontTx/>
              <a:buNone/>
              <a:tabLst/>
              <a:defRPr/>
            </a:pPr>
            <a:endParaRPr kumimoji="0" lang="pl-PL" sz="20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ctr" defTabSz="914400" rtl="0" eaLnBrk="1" fontAlgn="base" latinLnBrk="0" hangingPunct="1">
              <a:lnSpc>
                <a:spcPct val="90000"/>
              </a:lnSpc>
              <a:spcBef>
                <a:spcPct val="20000"/>
              </a:spcBef>
              <a:spcAft>
                <a:spcPct val="0"/>
              </a:spcAft>
              <a:buClrTx/>
              <a:buSzTx/>
              <a:buFontTx/>
              <a:buNone/>
              <a:tabLst/>
              <a:defRPr/>
            </a:pPr>
            <a:endParaRPr lang="pl-PL" sz="2000" kern="0" dirty="0">
              <a:solidFill>
                <a:schemeClr val="accent2"/>
              </a:solidFill>
              <a:latin typeface="+mn-lt"/>
            </a:endParaRPr>
          </a:p>
          <a:p>
            <a:pPr marL="342900" marR="0" lvl="0" indent="-342900" algn="ctr" defTabSz="914400" rtl="0" eaLnBrk="1" fontAlgn="base" latinLnBrk="0" hangingPunct="1">
              <a:lnSpc>
                <a:spcPct val="90000"/>
              </a:lnSpc>
              <a:spcBef>
                <a:spcPct val="20000"/>
              </a:spcBef>
              <a:spcAft>
                <a:spcPct val="0"/>
              </a:spcAft>
              <a:buClrTx/>
              <a:buSzTx/>
              <a:buFontTx/>
              <a:buNone/>
              <a:tabLst/>
              <a:defRPr/>
            </a:pPr>
            <a:endParaRPr kumimoji="0" lang="pl-PL" sz="20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ctr" defTabSz="914400" rtl="0" eaLnBrk="1" fontAlgn="base" latinLnBrk="0" hangingPunct="1">
              <a:lnSpc>
                <a:spcPct val="90000"/>
              </a:lnSpc>
              <a:spcBef>
                <a:spcPct val="20000"/>
              </a:spcBef>
              <a:spcAft>
                <a:spcPct val="0"/>
              </a:spcAft>
              <a:buClrTx/>
              <a:buSzTx/>
              <a:buFontTx/>
              <a:buNone/>
              <a:tabLst/>
              <a:defRPr/>
            </a:pPr>
            <a:endParaRPr lang="pl-PL" sz="2000" kern="0" dirty="0">
              <a:solidFill>
                <a:schemeClr val="accent2"/>
              </a:solidFill>
              <a:latin typeface="+mn-lt"/>
            </a:endParaRPr>
          </a:p>
          <a:p>
            <a:pPr marL="342900" marR="0" lvl="0" indent="-342900" algn="ctr" defTabSz="914400" rtl="0" eaLnBrk="1" fontAlgn="base" latinLnBrk="0" hangingPunct="1">
              <a:lnSpc>
                <a:spcPct val="90000"/>
              </a:lnSpc>
              <a:spcBef>
                <a:spcPct val="20000"/>
              </a:spcBef>
              <a:spcAft>
                <a:spcPct val="0"/>
              </a:spcAft>
              <a:buClrTx/>
              <a:buSzTx/>
              <a:buFontTx/>
              <a:buNone/>
              <a:tabLst/>
              <a:defRPr/>
            </a:pPr>
            <a:endParaRPr kumimoji="0" lang="pl-PL" sz="20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ctr" defTabSz="914400" rtl="0" eaLnBrk="1" fontAlgn="base" latinLnBrk="0" hangingPunct="1">
              <a:lnSpc>
                <a:spcPct val="90000"/>
              </a:lnSpc>
              <a:spcBef>
                <a:spcPct val="20000"/>
              </a:spcBef>
              <a:spcAft>
                <a:spcPct val="0"/>
              </a:spcAft>
              <a:buClrTx/>
              <a:buSzTx/>
              <a:buFontTx/>
              <a:buNone/>
              <a:tabLst/>
              <a:defRPr/>
            </a:pPr>
            <a:endParaRPr kumimoji="0" lang="pl-PL" sz="20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ctr" defTabSz="914400" rtl="0" eaLnBrk="1" fontAlgn="base" latinLnBrk="0" hangingPunct="1">
              <a:lnSpc>
                <a:spcPct val="90000"/>
              </a:lnSpc>
              <a:spcBef>
                <a:spcPct val="20000"/>
              </a:spcBef>
              <a:spcAft>
                <a:spcPct val="0"/>
              </a:spcAft>
              <a:buClrTx/>
              <a:buSzTx/>
              <a:buFontTx/>
              <a:buNone/>
              <a:tabLst/>
              <a:defRPr/>
            </a:pPr>
            <a:endParaRPr kumimoji="0" lang="pl-PL" sz="28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ctr" defTabSz="914400" rtl="0" eaLnBrk="1" fontAlgn="base" latinLnBrk="0" hangingPunct="1">
              <a:lnSpc>
                <a:spcPct val="90000"/>
              </a:lnSpc>
              <a:spcBef>
                <a:spcPct val="20000"/>
              </a:spcBef>
              <a:spcAft>
                <a:spcPct val="0"/>
              </a:spcAft>
              <a:buClrTx/>
              <a:buSzTx/>
              <a:buFontTx/>
              <a:buNone/>
              <a:tabLst/>
              <a:defRPr/>
            </a:pPr>
            <a:endParaRPr kumimoji="0" lang="pl-PL" sz="36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ctr" defTabSz="914400" rtl="0" eaLnBrk="1" fontAlgn="base" latinLnBrk="0" hangingPunct="1">
              <a:lnSpc>
                <a:spcPct val="90000"/>
              </a:lnSpc>
              <a:spcBef>
                <a:spcPct val="20000"/>
              </a:spcBef>
              <a:spcAft>
                <a:spcPct val="0"/>
              </a:spcAft>
              <a:buClrTx/>
              <a:buSzTx/>
              <a:buFontTx/>
              <a:buNone/>
              <a:tabLst/>
              <a:defRPr/>
            </a:pPr>
            <a:endParaRPr kumimoji="0" lang="pl-PL" sz="5400" b="1" i="0" u="none" strike="noStrike" kern="0" cap="none" spc="0" normalizeH="0" baseline="0" noProof="0" dirty="0">
              <a:ln>
                <a:noFill/>
              </a:ln>
              <a:solidFill>
                <a:schemeClr val="tx1"/>
              </a:solidFill>
              <a:effectLst/>
              <a:uLnTx/>
              <a:uFillTx/>
              <a:latin typeface="+mn-lt"/>
              <a:ea typeface="+mn-ea"/>
              <a:cs typeface="+mn-cs"/>
            </a:endParaRPr>
          </a:p>
        </p:txBody>
      </p:sp>
      <p:sp>
        <p:nvSpPr>
          <p:cNvPr id="6" name="Rectangle 2"/>
          <p:cNvSpPr txBox="1">
            <a:spLocks noChangeArrowheads="1"/>
          </p:cNvSpPr>
          <p:nvPr/>
        </p:nvSpPr>
        <p:spPr bwMode="auto">
          <a:xfrm>
            <a:off x="179388" y="1628775"/>
            <a:ext cx="8964612" cy="4924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lnSpc>
                <a:spcPct val="80000"/>
              </a:lnSpc>
              <a:buNone/>
              <a:defRPr/>
            </a:pPr>
            <a:r>
              <a:rPr lang="pl-PL" sz="1600" b="1" kern="0" dirty="0">
                <a:solidFill>
                  <a:schemeClr val="accent2"/>
                </a:solidFill>
                <a:latin typeface="+mn-lt"/>
              </a:rPr>
              <a:t>Ustawą z dnia 20 lutego 2015 r. o zmianie ustawy - Kodeks karny oraz niektórych innych ustaw (Dz. U. poz. 396) zmieniono </a:t>
            </a:r>
            <a:r>
              <a:rPr lang="pl-PL" sz="2000" b="1" kern="0" dirty="0">
                <a:solidFill>
                  <a:schemeClr val="accent2"/>
                </a:solidFill>
                <a:latin typeface="+mn-lt"/>
              </a:rPr>
              <a:t>art. 46 k.k.</a:t>
            </a:r>
          </a:p>
          <a:p>
            <a:pPr lvl="0" algn="ctr">
              <a:lnSpc>
                <a:spcPct val="80000"/>
              </a:lnSpc>
              <a:buNone/>
              <a:defRPr/>
            </a:pPr>
            <a:endParaRPr lang="pl-PL" sz="2000" b="1" kern="0" dirty="0">
              <a:solidFill>
                <a:schemeClr val="accent2"/>
              </a:solidFill>
              <a:latin typeface="+mn-lt"/>
            </a:endParaRPr>
          </a:p>
          <a:p>
            <a:pPr lvl="0" algn="just">
              <a:buNone/>
              <a:defRPr/>
            </a:pPr>
            <a:r>
              <a:rPr lang="pl-PL" sz="1700" kern="0" dirty="0">
                <a:solidFill>
                  <a:schemeClr val="accent2"/>
                </a:solidFill>
                <a:latin typeface="+mn-lt"/>
              </a:rPr>
              <a:t>§ 1. W razie skazania sąd może orzec, a na wniosek pokrzywdzonego lub innej osoby uprawnionej orzeka, </a:t>
            </a:r>
            <a:r>
              <a:rPr lang="pl-PL" sz="1700" b="1" u="sng" kern="0" dirty="0">
                <a:solidFill>
                  <a:schemeClr val="accent2"/>
                </a:solidFill>
                <a:latin typeface="+mn-lt"/>
              </a:rPr>
              <a:t>stosując przepisy prawa cywilnego</a:t>
            </a:r>
            <a:r>
              <a:rPr lang="pl-PL" sz="1700" kern="0" dirty="0">
                <a:solidFill>
                  <a:schemeClr val="accent2"/>
                </a:solidFill>
                <a:latin typeface="+mn-lt"/>
              </a:rPr>
              <a:t>, obowiązek naprawienia, w całości albo w części, wyrządzonej przestępstwem szkody lub zadośćuczynienia za doznaną krzywdę; </a:t>
            </a:r>
            <a:r>
              <a:rPr lang="pl-PL" sz="1700" u="sng" kern="0" dirty="0">
                <a:solidFill>
                  <a:schemeClr val="accent2"/>
                </a:solidFill>
                <a:latin typeface="+mn-lt"/>
              </a:rPr>
              <a:t>przepisów prawa cywilnego o możliwości zasądzenia renty nie stosuje się</a:t>
            </a:r>
            <a:r>
              <a:rPr lang="pl-PL" sz="1700" kern="0" dirty="0">
                <a:solidFill>
                  <a:schemeClr val="accent2"/>
                </a:solidFill>
                <a:latin typeface="+mn-lt"/>
              </a:rPr>
              <a:t>.</a:t>
            </a:r>
          </a:p>
          <a:p>
            <a:pPr lvl="0" algn="just">
              <a:buNone/>
              <a:defRPr/>
            </a:pPr>
            <a:r>
              <a:rPr lang="pl-PL" sz="1700" kern="0" dirty="0">
                <a:solidFill>
                  <a:schemeClr val="accent2"/>
                </a:solidFill>
                <a:latin typeface="+mn-lt"/>
              </a:rPr>
              <a:t>§ 2. Jeżeli orzeczenie obowiązku określonego w § 1 jest znacznie utrudnione, sąd może orzec zamiast tego obowiązku nawiązkę w wysokości do </a:t>
            </a:r>
            <a:r>
              <a:rPr lang="pl-PL" sz="1700" i="1" kern="0" dirty="0">
                <a:solidFill>
                  <a:srgbClr val="FF0000"/>
                </a:solidFill>
                <a:latin typeface="+mn-lt"/>
              </a:rPr>
              <a:t>200 000 </a:t>
            </a:r>
            <a:r>
              <a:rPr lang="pl-PL" sz="1700" kern="0" dirty="0">
                <a:solidFill>
                  <a:schemeClr val="accent2"/>
                </a:solidFill>
                <a:latin typeface="+mn-lt"/>
              </a:rPr>
              <a:t>złotych </a:t>
            </a:r>
            <a:r>
              <a:rPr lang="pl-PL" sz="1700" b="1" kern="0" dirty="0">
                <a:solidFill>
                  <a:schemeClr val="accent2"/>
                </a:solidFill>
                <a:latin typeface="+mn-lt"/>
              </a:rPr>
              <a:t>na rzecz pokrzywdzonego, a w razie jego śmierci w wyniku popełnionego przez skazanego przestępstwa nawiązkę na rzecz osoby najbliższej,</a:t>
            </a:r>
            <a:r>
              <a:rPr lang="pl-PL" sz="1700" kern="0" dirty="0">
                <a:solidFill>
                  <a:schemeClr val="accent2"/>
                </a:solidFill>
                <a:latin typeface="+mn-lt"/>
              </a:rPr>
              <a:t> której sytuacja życiowa wskutek śmierci pokrzywdzonego uległa znacznemu pogorszeniu. W razie gdy ustalono więcej niż jedną taką osobę, nawiązki orzeka się na rzecz każdej z nich.</a:t>
            </a:r>
          </a:p>
          <a:p>
            <a:pPr lvl="0" algn="just">
              <a:buNone/>
              <a:defRPr/>
            </a:pPr>
            <a:r>
              <a:rPr lang="pl-PL" sz="1700" kern="0" dirty="0">
                <a:solidFill>
                  <a:schemeClr val="accent2"/>
                </a:solidFill>
                <a:latin typeface="+mn-lt"/>
              </a:rPr>
              <a:t>§ 3. Orzeczenie odszkodowania lub zadośćuczynienia na podstawie § 1 albo nawiązki na podstawie § 2 nie stoi na przeszkodzie dochodzeniu niezaspokojonej części roszczenia w drodze postępowania cywilnego. [</a:t>
            </a:r>
            <a:r>
              <a:rPr lang="pl-PL" sz="1700" i="1" kern="0" dirty="0">
                <a:solidFill>
                  <a:schemeClr val="accent2"/>
                </a:solidFill>
                <a:latin typeface="+mn-lt"/>
              </a:rPr>
              <a:t>per analogiam 415 par.2 k.p.k</a:t>
            </a:r>
            <a:r>
              <a:rPr lang="pl-PL" sz="1700" kern="0" dirty="0">
                <a:solidFill>
                  <a:schemeClr val="accent2"/>
                </a:solidFill>
                <a:latin typeface="+mn-lt"/>
              </a:rPr>
              <a:t>.]</a:t>
            </a:r>
          </a:p>
          <a:p>
            <a:pPr marL="812800" marR="0" lvl="0" indent="-812800" algn="l" defTabSz="914400" rtl="0" eaLnBrk="1" fontAlgn="base" latinLnBrk="0" hangingPunct="1">
              <a:lnSpc>
                <a:spcPct val="80000"/>
              </a:lnSpc>
              <a:spcBef>
                <a:spcPct val="20000"/>
              </a:spcBef>
              <a:spcAft>
                <a:spcPct val="0"/>
              </a:spcAft>
              <a:buClrTx/>
              <a:buSzTx/>
              <a:buFontTx/>
              <a:buNone/>
              <a:tabLst/>
              <a:defRPr/>
            </a:pPr>
            <a:endParaRPr kumimoji="0" lang="pl-PL" sz="1800" b="1" i="0" u="none" strike="noStrike" kern="0" cap="none" spc="0" normalizeH="0" baseline="0" noProof="0" dirty="0">
              <a:ln>
                <a:noFill/>
              </a:ln>
              <a:solidFill>
                <a:schemeClr val="accent2"/>
              </a:solidFill>
              <a:effectLst/>
              <a:uLnTx/>
              <a:uFillTx/>
              <a:latin typeface="+mn-lt"/>
            </a:endParaRPr>
          </a:p>
          <a:p>
            <a:pPr marL="812800" marR="0" lvl="0" indent="-812800" algn="l" defTabSz="914400" rtl="0" eaLnBrk="1" fontAlgn="base" latinLnBrk="0" hangingPunct="1">
              <a:lnSpc>
                <a:spcPct val="80000"/>
              </a:lnSpc>
              <a:spcBef>
                <a:spcPct val="20000"/>
              </a:spcBef>
              <a:spcAft>
                <a:spcPct val="0"/>
              </a:spcAft>
              <a:buClrTx/>
              <a:buSzTx/>
              <a:buFontTx/>
              <a:buNone/>
              <a:tabLst/>
              <a:defRPr/>
            </a:pPr>
            <a:r>
              <a:rPr lang="pl-PL" sz="1800" kern="0" dirty="0">
                <a:solidFill>
                  <a:schemeClr val="accent2"/>
                </a:solidFill>
                <a:latin typeface="+mn-lt"/>
              </a:rPr>
              <a:t>	</a:t>
            </a:r>
            <a:endParaRPr kumimoji="0" lang="pl-PL" sz="1800" b="0" i="0" u="none" strike="noStrike" kern="0" cap="none" spc="0" normalizeH="0" baseline="0" noProof="0" dirty="0">
              <a:ln>
                <a:noFill/>
              </a:ln>
              <a:solidFill>
                <a:schemeClr val="accent2"/>
              </a:solidFill>
              <a:effectLst/>
              <a:uLnTx/>
              <a:uFillTx/>
              <a:latin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Symbol zastępczy numeru slajdu 5"/>
          <p:cNvSpPr>
            <a:spLocks noGrp="1"/>
          </p:cNvSpPr>
          <p:nvPr>
            <p:ph type="sldNum" sz="quarter" idx="12"/>
          </p:nvPr>
        </p:nvSpPr>
        <p:spPr>
          <a:noFill/>
        </p:spPr>
        <p:txBody>
          <a:bodyPr/>
          <a:lstStyle/>
          <a:p>
            <a:fld id="{755FD750-82DE-4E8C-ADB2-14F2350247A4}" type="slidenum">
              <a:rPr lang="pl-PL" smtClean="0"/>
              <a:pPr/>
              <a:t>6</a:t>
            </a:fld>
            <a:endParaRPr lang="pl-PL"/>
          </a:p>
        </p:txBody>
      </p:sp>
      <p:sp>
        <p:nvSpPr>
          <p:cNvPr id="12291" name="Rectangle 2"/>
          <p:cNvSpPr>
            <a:spLocks noGrp="1" noChangeArrowheads="1"/>
          </p:cNvSpPr>
          <p:nvPr>
            <p:ph type="body" idx="1"/>
          </p:nvPr>
        </p:nvSpPr>
        <p:spPr>
          <a:xfrm>
            <a:off x="179388" y="1628775"/>
            <a:ext cx="8964612" cy="4924425"/>
          </a:xfrm>
        </p:spPr>
        <p:txBody>
          <a:bodyPr/>
          <a:lstStyle/>
          <a:p>
            <a:pPr marL="0" indent="0">
              <a:buNone/>
            </a:pPr>
            <a:endParaRPr lang="pl-PL" sz="1600" dirty="0"/>
          </a:p>
          <a:p>
            <a:pPr marL="0" indent="0" algn="ctr">
              <a:buNone/>
            </a:pPr>
            <a:r>
              <a:rPr lang="pl-PL" sz="1600" b="1" dirty="0">
                <a:solidFill>
                  <a:schemeClr val="accent2"/>
                </a:solidFill>
              </a:rPr>
              <a:t>Art. 46 k.k. w brzemieniu uprzednio obowiązującym</a:t>
            </a:r>
          </a:p>
          <a:p>
            <a:pPr marL="0" indent="0">
              <a:buNone/>
            </a:pPr>
            <a:endParaRPr lang="pl-PL" sz="1600" b="1" dirty="0">
              <a:solidFill>
                <a:schemeClr val="accent2"/>
              </a:solidFill>
            </a:endParaRPr>
          </a:p>
          <a:p>
            <a:pPr marL="0" indent="0" algn="just">
              <a:buNone/>
            </a:pPr>
            <a:r>
              <a:rPr lang="pl-PL" sz="2000" dirty="0">
                <a:solidFill>
                  <a:schemeClr val="accent2"/>
                </a:solidFill>
              </a:rPr>
              <a:t>§ 1. W razie skazania sąd może orzec, a na wniosek pokrzywdzonego lub innej osoby uprawnionej orzeka, obowiązek naprawienia wyrządzonej przestępstwem szkody w całości albo w części lub zadośćuczynienia za doznaną krzywdę; </a:t>
            </a:r>
            <a:r>
              <a:rPr lang="pl-PL" sz="2000" b="1" u="sng" dirty="0">
                <a:solidFill>
                  <a:schemeClr val="accent2"/>
                </a:solidFill>
              </a:rPr>
              <a:t>przepisów prawa cywilnego o przedawnieniu roszczenia oraz możliwości zasądzenia renty nie stosuje się</a:t>
            </a:r>
            <a:r>
              <a:rPr lang="pl-PL" sz="2000" dirty="0">
                <a:solidFill>
                  <a:schemeClr val="accent2"/>
                </a:solidFill>
              </a:rPr>
              <a:t>.</a:t>
            </a:r>
          </a:p>
          <a:p>
            <a:pPr marL="0" indent="0" algn="just">
              <a:buNone/>
            </a:pPr>
            <a:endParaRPr lang="pl-PL" sz="2000" dirty="0">
              <a:solidFill>
                <a:schemeClr val="accent2"/>
              </a:solidFill>
            </a:endParaRPr>
          </a:p>
          <a:p>
            <a:pPr marL="0" indent="0" algn="just">
              <a:buNone/>
            </a:pPr>
            <a:r>
              <a:rPr lang="pl-PL" sz="2000" dirty="0">
                <a:solidFill>
                  <a:schemeClr val="accent2"/>
                </a:solidFill>
              </a:rPr>
              <a:t>§ 2. Zamiast obowiązku określonego w § 1 sąd może orzec </a:t>
            </a:r>
            <a:r>
              <a:rPr lang="pl-PL" sz="2000" b="1" dirty="0">
                <a:solidFill>
                  <a:schemeClr val="accent2"/>
                </a:solidFill>
              </a:rPr>
              <a:t>nawiązkę na rzecz pokrzywdzonego.</a:t>
            </a:r>
          </a:p>
          <a:p>
            <a:pPr marL="812800" indent="-812800" algn="just" eaLnBrk="1" hangingPunct="1">
              <a:lnSpc>
                <a:spcPct val="80000"/>
              </a:lnSpc>
              <a:buFontTx/>
              <a:buAutoNum type="romanUcPeriod"/>
            </a:pPr>
            <a:endParaRPr lang="pl-PL" sz="2000" b="1" dirty="0">
              <a:solidFill>
                <a:schemeClr val="accent2"/>
              </a:solidFill>
            </a:endParaRPr>
          </a:p>
          <a:p>
            <a:pPr marL="812800" indent="-812800" eaLnBrk="1" hangingPunct="1">
              <a:lnSpc>
                <a:spcPct val="80000"/>
              </a:lnSpc>
              <a:buNone/>
            </a:pPr>
            <a:endParaRPr lang="pl-PL" sz="1600" b="1" dirty="0">
              <a:solidFill>
                <a:schemeClr val="accent2"/>
              </a:solidFill>
            </a:endParaRPr>
          </a:p>
          <a:p>
            <a:pPr marL="812800" indent="-812800" eaLnBrk="1" hangingPunct="1">
              <a:lnSpc>
                <a:spcPct val="80000"/>
              </a:lnSpc>
              <a:buFontTx/>
              <a:buNone/>
            </a:pPr>
            <a:r>
              <a:rPr lang="pl-PL" sz="1600" dirty="0">
                <a:solidFill>
                  <a:schemeClr val="accent2"/>
                </a:solidFill>
              </a:rPr>
              <a:t>	</a:t>
            </a:r>
          </a:p>
        </p:txBody>
      </p:sp>
      <p:sp>
        <p:nvSpPr>
          <p:cNvPr id="12292" name="Rectangle 3"/>
          <p:cNvSpPr>
            <a:spLocks noGrp="1" noChangeArrowheads="1"/>
          </p:cNvSpPr>
          <p:nvPr>
            <p:ph type="title"/>
          </p:nvPr>
        </p:nvSpPr>
        <p:spPr>
          <a:noFill/>
        </p:spPr>
        <p:txBody>
          <a:bodyPr/>
          <a:lstStyle/>
          <a:p>
            <a:pPr eaLnBrk="1" hangingPunct="1"/>
            <a:r>
              <a:rPr lang="pl-PL" sz="2000" b="1" dirty="0">
                <a:solidFill>
                  <a:srgbClr val="333399"/>
                </a:solidFill>
                <a:ea typeface="+mn-ea"/>
                <a:cs typeface="+mn-cs"/>
              </a:rPr>
              <a:t>Szkoda i jej dochodzenie przed sądem I instancji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2000" b="1" dirty="0">
                <a:solidFill>
                  <a:srgbClr val="333399"/>
                </a:solidFill>
              </a:rPr>
              <a:t>Szkoda i jej dochodzenie przed sądem I instancji</a:t>
            </a:r>
            <a:endParaRPr lang="pl-PL" dirty="0"/>
          </a:p>
        </p:txBody>
      </p:sp>
      <p:sp>
        <p:nvSpPr>
          <p:cNvPr id="3" name="Symbol zastępczy zawartości 2"/>
          <p:cNvSpPr>
            <a:spLocks noGrp="1"/>
          </p:cNvSpPr>
          <p:nvPr>
            <p:ph idx="1"/>
          </p:nvPr>
        </p:nvSpPr>
        <p:spPr/>
        <p:txBody>
          <a:bodyPr/>
          <a:lstStyle/>
          <a:p>
            <a:pPr marL="0" indent="0" algn="just">
              <a:buNone/>
            </a:pPr>
            <a:endParaRPr lang="pl-PL" sz="2000" dirty="0">
              <a:solidFill>
                <a:schemeClr val="accent6"/>
              </a:solidFill>
            </a:endParaRPr>
          </a:p>
          <a:p>
            <a:pPr marL="0" indent="0" algn="just">
              <a:buNone/>
            </a:pPr>
            <a:endParaRPr lang="pl-PL" sz="2000" dirty="0">
              <a:solidFill>
                <a:schemeClr val="accent6"/>
              </a:solidFill>
            </a:endParaRPr>
          </a:p>
          <a:p>
            <a:pPr marL="0" indent="0" algn="just">
              <a:buNone/>
            </a:pPr>
            <a:r>
              <a:rPr lang="pl-PL" sz="2000" dirty="0">
                <a:solidFill>
                  <a:schemeClr val="accent6"/>
                </a:solidFill>
              </a:rPr>
              <a:t>art. 56 k.k.</a:t>
            </a:r>
          </a:p>
          <a:p>
            <a:pPr marL="0" indent="0" algn="just">
              <a:buNone/>
            </a:pPr>
            <a:endParaRPr lang="pl-PL" sz="2000" dirty="0">
              <a:solidFill>
                <a:schemeClr val="accent6"/>
              </a:solidFill>
            </a:endParaRPr>
          </a:p>
          <a:p>
            <a:pPr marL="0" indent="0" algn="just">
              <a:buNone/>
            </a:pPr>
            <a:r>
              <a:rPr lang="pl-PL" sz="2000" dirty="0">
                <a:solidFill>
                  <a:schemeClr val="accent6"/>
                </a:solidFill>
              </a:rPr>
              <a:t>Przepisy art. 53, art. 54 § 1 oraz art. 55 stosuje się odpowiednio do orzekania innych środków przewidzianych w tym kodeksie, </a:t>
            </a:r>
            <a:r>
              <a:rPr lang="pl-PL" sz="2000" u="sng" dirty="0">
                <a:solidFill>
                  <a:schemeClr val="accent6"/>
                </a:solidFill>
              </a:rPr>
              <a:t>z wyjątkiem obowiązku naprawienia wyrządzonej przestępstwem szkody lub zadośćuczynienia za doznaną krzywdę</a:t>
            </a:r>
            <a:r>
              <a:rPr lang="pl-PL" sz="2000" dirty="0">
                <a:solidFill>
                  <a:schemeClr val="accent6"/>
                </a:solidFill>
              </a:rPr>
              <a:t>.</a:t>
            </a:r>
          </a:p>
          <a:p>
            <a:pPr marL="0" indent="0" algn="just">
              <a:buNone/>
            </a:pPr>
            <a:endParaRPr lang="pl-PL" sz="2000" dirty="0">
              <a:solidFill>
                <a:schemeClr val="accent6"/>
              </a:solidFill>
            </a:endParaRPr>
          </a:p>
          <a:p>
            <a:pPr marL="0" indent="0" algn="just">
              <a:buNone/>
            </a:pPr>
            <a:r>
              <a:rPr lang="pl-PL" sz="2000" dirty="0">
                <a:solidFill>
                  <a:schemeClr val="accent6"/>
                </a:solidFill>
              </a:rPr>
              <a:t>Przepisy art. 53, art. 54 § 1 oraz art. 55 mają jednak zastosowanie do nawiązki orzekanej na podstawie art. 46 par. 2</a:t>
            </a:r>
          </a:p>
          <a:p>
            <a:pPr marL="0" indent="0" algn="just">
              <a:buNone/>
            </a:pPr>
            <a:endParaRPr lang="pl-PL" sz="2000" dirty="0">
              <a:solidFill>
                <a:schemeClr val="accent6"/>
              </a:solidFill>
            </a:endParaRPr>
          </a:p>
        </p:txBody>
      </p:sp>
      <p:sp>
        <p:nvSpPr>
          <p:cNvPr id="4" name="Symbol zastępczy numeru slajdu 3"/>
          <p:cNvSpPr>
            <a:spLocks noGrp="1"/>
          </p:cNvSpPr>
          <p:nvPr>
            <p:ph type="sldNum" sz="quarter" idx="12"/>
          </p:nvPr>
        </p:nvSpPr>
        <p:spPr/>
        <p:txBody>
          <a:bodyPr/>
          <a:lstStyle/>
          <a:p>
            <a:pPr>
              <a:defRPr/>
            </a:pPr>
            <a:fld id="{EDE263E4-6580-44BF-AFF0-25F586621E82}" type="slidenum">
              <a:rPr lang="pl-PL" smtClean="0"/>
              <a:pPr>
                <a:defRPr/>
              </a:pPr>
              <a:t>7</a:t>
            </a:fld>
            <a:endParaRPr lang="pl-PL"/>
          </a:p>
        </p:txBody>
      </p:sp>
    </p:spTree>
    <p:extLst>
      <p:ext uri="{BB962C8B-B14F-4D97-AF65-F5344CB8AC3E}">
        <p14:creationId xmlns:p14="http://schemas.microsoft.com/office/powerpoint/2010/main" val="1800398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2000" b="1" dirty="0">
                <a:solidFill>
                  <a:srgbClr val="333399"/>
                </a:solidFill>
                <a:ea typeface="+mn-ea"/>
                <a:cs typeface="+mn-cs"/>
              </a:rPr>
              <a:t>Szkoda i jej dochodzenie przed sądem I instancji</a:t>
            </a:r>
          </a:p>
        </p:txBody>
      </p:sp>
      <p:sp>
        <p:nvSpPr>
          <p:cNvPr id="3" name="Symbol zastępczy zawartości 2"/>
          <p:cNvSpPr>
            <a:spLocks noGrp="1"/>
          </p:cNvSpPr>
          <p:nvPr>
            <p:ph idx="1"/>
          </p:nvPr>
        </p:nvSpPr>
        <p:spPr>
          <a:xfrm>
            <a:off x="251520" y="1719262"/>
            <a:ext cx="8229600" cy="4525963"/>
          </a:xfrm>
        </p:spPr>
        <p:txBody>
          <a:bodyPr/>
          <a:lstStyle/>
          <a:p>
            <a:pPr marL="812800" indent="-812800" eaLnBrk="1" hangingPunct="1">
              <a:lnSpc>
                <a:spcPct val="80000"/>
              </a:lnSpc>
              <a:buNone/>
            </a:pPr>
            <a:endParaRPr lang="pl-PL" sz="1800" b="1" dirty="0">
              <a:solidFill>
                <a:schemeClr val="accent2"/>
              </a:solidFill>
            </a:endParaRPr>
          </a:p>
          <a:p>
            <a:pPr marL="812800" indent="-812800" eaLnBrk="1" hangingPunct="1">
              <a:lnSpc>
                <a:spcPct val="80000"/>
              </a:lnSpc>
              <a:buNone/>
            </a:pPr>
            <a:endParaRPr lang="pl-PL" sz="1800" b="1" dirty="0">
              <a:solidFill>
                <a:schemeClr val="accent2"/>
              </a:solidFill>
            </a:endParaRPr>
          </a:p>
          <a:p>
            <a:pPr marL="812800" indent="-812800" algn="ctr" eaLnBrk="1" hangingPunct="1">
              <a:lnSpc>
                <a:spcPct val="80000"/>
              </a:lnSpc>
              <a:buNone/>
            </a:pPr>
            <a:r>
              <a:rPr lang="pl-PL" sz="1800" b="1" dirty="0">
                <a:solidFill>
                  <a:schemeClr val="accent2"/>
                </a:solidFill>
              </a:rPr>
              <a:t>Skutki zmiany stanu prawnego w płaszczyźnie procesowej</a:t>
            </a:r>
          </a:p>
          <a:p>
            <a:pPr marL="812800" indent="-812800" eaLnBrk="1" hangingPunct="1">
              <a:lnSpc>
                <a:spcPct val="80000"/>
              </a:lnSpc>
              <a:buNone/>
            </a:pPr>
            <a:endParaRPr lang="pl-PL" sz="1800" dirty="0">
              <a:solidFill>
                <a:schemeClr val="accent2"/>
              </a:solidFill>
            </a:endParaRPr>
          </a:p>
          <a:p>
            <a:pPr marL="812800" indent="-812800" eaLnBrk="1" hangingPunct="1">
              <a:lnSpc>
                <a:spcPct val="80000"/>
              </a:lnSpc>
              <a:buNone/>
            </a:pPr>
            <a:endParaRPr lang="pl-PL" sz="1800" dirty="0">
              <a:solidFill>
                <a:schemeClr val="accent2"/>
              </a:solidFill>
            </a:endParaRPr>
          </a:p>
          <a:p>
            <a:pPr algn="just" eaLnBrk="1" hangingPunct="1">
              <a:lnSpc>
                <a:spcPct val="80000"/>
              </a:lnSpc>
              <a:buFont typeface="Arial" panose="020B0604020202020204" pitchFamily="34" charset="0"/>
              <a:buChar char="•"/>
            </a:pPr>
            <a:r>
              <a:rPr lang="pl-PL" sz="1800" dirty="0">
                <a:solidFill>
                  <a:schemeClr val="accent2"/>
                </a:solidFill>
              </a:rPr>
              <a:t>znaczne uproszczenie dochodzenia odszkodowania w zakresie formalnoprawnym. Samo złożenie wniosku implikuje konieczność korzystania z reguł prawa cywilnego (ale nie postępowania – zwłaszcza w zakresie ciężaru dowodzenia), nie trzeba składać pozwu, uchylenie art. 415 par. 4 </a:t>
            </a:r>
            <a:r>
              <a:rPr lang="pl-PL" sz="1800" dirty="0" err="1">
                <a:solidFill>
                  <a:schemeClr val="accent2"/>
                </a:solidFill>
              </a:rPr>
              <a:t>kpk</a:t>
            </a:r>
            <a:r>
              <a:rPr lang="pl-PL" sz="1800" dirty="0">
                <a:solidFill>
                  <a:schemeClr val="accent2"/>
                </a:solidFill>
              </a:rPr>
              <a:t> dopuszczającego możliwość zasądzenia odszkodowania z urzędu</a:t>
            </a:r>
          </a:p>
          <a:p>
            <a:pPr marL="0" indent="0" algn="just" eaLnBrk="1" hangingPunct="1">
              <a:lnSpc>
                <a:spcPct val="80000"/>
              </a:lnSpc>
              <a:buNone/>
            </a:pPr>
            <a:endParaRPr lang="pl-PL" sz="1800" dirty="0">
              <a:solidFill>
                <a:schemeClr val="accent2"/>
              </a:solidFill>
            </a:endParaRPr>
          </a:p>
          <a:p>
            <a:pPr algn="just" eaLnBrk="1" hangingPunct="1">
              <a:lnSpc>
                <a:spcPct val="80000"/>
              </a:lnSpc>
              <a:buFont typeface="Arial" panose="020B0604020202020204" pitchFamily="34" charset="0"/>
              <a:buChar char="•"/>
            </a:pPr>
            <a:r>
              <a:rPr lang="pl-PL" sz="1800" dirty="0">
                <a:solidFill>
                  <a:schemeClr val="accent2"/>
                </a:solidFill>
              </a:rPr>
              <a:t>powstanie po stronie sądu obowiązku przeprowadzenia postępowania w zakresie ustalenia szkody, jej wysokości oraz wszelkich okoliczności jej powstania (w tym daty, gdyż obowiązują tu terminy przedawnienia z prawa cywilnego) i innych elementów istotnych w prawie cywilnym dla przypisania i ustalenia wysokości odpowiedzialności odszkodowawczej</a:t>
            </a:r>
          </a:p>
          <a:p>
            <a:pPr eaLnBrk="1" hangingPunct="1">
              <a:lnSpc>
                <a:spcPct val="80000"/>
              </a:lnSpc>
              <a:buFont typeface="Arial" panose="020B0604020202020204" pitchFamily="34" charset="0"/>
              <a:buChar char="•"/>
            </a:pPr>
            <a:endParaRPr lang="pl-PL" sz="1800" dirty="0">
              <a:solidFill>
                <a:schemeClr val="accent2"/>
              </a:solidFill>
            </a:endParaRPr>
          </a:p>
          <a:p>
            <a:pPr marL="812800" indent="-812800" eaLnBrk="1" hangingPunct="1">
              <a:lnSpc>
                <a:spcPct val="80000"/>
              </a:lnSpc>
              <a:buNone/>
            </a:pPr>
            <a:r>
              <a:rPr lang="pl-PL" sz="1800" dirty="0">
                <a:solidFill>
                  <a:schemeClr val="accent2"/>
                </a:solidFill>
              </a:rPr>
              <a:t>	</a:t>
            </a:r>
            <a:r>
              <a:rPr lang="pl-PL" sz="1800" dirty="0"/>
              <a:t> </a:t>
            </a:r>
          </a:p>
        </p:txBody>
      </p:sp>
      <p:sp>
        <p:nvSpPr>
          <p:cNvPr id="4" name="Symbol zastępczy numeru slajdu 3"/>
          <p:cNvSpPr>
            <a:spLocks noGrp="1"/>
          </p:cNvSpPr>
          <p:nvPr>
            <p:ph type="sldNum" sz="quarter" idx="12"/>
          </p:nvPr>
        </p:nvSpPr>
        <p:spPr/>
        <p:txBody>
          <a:bodyPr/>
          <a:lstStyle/>
          <a:p>
            <a:pPr>
              <a:defRPr/>
            </a:pPr>
            <a:fld id="{EDE263E4-6580-44BF-AFF0-25F586621E82}" type="slidenum">
              <a:rPr lang="pl-PL" smtClean="0"/>
              <a:pPr>
                <a:defRPr/>
              </a:pPr>
              <a:t>8</a:t>
            </a:fld>
            <a:endParaRPr lang="pl-PL"/>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2000" b="1" dirty="0">
                <a:solidFill>
                  <a:srgbClr val="333399"/>
                </a:solidFill>
              </a:rPr>
              <a:t>Szkoda i jej dochodzenie przed sądem I instancji</a:t>
            </a:r>
            <a:endParaRPr lang="pl-PL" dirty="0"/>
          </a:p>
        </p:txBody>
      </p:sp>
      <p:sp>
        <p:nvSpPr>
          <p:cNvPr id="3" name="Symbol zastępczy zawartości 2"/>
          <p:cNvSpPr>
            <a:spLocks noGrp="1"/>
          </p:cNvSpPr>
          <p:nvPr>
            <p:ph idx="1"/>
          </p:nvPr>
        </p:nvSpPr>
        <p:spPr/>
        <p:txBody>
          <a:bodyPr/>
          <a:lstStyle/>
          <a:p>
            <a:pPr marL="0" indent="0" algn="just">
              <a:buNone/>
            </a:pPr>
            <a:endParaRPr lang="pl-PL" sz="1800" dirty="0">
              <a:solidFill>
                <a:schemeClr val="accent2"/>
              </a:solidFill>
            </a:endParaRPr>
          </a:p>
          <a:p>
            <a:pPr marL="0" indent="0" algn="just">
              <a:buNone/>
            </a:pPr>
            <a:endParaRPr lang="pl-PL" sz="1800" dirty="0">
              <a:solidFill>
                <a:schemeClr val="accent2"/>
              </a:solidFill>
            </a:endParaRPr>
          </a:p>
          <a:p>
            <a:pPr marL="0" indent="0" algn="just">
              <a:buNone/>
            </a:pPr>
            <a:r>
              <a:rPr lang="pl-PL" sz="1800" dirty="0">
                <a:solidFill>
                  <a:schemeClr val="accent2"/>
                </a:solidFill>
              </a:rPr>
              <a:t>Wielowymiarowość szkody w prawie karnym uprawnia do posługiwania się określeniem</a:t>
            </a:r>
          </a:p>
          <a:p>
            <a:pPr marL="0" indent="0" algn="just">
              <a:buNone/>
            </a:pPr>
            <a:endParaRPr lang="pl-PL" sz="1800" b="1" dirty="0">
              <a:solidFill>
                <a:schemeClr val="accent2"/>
              </a:solidFill>
            </a:endParaRPr>
          </a:p>
          <a:p>
            <a:pPr marL="0" indent="0" algn="ctr">
              <a:buNone/>
            </a:pPr>
            <a:r>
              <a:rPr lang="pl-PL" sz="1800" b="1" u="sng" dirty="0">
                <a:solidFill>
                  <a:schemeClr val="accent2"/>
                </a:solidFill>
              </a:rPr>
              <a:t>SZKODA KARNISTYCZNA</a:t>
            </a:r>
          </a:p>
          <a:p>
            <a:pPr marL="0" indent="0" algn="just">
              <a:buNone/>
            </a:pPr>
            <a:endParaRPr lang="pl-PL" sz="1800" dirty="0">
              <a:solidFill>
                <a:schemeClr val="accent2"/>
              </a:solidFill>
            </a:endParaRPr>
          </a:p>
          <a:p>
            <a:pPr algn="just">
              <a:buFont typeface="Arial" panose="020B0604020202020204" pitchFamily="34" charset="0"/>
              <a:buChar char="•"/>
            </a:pPr>
            <a:r>
              <a:rPr lang="pl-PL" sz="1800" dirty="0">
                <a:solidFill>
                  <a:schemeClr val="accent2"/>
                </a:solidFill>
              </a:rPr>
              <a:t>nie ma definicji normatywnej szkody</a:t>
            </a:r>
          </a:p>
          <a:p>
            <a:pPr algn="just">
              <a:buFont typeface="Arial" panose="020B0604020202020204" pitchFamily="34" charset="0"/>
              <a:buChar char="•"/>
            </a:pPr>
            <a:r>
              <a:rPr lang="pl-PL" sz="1800" dirty="0">
                <a:solidFill>
                  <a:schemeClr val="accent2"/>
                </a:solidFill>
              </a:rPr>
              <a:t>synonimem pojęcia szkody bywa niekiedy kodeksowe określenie:</a:t>
            </a:r>
          </a:p>
          <a:p>
            <a:pPr marL="0" indent="0" algn="just">
              <a:buNone/>
            </a:pPr>
            <a:r>
              <a:rPr lang="pl-PL" sz="1800" dirty="0">
                <a:solidFill>
                  <a:schemeClr val="accent2"/>
                </a:solidFill>
              </a:rPr>
              <a:t>		„skutki stanowiące znamię czynu zabronionego”</a:t>
            </a:r>
          </a:p>
          <a:p>
            <a:pPr marL="0" indent="0" algn="just">
              <a:buNone/>
            </a:pPr>
            <a:endParaRPr lang="pl-PL" sz="1800" dirty="0">
              <a:solidFill>
                <a:schemeClr val="accent2"/>
              </a:solidFill>
            </a:endParaRPr>
          </a:p>
          <a:p>
            <a:pPr algn="just">
              <a:buFont typeface="Arial" panose="020B0604020202020204" pitchFamily="34" charset="0"/>
              <a:buChar char="•"/>
            </a:pPr>
            <a:r>
              <a:rPr lang="pl-PL" sz="1800" dirty="0">
                <a:solidFill>
                  <a:schemeClr val="accent2"/>
                </a:solidFill>
              </a:rPr>
              <a:t>w celu jej skonkretyzowania kk posługuje się dopełniaczami</a:t>
            </a:r>
          </a:p>
          <a:p>
            <a:pPr marL="0" indent="0" algn="just">
              <a:buNone/>
            </a:pPr>
            <a:endParaRPr lang="pl-PL" sz="1800" dirty="0">
              <a:solidFill>
                <a:schemeClr val="accent2"/>
              </a:solidFill>
            </a:endParaRPr>
          </a:p>
          <a:p>
            <a:pPr algn="just">
              <a:buFont typeface="Arial" panose="020B0604020202020204" pitchFamily="34" charset="0"/>
              <a:buChar char="•"/>
            </a:pPr>
            <a:endParaRPr lang="pl-PL" sz="1800" dirty="0">
              <a:solidFill>
                <a:schemeClr val="accent2"/>
              </a:solidFill>
            </a:endParaRPr>
          </a:p>
          <a:p>
            <a:pPr algn="just">
              <a:buFont typeface="Arial" panose="020B0604020202020204" pitchFamily="34" charset="0"/>
              <a:buChar char="•"/>
            </a:pPr>
            <a:endParaRPr lang="pl-PL" sz="1800" dirty="0">
              <a:solidFill>
                <a:schemeClr val="accent2"/>
              </a:solidFill>
            </a:endParaRPr>
          </a:p>
        </p:txBody>
      </p:sp>
      <p:sp>
        <p:nvSpPr>
          <p:cNvPr id="4" name="Symbol zastępczy numeru slajdu 3"/>
          <p:cNvSpPr>
            <a:spLocks noGrp="1"/>
          </p:cNvSpPr>
          <p:nvPr>
            <p:ph type="sldNum" sz="quarter" idx="12"/>
          </p:nvPr>
        </p:nvSpPr>
        <p:spPr/>
        <p:txBody>
          <a:bodyPr/>
          <a:lstStyle/>
          <a:p>
            <a:pPr>
              <a:defRPr/>
            </a:pPr>
            <a:fld id="{EDE263E4-6580-44BF-AFF0-25F586621E82}" type="slidenum">
              <a:rPr lang="pl-PL" smtClean="0"/>
              <a:pPr>
                <a:defRPr/>
              </a:pPr>
              <a:t>9</a:t>
            </a:fld>
            <a:endParaRPr lang="pl-PL"/>
          </a:p>
        </p:txBody>
      </p:sp>
    </p:spTree>
    <p:extLst>
      <p:ext uri="{BB962C8B-B14F-4D97-AF65-F5344CB8AC3E}">
        <p14:creationId xmlns:p14="http://schemas.microsoft.com/office/powerpoint/2010/main" val="745391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ymbol zastępczy numeru slajdu 5"/>
          <p:cNvSpPr>
            <a:spLocks noGrp="1"/>
          </p:cNvSpPr>
          <p:nvPr>
            <p:ph type="sldNum" sz="quarter" idx="12"/>
          </p:nvPr>
        </p:nvSpPr>
        <p:spPr>
          <a:noFill/>
        </p:spPr>
        <p:txBody>
          <a:bodyPr/>
          <a:lstStyle/>
          <a:p>
            <a:fld id="{DE2E9C21-2701-448A-84B9-5656325FEB04}" type="slidenum">
              <a:rPr lang="pl-PL" smtClean="0"/>
              <a:pPr/>
              <a:t>10</a:t>
            </a:fld>
            <a:endParaRPr lang="pl-PL"/>
          </a:p>
        </p:txBody>
      </p:sp>
      <p:sp>
        <p:nvSpPr>
          <p:cNvPr id="14339" name="Rectangle 2"/>
          <p:cNvSpPr>
            <a:spLocks noGrp="1" noChangeArrowheads="1"/>
          </p:cNvSpPr>
          <p:nvPr>
            <p:ph type="title"/>
          </p:nvPr>
        </p:nvSpPr>
        <p:spPr>
          <a:xfrm>
            <a:off x="468313" y="0"/>
            <a:ext cx="8229600" cy="1143000"/>
          </a:xfrm>
        </p:spPr>
        <p:txBody>
          <a:bodyPr/>
          <a:lstStyle/>
          <a:p>
            <a:pPr eaLnBrk="1" hangingPunct="1"/>
            <a:r>
              <a:rPr lang="pl-PL" sz="2000" b="1" dirty="0">
                <a:solidFill>
                  <a:srgbClr val="333399"/>
                </a:solidFill>
                <a:ea typeface="+mn-ea"/>
                <a:cs typeface="+mn-cs"/>
              </a:rPr>
              <a:t>Szkoda i jej dochodzenie przed sądem I instancji</a:t>
            </a:r>
          </a:p>
        </p:txBody>
      </p:sp>
      <p:sp>
        <p:nvSpPr>
          <p:cNvPr id="14340" name="Rectangle 3"/>
          <p:cNvSpPr>
            <a:spLocks noGrp="1" noChangeArrowheads="1"/>
          </p:cNvSpPr>
          <p:nvPr>
            <p:ph type="body" idx="1"/>
          </p:nvPr>
        </p:nvSpPr>
        <p:spPr/>
        <p:txBody>
          <a:bodyPr/>
          <a:lstStyle/>
          <a:p>
            <a:pPr marL="609600" indent="-609600" eaLnBrk="1" hangingPunct="1">
              <a:buFontTx/>
              <a:buAutoNum type="arabicPeriod"/>
            </a:pPr>
            <a:endParaRPr lang="pl-PL" sz="1600" dirty="0"/>
          </a:p>
          <a:p>
            <a:pPr marL="609600" indent="-609600" eaLnBrk="1" hangingPunct="1">
              <a:buNone/>
            </a:pPr>
            <a:endParaRPr lang="pl-PL" sz="1600" dirty="0"/>
          </a:p>
          <a:p>
            <a:pPr marL="609600" indent="-609600" eaLnBrk="1" hangingPunct="1">
              <a:buNone/>
            </a:pPr>
            <a:r>
              <a:rPr lang="pl-PL" sz="1600" dirty="0"/>
              <a:t>				</a:t>
            </a:r>
          </a:p>
          <a:p>
            <a:pPr marL="609600" indent="-609600" eaLnBrk="1" hangingPunct="1">
              <a:buNone/>
            </a:pPr>
            <a:endParaRPr lang="pl-PL" sz="1600" dirty="0"/>
          </a:p>
          <a:p>
            <a:pPr marL="609600" indent="-609600" eaLnBrk="1" hangingPunct="1">
              <a:buNone/>
            </a:pPr>
            <a:endParaRPr lang="pl-PL" sz="1600" dirty="0"/>
          </a:p>
          <a:p>
            <a:pPr marL="609600" indent="-609600" eaLnBrk="1" hangingPunct="1">
              <a:buNone/>
            </a:pPr>
            <a:endParaRPr lang="pl-PL" sz="1600" dirty="0"/>
          </a:p>
          <a:p>
            <a:pPr marL="609600" indent="-609600" eaLnBrk="1" hangingPunct="1">
              <a:buNone/>
            </a:pPr>
            <a:endParaRPr lang="pl-PL" sz="1600" dirty="0"/>
          </a:p>
          <a:p>
            <a:pPr marL="609600" indent="-609600" eaLnBrk="1" hangingPunct="1">
              <a:buNone/>
            </a:pPr>
            <a:endParaRPr lang="pl-PL" sz="1600" dirty="0"/>
          </a:p>
        </p:txBody>
      </p:sp>
      <p:sp>
        <p:nvSpPr>
          <p:cNvPr id="5" name="Rectangle 3"/>
          <p:cNvSpPr txBox="1">
            <a:spLocks noChangeArrowheads="1"/>
          </p:cNvSpPr>
          <p:nvPr/>
        </p:nvSpPr>
        <p:spPr bwMode="auto">
          <a:xfrm>
            <a:off x="179512" y="1659731"/>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609600" lvl="0" indent="-609600">
              <a:lnSpc>
                <a:spcPct val="150000"/>
              </a:lnSpc>
              <a:buNone/>
              <a:defRPr/>
            </a:pPr>
            <a:r>
              <a:rPr lang="pl-PL" sz="1500" b="1" kern="0" dirty="0">
                <a:solidFill>
                  <a:schemeClr val="accent2"/>
                </a:solidFill>
                <a:latin typeface="+mn-lt"/>
              </a:rPr>
              <a:t>szkoda małoletniego </a:t>
            </a:r>
            <a:r>
              <a:rPr lang="pl-PL" sz="1500" kern="0" dirty="0">
                <a:solidFill>
                  <a:schemeClr val="accent2"/>
                </a:solidFill>
                <a:latin typeface="+mn-lt"/>
              </a:rPr>
              <a:t>(art. 41a k.k., art. 199 § 2 k.k.), </a:t>
            </a:r>
          </a:p>
          <a:p>
            <a:pPr marL="609600" lvl="0" indent="-609600">
              <a:lnSpc>
                <a:spcPct val="150000"/>
              </a:lnSpc>
              <a:buNone/>
              <a:defRPr/>
            </a:pPr>
            <a:r>
              <a:rPr lang="pl-PL" sz="1500" b="1" kern="0" dirty="0">
                <a:solidFill>
                  <a:schemeClr val="accent2"/>
                </a:solidFill>
                <a:latin typeface="+mn-lt"/>
              </a:rPr>
              <a:t>szkoda całościowa lub częściowa </a:t>
            </a:r>
            <a:r>
              <a:rPr lang="pl-PL" sz="1500" kern="0" dirty="0">
                <a:solidFill>
                  <a:schemeClr val="accent2"/>
                </a:solidFill>
                <a:latin typeface="+mn-lt"/>
              </a:rPr>
              <a:t>(art. 46 § 1 k.k.), </a:t>
            </a:r>
          </a:p>
          <a:p>
            <a:pPr marL="609600" lvl="0" indent="-609600">
              <a:lnSpc>
                <a:spcPct val="150000"/>
              </a:lnSpc>
              <a:buNone/>
              <a:defRPr/>
            </a:pPr>
            <a:r>
              <a:rPr lang="pl-PL" sz="1500" b="1" kern="0" dirty="0">
                <a:solidFill>
                  <a:schemeClr val="accent2"/>
                </a:solidFill>
                <a:latin typeface="+mn-lt"/>
              </a:rPr>
              <a:t>szkoda naprawiona lub uzgodniona co do sposobu naprawienia </a:t>
            </a:r>
            <a:r>
              <a:rPr lang="pl-PL" sz="1500" kern="0" dirty="0">
                <a:solidFill>
                  <a:schemeClr val="accent2"/>
                </a:solidFill>
                <a:latin typeface="+mn-lt"/>
              </a:rPr>
              <a:t>(art. 60 § 2 pkt 1 k.k., art. 67 § 2 k.k.), </a:t>
            </a:r>
          </a:p>
          <a:p>
            <a:pPr marL="609600" lvl="0" indent="-609600">
              <a:lnSpc>
                <a:spcPct val="150000"/>
              </a:lnSpc>
              <a:buNone/>
              <a:defRPr/>
            </a:pPr>
            <a:r>
              <a:rPr lang="pl-PL" sz="1500" b="1" kern="0" dirty="0">
                <a:solidFill>
                  <a:schemeClr val="accent2"/>
                </a:solidFill>
                <a:latin typeface="+mn-lt"/>
              </a:rPr>
              <a:t>szkoda wyrządzona i grożąca </a:t>
            </a:r>
            <a:r>
              <a:rPr lang="pl-PL" sz="1500" kern="0" dirty="0">
                <a:solidFill>
                  <a:schemeClr val="accent2"/>
                </a:solidFill>
                <a:latin typeface="+mn-lt"/>
              </a:rPr>
              <a:t>(art. 115 § 2 k.k.), </a:t>
            </a:r>
          </a:p>
          <a:p>
            <a:pPr marL="609600" lvl="0" indent="-609600">
              <a:lnSpc>
                <a:spcPct val="150000"/>
              </a:lnSpc>
              <a:buNone/>
              <a:defRPr/>
            </a:pPr>
            <a:r>
              <a:rPr lang="pl-PL" sz="1500" b="1" kern="0" dirty="0">
                <a:solidFill>
                  <a:schemeClr val="accent2"/>
                </a:solidFill>
                <a:latin typeface="+mn-lt"/>
              </a:rPr>
              <a:t>szkoda znaczna, szkoda wielkich rozmiarów </a:t>
            </a:r>
            <a:r>
              <a:rPr lang="pl-PL" sz="1500" kern="0" dirty="0">
                <a:solidFill>
                  <a:schemeClr val="accent2"/>
                </a:solidFill>
                <a:latin typeface="+mn-lt"/>
              </a:rPr>
              <a:t>(art. 115 § 7 k.k., art. 268 § 3 k.k., art. 268a § 2 k.k., art. 296 § 1, § 1a, §3 k.k., art. 296a § 1 i §4 k.k., art. 303 § 2 k.k. art. 343 § 2 k.k.), </a:t>
            </a:r>
          </a:p>
          <a:p>
            <a:pPr marL="609600" lvl="0" indent="-609600">
              <a:lnSpc>
                <a:spcPct val="150000"/>
              </a:lnSpc>
              <a:buNone/>
              <a:defRPr/>
            </a:pPr>
            <a:r>
              <a:rPr lang="pl-PL" sz="1500" b="1" kern="0" dirty="0">
                <a:solidFill>
                  <a:schemeClr val="accent2"/>
                </a:solidFill>
                <a:latin typeface="+mn-lt"/>
              </a:rPr>
              <a:t>szkoda Rzeczypospolitej Polskiej </a:t>
            </a:r>
            <a:r>
              <a:rPr lang="pl-PL" sz="1500" kern="0" dirty="0">
                <a:solidFill>
                  <a:schemeClr val="accent2"/>
                </a:solidFill>
                <a:latin typeface="+mn-lt"/>
              </a:rPr>
              <a:t>(art. 129 k.k., art. 130 § 2 k.k.), </a:t>
            </a:r>
          </a:p>
          <a:p>
            <a:pPr marL="609600" lvl="0" indent="-609600">
              <a:lnSpc>
                <a:spcPct val="150000"/>
              </a:lnSpc>
              <a:buNone/>
              <a:defRPr/>
            </a:pPr>
            <a:r>
              <a:rPr lang="pl-PL" sz="1500" b="1" kern="0" dirty="0">
                <a:solidFill>
                  <a:schemeClr val="accent2"/>
                </a:solidFill>
                <a:latin typeface="+mn-lt"/>
              </a:rPr>
              <a:t>szkoda państwa sojuszniczego </a:t>
            </a:r>
            <a:r>
              <a:rPr lang="pl-PL" sz="1500" kern="0" dirty="0">
                <a:solidFill>
                  <a:schemeClr val="accent2"/>
                </a:solidFill>
                <a:latin typeface="+mn-lt"/>
              </a:rPr>
              <a:t>(art. 138 § 2 k.k.), </a:t>
            </a:r>
          </a:p>
          <a:p>
            <a:pPr marL="609600" lvl="0" indent="-609600">
              <a:lnSpc>
                <a:spcPct val="150000"/>
              </a:lnSpc>
              <a:buNone/>
              <a:defRPr/>
            </a:pPr>
            <a:r>
              <a:rPr lang="pl-PL" sz="1500" b="1" kern="0" dirty="0">
                <a:solidFill>
                  <a:schemeClr val="accent2"/>
                </a:solidFill>
                <a:latin typeface="+mn-lt"/>
              </a:rPr>
              <a:t>szkoda istotna </a:t>
            </a:r>
            <a:r>
              <a:rPr lang="pl-PL" sz="1500" kern="0" dirty="0">
                <a:solidFill>
                  <a:schemeClr val="accent2"/>
                </a:solidFill>
                <a:latin typeface="+mn-lt"/>
              </a:rPr>
              <a:t>(art. 187 § 1 k.k. art. 231 § 3 k.k.), </a:t>
            </a:r>
          </a:p>
          <a:p>
            <a:pPr marL="609600" lvl="0" indent="-609600">
              <a:lnSpc>
                <a:spcPct val="150000"/>
              </a:lnSpc>
              <a:buNone/>
              <a:defRPr/>
            </a:pPr>
            <a:r>
              <a:rPr lang="pl-PL" sz="1500" b="1" kern="0" dirty="0">
                <a:solidFill>
                  <a:schemeClr val="accent2"/>
                </a:solidFill>
                <a:latin typeface="+mn-lt"/>
              </a:rPr>
              <a:t>szkoda innej osoby lub osoby najbliższej (</a:t>
            </a:r>
            <a:r>
              <a:rPr lang="pl-PL" sz="1500" kern="0" dirty="0">
                <a:solidFill>
                  <a:schemeClr val="accent2"/>
                </a:solidFill>
                <a:latin typeface="+mn-lt"/>
              </a:rPr>
              <a:t>art. 190 § 1 k.k., art. 278 § 4 k.k., art. 279 § 2 k.k., art. 284 § 4 k.k., art. 285 § 2 k.k., art. 286 § 4 </a:t>
            </a:r>
            <a:r>
              <a:rPr lang="pl-PL" sz="1500" kern="0" dirty="0" err="1">
                <a:solidFill>
                  <a:schemeClr val="accent2"/>
                </a:solidFill>
                <a:latin typeface="+mn-lt"/>
              </a:rPr>
              <a:t>k.k</a:t>
            </a:r>
            <a:r>
              <a:rPr lang="pl-PL" sz="1500" kern="0" dirty="0">
                <a:solidFill>
                  <a:schemeClr val="accent2"/>
                </a:solidFill>
                <a:latin typeface="+mn-lt"/>
              </a:rPr>
              <a:t>, art. 287 § 3 k.k., art. 289 § 5 k.k.), </a:t>
            </a:r>
          </a:p>
          <a:p>
            <a:pPr marL="609600" lvl="0" indent="-609600">
              <a:lnSpc>
                <a:spcPct val="150000"/>
              </a:lnSpc>
              <a:buNone/>
              <a:defRPr/>
            </a:pPr>
            <a:r>
              <a:rPr lang="pl-PL" sz="1500" b="1" kern="0" dirty="0">
                <a:solidFill>
                  <a:schemeClr val="accent2"/>
                </a:solidFill>
                <a:latin typeface="+mn-lt"/>
              </a:rPr>
              <a:t>szkoda majątkowa lub osobista </a:t>
            </a:r>
            <a:r>
              <a:rPr lang="pl-PL" sz="1500" kern="0" dirty="0">
                <a:solidFill>
                  <a:schemeClr val="accent2"/>
                </a:solidFill>
                <a:latin typeface="+mn-lt"/>
              </a:rPr>
              <a:t>(art. 190a § 2 k.k.)</a:t>
            </a:r>
            <a:endParaRPr lang="pl-PL" sz="1500" kern="0" noProof="0" dirty="0">
              <a:solidFill>
                <a:schemeClr val="accent2"/>
              </a:solidFill>
              <a:latin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2000" b="1" dirty="0">
                <a:solidFill>
                  <a:srgbClr val="333399"/>
                </a:solidFill>
                <a:ea typeface="+mn-ea"/>
                <a:cs typeface="+mn-cs"/>
              </a:rPr>
              <a:t>Szkoda i jej dochodzenie przed sądem I instancji</a:t>
            </a:r>
          </a:p>
        </p:txBody>
      </p:sp>
      <p:sp>
        <p:nvSpPr>
          <p:cNvPr id="3" name="Symbol zastępczy zawartości 2"/>
          <p:cNvSpPr>
            <a:spLocks noGrp="1"/>
          </p:cNvSpPr>
          <p:nvPr>
            <p:ph idx="1"/>
          </p:nvPr>
        </p:nvSpPr>
        <p:spPr>
          <a:xfrm>
            <a:off x="539552" y="1452108"/>
            <a:ext cx="8229600" cy="4525963"/>
          </a:xfrm>
        </p:spPr>
        <p:txBody>
          <a:bodyPr/>
          <a:lstStyle/>
          <a:p>
            <a:endParaRPr lang="pl-PL" sz="2000" b="1" dirty="0"/>
          </a:p>
          <a:p>
            <a:pPr marL="0" indent="0">
              <a:buNone/>
            </a:pPr>
            <a:endParaRPr lang="pl-PL" sz="1600" b="1" dirty="0">
              <a:solidFill>
                <a:schemeClr val="accent2"/>
              </a:solidFill>
            </a:endParaRPr>
          </a:p>
          <a:p>
            <a:pPr marL="0" indent="0">
              <a:buNone/>
            </a:pPr>
            <a:r>
              <a:rPr lang="pl-PL" sz="1600" b="1" dirty="0">
                <a:solidFill>
                  <a:schemeClr val="accent2"/>
                </a:solidFill>
              </a:rPr>
              <a:t>szkoda interesu publicznego lub prywatnego </a:t>
            </a:r>
            <a:r>
              <a:rPr lang="pl-PL" sz="1600" dirty="0">
                <a:solidFill>
                  <a:schemeClr val="accent2"/>
                </a:solidFill>
              </a:rPr>
              <a:t>(art. 231 § 1 k.k.), </a:t>
            </a:r>
          </a:p>
          <a:p>
            <a:pPr marL="0" indent="0">
              <a:buNone/>
            </a:pPr>
            <a:r>
              <a:rPr lang="pl-PL" sz="1600" b="1" dirty="0">
                <a:solidFill>
                  <a:schemeClr val="accent2"/>
                </a:solidFill>
              </a:rPr>
              <a:t>szkoda międzynarodowego trybunału karnego lub jego organu </a:t>
            </a:r>
            <a:r>
              <a:rPr lang="pl-PL" sz="1600" dirty="0">
                <a:solidFill>
                  <a:schemeClr val="accent2"/>
                </a:solidFill>
              </a:rPr>
              <a:t>(art. 232 § 2 k.k.), </a:t>
            </a:r>
          </a:p>
          <a:p>
            <a:pPr marL="0" indent="0">
              <a:buNone/>
            </a:pPr>
            <a:r>
              <a:rPr lang="pl-PL" sz="1600" b="1" dirty="0">
                <a:solidFill>
                  <a:schemeClr val="accent2"/>
                </a:solidFill>
              </a:rPr>
              <a:t>szkoda prawnie chronionego interesu </a:t>
            </a:r>
            <a:r>
              <a:rPr lang="pl-PL" sz="1600" dirty="0">
                <a:solidFill>
                  <a:schemeClr val="accent2"/>
                </a:solidFill>
              </a:rPr>
              <a:t>(art. 266 § 2 k.k.), </a:t>
            </a:r>
          </a:p>
          <a:p>
            <a:pPr marL="0" indent="0">
              <a:buNone/>
            </a:pPr>
            <a:r>
              <a:rPr lang="pl-PL" sz="1600" b="1" dirty="0">
                <a:solidFill>
                  <a:schemeClr val="accent2"/>
                </a:solidFill>
              </a:rPr>
              <a:t>szkoda podpisanego </a:t>
            </a:r>
            <a:r>
              <a:rPr lang="pl-PL" sz="1600" dirty="0">
                <a:solidFill>
                  <a:schemeClr val="accent2"/>
                </a:solidFill>
              </a:rPr>
              <a:t>(art. 270 § 2 k.k.), </a:t>
            </a:r>
          </a:p>
          <a:p>
            <a:pPr marL="0" indent="0">
              <a:buNone/>
            </a:pPr>
            <a:r>
              <a:rPr lang="pl-PL" sz="1600" b="1" dirty="0">
                <a:solidFill>
                  <a:schemeClr val="accent2"/>
                </a:solidFill>
              </a:rPr>
              <a:t>szkoda naprawiona w całości lub w znacznej części </a:t>
            </a:r>
            <a:r>
              <a:rPr lang="pl-PL" sz="1600" dirty="0">
                <a:solidFill>
                  <a:schemeClr val="accent2"/>
                </a:solidFill>
              </a:rPr>
              <a:t>(art. 295 § 1 i 2 k.k., art. 296 § 5 k.k., art. 307 § 1 i §2 k.k.), </a:t>
            </a:r>
          </a:p>
          <a:p>
            <a:pPr marL="0" indent="0">
              <a:buNone/>
            </a:pPr>
            <a:r>
              <a:rPr lang="pl-PL" sz="1600" b="1" dirty="0">
                <a:solidFill>
                  <a:schemeClr val="accent2"/>
                </a:solidFill>
              </a:rPr>
              <a:t>szkoda wielu wierzycieli </a:t>
            </a:r>
            <a:r>
              <a:rPr lang="pl-PL" sz="1600" dirty="0">
                <a:solidFill>
                  <a:schemeClr val="accent2"/>
                </a:solidFill>
              </a:rPr>
              <a:t>(art. 300 § 3 k.k.), </a:t>
            </a:r>
          </a:p>
          <a:p>
            <a:pPr marL="0" indent="0">
              <a:buNone/>
            </a:pPr>
            <a:r>
              <a:rPr lang="pl-PL" sz="1600" b="1" dirty="0">
                <a:solidFill>
                  <a:schemeClr val="accent2"/>
                </a:solidFill>
              </a:rPr>
              <a:t>szkoda pozostałych wierzycieli </a:t>
            </a:r>
            <a:r>
              <a:rPr lang="pl-PL" sz="1600" dirty="0">
                <a:solidFill>
                  <a:schemeClr val="accent2"/>
                </a:solidFill>
              </a:rPr>
              <a:t>(art. 302 § 1 k.k.),</a:t>
            </a:r>
          </a:p>
          <a:p>
            <a:pPr marL="0" indent="0">
              <a:buNone/>
            </a:pPr>
            <a:r>
              <a:rPr lang="pl-PL" sz="1600" b="1" dirty="0">
                <a:solidFill>
                  <a:schemeClr val="accent2"/>
                </a:solidFill>
              </a:rPr>
              <a:t>szkoda innych wierzycieli </a:t>
            </a:r>
            <a:r>
              <a:rPr lang="pl-PL" sz="1600" dirty="0">
                <a:solidFill>
                  <a:schemeClr val="accent2"/>
                </a:solidFill>
              </a:rPr>
              <a:t>(art. 302 § 2 i § 3 k.k.), </a:t>
            </a:r>
          </a:p>
          <a:p>
            <a:pPr marL="0" indent="0">
              <a:buNone/>
            </a:pPr>
            <a:r>
              <a:rPr lang="pl-PL" sz="1600" b="1" dirty="0">
                <a:solidFill>
                  <a:schemeClr val="accent2"/>
                </a:solidFill>
              </a:rPr>
              <a:t>szkoda właściciela mienia </a:t>
            </a:r>
            <a:r>
              <a:rPr lang="pl-PL" sz="1600" dirty="0">
                <a:solidFill>
                  <a:schemeClr val="accent2"/>
                </a:solidFill>
              </a:rPr>
              <a:t>(art. 305 § 1 i § 2 k.k.), </a:t>
            </a:r>
          </a:p>
          <a:p>
            <a:pPr marL="0" indent="0">
              <a:buNone/>
            </a:pPr>
            <a:r>
              <a:rPr lang="pl-PL" sz="1600" b="1" dirty="0">
                <a:solidFill>
                  <a:schemeClr val="accent2"/>
                </a:solidFill>
              </a:rPr>
              <a:t>inna poważna szkoda </a:t>
            </a:r>
            <a:r>
              <a:rPr lang="pl-PL" sz="1600" dirty="0">
                <a:solidFill>
                  <a:schemeClr val="accent2"/>
                </a:solidFill>
              </a:rPr>
              <a:t>(art. 343 § 2 k.k.),</a:t>
            </a:r>
          </a:p>
          <a:p>
            <a:pPr marL="0" indent="0">
              <a:buNone/>
            </a:pPr>
            <a:r>
              <a:rPr lang="pl-PL" sz="1600" b="1" dirty="0">
                <a:solidFill>
                  <a:schemeClr val="accent2"/>
                </a:solidFill>
              </a:rPr>
              <a:t>szkoda w mieniu </a:t>
            </a:r>
            <a:r>
              <a:rPr lang="pl-PL" sz="1600" dirty="0">
                <a:solidFill>
                  <a:schemeClr val="accent2"/>
                </a:solidFill>
              </a:rPr>
              <a:t>(art. 360 § 1 k.k.). </a:t>
            </a:r>
          </a:p>
          <a:p>
            <a:pPr marL="0" indent="0">
              <a:buNone/>
            </a:pPr>
            <a:endParaRPr lang="pl-PL" sz="1600" dirty="0">
              <a:solidFill>
                <a:schemeClr val="accent2"/>
              </a:solidFill>
            </a:endParaRPr>
          </a:p>
          <a:p>
            <a:pPr>
              <a:buNone/>
            </a:pPr>
            <a:r>
              <a:rPr lang="pl-PL" sz="2000" dirty="0">
                <a:solidFill>
                  <a:schemeClr val="accent6"/>
                </a:solidFill>
              </a:rPr>
              <a:t>	</a:t>
            </a:r>
          </a:p>
          <a:p>
            <a:pPr>
              <a:buNone/>
            </a:pPr>
            <a:r>
              <a:rPr lang="pl-PL" sz="2000" dirty="0">
                <a:solidFill>
                  <a:schemeClr val="accent6"/>
                </a:solidFill>
              </a:rPr>
              <a:t>			</a:t>
            </a:r>
          </a:p>
        </p:txBody>
      </p:sp>
      <p:sp>
        <p:nvSpPr>
          <p:cNvPr id="4" name="Symbol zastępczy numeru slajdu 3"/>
          <p:cNvSpPr>
            <a:spLocks noGrp="1"/>
          </p:cNvSpPr>
          <p:nvPr>
            <p:ph type="sldNum" sz="quarter" idx="12"/>
          </p:nvPr>
        </p:nvSpPr>
        <p:spPr/>
        <p:txBody>
          <a:bodyPr/>
          <a:lstStyle/>
          <a:p>
            <a:pPr>
              <a:defRPr/>
            </a:pPr>
            <a:fld id="{EDE263E4-6580-44BF-AFF0-25F586621E82}" type="slidenum">
              <a:rPr lang="pl-PL" smtClean="0"/>
              <a:pPr>
                <a:defRPr/>
              </a:pPr>
              <a:t>11</a:t>
            </a:fld>
            <a:endParaRPr lang="pl-PL"/>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ymbol zastępczy numeru slajdu 5"/>
          <p:cNvSpPr>
            <a:spLocks noGrp="1"/>
          </p:cNvSpPr>
          <p:nvPr>
            <p:ph type="sldNum" sz="quarter" idx="12"/>
          </p:nvPr>
        </p:nvSpPr>
        <p:spPr>
          <a:noFill/>
        </p:spPr>
        <p:txBody>
          <a:bodyPr/>
          <a:lstStyle/>
          <a:p>
            <a:fld id="{03B333AD-F094-4FD2-BACD-5A67DB86835C}" type="slidenum">
              <a:rPr lang="pl-PL" smtClean="0"/>
              <a:pPr/>
              <a:t>12</a:t>
            </a:fld>
            <a:endParaRPr lang="pl-PL"/>
          </a:p>
        </p:txBody>
      </p:sp>
      <p:sp>
        <p:nvSpPr>
          <p:cNvPr id="16388" name="Rectangle 3"/>
          <p:cNvSpPr>
            <a:spLocks noGrp="1" noChangeArrowheads="1"/>
          </p:cNvSpPr>
          <p:nvPr>
            <p:ph type="body" idx="1"/>
          </p:nvPr>
        </p:nvSpPr>
        <p:spPr>
          <a:xfrm>
            <a:off x="215516" y="1558206"/>
            <a:ext cx="8712968" cy="4925144"/>
          </a:xfrm>
        </p:spPr>
        <p:txBody>
          <a:bodyPr/>
          <a:lstStyle/>
          <a:p>
            <a:pPr marL="609600" indent="-609600" eaLnBrk="1" hangingPunct="1">
              <a:buFontTx/>
              <a:buNone/>
            </a:pPr>
            <a:r>
              <a:rPr lang="pl-PL" sz="1500" b="1" dirty="0">
                <a:solidFill>
                  <a:schemeClr val="accent2"/>
                </a:solidFill>
              </a:rPr>
              <a:t>	</a:t>
            </a:r>
          </a:p>
          <a:p>
            <a:pPr marL="609600" indent="-609600" eaLnBrk="1" hangingPunct="1">
              <a:buFontTx/>
              <a:buNone/>
            </a:pPr>
            <a:r>
              <a:rPr lang="pl-PL" sz="1500" b="1" dirty="0">
                <a:solidFill>
                  <a:schemeClr val="accent2"/>
                </a:solidFill>
              </a:rPr>
              <a:t>Przepisy </a:t>
            </a:r>
            <a:r>
              <a:rPr lang="pl-PL" sz="1500" b="1" dirty="0" err="1">
                <a:solidFill>
                  <a:schemeClr val="accent2"/>
                </a:solidFill>
              </a:rPr>
              <a:t>kc</a:t>
            </a:r>
            <a:r>
              <a:rPr lang="pl-PL" sz="1500" b="1" dirty="0">
                <a:solidFill>
                  <a:schemeClr val="accent2"/>
                </a:solidFill>
              </a:rPr>
              <a:t>, które stosuje się bezpośrednio:</a:t>
            </a:r>
          </a:p>
          <a:p>
            <a:pPr marL="609600" indent="-609600" eaLnBrk="1" hangingPunct="1">
              <a:buFontTx/>
              <a:buNone/>
            </a:pPr>
            <a:endParaRPr lang="pl-PL" sz="1500" b="1" dirty="0">
              <a:solidFill>
                <a:schemeClr val="accent2"/>
              </a:solidFill>
            </a:endParaRPr>
          </a:p>
          <a:p>
            <a:pPr marL="609600" indent="-609600" eaLnBrk="1" hangingPunct="1">
              <a:buFontTx/>
              <a:buNone/>
            </a:pPr>
            <a:r>
              <a:rPr lang="pl-PL" sz="1800" b="1" dirty="0">
                <a:solidFill>
                  <a:schemeClr val="accent2"/>
                </a:solidFill>
              </a:rPr>
              <a:t>415    </a:t>
            </a:r>
            <a:r>
              <a:rPr lang="pl-PL" sz="1800" dirty="0">
                <a:solidFill>
                  <a:schemeClr val="accent2"/>
                </a:solidFill>
              </a:rPr>
              <a:t>podstawowy przepis w zakresie odpowiedzialności odszkodowawczej </a:t>
            </a:r>
          </a:p>
          <a:p>
            <a:pPr marL="609600" indent="-609600" eaLnBrk="1" hangingPunct="1">
              <a:buNone/>
            </a:pPr>
            <a:r>
              <a:rPr lang="pl-PL" sz="1800" b="1" dirty="0">
                <a:solidFill>
                  <a:schemeClr val="accent2"/>
                </a:solidFill>
              </a:rPr>
              <a:t>422    </a:t>
            </a:r>
            <a:r>
              <a:rPr lang="pl-PL" sz="1800" dirty="0">
                <a:solidFill>
                  <a:schemeClr val="accent2"/>
                </a:solidFill>
              </a:rPr>
              <a:t>podżeganie, pomoc do przestępstwa, paserstwo, etc.,</a:t>
            </a:r>
            <a:r>
              <a:rPr lang="pl-PL" sz="1200" dirty="0">
                <a:solidFill>
                  <a:schemeClr val="accent2"/>
                </a:solidFill>
              </a:rPr>
              <a:t> </a:t>
            </a:r>
            <a:r>
              <a:rPr lang="pl-PL" sz="1800" dirty="0">
                <a:solidFill>
                  <a:schemeClr val="accent2"/>
                </a:solidFill>
              </a:rPr>
              <a:t>(za szkodę odpowiedzialny jest nie tylko ten kto ją bezpośrednio wyrządził, lecz także ten kto go do tego nakłonił, był pomocny lub świadomie korzystał z wyrządzonej szkody) </a:t>
            </a:r>
            <a:r>
              <a:rPr lang="pl-PL" sz="1800" u="sng" dirty="0">
                <a:solidFill>
                  <a:schemeClr val="accent2"/>
                </a:solidFill>
              </a:rPr>
              <a:t>Obowiązuje tu zatem inny rozkład zakresu szkody</a:t>
            </a:r>
            <a:r>
              <a:rPr lang="pl-PL" sz="1800" dirty="0">
                <a:solidFill>
                  <a:schemeClr val="accent2"/>
                </a:solidFill>
              </a:rPr>
              <a:t>. Odpowiedzialność na zasadzie winy/odpowiedzialność na zasadzie ryzyka, to ma przełożenie na postępowanie karne np. w sprawach dotyczących wypadków komunikacyjnych</a:t>
            </a:r>
            <a:endParaRPr lang="pl-PL" sz="1800" b="1" dirty="0">
              <a:solidFill>
                <a:schemeClr val="accent2"/>
              </a:solidFill>
            </a:endParaRPr>
          </a:p>
          <a:p>
            <a:pPr marL="609600" indent="-609600" eaLnBrk="1" hangingPunct="1">
              <a:buFontTx/>
              <a:buNone/>
            </a:pPr>
            <a:r>
              <a:rPr lang="pl-PL" sz="1800" b="1" dirty="0">
                <a:solidFill>
                  <a:schemeClr val="accent2"/>
                </a:solidFill>
              </a:rPr>
              <a:t>446    </a:t>
            </a:r>
            <a:r>
              <a:rPr lang="pl-PL" sz="1800" dirty="0">
                <a:solidFill>
                  <a:schemeClr val="accent2"/>
                </a:solidFill>
              </a:rPr>
              <a:t>Prawo cywilne odróżnia osoby poszkodowane bezpośrednio i pośrednio. Te ostatnie są tylko w ograniczonym zakresie uprawnione do możliwości uzyskania odszkodowania/zadośćuczynienia</a:t>
            </a:r>
          </a:p>
          <a:p>
            <a:pPr marL="609600" indent="-609600" eaLnBrk="1" hangingPunct="1">
              <a:buFontTx/>
              <a:buNone/>
            </a:pPr>
            <a:r>
              <a:rPr lang="pl-PL" sz="1800" b="1" dirty="0">
                <a:solidFill>
                  <a:schemeClr val="accent2"/>
                </a:solidFill>
              </a:rPr>
              <a:t>446 par. 2 – jest wyłączony przez art. 46 par. 1 kk </a:t>
            </a:r>
            <a:r>
              <a:rPr lang="pl-PL" sz="1800" dirty="0">
                <a:solidFill>
                  <a:schemeClr val="accent2"/>
                </a:solidFill>
              </a:rPr>
              <a:t>ale tylko w postępowaniu karnym. Nie ma przeszkód do dochodzenia roszczeń na drodze cywilnej.</a:t>
            </a:r>
          </a:p>
          <a:p>
            <a:pPr marL="609600" indent="-609600" algn="just" eaLnBrk="1" hangingPunct="1">
              <a:buNone/>
            </a:pPr>
            <a:r>
              <a:rPr lang="pl-PL" sz="1800" b="1" dirty="0">
                <a:solidFill>
                  <a:schemeClr val="accent2"/>
                </a:solidFill>
              </a:rPr>
              <a:t>445, 448 </a:t>
            </a:r>
            <a:endParaRPr lang="pl-PL" sz="1800" dirty="0">
              <a:solidFill>
                <a:schemeClr val="accent2"/>
              </a:solidFill>
            </a:endParaRPr>
          </a:p>
          <a:p>
            <a:pPr marL="609600" indent="-609600" algn="just" eaLnBrk="1" hangingPunct="1">
              <a:buNone/>
            </a:pPr>
            <a:r>
              <a:rPr lang="pl-PL" sz="1800" dirty="0">
                <a:solidFill>
                  <a:schemeClr val="accent2"/>
                </a:solidFill>
              </a:rPr>
              <a:t>	</a:t>
            </a:r>
            <a:r>
              <a:rPr lang="pl-PL" sz="2000" dirty="0">
                <a:solidFill>
                  <a:schemeClr val="accent2"/>
                </a:solidFill>
              </a:rPr>
              <a:t>	</a:t>
            </a:r>
          </a:p>
          <a:p>
            <a:pPr marL="609600" indent="-609600" eaLnBrk="1" hangingPunct="1">
              <a:buFontTx/>
              <a:buNone/>
            </a:pPr>
            <a:endParaRPr lang="pl-PL" sz="1400" dirty="0">
              <a:solidFill>
                <a:schemeClr val="accent2"/>
              </a:solidFill>
            </a:endParaRPr>
          </a:p>
          <a:p>
            <a:pPr marL="609600" indent="-609600" eaLnBrk="1" hangingPunct="1">
              <a:buFontTx/>
              <a:buNone/>
            </a:pPr>
            <a:r>
              <a:rPr lang="pl-PL" sz="1400" dirty="0">
                <a:solidFill>
                  <a:schemeClr val="accent2"/>
                </a:solidFill>
              </a:rPr>
              <a:t>	</a:t>
            </a:r>
          </a:p>
        </p:txBody>
      </p:sp>
      <p:sp>
        <p:nvSpPr>
          <p:cNvPr id="6" name="Rectangle 2"/>
          <p:cNvSpPr>
            <a:spLocks noGrp="1" noChangeArrowheads="1"/>
          </p:cNvSpPr>
          <p:nvPr>
            <p:ph type="title"/>
          </p:nvPr>
        </p:nvSpPr>
        <p:spPr/>
        <p:txBody>
          <a:bodyPr/>
          <a:lstStyle/>
          <a:p>
            <a:pPr eaLnBrk="1" hangingPunct="1"/>
            <a:r>
              <a:rPr lang="pl-PL" sz="2000" b="1" dirty="0">
                <a:solidFill>
                  <a:srgbClr val="333399"/>
                </a:solidFill>
                <a:ea typeface="+mn-ea"/>
                <a:cs typeface="+mn-cs"/>
              </a:rPr>
              <a:t>Szkoda i jej dochodzenie przed sądem I instancji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2000" b="1" dirty="0">
                <a:solidFill>
                  <a:srgbClr val="333399"/>
                </a:solidFill>
              </a:rPr>
              <a:t>Szkoda i jej dochodzenie przed sądem I instancji</a:t>
            </a:r>
            <a:endParaRPr lang="pl-PL" dirty="0"/>
          </a:p>
        </p:txBody>
      </p:sp>
      <p:sp>
        <p:nvSpPr>
          <p:cNvPr id="3" name="Symbol zastępczy zawartości 2"/>
          <p:cNvSpPr>
            <a:spLocks noGrp="1"/>
          </p:cNvSpPr>
          <p:nvPr>
            <p:ph idx="1"/>
          </p:nvPr>
        </p:nvSpPr>
        <p:spPr/>
        <p:txBody>
          <a:bodyPr/>
          <a:lstStyle/>
          <a:p>
            <a:pPr marL="0" indent="0" algn="just">
              <a:buNone/>
            </a:pPr>
            <a:r>
              <a:rPr lang="pl-PL" sz="1600" dirty="0">
                <a:solidFill>
                  <a:schemeClr val="accent6"/>
                </a:solidFill>
              </a:rPr>
              <a:t>Orzekając na podstawie art. 46 § 1 obowiązek naprawienia szkody lub zadośćuczynienia za doznaną krzywdę należy także stosować następujące „przepisy prawa cywilnego":</a:t>
            </a:r>
          </a:p>
          <a:p>
            <a:pPr marL="0" indent="0" algn="just">
              <a:buNone/>
            </a:pPr>
            <a:endParaRPr lang="pl-PL" sz="1600" dirty="0">
              <a:solidFill>
                <a:schemeClr val="accent6"/>
              </a:solidFill>
            </a:endParaRPr>
          </a:p>
          <a:p>
            <a:pPr marL="0" indent="0" algn="just">
              <a:buNone/>
            </a:pPr>
            <a:r>
              <a:rPr lang="pl-PL" sz="1600" dirty="0">
                <a:solidFill>
                  <a:schemeClr val="accent6"/>
                </a:solidFill>
              </a:rPr>
              <a:t>1) art. </a:t>
            </a:r>
            <a:r>
              <a:rPr lang="pl-PL" sz="1600" b="1" dirty="0">
                <a:solidFill>
                  <a:schemeClr val="accent6"/>
                </a:solidFill>
              </a:rPr>
              <a:t>361 § 1</a:t>
            </a:r>
            <a:r>
              <a:rPr lang="pl-PL" sz="1600" dirty="0">
                <a:solidFill>
                  <a:schemeClr val="accent6"/>
                </a:solidFill>
              </a:rPr>
              <a:t>, stanowiący, że zobowiązany do odszkodowania ponosi odpowiedzialność tylko za normalne następstwa działania lub zaniechania, z którego szkoda wynikła;</a:t>
            </a:r>
          </a:p>
          <a:p>
            <a:pPr marL="0" indent="0" algn="just">
              <a:buNone/>
            </a:pPr>
            <a:r>
              <a:rPr lang="pl-PL" sz="1600" dirty="0">
                <a:solidFill>
                  <a:schemeClr val="accent6"/>
                </a:solidFill>
              </a:rPr>
              <a:t>2) art. </a:t>
            </a:r>
            <a:r>
              <a:rPr lang="pl-PL" sz="1600" b="1" dirty="0">
                <a:solidFill>
                  <a:schemeClr val="accent6"/>
                </a:solidFill>
              </a:rPr>
              <a:t>361 § 2</a:t>
            </a:r>
            <a:r>
              <a:rPr lang="pl-PL" sz="1600" dirty="0">
                <a:solidFill>
                  <a:schemeClr val="accent6"/>
                </a:solidFill>
              </a:rPr>
              <a:t>, statuujący zasadę pełnego odszkodowania za szkodę, tj. obejmującego zarówno stratę, jak i utracone korzyści, w granicach normalnych następstw działania lub zaniechania sprawcy;</a:t>
            </a:r>
          </a:p>
          <a:p>
            <a:pPr marL="0" indent="0" algn="just">
              <a:buNone/>
            </a:pPr>
            <a:r>
              <a:rPr lang="pl-PL" sz="1600" dirty="0">
                <a:solidFill>
                  <a:schemeClr val="accent6"/>
                </a:solidFill>
              </a:rPr>
              <a:t>3) art. </a:t>
            </a:r>
            <a:r>
              <a:rPr lang="pl-PL" sz="1600" b="1" dirty="0">
                <a:solidFill>
                  <a:schemeClr val="accent6"/>
                </a:solidFill>
              </a:rPr>
              <a:t>362</a:t>
            </a:r>
            <a:r>
              <a:rPr lang="pl-PL" sz="1600" dirty="0">
                <a:solidFill>
                  <a:schemeClr val="accent6"/>
                </a:solidFill>
              </a:rPr>
              <a:t>, przewidujący, że jeżeli poszkodowany przyczynił się do powstania lub zwiększenia szkody, obowiązek jej naprawienia ulega odpowiedniemu zmniejszeniu stosownie do okoliczności, a zwłaszcza do stopnia winy obu stron;</a:t>
            </a:r>
          </a:p>
          <a:p>
            <a:pPr marL="0" indent="0" algn="just">
              <a:buNone/>
            </a:pPr>
            <a:r>
              <a:rPr lang="pl-PL" sz="1600" dirty="0">
                <a:solidFill>
                  <a:schemeClr val="accent6"/>
                </a:solidFill>
              </a:rPr>
              <a:t>4) art. </a:t>
            </a:r>
            <a:r>
              <a:rPr lang="pl-PL" sz="1600" b="1" dirty="0">
                <a:solidFill>
                  <a:schemeClr val="accent6"/>
                </a:solidFill>
              </a:rPr>
              <a:t>440</a:t>
            </a:r>
            <a:r>
              <a:rPr lang="pl-PL" sz="1600" dirty="0">
                <a:solidFill>
                  <a:schemeClr val="accent6"/>
                </a:solidFill>
              </a:rPr>
              <a:t>, wyrażający dyrektywę, zgodnie z którą w stosunkach między osobami fizycznymi zakres obowiązku naprawienia szkody może być stosownie do okoliczności ograniczony, jeżeli ze względu na stan majątkowy poszkodowanego lub osoby odpowiedzialnej za szkodę wymagają takiego ograniczenia zasady współżycia społecznego – (</a:t>
            </a:r>
            <a:r>
              <a:rPr lang="pl-PL" sz="1600" i="1" u="sng" dirty="0">
                <a:solidFill>
                  <a:schemeClr val="accent6"/>
                </a:solidFill>
              </a:rPr>
              <a:t>raczej nie będzie znajdował zastosowania</a:t>
            </a:r>
            <a:r>
              <a:rPr lang="pl-PL" sz="1600" dirty="0">
                <a:solidFill>
                  <a:schemeClr val="accent6"/>
                </a:solidFill>
              </a:rPr>
              <a:t>)</a:t>
            </a:r>
          </a:p>
          <a:p>
            <a:endParaRPr lang="pl-PL" dirty="0"/>
          </a:p>
        </p:txBody>
      </p:sp>
      <p:sp>
        <p:nvSpPr>
          <p:cNvPr id="4" name="Symbol zastępczy numeru slajdu 3"/>
          <p:cNvSpPr>
            <a:spLocks noGrp="1"/>
          </p:cNvSpPr>
          <p:nvPr>
            <p:ph type="sldNum" sz="quarter" idx="12"/>
          </p:nvPr>
        </p:nvSpPr>
        <p:spPr/>
        <p:txBody>
          <a:bodyPr/>
          <a:lstStyle/>
          <a:p>
            <a:pPr>
              <a:defRPr/>
            </a:pPr>
            <a:fld id="{EDE263E4-6580-44BF-AFF0-25F586621E82}" type="slidenum">
              <a:rPr lang="pl-PL" smtClean="0"/>
              <a:pPr>
                <a:defRPr/>
              </a:pPr>
              <a:t>13</a:t>
            </a:fld>
            <a:endParaRPr lang="pl-PL"/>
          </a:p>
        </p:txBody>
      </p:sp>
    </p:spTree>
    <p:extLst>
      <p:ext uri="{BB962C8B-B14F-4D97-AF65-F5344CB8AC3E}">
        <p14:creationId xmlns:p14="http://schemas.microsoft.com/office/powerpoint/2010/main" val="1102608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ymbol zastępczy numeru slajdu 5"/>
          <p:cNvSpPr>
            <a:spLocks noGrp="1"/>
          </p:cNvSpPr>
          <p:nvPr>
            <p:ph type="sldNum" sz="quarter" idx="12"/>
          </p:nvPr>
        </p:nvSpPr>
        <p:spPr>
          <a:noFill/>
        </p:spPr>
        <p:txBody>
          <a:bodyPr/>
          <a:lstStyle/>
          <a:p>
            <a:fld id="{03B333AD-F094-4FD2-BACD-5A67DB86835C}" type="slidenum">
              <a:rPr lang="pl-PL" smtClean="0"/>
              <a:pPr/>
              <a:t>14</a:t>
            </a:fld>
            <a:endParaRPr lang="pl-PL"/>
          </a:p>
        </p:txBody>
      </p:sp>
      <p:sp>
        <p:nvSpPr>
          <p:cNvPr id="16387" name="Rectangle 2"/>
          <p:cNvSpPr>
            <a:spLocks noGrp="1" noChangeArrowheads="1"/>
          </p:cNvSpPr>
          <p:nvPr>
            <p:ph type="title"/>
          </p:nvPr>
        </p:nvSpPr>
        <p:spPr>
          <a:xfrm>
            <a:off x="468313" y="0"/>
            <a:ext cx="8229600" cy="1143000"/>
          </a:xfrm>
        </p:spPr>
        <p:txBody>
          <a:bodyPr/>
          <a:lstStyle/>
          <a:p>
            <a:pPr eaLnBrk="1" hangingPunct="1"/>
            <a:r>
              <a:rPr lang="pl-PL" sz="2000" b="1" dirty="0">
                <a:solidFill>
                  <a:srgbClr val="333399"/>
                </a:solidFill>
                <a:ea typeface="+mn-ea"/>
                <a:cs typeface="+mn-cs"/>
              </a:rPr>
              <a:t>Szkoda i jej dochodzenie przed sądem I instancji</a:t>
            </a:r>
          </a:p>
        </p:txBody>
      </p:sp>
      <p:sp>
        <p:nvSpPr>
          <p:cNvPr id="16388" name="Rectangle 3"/>
          <p:cNvSpPr>
            <a:spLocks noGrp="1" noChangeArrowheads="1"/>
          </p:cNvSpPr>
          <p:nvPr>
            <p:ph type="body" idx="1"/>
          </p:nvPr>
        </p:nvSpPr>
        <p:spPr/>
        <p:txBody>
          <a:bodyPr/>
          <a:lstStyle/>
          <a:p>
            <a:pPr marL="0" indent="0">
              <a:lnSpc>
                <a:spcPct val="107000"/>
              </a:lnSpc>
              <a:spcAft>
                <a:spcPts val="800"/>
              </a:spcAft>
              <a:buNone/>
            </a:pPr>
            <a:endParaRPr lang="pl-PL" sz="1600" dirty="0">
              <a:solidFill>
                <a:schemeClr val="accent2"/>
              </a:solidFill>
              <a:latin typeface="Arial" panose="020B060402020202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pl-PL" sz="1600" dirty="0">
              <a:solidFill>
                <a:schemeClr val="accent2"/>
              </a:solidFill>
              <a:latin typeface="Arial" panose="020B060402020202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pl-PL" sz="1600" dirty="0">
                <a:solidFill>
                  <a:schemeClr val="accent2"/>
                </a:solidFill>
                <a:latin typeface="Arial" panose="020B0604020202020204" pitchFamily="34" charset="0"/>
                <a:ea typeface="Calibri" panose="020F0502020204030204" pitchFamily="34" charset="0"/>
                <a:cs typeface="Times New Roman" panose="02020603050405020304" pitchFamily="18" charset="0"/>
              </a:rPr>
              <a:t>Problemy w praktyce mogą wywoływać </a:t>
            </a:r>
            <a:r>
              <a:rPr lang="pl-PL" sz="1600" dirty="0">
                <a:solidFill>
                  <a:srgbClr val="FF0000"/>
                </a:solidFill>
                <a:latin typeface="Arial" panose="020B0604020202020204" pitchFamily="34" charset="0"/>
                <a:ea typeface="Calibri" panose="020F0502020204030204" pitchFamily="34" charset="0"/>
                <a:cs typeface="Times New Roman" panose="02020603050405020304" pitchFamily="18" charset="0"/>
              </a:rPr>
              <a:t>dystynkcje terminologiczne</a:t>
            </a:r>
            <a:r>
              <a:rPr lang="pl-PL" sz="1600" dirty="0">
                <a:solidFill>
                  <a:schemeClr val="accent2"/>
                </a:solidFill>
                <a:latin typeface="Arial" panose="020B0604020202020204" pitchFamily="34" charset="0"/>
                <a:ea typeface="Calibri" panose="020F0502020204030204" pitchFamily="34" charset="0"/>
                <a:cs typeface="Times New Roman" panose="02020603050405020304" pitchFamily="18" charset="0"/>
              </a:rPr>
              <a:t>.</a:t>
            </a:r>
          </a:p>
          <a:p>
            <a:pPr marL="0" indent="0" algn="just">
              <a:lnSpc>
                <a:spcPct val="107000"/>
              </a:lnSpc>
              <a:spcAft>
                <a:spcPts val="800"/>
              </a:spcAft>
              <a:buNone/>
            </a:pPr>
            <a:r>
              <a:rPr lang="pl-PL" sz="1600" dirty="0">
                <a:solidFill>
                  <a:schemeClr val="accent2"/>
                </a:solidFill>
                <a:latin typeface="Arial" panose="020B0604020202020204" pitchFamily="34" charset="0"/>
                <a:ea typeface="Calibri" panose="020F0502020204030204" pitchFamily="34" charset="0"/>
                <a:cs typeface="Times New Roman" panose="02020603050405020304" pitchFamily="18" charset="0"/>
              </a:rPr>
              <a:t>W prawie cywilnym np. nie ma pojęcia szkody bezpośredniej, rozróżnia jedynie osoby bezpośrednio i pośrednio poszkodowane, nie ma pojęcia osób najbliższych, jest najbliższy członek rodziny – krąg otwarty, niekoniecznie oparty na pokrewieństwie czy powinowactwie</a:t>
            </a:r>
          </a:p>
          <a:p>
            <a:pPr marL="0" indent="0" algn="just">
              <a:lnSpc>
                <a:spcPct val="107000"/>
              </a:lnSpc>
              <a:spcAft>
                <a:spcPts val="800"/>
              </a:spcAft>
              <a:buNone/>
            </a:pPr>
            <a:r>
              <a:rPr lang="pl-PL" sz="1600" dirty="0">
                <a:solidFill>
                  <a:schemeClr val="accent2"/>
                </a:solidFill>
                <a:latin typeface="Arial" panose="020B0604020202020204" pitchFamily="34" charset="0"/>
                <a:ea typeface="Calibri" panose="020F0502020204030204" pitchFamily="34" charset="0"/>
                <a:cs typeface="Times New Roman" panose="02020603050405020304" pitchFamily="18" charset="0"/>
              </a:rPr>
              <a:t>Problematyka metod ustalania szkody. Metoda dyferencyjna jest tylko jedną z wielu, należy też zawsze uwzględnić ewentualne korzyści, zmniejszenie szkody.</a:t>
            </a:r>
          </a:p>
          <a:p>
            <a:pPr marL="0" indent="0" algn="just">
              <a:lnSpc>
                <a:spcPct val="107000"/>
              </a:lnSpc>
              <a:spcAft>
                <a:spcPts val="800"/>
              </a:spcAft>
              <a:buNone/>
            </a:pPr>
            <a:r>
              <a:rPr lang="pl-PL" sz="1600" dirty="0">
                <a:solidFill>
                  <a:schemeClr val="accent2"/>
                </a:solidFill>
                <a:latin typeface="Arial" panose="020B0604020202020204" pitchFamily="34" charset="0"/>
                <a:ea typeface="Calibri" panose="020F0502020204030204" pitchFamily="34" charset="0"/>
                <a:cs typeface="Times New Roman" panose="02020603050405020304" pitchFamily="18" charset="0"/>
              </a:rPr>
              <a:t>Problematyka odsetek. W sądach karnych jest (choć bywała labilna) linia orzecznicza, że nie uwzględnia się ich w pojęciu szkody. Pogląd ten pozostaje aktualny.</a:t>
            </a:r>
          </a:p>
          <a:p>
            <a:pPr marL="0" indent="0" algn="just">
              <a:lnSpc>
                <a:spcPct val="107000"/>
              </a:lnSpc>
              <a:spcAft>
                <a:spcPts val="800"/>
              </a:spcAft>
              <a:buNone/>
            </a:pPr>
            <a:r>
              <a:rPr lang="pl-PL" sz="1600" dirty="0">
                <a:solidFill>
                  <a:schemeClr val="accent2"/>
                </a:solidFill>
                <a:latin typeface="Arial" panose="020B0604020202020204" pitchFamily="34" charset="0"/>
                <a:ea typeface="Calibri" panose="020F0502020204030204" pitchFamily="34" charset="0"/>
                <a:cs typeface="Times New Roman" panose="02020603050405020304" pitchFamily="18" charset="0"/>
              </a:rPr>
              <a:t> </a:t>
            </a:r>
          </a:p>
          <a:p>
            <a:pPr marL="609600" indent="-609600" eaLnBrk="1" hangingPunct="1">
              <a:buFontTx/>
              <a:buNone/>
            </a:pPr>
            <a:endParaRPr lang="pl-PL" sz="1600" dirty="0">
              <a:solidFill>
                <a:schemeClr val="accent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2000" b="1" dirty="0">
                <a:solidFill>
                  <a:srgbClr val="333399"/>
                </a:solidFill>
              </a:rPr>
              <a:t>Szkoda i jej dochodzenie przed sądem I instancji</a:t>
            </a:r>
            <a:endParaRPr lang="pl-PL" dirty="0"/>
          </a:p>
        </p:txBody>
      </p:sp>
      <p:sp>
        <p:nvSpPr>
          <p:cNvPr id="3" name="Symbol zastępczy zawartości 2"/>
          <p:cNvSpPr>
            <a:spLocks noGrp="1"/>
          </p:cNvSpPr>
          <p:nvPr>
            <p:ph idx="1"/>
          </p:nvPr>
        </p:nvSpPr>
        <p:spPr/>
        <p:txBody>
          <a:bodyPr/>
          <a:lstStyle/>
          <a:p>
            <a:pPr marL="0" indent="0" algn="just">
              <a:buNone/>
            </a:pPr>
            <a:endParaRPr lang="pl-PL" sz="2000" dirty="0">
              <a:solidFill>
                <a:schemeClr val="accent6"/>
              </a:solidFill>
            </a:endParaRPr>
          </a:p>
          <a:p>
            <a:pPr marL="0" indent="0" algn="just">
              <a:buNone/>
            </a:pPr>
            <a:endParaRPr lang="pl-PL" sz="2000" dirty="0">
              <a:solidFill>
                <a:schemeClr val="accent6"/>
              </a:solidFill>
            </a:endParaRPr>
          </a:p>
          <a:p>
            <a:pPr marL="0" indent="0" algn="just">
              <a:buNone/>
            </a:pPr>
            <a:r>
              <a:rPr lang="pl-PL" sz="2000" dirty="0">
                <a:solidFill>
                  <a:schemeClr val="accent6"/>
                </a:solidFill>
              </a:rPr>
              <a:t>W przypadku złożenia skutecznego wniosku i zasądzenia obligatoryjnego znajduje też zastosowanie </a:t>
            </a:r>
            <a:r>
              <a:rPr lang="pl-PL" sz="2000" b="1" dirty="0">
                <a:solidFill>
                  <a:schemeClr val="accent6"/>
                </a:solidFill>
              </a:rPr>
              <a:t>art. 363 par. 1 k.c</a:t>
            </a:r>
            <a:r>
              <a:rPr lang="pl-PL" sz="2000" dirty="0">
                <a:solidFill>
                  <a:schemeClr val="accent6"/>
                </a:solidFill>
              </a:rPr>
              <a:t>., zgodnie z którym naprawienie szkody powinno nastąpić, </a:t>
            </a:r>
            <a:r>
              <a:rPr lang="pl-PL" sz="2000" dirty="0">
                <a:solidFill>
                  <a:srgbClr val="FF0000"/>
                </a:solidFill>
              </a:rPr>
              <a:t>według wyboru poszkodowanego</a:t>
            </a:r>
            <a:r>
              <a:rPr lang="pl-PL" sz="2000" dirty="0">
                <a:solidFill>
                  <a:schemeClr val="accent6"/>
                </a:solidFill>
              </a:rPr>
              <a:t>, bądź przez przywrócenie stanu poprzedniego, bądź przez zapłatę odpowiedniej sumy pieniężnej, z zastrzeżeniem, że gdyby przywrócenie stanu poprzedniego było niemożliwe albo gdyby pociągało za sobą dla zobowiązanego nadmierne trudności lub koszty, roszczenie poszkodowanego ogranicza się do świadczenia w pieniądzu.</a:t>
            </a:r>
          </a:p>
        </p:txBody>
      </p:sp>
      <p:sp>
        <p:nvSpPr>
          <p:cNvPr id="4" name="Symbol zastępczy numeru slajdu 3"/>
          <p:cNvSpPr>
            <a:spLocks noGrp="1"/>
          </p:cNvSpPr>
          <p:nvPr>
            <p:ph type="sldNum" sz="quarter" idx="12"/>
          </p:nvPr>
        </p:nvSpPr>
        <p:spPr/>
        <p:txBody>
          <a:bodyPr/>
          <a:lstStyle/>
          <a:p>
            <a:pPr>
              <a:defRPr/>
            </a:pPr>
            <a:fld id="{EDE263E4-6580-44BF-AFF0-25F586621E82}" type="slidenum">
              <a:rPr lang="pl-PL" smtClean="0"/>
              <a:pPr>
                <a:defRPr/>
              </a:pPr>
              <a:t>15</a:t>
            </a:fld>
            <a:endParaRPr lang="pl-PL"/>
          </a:p>
        </p:txBody>
      </p:sp>
    </p:spTree>
    <p:extLst>
      <p:ext uri="{BB962C8B-B14F-4D97-AF65-F5344CB8AC3E}">
        <p14:creationId xmlns:p14="http://schemas.microsoft.com/office/powerpoint/2010/main" val="3262674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16</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08520" y="1719262"/>
            <a:ext cx="8229600" cy="4525963"/>
          </a:xfrm>
        </p:spPr>
        <p:txBody>
          <a:bodyPr/>
          <a:lstStyle/>
          <a:p>
            <a:pPr marL="609600" indent="-609600" algn="just" eaLnBrk="1" hangingPunct="1">
              <a:buNone/>
            </a:pPr>
            <a:r>
              <a:rPr lang="pl-PL" sz="1800" dirty="0">
                <a:solidFill>
                  <a:schemeClr val="accent2"/>
                </a:solidFill>
              </a:rPr>
              <a:t>	Na gruncie prawa cywilnego </a:t>
            </a:r>
            <a:r>
              <a:rPr lang="pl-PL" sz="1800" dirty="0">
                <a:solidFill>
                  <a:srgbClr val="FF0000"/>
                </a:solidFill>
              </a:rPr>
              <a:t>szkodą majątkową </a:t>
            </a:r>
            <a:r>
              <a:rPr lang="pl-PL" sz="1800" dirty="0">
                <a:solidFill>
                  <a:schemeClr val="accent2"/>
                </a:solidFill>
              </a:rPr>
              <a:t>jest każda powstała wbrew woli poszkodowanego różnica między obecnym jego stanem majątkowym a tym stanem jaki zaistniałby, gdyby nie nastąpiło zdarzenie wywołujące szkodę. Szkoda majątkowa może przybrać postać </a:t>
            </a:r>
            <a:r>
              <a:rPr lang="pl-PL" sz="1800" dirty="0">
                <a:solidFill>
                  <a:srgbClr val="FF0000"/>
                </a:solidFill>
              </a:rPr>
              <a:t>szkody na mieniu</a:t>
            </a:r>
            <a:r>
              <a:rPr lang="pl-PL" sz="1800" dirty="0">
                <a:solidFill>
                  <a:schemeClr val="accent2"/>
                </a:solidFill>
              </a:rPr>
              <a:t>, która oznacza bezpośredni uszczerbek składnika majątkowego poszkodowanego, jak też </a:t>
            </a:r>
            <a:r>
              <a:rPr lang="pl-PL" sz="1800" dirty="0">
                <a:solidFill>
                  <a:srgbClr val="FF0000"/>
                </a:solidFill>
              </a:rPr>
              <a:t>szkody na osobie</a:t>
            </a:r>
            <a:r>
              <a:rPr lang="pl-PL" sz="1800" dirty="0">
                <a:solidFill>
                  <a:schemeClr val="accent2"/>
                </a:solidFill>
              </a:rPr>
              <a:t>, polegającej na takim naruszeniu dóbr osobistych określonej osoby, w następstwie którego dochodzi niezależnie od krzywdy, w sposób pośredni do negatywnych następstw w majątku tej osoby. Według  art. 361 § 2 k.c. szkoda może polegać na rzeczywistej stracie (</a:t>
            </a:r>
            <a:r>
              <a:rPr lang="pl-PL" sz="1800" dirty="0" err="1">
                <a:solidFill>
                  <a:srgbClr val="FF0000"/>
                </a:solidFill>
              </a:rPr>
              <a:t>damnum</a:t>
            </a:r>
            <a:r>
              <a:rPr lang="pl-PL" sz="1800" dirty="0">
                <a:solidFill>
                  <a:srgbClr val="FF0000"/>
                </a:solidFill>
              </a:rPr>
              <a:t> </a:t>
            </a:r>
            <a:r>
              <a:rPr lang="pl-PL" sz="1800" dirty="0" err="1">
                <a:solidFill>
                  <a:srgbClr val="FF0000"/>
                </a:solidFill>
              </a:rPr>
              <a:t>emergens</a:t>
            </a:r>
            <a:r>
              <a:rPr lang="pl-PL" sz="1800" dirty="0">
                <a:solidFill>
                  <a:schemeClr val="accent2"/>
                </a:solidFill>
              </a:rPr>
              <a:t>), jak też pozbawieniu poszkodowanego korzyści, które osiągnąłby, gdyby szkody nie wyrządzono (</a:t>
            </a:r>
            <a:r>
              <a:rPr lang="pl-PL" sz="1800" dirty="0" err="1">
                <a:solidFill>
                  <a:srgbClr val="FF0000"/>
                </a:solidFill>
              </a:rPr>
              <a:t>lucrum</a:t>
            </a:r>
            <a:r>
              <a:rPr lang="pl-PL" sz="1800" dirty="0">
                <a:solidFill>
                  <a:srgbClr val="FF0000"/>
                </a:solidFill>
              </a:rPr>
              <a:t> </a:t>
            </a:r>
            <a:r>
              <a:rPr lang="pl-PL" sz="1800" dirty="0" err="1">
                <a:solidFill>
                  <a:srgbClr val="FF0000"/>
                </a:solidFill>
              </a:rPr>
              <a:t>cessans</a:t>
            </a:r>
            <a:r>
              <a:rPr lang="pl-PL" sz="1800" dirty="0">
                <a:solidFill>
                  <a:schemeClr val="accent2"/>
                </a:solidFill>
              </a:rPr>
              <a:t>). Ta ostania ma zawsze charakter </a:t>
            </a:r>
            <a:r>
              <a:rPr lang="pl-PL" sz="1800" u="sng" dirty="0">
                <a:solidFill>
                  <a:schemeClr val="accent2"/>
                </a:solidFill>
              </a:rPr>
              <a:t>hipotetyczny</a:t>
            </a:r>
            <a:r>
              <a:rPr lang="pl-PL" sz="1800" dirty="0">
                <a:solidFill>
                  <a:schemeClr val="accent2"/>
                </a:solidFill>
              </a:rPr>
              <a:t>, jednak szkoda ta musi być wykazana przez poszkodowanego </a:t>
            </a:r>
            <a:r>
              <a:rPr lang="pl-PL" sz="1800" u="sng" dirty="0">
                <a:solidFill>
                  <a:schemeClr val="accent2"/>
                </a:solidFill>
              </a:rPr>
              <a:t>z tak dużym prawdopodobieństwem, aby uzasadniała ona w świetle doświadczenia życiowego przyjęcie, że utrata korzyści rzeczywiście nastąpiła</a:t>
            </a:r>
            <a:r>
              <a:rPr lang="pl-PL" sz="1800" dirty="0">
                <a:solidFill>
                  <a:schemeClr val="accent2"/>
                </a:solidFill>
              </a:rPr>
              <a:t>.</a:t>
            </a:r>
            <a:endParaRPr lang="pl-PL" sz="1400" dirty="0"/>
          </a:p>
          <a:p>
            <a:pPr marL="609600" indent="-609600" algn="ctr" eaLnBrk="1" hangingPunct="1">
              <a:buFontTx/>
              <a:buNone/>
            </a:pPr>
            <a:endParaRPr lang="pl-PL" sz="1800" b="1" dirty="0">
              <a:solidFill>
                <a:schemeClr val="accent2"/>
              </a:solidFill>
            </a:endParaRPr>
          </a:p>
          <a:p>
            <a:pPr marL="609600" indent="-609600" algn="ctr" eaLnBrk="1" hangingPunct="1">
              <a:buFontTx/>
              <a:buNone/>
            </a:pPr>
            <a:endParaRPr lang="pl-PL" sz="1800" b="1" dirty="0">
              <a:solidFill>
                <a:schemeClr val="accent2"/>
              </a:solidFill>
            </a:endParaRPr>
          </a:p>
        </p:txBody>
      </p:sp>
    </p:spTree>
    <p:extLst>
      <p:ext uri="{BB962C8B-B14F-4D97-AF65-F5344CB8AC3E}">
        <p14:creationId xmlns:p14="http://schemas.microsoft.com/office/powerpoint/2010/main" val="2551378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17</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08520" y="1176859"/>
            <a:ext cx="8795320" cy="5544616"/>
          </a:xfrm>
        </p:spPr>
        <p:txBody>
          <a:bodyPr/>
          <a:lstStyle/>
          <a:p>
            <a:pPr marL="609600" indent="-609600" algn="ctr" eaLnBrk="1" hangingPunct="1">
              <a:buFontTx/>
              <a:buNone/>
            </a:pPr>
            <a:endParaRPr lang="pl-PL" sz="1800" b="1" dirty="0">
              <a:solidFill>
                <a:schemeClr val="accent2"/>
              </a:solidFill>
            </a:endParaRPr>
          </a:p>
          <a:p>
            <a:pPr marL="609600" indent="-609600" algn="ctr" eaLnBrk="1" hangingPunct="1">
              <a:buFontTx/>
              <a:buNone/>
            </a:pPr>
            <a:endParaRPr lang="pl-PL" sz="1800" b="1" dirty="0">
              <a:solidFill>
                <a:schemeClr val="accent2"/>
              </a:solidFill>
            </a:endParaRPr>
          </a:p>
          <a:p>
            <a:pPr marL="609600" indent="-609600" algn="just" eaLnBrk="1" hangingPunct="1">
              <a:buFontTx/>
              <a:buNone/>
            </a:pPr>
            <a:r>
              <a:rPr lang="pl-PL" sz="1600" b="1" dirty="0">
                <a:solidFill>
                  <a:schemeClr val="accent2"/>
                </a:solidFill>
              </a:rPr>
              <a:t>	</a:t>
            </a:r>
            <a:r>
              <a:rPr lang="pl-PL" sz="1600" dirty="0">
                <a:solidFill>
                  <a:schemeClr val="accent2"/>
                </a:solidFill>
              </a:rPr>
              <a:t>Przesłanką odpowiedzialności odszkodowawczej - stosownie do treści art. 361 § 1 </a:t>
            </a:r>
            <a:r>
              <a:rPr lang="pl-PL" sz="1600" dirty="0" err="1">
                <a:solidFill>
                  <a:schemeClr val="accent2"/>
                </a:solidFill>
              </a:rPr>
              <a:t>kc</a:t>
            </a:r>
            <a:r>
              <a:rPr lang="pl-PL" sz="1600" dirty="0">
                <a:solidFill>
                  <a:schemeClr val="accent2"/>
                </a:solidFill>
              </a:rPr>
              <a:t> - jest </a:t>
            </a:r>
            <a:r>
              <a:rPr lang="pl-PL" sz="1600" dirty="0">
                <a:solidFill>
                  <a:srgbClr val="FF0000"/>
                </a:solidFill>
              </a:rPr>
              <a:t>związek przyczynowy między zdarzeniem wywołującym szkodę a powstałym skutkiem</a:t>
            </a:r>
            <a:r>
              <a:rPr lang="pl-PL" sz="1600" dirty="0">
                <a:solidFill>
                  <a:schemeClr val="accent2"/>
                </a:solidFill>
              </a:rPr>
              <a:t>. Związek ten opiera się na założeniach </a:t>
            </a:r>
            <a:r>
              <a:rPr lang="pl-PL" sz="1600" u="sng" dirty="0">
                <a:solidFill>
                  <a:schemeClr val="accent2"/>
                </a:solidFill>
              </a:rPr>
              <a:t>przyczynowości adekwatnej</a:t>
            </a:r>
            <a:r>
              <a:rPr lang="pl-PL" sz="1600" dirty="0">
                <a:solidFill>
                  <a:schemeClr val="accent2"/>
                </a:solidFill>
              </a:rPr>
              <a:t>; zachodzi tylko wtedy, gdy w zestawie wszystkich przyczyn i skutków mamy do czynienia jedynie z takimi przyczynami, które normalnie powodują określone skutki. </a:t>
            </a:r>
            <a:r>
              <a:rPr lang="pl-PL" sz="1600" dirty="0">
                <a:solidFill>
                  <a:srgbClr val="FF0000"/>
                </a:solidFill>
              </a:rPr>
              <a:t>Nie wystarczy więc stwierdzić istnienia związku przyczynowego jako takiego; wymagane jest stwierdzenie, że chodzi tu o następstwa normalne, a nie niezwykłe</a:t>
            </a:r>
            <a:r>
              <a:rPr lang="pl-PL" sz="1600" dirty="0">
                <a:solidFill>
                  <a:schemeClr val="accent2"/>
                </a:solidFill>
              </a:rPr>
              <a:t>, nadzwyczajne. W praktyce sądowej dla oceny, czy mamy do czynienia z adekwatnym związkiem przyczynowym, należy najpierw zbadać, czy w ogóle między kolejnymi faktami istnieją obiektywne powiązania, a w szczególności wyjaśnić, czy dany fakt (przyczyna) był koniecznym warunkiem wystąpienia drugiego z nich (skutku), czyli czy bez niego skutek wystąpiłby (</a:t>
            </a:r>
            <a:r>
              <a:rPr lang="pl-PL" sz="1600" dirty="0">
                <a:solidFill>
                  <a:srgbClr val="FF0000"/>
                </a:solidFill>
              </a:rPr>
              <a:t>test warunku sine qua non</a:t>
            </a:r>
            <a:r>
              <a:rPr lang="pl-PL" sz="1600" dirty="0">
                <a:solidFill>
                  <a:schemeClr val="accent2"/>
                </a:solidFill>
              </a:rPr>
              <a:t>). Tylko w razie pozytywnego stwierdzania należy rozważyć ściślejsze zagadnienie, a mianowicie czy wspomniane powiązania można traktować jako normalne tzn. typowe lub oczekiwane w zwykłej kolejności rzeczy, a więc niebędące rezultatem zupełnie wyjątkowego zbiegu okoliczności. Ocena czy skutek jest normalny powinna być oparta na całokształcie okoliczności sprawy oraz wynikać z zasad doświadczenia życiowego.</a:t>
            </a:r>
            <a:endParaRPr lang="pl-PL" sz="1600" dirty="0"/>
          </a:p>
        </p:txBody>
      </p:sp>
    </p:spTree>
    <p:extLst>
      <p:ext uri="{BB962C8B-B14F-4D97-AF65-F5344CB8AC3E}">
        <p14:creationId xmlns:p14="http://schemas.microsoft.com/office/powerpoint/2010/main" val="3399226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18</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w systemie prawa karnego</a:t>
            </a:r>
            <a:endParaRPr lang="pl-PL" sz="2800" dirty="0">
              <a:solidFill>
                <a:schemeClr val="accent2"/>
              </a:solidFill>
            </a:endParaRPr>
          </a:p>
        </p:txBody>
      </p:sp>
      <p:sp>
        <p:nvSpPr>
          <p:cNvPr id="37892" name="Rectangle 3"/>
          <p:cNvSpPr>
            <a:spLocks noGrp="1" noChangeArrowheads="1"/>
          </p:cNvSpPr>
          <p:nvPr>
            <p:ph type="body" idx="1"/>
          </p:nvPr>
        </p:nvSpPr>
        <p:spPr>
          <a:xfrm>
            <a:off x="0" y="1431691"/>
            <a:ext cx="8229600" cy="4525963"/>
          </a:xfrm>
        </p:spPr>
        <p:txBody>
          <a:bodyPr/>
          <a:lstStyle/>
          <a:p>
            <a:pPr marL="609600" indent="-609600" algn="ctr" eaLnBrk="1" hangingPunct="1">
              <a:buFontTx/>
              <a:buNone/>
            </a:pPr>
            <a:endParaRPr lang="pl-PL" sz="1800" b="1" dirty="0">
              <a:solidFill>
                <a:schemeClr val="accent2"/>
              </a:solidFill>
            </a:endParaRPr>
          </a:p>
          <a:p>
            <a:pPr marL="609600" indent="-609600" algn="ctr" eaLnBrk="1" hangingPunct="1">
              <a:buFontTx/>
              <a:buNone/>
            </a:pPr>
            <a:endParaRPr lang="pl-PL" sz="1800" b="1" dirty="0">
              <a:solidFill>
                <a:schemeClr val="accent2"/>
              </a:solidFill>
            </a:endParaRPr>
          </a:p>
          <a:p>
            <a:pPr marL="609600" indent="-609600" algn="just" eaLnBrk="1" hangingPunct="1">
              <a:buFontTx/>
              <a:buNone/>
            </a:pPr>
            <a:r>
              <a:rPr lang="pl-PL" sz="1800" b="1" dirty="0">
                <a:solidFill>
                  <a:schemeClr val="accent2"/>
                </a:solidFill>
              </a:rPr>
              <a:t>	W prawie karnym procesowym pojawia się pojęcie szkody, nota bene w przepisach regulujących różne obszary procesowe i przy dopełnieniach zbliżonych do prawa karnego materialnego. Są to następujące przepisy: art. 23, art. 49 § 3 i 4, art. 107 § 2, art. 179 § 1, art. 217 § 1, art. 227, art. 244 § 1a, art. 266 § 2, art. 269 § 1, art. 275 § 3, art. 275a § 1, art. 294 § 1, art. 297 § 1 pkt 4, art. 300 § 2, art. 304b, art. 325b § 1 pkt 1 i 3, art. 332 § 1 pkt 2, art. 341 § 3, art. 343 § 1, art. 415 § 1 i 2, art. 563, art. 589f § 1 i 2, art. 589k § 1 i 2, art. 589u § 1 i 2, art. 607w pkt 4, art. 611ft § 1 i 2, art. 611fze § 2 i 3, art. 611ud § 1 pkt 7, art. 647 § 1 pkt 1c k.p.k. Rozdział 58 k.p.k. zaś w całości poświęcony jest regulacji postępowania związanego z odszkodowaniem za niesłuszne skazanie, tymczasowe aresztowanie lub zatrzymanie.</a:t>
            </a:r>
            <a:endParaRPr lang="pl-PL" sz="1400" b="1" dirty="0"/>
          </a:p>
        </p:txBody>
      </p:sp>
    </p:spTree>
    <p:extLst>
      <p:ext uri="{BB962C8B-B14F-4D97-AF65-F5344CB8AC3E}">
        <p14:creationId xmlns:p14="http://schemas.microsoft.com/office/powerpoint/2010/main" val="3716795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19</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79512" y="1562320"/>
            <a:ext cx="8229600" cy="4525963"/>
          </a:xfrm>
        </p:spPr>
        <p:txBody>
          <a:bodyPr/>
          <a:lstStyle/>
          <a:p>
            <a:pPr marL="609600" indent="-609600" algn="ctr" eaLnBrk="1" hangingPunct="1">
              <a:buFontTx/>
              <a:buNone/>
            </a:pPr>
            <a:endParaRPr lang="pl-PL" sz="1800" b="1" dirty="0">
              <a:solidFill>
                <a:schemeClr val="accent2"/>
              </a:solidFill>
            </a:endParaRPr>
          </a:p>
          <a:p>
            <a:pPr marL="609600" indent="-609600" algn="just" eaLnBrk="1" hangingPunct="1">
              <a:buFontTx/>
              <a:buNone/>
            </a:pPr>
            <a:r>
              <a:rPr lang="pl-PL" sz="1800" b="1" dirty="0">
                <a:solidFill>
                  <a:schemeClr val="accent2"/>
                </a:solidFill>
              </a:rPr>
              <a:t>	Dochodzenie roszczeń w trybie Rozdziału 58 k.p.k.</a:t>
            </a:r>
          </a:p>
          <a:p>
            <a:pPr marL="609600" indent="-609600" algn="just" eaLnBrk="1" hangingPunct="1">
              <a:buFontTx/>
              <a:buNone/>
            </a:pPr>
            <a:endParaRPr lang="pl-PL" sz="1800" b="1" dirty="0">
              <a:solidFill>
                <a:schemeClr val="accent2"/>
              </a:solidFill>
            </a:endParaRPr>
          </a:p>
          <a:p>
            <a:pPr marL="609600" indent="-609600" algn="just" eaLnBrk="1" hangingPunct="1">
              <a:buFontTx/>
              <a:buNone/>
            </a:pPr>
            <a:r>
              <a:rPr lang="pl-PL" sz="2000" dirty="0">
                <a:solidFill>
                  <a:schemeClr val="accent2"/>
                </a:solidFill>
              </a:rPr>
              <a:t>Art.  554.  [Właściwość i skład sądu; rozprawa]</a:t>
            </a:r>
          </a:p>
          <a:p>
            <a:pPr marL="609600" indent="-609600" algn="just" eaLnBrk="1" hangingPunct="1">
              <a:buFontTx/>
              <a:buNone/>
            </a:pPr>
            <a:r>
              <a:rPr lang="pl-PL" sz="2000" dirty="0">
                <a:solidFill>
                  <a:schemeClr val="accent2"/>
                </a:solidFill>
              </a:rPr>
              <a:t>§  1. 	Żądanie odszkodowania należy zgłosić w sądzie okręgowym, w którego okręgu wydano orzeczenie w pierwszej instancji, a w wypadku określonym w art. 552 § 4 - w sądzie okręgowym właściwym ze względu na miejsce, w którym nastąpiło zwolnienie tymczasowo aresztowanego lub zwolnienie zatrzymanego.</a:t>
            </a:r>
          </a:p>
          <a:p>
            <a:pPr marL="609600" indent="-609600" algn="just" eaLnBrk="1" hangingPunct="1">
              <a:buFontTx/>
              <a:buNone/>
            </a:pPr>
            <a:r>
              <a:rPr lang="pl-PL" sz="2000" dirty="0">
                <a:solidFill>
                  <a:schemeClr val="accent2"/>
                </a:solidFill>
              </a:rPr>
              <a:t>§  2. 	Sąd okręgowy orzeka wyrokiem na rozprawie w składzie jednego sędziego.</a:t>
            </a:r>
          </a:p>
          <a:p>
            <a:pPr marL="609600" indent="-609600" algn="just" eaLnBrk="1" hangingPunct="1">
              <a:buFontTx/>
              <a:buNone/>
            </a:pPr>
            <a:r>
              <a:rPr lang="pl-PL" sz="2000" dirty="0">
                <a:solidFill>
                  <a:schemeClr val="accent2"/>
                </a:solidFill>
              </a:rPr>
              <a:t>§  2a. 	Stronami w postępowaniu są: wnioskodawca, prokurator oraz Skarb Państwa.</a:t>
            </a:r>
          </a:p>
        </p:txBody>
      </p:sp>
    </p:spTree>
    <p:extLst>
      <p:ext uri="{BB962C8B-B14F-4D97-AF65-F5344CB8AC3E}">
        <p14:creationId xmlns:p14="http://schemas.microsoft.com/office/powerpoint/2010/main" val="3340617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20</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0" y="1414924"/>
            <a:ext cx="8800758" cy="4525963"/>
          </a:xfrm>
        </p:spPr>
        <p:txBody>
          <a:bodyPr/>
          <a:lstStyle/>
          <a:p>
            <a:pPr marL="609600" indent="-609600" algn="ctr" eaLnBrk="1" hangingPunct="1">
              <a:buFontTx/>
              <a:buNone/>
            </a:pPr>
            <a:endParaRPr lang="pl-PL" sz="1600" b="1" dirty="0">
              <a:solidFill>
                <a:schemeClr val="accent2"/>
              </a:solidFill>
            </a:endParaRPr>
          </a:p>
          <a:p>
            <a:pPr marL="609600" indent="-609600" algn="just" eaLnBrk="1" hangingPunct="1">
              <a:buFontTx/>
              <a:buNone/>
            </a:pPr>
            <a:r>
              <a:rPr lang="pl-PL" sz="1600" b="1" dirty="0">
                <a:solidFill>
                  <a:schemeClr val="accent2"/>
                </a:solidFill>
              </a:rPr>
              <a:t>	</a:t>
            </a:r>
            <a:r>
              <a:rPr lang="pl-PL" sz="1800" dirty="0">
                <a:solidFill>
                  <a:schemeClr val="accent2"/>
                </a:solidFill>
              </a:rPr>
              <a:t>§  2b. 	</a:t>
            </a:r>
            <a:r>
              <a:rPr lang="pl-PL" sz="1800" b="1" dirty="0">
                <a:solidFill>
                  <a:schemeClr val="accent2"/>
                </a:solidFill>
              </a:rPr>
              <a:t>Organem reprezentującym Skarb Państwa </a:t>
            </a:r>
            <a:r>
              <a:rPr lang="pl-PL" sz="1800" dirty="0">
                <a:solidFill>
                  <a:schemeClr val="accent2"/>
                </a:solidFill>
              </a:rPr>
              <a:t>jest:</a:t>
            </a:r>
          </a:p>
          <a:p>
            <a:pPr marL="609600" indent="-609600" algn="just" eaLnBrk="1" hangingPunct="1">
              <a:buFontTx/>
              <a:buNone/>
            </a:pPr>
            <a:r>
              <a:rPr lang="pl-PL" sz="1800" dirty="0">
                <a:solidFill>
                  <a:schemeClr val="accent2"/>
                </a:solidFill>
              </a:rPr>
              <a:t>1)	prezes sądu, w którym wydano ostatnie orzeczenie kończące postępowanie w przedmiocie odpowiedzialności karnej, stosowania środka zapobiegawczego, środka zabezpieczającego lub zatrzymania, albo</a:t>
            </a:r>
          </a:p>
          <a:p>
            <a:pPr marL="609600" indent="-609600" algn="just" eaLnBrk="1" hangingPunct="1">
              <a:buFontTx/>
              <a:buNone/>
            </a:pPr>
            <a:r>
              <a:rPr lang="pl-PL" sz="1800" dirty="0">
                <a:solidFill>
                  <a:schemeClr val="accent2"/>
                </a:solidFill>
              </a:rPr>
              <a:t>2)	prezes sądu pierwszej instancji, w którym wydano zmienione orzeczenie - jeżeli orzeczeniem, o którym mowa w pkt 1, zmieniono orzeczenie sądu pierwszej instancji i zastosowano środek, w związku z którym nie przysługuje odszkodowanie w myśl niniejszego rozdziału, albo</a:t>
            </a:r>
          </a:p>
          <a:p>
            <a:pPr marL="609600" indent="-609600" algn="just" eaLnBrk="1" hangingPunct="1">
              <a:buFontTx/>
              <a:buNone/>
            </a:pPr>
            <a:r>
              <a:rPr lang="pl-PL" sz="1800" dirty="0">
                <a:solidFill>
                  <a:schemeClr val="accent2"/>
                </a:solidFill>
              </a:rPr>
              <a:t>3)	organ, który dokonał zatrzymania - jeżeli sąd uwzględnił zażalenie na zatrzymanie albo jeżeli sąd nie rozpoznawał zażalenia na zatrzymanie.</a:t>
            </a:r>
          </a:p>
          <a:p>
            <a:pPr marL="609600" indent="-609600" algn="just" eaLnBrk="1" hangingPunct="1">
              <a:buFontTx/>
              <a:buNone/>
            </a:pPr>
            <a:r>
              <a:rPr lang="pl-PL" sz="1800" dirty="0">
                <a:solidFill>
                  <a:schemeClr val="accent2"/>
                </a:solidFill>
              </a:rPr>
              <a:t>§  3. 	</a:t>
            </a:r>
            <a:r>
              <a:rPr lang="pl-PL" sz="1800" b="1" dirty="0">
                <a:solidFill>
                  <a:schemeClr val="accent2"/>
                </a:solidFill>
              </a:rPr>
              <a:t>O terminie rozprawy zawiadamia się wnioskodawcę, prokuratora oraz organ reprezentujący Skarb Państwa, przesyłając odpis wniosku</a:t>
            </a:r>
            <a:r>
              <a:rPr lang="pl-PL" sz="1800" dirty="0">
                <a:solidFill>
                  <a:schemeClr val="accent2"/>
                </a:solidFill>
              </a:rPr>
              <a:t>.</a:t>
            </a:r>
          </a:p>
          <a:p>
            <a:pPr marL="609600" indent="-609600" algn="just" eaLnBrk="1" hangingPunct="1">
              <a:buFontTx/>
              <a:buNone/>
            </a:pPr>
            <a:r>
              <a:rPr lang="pl-PL" sz="1800" dirty="0">
                <a:solidFill>
                  <a:schemeClr val="accent2"/>
                </a:solidFill>
              </a:rPr>
              <a:t>§  4. 	</a:t>
            </a:r>
            <a:r>
              <a:rPr lang="pl-PL" sz="1800" b="1" dirty="0">
                <a:solidFill>
                  <a:schemeClr val="accent2"/>
                </a:solidFill>
              </a:rPr>
              <a:t>Postępowanie jest wolne od kosztów sądowych</a:t>
            </a:r>
            <a:r>
              <a:rPr lang="pl-PL" sz="1800" dirty="0">
                <a:solidFill>
                  <a:schemeClr val="accent2"/>
                </a:solidFill>
              </a:rPr>
              <a:t>. W razie uwzględnienia roszczeń choćby w części wnioskodawcy przysługuje od Skarbu Państwa zwrot uzasadnionych wydatków, w tym z tytułu ustanowienia jednego pełnomocnika.</a:t>
            </a:r>
          </a:p>
        </p:txBody>
      </p:sp>
    </p:spTree>
    <p:extLst>
      <p:ext uri="{BB962C8B-B14F-4D97-AF65-F5344CB8AC3E}">
        <p14:creationId xmlns:p14="http://schemas.microsoft.com/office/powerpoint/2010/main" val="2055286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21</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0" y="1414924"/>
            <a:ext cx="8800758" cy="4525963"/>
          </a:xfrm>
        </p:spPr>
        <p:txBody>
          <a:bodyPr/>
          <a:lstStyle/>
          <a:p>
            <a:pPr marL="609600" indent="-609600" algn="ctr" eaLnBrk="1" hangingPunct="1">
              <a:buFontTx/>
              <a:buNone/>
            </a:pPr>
            <a:endParaRPr lang="pl-PL" sz="1600" b="1" dirty="0">
              <a:solidFill>
                <a:schemeClr val="accent2"/>
              </a:solidFill>
            </a:endParaRPr>
          </a:p>
          <a:p>
            <a:pPr marL="609600" indent="-609600" algn="just" eaLnBrk="1" hangingPunct="1">
              <a:buFontTx/>
              <a:buNone/>
            </a:pPr>
            <a:endParaRPr lang="pl-PL" sz="1600" b="1" dirty="0">
              <a:solidFill>
                <a:schemeClr val="accent2"/>
              </a:solidFill>
            </a:endParaRPr>
          </a:p>
          <a:p>
            <a:pPr marL="609600" indent="-609600" algn="just" eaLnBrk="1" hangingPunct="1">
              <a:buFontTx/>
              <a:buNone/>
            </a:pPr>
            <a:r>
              <a:rPr lang="pl-PL" sz="1600" b="1" dirty="0">
                <a:solidFill>
                  <a:schemeClr val="accent2"/>
                </a:solidFill>
              </a:rPr>
              <a:t>Kwestia właściwości sądu:</a:t>
            </a:r>
          </a:p>
          <a:p>
            <a:pPr marL="609600" indent="-609600" algn="just" eaLnBrk="1" hangingPunct="1">
              <a:buFontTx/>
              <a:buNone/>
            </a:pPr>
            <a:endParaRPr lang="pl-PL" sz="1800" dirty="0">
              <a:solidFill>
                <a:schemeClr val="accent2"/>
              </a:solidFill>
            </a:endParaRPr>
          </a:p>
          <a:p>
            <a:pPr marL="609600" indent="-609600" algn="just" eaLnBrk="1" hangingPunct="1">
              <a:buFontTx/>
              <a:buNone/>
            </a:pPr>
            <a:endParaRPr lang="pl-PL" sz="1800" dirty="0">
              <a:solidFill>
                <a:schemeClr val="accent2"/>
              </a:solidFill>
            </a:endParaRPr>
          </a:p>
          <a:p>
            <a:pPr marL="609600" indent="-609600" algn="just" eaLnBrk="1" hangingPunct="1">
              <a:buFontTx/>
              <a:buNone/>
            </a:pPr>
            <a:r>
              <a:rPr lang="pl-PL" sz="1800" dirty="0">
                <a:solidFill>
                  <a:schemeClr val="accent2"/>
                </a:solidFill>
              </a:rPr>
              <a:t>	na gruncie tzw. spraw odszkodowawczych dochodzić do sytuacji, w których sądem, w których zgłoszono wniosek o odszkodowanie, a na ogół będącym in </a:t>
            </a:r>
            <a:r>
              <a:rPr lang="pl-PL" sz="1800" dirty="0" err="1">
                <a:solidFill>
                  <a:schemeClr val="accent2"/>
                </a:solidFill>
              </a:rPr>
              <a:t>praxi</a:t>
            </a:r>
            <a:r>
              <a:rPr lang="pl-PL" sz="1800" dirty="0">
                <a:solidFill>
                  <a:schemeClr val="accent2"/>
                </a:solidFill>
              </a:rPr>
              <a:t> sądem właściwym do rozstrzygania spraw w trybie przepisów zawartych w Rozdziale 58 Kodeksu postępowania karnego, stanie się sąd w sposób istotny związany z roszczeniem, zaś stroną takiego postępowania prezes tegoż sądu. </a:t>
            </a:r>
          </a:p>
        </p:txBody>
      </p:sp>
    </p:spTree>
    <p:extLst>
      <p:ext uri="{BB962C8B-B14F-4D97-AF65-F5344CB8AC3E}">
        <p14:creationId xmlns:p14="http://schemas.microsoft.com/office/powerpoint/2010/main" val="2721457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22</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0" y="1414924"/>
            <a:ext cx="8800758" cy="4525963"/>
          </a:xfrm>
        </p:spPr>
        <p:txBody>
          <a:bodyPr/>
          <a:lstStyle/>
          <a:p>
            <a:pPr marL="609600" indent="-609600" algn="ctr" eaLnBrk="1" hangingPunct="1">
              <a:buFontTx/>
              <a:buNone/>
            </a:pPr>
            <a:endParaRPr lang="pl-PL" sz="1600" b="1" dirty="0">
              <a:solidFill>
                <a:schemeClr val="accent2"/>
              </a:solidFill>
            </a:endParaRPr>
          </a:p>
          <a:p>
            <a:pPr marL="609600" indent="-609600" algn="just" eaLnBrk="1" hangingPunct="1">
              <a:buFontTx/>
              <a:buNone/>
            </a:pPr>
            <a:r>
              <a:rPr lang="pl-PL" sz="1600" b="1" dirty="0">
                <a:solidFill>
                  <a:schemeClr val="accent2"/>
                </a:solidFill>
              </a:rPr>
              <a:t>Kwestia właściwości sądu:</a:t>
            </a:r>
          </a:p>
          <a:p>
            <a:pPr marL="609600" indent="-609600" algn="just" eaLnBrk="1" hangingPunct="1">
              <a:buFontTx/>
              <a:buNone/>
            </a:pPr>
            <a:r>
              <a:rPr lang="pl-PL" sz="1800" dirty="0">
                <a:solidFill>
                  <a:srgbClr val="FF0000"/>
                </a:solidFill>
              </a:rPr>
              <a:t>art</a:t>
            </a:r>
            <a:r>
              <a:rPr lang="pl-PL" sz="1800" b="1" dirty="0">
                <a:solidFill>
                  <a:srgbClr val="FF0000"/>
                </a:solidFill>
              </a:rPr>
              <a:t>. </a:t>
            </a:r>
            <a:r>
              <a:rPr kumimoji="0" lang="pl-PL" sz="1800" b="1" i="0" u="none" strike="noStrike" kern="0" cap="none" spc="0" normalizeH="0" baseline="0" noProof="0" dirty="0">
                <a:ln>
                  <a:noFill/>
                </a:ln>
                <a:solidFill>
                  <a:srgbClr val="FF0000"/>
                </a:solidFill>
                <a:effectLst/>
                <a:highlight>
                  <a:srgbClr val="FFFFFF"/>
                </a:highlight>
                <a:uLnTx/>
                <a:uFillTx/>
                <a:latin typeface="Open Sans" panose="020B0606030504020204" pitchFamily="34" charset="0"/>
                <a:ea typeface="+mn-ea"/>
                <a:cs typeface="+mn-cs"/>
                <a:hlinkClick r:id="rId2">
                  <a:extLst>
                    <a:ext uri="{A12FA001-AC4F-418D-AE19-62706E023703}">
                      <ahyp:hlinkClr xmlns:ahyp="http://schemas.microsoft.com/office/drawing/2018/hyperlinkcolor" val="tx"/>
                    </a:ext>
                  </a:extLst>
                </a:hlinkClick>
              </a:rPr>
              <a:t>44</a:t>
            </a:r>
            <a:r>
              <a:rPr kumimoji="0" lang="pl-PL" sz="1800" b="1" i="0" u="none" strike="noStrike" kern="0" cap="none" spc="0" normalizeH="0" baseline="30000" noProof="0" dirty="0">
                <a:ln>
                  <a:noFill/>
                </a:ln>
                <a:solidFill>
                  <a:srgbClr val="FF0000"/>
                </a:solidFill>
                <a:effectLst/>
                <a:highlight>
                  <a:srgbClr val="FFFFFF"/>
                </a:highlight>
                <a:uLnTx/>
                <a:uFillTx/>
                <a:latin typeface="Open Sans" panose="020B0606030504020204" pitchFamily="34" charset="0"/>
                <a:ea typeface="+mn-ea"/>
                <a:cs typeface="+mn-cs"/>
              </a:rPr>
              <a:t>2</a:t>
            </a:r>
            <a:r>
              <a:rPr kumimoji="0" lang="pl-PL" sz="1800" b="1" i="0" u="none" strike="noStrike" kern="0" cap="none" spc="0" normalizeH="0" baseline="0" noProof="0" dirty="0">
                <a:ln>
                  <a:noFill/>
                </a:ln>
                <a:solidFill>
                  <a:srgbClr val="FF0000"/>
                </a:solidFill>
                <a:effectLst/>
                <a:highlight>
                  <a:srgbClr val="FFFFFF"/>
                </a:highlight>
                <a:uLnTx/>
                <a:uFillTx/>
                <a:latin typeface="Open Sans" panose="020B0606030504020204" pitchFamily="34" charset="0"/>
                <a:ea typeface="+mn-ea"/>
                <a:cs typeface="+mn-cs"/>
              </a:rPr>
              <a:t> </a:t>
            </a:r>
            <a:r>
              <a:rPr lang="pl-PL" sz="1800" dirty="0">
                <a:solidFill>
                  <a:srgbClr val="FF0000"/>
                </a:solidFill>
              </a:rPr>
              <a:t>k.p.c. </a:t>
            </a:r>
            <a:r>
              <a:rPr lang="pl-PL" sz="1800" dirty="0">
                <a:solidFill>
                  <a:schemeClr val="accent2"/>
                </a:solidFill>
              </a:rPr>
              <a:t>Rozwiązanie przyjęte w cywilnej ustawie proceduralnej przewiduje, że: </a:t>
            </a:r>
          </a:p>
          <a:p>
            <a:pPr marL="609600" indent="-609600" algn="just" eaLnBrk="1" hangingPunct="1">
              <a:buFontTx/>
              <a:buNone/>
            </a:pPr>
            <a:endParaRPr lang="pl-PL" sz="1800" dirty="0">
              <a:solidFill>
                <a:schemeClr val="accent2"/>
              </a:solidFill>
            </a:endParaRPr>
          </a:p>
          <a:p>
            <a:pPr marL="609600" indent="-609600" algn="just" eaLnBrk="1" hangingPunct="1">
              <a:buFontTx/>
              <a:buNone/>
            </a:pPr>
            <a:r>
              <a:rPr lang="pl-PL" sz="1800" dirty="0">
                <a:solidFill>
                  <a:schemeClr val="accent2"/>
                </a:solidFill>
              </a:rPr>
              <a:t>"Jeżeli stroną jest Skarb Państwa, a państwową jednostką organizacyjną, z której działalnością wiąże się dochodzone roszczenie, jest sąd:</a:t>
            </a:r>
          </a:p>
          <a:p>
            <a:pPr marL="609600" indent="-609600" algn="just" eaLnBrk="1" hangingPunct="1">
              <a:buFontTx/>
              <a:buNone/>
            </a:pPr>
            <a:endParaRPr lang="pl-PL" sz="1800" dirty="0">
              <a:solidFill>
                <a:schemeClr val="accent2"/>
              </a:solidFill>
            </a:endParaRPr>
          </a:p>
          <a:p>
            <a:pPr marL="609600" indent="-609600" algn="just" eaLnBrk="1" hangingPunct="1">
              <a:buFontTx/>
              <a:buNone/>
            </a:pPr>
            <a:r>
              <a:rPr lang="pl-PL" sz="1800" dirty="0">
                <a:solidFill>
                  <a:schemeClr val="accent2"/>
                </a:solidFill>
              </a:rPr>
              <a:t>1) właściwy do rozpoznania sprawy - sąd ten z urzędu przedstawia akta sprawy sądowi nad nim przełożonemu, który przekazuje sprawę innemu sądowi równorzędnemu z sądem przedstawiającym;</a:t>
            </a:r>
          </a:p>
          <a:p>
            <a:pPr marL="609600" indent="-609600" algn="just" eaLnBrk="1" hangingPunct="1">
              <a:buFontTx/>
              <a:buNone/>
            </a:pPr>
            <a:endParaRPr lang="pl-PL" sz="1800" dirty="0">
              <a:solidFill>
                <a:schemeClr val="accent2"/>
              </a:solidFill>
            </a:endParaRPr>
          </a:p>
          <a:p>
            <a:pPr marL="609600" indent="-609600" algn="just" eaLnBrk="1" hangingPunct="1">
              <a:buFontTx/>
              <a:buNone/>
            </a:pPr>
            <a:r>
              <a:rPr lang="pl-PL" sz="1800" dirty="0">
                <a:solidFill>
                  <a:schemeClr val="accent2"/>
                </a:solidFill>
              </a:rPr>
              <a:t>2) przełożony nad sądem właściwym do rozpoznania sprawy - sąd właściwy do rozpoznania sprawy z urzędu przedstawia akta sprawy temu sądowi przełożonemu, który przekazuje sprawę innemu sądowi równorzędnemu z sądem przedstawiającym, mającemu siedzibę poza obszarem właściwości sądu przekazującego".</a:t>
            </a:r>
          </a:p>
        </p:txBody>
      </p:sp>
    </p:spTree>
    <p:extLst>
      <p:ext uri="{BB962C8B-B14F-4D97-AF65-F5344CB8AC3E}">
        <p14:creationId xmlns:p14="http://schemas.microsoft.com/office/powerpoint/2010/main" val="1002680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23</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0" y="1414924"/>
            <a:ext cx="8800758" cy="4525963"/>
          </a:xfrm>
        </p:spPr>
        <p:txBody>
          <a:bodyPr/>
          <a:lstStyle/>
          <a:p>
            <a:pPr marL="609600" indent="-609600" algn="ctr" eaLnBrk="1" hangingPunct="1">
              <a:buFontTx/>
              <a:buNone/>
            </a:pPr>
            <a:endParaRPr lang="pl-PL" sz="1600" b="1" dirty="0">
              <a:solidFill>
                <a:schemeClr val="accent2"/>
              </a:solidFill>
            </a:endParaRPr>
          </a:p>
          <a:p>
            <a:pPr marL="609600" indent="-609600" algn="just" eaLnBrk="1" hangingPunct="1">
              <a:buFontTx/>
              <a:buNone/>
            </a:pPr>
            <a:endParaRPr lang="pl-PL" sz="1600" b="1" dirty="0">
              <a:solidFill>
                <a:schemeClr val="accent2"/>
              </a:solidFill>
            </a:endParaRPr>
          </a:p>
          <a:p>
            <a:pPr marL="609600" indent="-609600" algn="just" eaLnBrk="1" hangingPunct="1">
              <a:buFontTx/>
              <a:buNone/>
            </a:pPr>
            <a:r>
              <a:rPr lang="pl-PL" sz="1600" dirty="0">
                <a:solidFill>
                  <a:schemeClr val="accent2"/>
                </a:solidFill>
              </a:rPr>
              <a:t>	Ustawodawca zdecydował się na takie ukształtowanie przepisów, aby w omawianych sytuacjach unikać potencjalnego konfliktu interesów. To gwarantować ma rozpoznawanie sprawy przez ten sąd, którego działania orzecznicze nie wiązałyby się z zagrożeniem zasady bezstronności (zob. T. </a:t>
            </a:r>
            <a:r>
              <a:rPr lang="pl-PL" sz="1600" dirty="0" err="1">
                <a:solidFill>
                  <a:schemeClr val="accent2"/>
                </a:solidFill>
              </a:rPr>
              <a:t>Ereciński</a:t>
            </a:r>
            <a:r>
              <a:rPr lang="pl-PL" sz="1600" dirty="0">
                <a:solidFill>
                  <a:schemeClr val="accent2"/>
                </a:solidFill>
              </a:rPr>
              <a:t> (red.), Kodeks postępowania cywilnego. Komentarz. Tom I. Postępowanie rozpoznawcze. Artykuły 1-124, wyd. VI, WKP 2023, uwagi do k.p.c., teza 1; O. Piaskowska (red.), Kodeks postępowania cywilnego. Postępowanie procesowe. Komentarz aktualizowany, Lex/el. 2023.</a:t>
            </a:r>
          </a:p>
          <a:p>
            <a:pPr marL="609600" indent="-609600" algn="just" eaLnBrk="1" hangingPunct="1">
              <a:buFontTx/>
              <a:buNone/>
            </a:pPr>
            <a:endParaRPr lang="pl-PL" sz="1600" dirty="0">
              <a:solidFill>
                <a:schemeClr val="accent2"/>
              </a:solidFill>
            </a:endParaRPr>
          </a:p>
          <a:p>
            <a:pPr marL="609600" indent="-609600" algn="just" eaLnBrk="1" hangingPunct="1">
              <a:buFontTx/>
              <a:buNone/>
            </a:pPr>
            <a:r>
              <a:rPr lang="pl-PL" sz="1600" dirty="0">
                <a:solidFill>
                  <a:schemeClr val="accent2"/>
                </a:solidFill>
              </a:rPr>
              <a:t>	W procedurze karnej zaistniały dwie linie orzecznicze. Jedna dopuszczała stosowanie w/w przepisu k.p.c., druga nie, gdyż uważano, że na przeszkodzie stoi art. 37 k.p.k., a k.p.c. stosuje się wyłącznie w zakresie nieuregulowanym. Problem jednak w tym, że są to rozwiązania od siebie odmienne, posiadające inny zakres regulacji - odpowiednikiem jest przecież </a:t>
            </a:r>
            <a:r>
              <a:rPr lang="pl-PL" sz="1600" b="0" i="0" dirty="0">
                <a:solidFill>
                  <a:schemeClr val="accent6"/>
                </a:solidFill>
                <a:effectLst/>
                <a:highlight>
                  <a:srgbClr val="FFFFFF"/>
                </a:highlight>
                <a:latin typeface="Open Sans" panose="020B0606030504020204" pitchFamily="34" charset="0"/>
                <a:hlinkClick r:id="rId2">
                  <a:extLst>
                    <a:ext uri="{A12FA001-AC4F-418D-AE19-62706E023703}">
                      <ahyp:hlinkClr xmlns:ahyp="http://schemas.microsoft.com/office/drawing/2018/hyperlinkcolor" val="tx"/>
                    </a:ext>
                  </a:extLst>
                </a:hlinkClick>
              </a:rPr>
              <a:t>art. 44</a:t>
            </a:r>
            <a:r>
              <a:rPr lang="pl-PL" sz="1600" b="0" i="0" baseline="30000" dirty="0">
                <a:solidFill>
                  <a:schemeClr val="accent6"/>
                </a:solidFill>
                <a:effectLst/>
                <a:highlight>
                  <a:srgbClr val="FFFFFF"/>
                </a:highlight>
                <a:latin typeface="Open Sans" panose="020B0606030504020204" pitchFamily="34" charset="0"/>
                <a:hlinkClick r:id="rId2">
                  <a:extLst>
                    <a:ext uri="{A12FA001-AC4F-418D-AE19-62706E023703}">
                      <ahyp:hlinkClr xmlns:ahyp="http://schemas.microsoft.com/office/drawing/2018/hyperlinkcolor" val="tx"/>
                    </a:ext>
                  </a:extLst>
                </a:hlinkClick>
              </a:rPr>
              <a:t>1</a:t>
            </a:r>
            <a:r>
              <a:rPr lang="pl-PL" sz="1600" b="0" i="0" dirty="0">
                <a:solidFill>
                  <a:schemeClr val="accent6"/>
                </a:solidFill>
                <a:effectLst/>
                <a:highlight>
                  <a:srgbClr val="FFFFFF"/>
                </a:highlight>
                <a:latin typeface="Open Sans" panose="020B0606030504020204" pitchFamily="34" charset="0"/>
              </a:rPr>
              <a:t> k.p.c. Kodeks postępowania karnego nie ma natomiast takiego odpowiednika jak </a:t>
            </a:r>
            <a:r>
              <a:rPr lang="pl-PL" sz="1600" dirty="0">
                <a:solidFill>
                  <a:srgbClr val="009999"/>
                </a:solidFill>
                <a:highlight>
                  <a:srgbClr val="FFFFFF"/>
                </a:highlight>
                <a:latin typeface="Open Sans" panose="020B0606030504020204" pitchFamily="34" charset="0"/>
              </a:rPr>
              <a:t>art. 44</a:t>
            </a:r>
            <a:r>
              <a:rPr kumimoji="0" lang="pl-PL" sz="1600" b="0" i="0" u="none" strike="noStrike" kern="0" cap="none" spc="0" normalizeH="0" baseline="30000" noProof="0" dirty="0">
                <a:ln>
                  <a:noFill/>
                </a:ln>
                <a:solidFill>
                  <a:srgbClr val="2D2D8A"/>
                </a:solidFill>
                <a:effectLst/>
                <a:highlight>
                  <a:srgbClr val="FFFFFF"/>
                </a:highlight>
                <a:uLnTx/>
                <a:uFillTx/>
                <a:latin typeface="Open Sans" panose="020B0606030504020204" pitchFamily="34" charset="0"/>
                <a:ea typeface="+mn-ea"/>
                <a:cs typeface="+mn-cs"/>
              </a:rPr>
              <a:t>2</a:t>
            </a:r>
            <a:r>
              <a:rPr kumimoji="0" lang="pl-PL" sz="1600" b="0" i="0" u="none" strike="noStrike" kern="0" cap="none" spc="0" normalizeH="0" baseline="0" noProof="0" dirty="0">
                <a:ln>
                  <a:noFill/>
                </a:ln>
                <a:solidFill>
                  <a:srgbClr val="2D2D8A"/>
                </a:solidFill>
                <a:effectLst/>
                <a:highlight>
                  <a:srgbClr val="FFFFFF"/>
                </a:highlight>
                <a:uLnTx/>
                <a:uFillTx/>
                <a:latin typeface="Open Sans" panose="020B0606030504020204" pitchFamily="34" charset="0"/>
                <a:ea typeface="+mn-ea"/>
                <a:cs typeface="+mn-cs"/>
              </a:rPr>
              <a:t> k.p.c.</a:t>
            </a:r>
            <a:r>
              <a:rPr lang="pl-PL" sz="1600" b="0" i="0" dirty="0">
                <a:solidFill>
                  <a:schemeClr val="accent6"/>
                </a:solidFill>
                <a:effectLst/>
                <a:highlight>
                  <a:srgbClr val="FFFFFF"/>
                </a:highlight>
                <a:latin typeface="Open Sans" panose="020B0606030504020204" pitchFamily="34" charset="0"/>
              </a:rPr>
              <a:t> </a:t>
            </a:r>
            <a:endParaRPr lang="pl-PL" sz="1600" dirty="0">
              <a:solidFill>
                <a:schemeClr val="accent6"/>
              </a:solidFill>
            </a:endParaRPr>
          </a:p>
        </p:txBody>
      </p:sp>
    </p:spTree>
    <p:extLst>
      <p:ext uri="{BB962C8B-B14F-4D97-AF65-F5344CB8AC3E}">
        <p14:creationId xmlns:p14="http://schemas.microsoft.com/office/powerpoint/2010/main" val="451296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24</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0" y="1414924"/>
            <a:ext cx="8800758" cy="4525963"/>
          </a:xfrm>
        </p:spPr>
        <p:txBody>
          <a:bodyPr/>
          <a:lstStyle/>
          <a:p>
            <a:pPr marL="609600" indent="-609600" algn="ctr" eaLnBrk="1" hangingPunct="1">
              <a:buFontTx/>
              <a:buNone/>
            </a:pPr>
            <a:endParaRPr lang="pl-PL" sz="1600" b="1" dirty="0">
              <a:solidFill>
                <a:schemeClr val="accent2"/>
              </a:solidFill>
            </a:endParaRPr>
          </a:p>
          <a:p>
            <a:pPr marL="609600" indent="-609600" algn="just" eaLnBrk="1" hangingPunct="1">
              <a:buFontTx/>
              <a:buNone/>
            </a:pPr>
            <a:endParaRPr lang="pl-PL" sz="1600" b="1" dirty="0">
              <a:solidFill>
                <a:schemeClr val="accent2"/>
              </a:solidFill>
            </a:endParaRPr>
          </a:p>
          <a:p>
            <a:pPr marL="609600" indent="-609600" algn="just" eaLnBrk="1" hangingPunct="1">
              <a:buFontTx/>
              <a:buNone/>
            </a:pPr>
            <a:r>
              <a:rPr lang="pl-PL" sz="1600" dirty="0">
                <a:solidFill>
                  <a:schemeClr val="accent2"/>
                </a:solidFill>
              </a:rPr>
              <a:t>	Unormowanie zawarte w art. </a:t>
            </a:r>
            <a:r>
              <a:rPr lang="pl-PL" sz="1600" dirty="0">
                <a:solidFill>
                  <a:srgbClr val="009999"/>
                </a:solidFill>
                <a:highlight>
                  <a:srgbClr val="FFFFFF"/>
                </a:highlight>
                <a:latin typeface="Open Sans" panose="020B0606030504020204" pitchFamily="34" charset="0"/>
              </a:rPr>
              <a:t>art. 44</a:t>
            </a:r>
            <a:r>
              <a:rPr kumimoji="0" lang="pl-PL" sz="1600" b="0" i="0" u="none" strike="noStrike" kern="0" cap="none" spc="0" normalizeH="0" baseline="30000" noProof="0" dirty="0">
                <a:ln>
                  <a:noFill/>
                </a:ln>
                <a:solidFill>
                  <a:srgbClr val="2D2D8A"/>
                </a:solidFill>
                <a:effectLst/>
                <a:highlight>
                  <a:srgbClr val="FFFFFF"/>
                </a:highlight>
                <a:uLnTx/>
                <a:uFillTx/>
                <a:latin typeface="Open Sans" panose="020B0606030504020204" pitchFamily="34" charset="0"/>
                <a:ea typeface="+mn-ea"/>
                <a:cs typeface="+mn-cs"/>
              </a:rPr>
              <a:t>2</a:t>
            </a:r>
            <a:r>
              <a:rPr kumimoji="0" lang="pl-PL" sz="1600" b="0" i="0" u="none" strike="noStrike" kern="0" cap="none" spc="0" normalizeH="0" baseline="0" noProof="0" dirty="0">
                <a:ln>
                  <a:noFill/>
                </a:ln>
                <a:solidFill>
                  <a:srgbClr val="2D2D8A"/>
                </a:solidFill>
                <a:effectLst/>
                <a:highlight>
                  <a:srgbClr val="FFFFFF"/>
                </a:highlight>
                <a:uLnTx/>
                <a:uFillTx/>
                <a:latin typeface="Open Sans" panose="020B0606030504020204" pitchFamily="34" charset="0"/>
                <a:ea typeface="+mn-ea"/>
                <a:cs typeface="+mn-cs"/>
              </a:rPr>
              <a:t> </a:t>
            </a:r>
            <a:r>
              <a:rPr lang="pl-PL" sz="1600" dirty="0">
                <a:solidFill>
                  <a:schemeClr val="accent2"/>
                </a:solidFill>
              </a:rPr>
              <a:t>k.p.c. ma charakter bezwzględny, co oznacza, że w wypadku wystąpienia przesłanek w nim określonych sąd jest obowiązany do określonego w nim działania. Wskazuje na to bezpośrednio treść przepisu, w którym użyto słów "przedstawia" i "przekazuje". Przepis nie pozostawia na tym polu sądowi właściwemu żadnej swobody co do realizacji jego dyspozycji. Art. 37 k.p.k. ma z kolei charakter oceny i nie jest wystarczająca gwarancją.</a:t>
            </a:r>
          </a:p>
          <a:p>
            <a:pPr marL="609600" indent="-609600" algn="just" eaLnBrk="1" hangingPunct="1">
              <a:buFontTx/>
              <a:buNone/>
            </a:pPr>
            <a:endParaRPr lang="pl-PL" sz="1600" dirty="0">
              <a:solidFill>
                <a:schemeClr val="accent2"/>
              </a:solidFill>
            </a:endParaRPr>
          </a:p>
          <a:p>
            <a:pPr marL="609600" indent="-609600" algn="just" eaLnBrk="1" hangingPunct="1">
              <a:buFontTx/>
              <a:buNone/>
            </a:pPr>
            <a:r>
              <a:rPr lang="pl-PL" sz="1600" dirty="0">
                <a:solidFill>
                  <a:schemeClr val="accent2"/>
                </a:solidFill>
              </a:rPr>
              <a:t>	</a:t>
            </a:r>
            <a:r>
              <a:rPr lang="pl-PL" sz="1600" dirty="0">
                <a:solidFill>
                  <a:schemeClr val="accent6"/>
                </a:solidFill>
                <a:highlight>
                  <a:srgbClr val="FFFFFF"/>
                </a:highlight>
                <a:latin typeface="Open Sans" panose="020B0606030504020204" pitchFamily="34" charset="0"/>
              </a:rPr>
              <a:t>Tu jest jasno</a:t>
            </a:r>
            <a:r>
              <a:rPr lang="pl-PL" sz="1600" b="0" i="0" dirty="0">
                <a:solidFill>
                  <a:schemeClr val="accent6"/>
                </a:solidFill>
                <a:effectLst/>
                <a:highlight>
                  <a:srgbClr val="FFFFFF"/>
                </a:highlight>
                <a:latin typeface="Open Sans" panose="020B0606030504020204" pitchFamily="34" charset="0"/>
              </a:rPr>
              <a:t> wyodrębniona sytuacja procesowa - opisana w </a:t>
            </a:r>
            <a:r>
              <a:rPr lang="pl-PL" sz="1600" b="0" i="0" u="none" strike="noStrike" dirty="0">
                <a:solidFill>
                  <a:srgbClr val="009999"/>
                </a:solidFill>
                <a:effectLst/>
                <a:highlight>
                  <a:srgbClr val="FFFFFF"/>
                </a:highlight>
                <a:latin typeface="Open Sans" panose="020B0606030504020204" pitchFamily="34" charset="0"/>
                <a:hlinkClick r:id="rId2">
                  <a:extLst>
                    <a:ext uri="{A12FA001-AC4F-418D-AE19-62706E023703}">
                      <ahyp:hlinkClr xmlns:ahyp="http://schemas.microsoft.com/office/drawing/2018/hyperlinkcolor" val="tx"/>
                    </a:ext>
                  </a:extLst>
                </a:hlinkClick>
              </a:rPr>
              <a:t>art. 44</a:t>
            </a:r>
            <a:r>
              <a:rPr lang="pl-PL" sz="1600" b="0" i="0" u="none" strike="noStrike" baseline="30000" dirty="0">
                <a:solidFill>
                  <a:schemeClr val="accent6"/>
                </a:solidFill>
                <a:effectLst/>
                <a:highlight>
                  <a:srgbClr val="FFFFFF"/>
                </a:highlight>
                <a:latin typeface="Open Sans" panose="020B0606030504020204" pitchFamily="34" charset="0"/>
                <a:hlinkClick r:id="rId2">
                  <a:extLst>
                    <a:ext uri="{A12FA001-AC4F-418D-AE19-62706E023703}">
                      <ahyp:hlinkClr xmlns:ahyp="http://schemas.microsoft.com/office/drawing/2018/hyperlinkcolor" val="tx"/>
                    </a:ext>
                  </a:extLst>
                </a:hlinkClick>
              </a:rPr>
              <a:t>2</a:t>
            </a:r>
            <a:r>
              <a:rPr lang="pl-PL" sz="1600" b="0" i="0" dirty="0">
                <a:solidFill>
                  <a:schemeClr val="accent6"/>
                </a:solidFill>
                <a:effectLst/>
                <a:highlight>
                  <a:srgbClr val="FFFFFF"/>
                </a:highlight>
                <a:latin typeface="Open Sans" panose="020B0606030504020204" pitchFamily="34" charset="0"/>
              </a:rPr>
              <a:t> k.p.c. od sytuacji przewidzianej w </a:t>
            </a:r>
            <a:r>
              <a:rPr lang="pl-PL" sz="1600" b="0" i="0" u="none" strike="noStrike" dirty="0">
                <a:solidFill>
                  <a:srgbClr val="009999"/>
                </a:solidFill>
                <a:effectLst/>
                <a:highlight>
                  <a:srgbClr val="FFFFFF"/>
                </a:highlight>
                <a:latin typeface="Open Sans" panose="020B0606030504020204" pitchFamily="34" charset="0"/>
                <a:hlinkClick r:id="rId3">
                  <a:extLst>
                    <a:ext uri="{A12FA001-AC4F-418D-AE19-62706E023703}">
                      <ahyp:hlinkClr xmlns:ahyp="http://schemas.microsoft.com/office/drawing/2018/hyperlinkcolor" val="tx"/>
                    </a:ext>
                  </a:extLst>
                </a:hlinkClick>
              </a:rPr>
              <a:t>art. 44</a:t>
            </a:r>
            <a:r>
              <a:rPr lang="pl-PL" sz="1600" b="0" i="0" u="none" strike="noStrike" baseline="30000" dirty="0">
                <a:solidFill>
                  <a:schemeClr val="accent6"/>
                </a:solidFill>
                <a:effectLst/>
                <a:highlight>
                  <a:srgbClr val="FFFFFF"/>
                </a:highlight>
                <a:latin typeface="Open Sans" panose="020B0606030504020204" pitchFamily="34" charset="0"/>
                <a:hlinkClick r:id="rId3">
                  <a:extLst>
                    <a:ext uri="{A12FA001-AC4F-418D-AE19-62706E023703}">
                      <ahyp:hlinkClr xmlns:ahyp="http://schemas.microsoft.com/office/drawing/2018/hyperlinkcolor" val="tx"/>
                    </a:ext>
                  </a:extLst>
                </a:hlinkClick>
              </a:rPr>
              <a:t>1</a:t>
            </a:r>
            <a:r>
              <a:rPr lang="pl-PL" sz="1600" b="0" i="0" dirty="0">
                <a:solidFill>
                  <a:schemeClr val="accent6"/>
                </a:solidFill>
                <a:effectLst/>
                <a:highlight>
                  <a:srgbClr val="FFFFFF"/>
                </a:highlight>
                <a:latin typeface="Open Sans" panose="020B0606030504020204" pitchFamily="34" charset="0"/>
              </a:rPr>
              <a:t> k.p.c. - analogicznej wszakże jak w k.p.k. Pomiędzy tymi sytuacjami nie sposób więc postawić znaku równości ani wywodzić, że przepis </a:t>
            </a:r>
            <a:r>
              <a:rPr lang="pl-PL" sz="1600" b="0" i="0" u="none" strike="noStrike" dirty="0">
                <a:solidFill>
                  <a:schemeClr val="accent6"/>
                </a:solidFill>
                <a:effectLst/>
                <a:highlight>
                  <a:srgbClr val="FFFFFF"/>
                </a:highlight>
                <a:latin typeface="Open Sans" panose="020B0606030504020204" pitchFamily="34" charset="0"/>
                <a:hlinkClick r:id="rId4">
                  <a:extLst>
                    <a:ext uri="{A12FA001-AC4F-418D-AE19-62706E023703}">
                      <ahyp:hlinkClr xmlns:ahyp="http://schemas.microsoft.com/office/drawing/2018/hyperlinkcolor" val="tx"/>
                    </a:ext>
                  </a:extLst>
                </a:hlinkClick>
              </a:rPr>
              <a:t>art. 37</a:t>
            </a:r>
            <a:r>
              <a:rPr lang="pl-PL" sz="1600" b="0" i="0" dirty="0">
                <a:solidFill>
                  <a:schemeClr val="accent6"/>
                </a:solidFill>
                <a:effectLst/>
                <a:highlight>
                  <a:srgbClr val="FFFFFF"/>
                </a:highlight>
                <a:latin typeface="Open Sans" panose="020B0606030504020204" pitchFamily="34" charset="0"/>
              </a:rPr>
              <a:t> k.p.k. rozciąga się znaczeniowo również na sytuację unormowaną w </a:t>
            </a:r>
            <a:r>
              <a:rPr lang="pl-PL" sz="1600" b="0" i="0" u="none" strike="noStrike" dirty="0">
                <a:solidFill>
                  <a:srgbClr val="009999"/>
                </a:solidFill>
                <a:effectLst/>
                <a:highlight>
                  <a:srgbClr val="FFFFFF"/>
                </a:highlight>
                <a:latin typeface="Open Sans" panose="020B0606030504020204" pitchFamily="34" charset="0"/>
                <a:hlinkClick r:id="rId2">
                  <a:extLst>
                    <a:ext uri="{A12FA001-AC4F-418D-AE19-62706E023703}">
                      <ahyp:hlinkClr xmlns:ahyp="http://schemas.microsoft.com/office/drawing/2018/hyperlinkcolor" val="tx"/>
                    </a:ext>
                  </a:extLst>
                </a:hlinkClick>
              </a:rPr>
              <a:t>art. 44</a:t>
            </a:r>
            <a:r>
              <a:rPr lang="pl-PL" sz="1600" b="0" i="0" u="none" strike="noStrike" baseline="30000" dirty="0">
                <a:solidFill>
                  <a:schemeClr val="accent6"/>
                </a:solidFill>
                <a:effectLst/>
                <a:highlight>
                  <a:srgbClr val="FFFFFF"/>
                </a:highlight>
                <a:latin typeface="Open Sans" panose="020B0606030504020204" pitchFamily="34" charset="0"/>
                <a:hlinkClick r:id="rId2">
                  <a:extLst>
                    <a:ext uri="{A12FA001-AC4F-418D-AE19-62706E023703}">
                      <ahyp:hlinkClr xmlns:ahyp="http://schemas.microsoft.com/office/drawing/2018/hyperlinkcolor" val="tx"/>
                    </a:ext>
                  </a:extLst>
                </a:hlinkClick>
              </a:rPr>
              <a:t>2</a:t>
            </a:r>
            <a:r>
              <a:rPr lang="pl-PL" sz="1600" b="0" i="0" dirty="0">
                <a:solidFill>
                  <a:schemeClr val="accent6"/>
                </a:solidFill>
                <a:effectLst/>
                <a:highlight>
                  <a:srgbClr val="FFFFFF"/>
                </a:highlight>
                <a:latin typeface="Open Sans" panose="020B0606030504020204" pitchFamily="34" charset="0"/>
              </a:rPr>
              <a:t> k.p.c. Analiza Kodeksu postępowania karnego wyraźnie wskazuje na to, że nie zawarto w nim przepisu stanowiącego bezpośredni odpowiednik </a:t>
            </a:r>
            <a:r>
              <a:rPr lang="pl-PL" sz="1600" b="0" i="0" u="none" strike="noStrike" dirty="0">
                <a:solidFill>
                  <a:srgbClr val="009999"/>
                </a:solidFill>
                <a:effectLst/>
                <a:highlight>
                  <a:srgbClr val="FFFFFF"/>
                </a:highlight>
                <a:latin typeface="Open Sans" panose="020B0606030504020204" pitchFamily="34" charset="0"/>
                <a:hlinkClick r:id="rId2">
                  <a:extLst>
                    <a:ext uri="{A12FA001-AC4F-418D-AE19-62706E023703}">
                      <ahyp:hlinkClr xmlns:ahyp="http://schemas.microsoft.com/office/drawing/2018/hyperlinkcolor" val="tx"/>
                    </a:ext>
                  </a:extLst>
                </a:hlinkClick>
              </a:rPr>
              <a:t>art. 44</a:t>
            </a:r>
            <a:r>
              <a:rPr lang="pl-PL" sz="1600" b="0" i="0" u="none" strike="noStrike" baseline="30000" dirty="0">
                <a:solidFill>
                  <a:schemeClr val="accent6"/>
                </a:solidFill>
                <a:effectLst/>
                <a:highlight>
                  <a:srgbClr val="FFFFFF"/>
                </a:highlight>
                <a:latin typeface="Open Sans" panose="020B0606030504020204" pitchFamily="34" charset="0"/>
                <a:hlinkClick r:id="rId2">
                  <a:extLst>
                    <a:ext uri="{A12FA001-AC4F-418D-AE19-62706E023703}">
                      <ahyp:hlinkClr xmlns:ahyp="http://schemas.microsoft.com/office/drawing/2018/hyperlinkcolor" val="tx"/>
                    </a:ext>
                  </a:extLst>
                </a:hlinkClick>
              </a:rPr>
              <a:t>2</a:t>
            </a:r>
            <a:r>
              <a:rPr lang="pl-PL" sz="1600" b="0" i="0" dirty="0">
                <a:solidFill>
                  <a:schemeClr val="accent6"/>
                </a:solidFill>
                <a:effectLst/>
                <a:highlight>
                  <a:srgbClr val="FFFFFF"/>
                </a:highlight>
                <a:latin typeface="Open Sans" panose="020B0606030504020204" pitchFamily="34" charset="0"/>
              </a:rPr>
              <a:t> k.p.c.</a:t>
            </a:r>
          </a:p>
          <a:p>
            <a:pPr marL="609600" indent="-609600" algn="just" eaLnBrk="1" hangingPunct="1">
              <a:buFontTx/>
              <a:buNone/>
            </a:pPr>
            <a:endParaRPr lang="pl-PL" sz="1600" dirty="0">
              <a:solidFill>
                <a:schemeClr val="accent6"/>
              </a:solidFill>
              <a:highlight>
                <a:srgbClr val="FFFFFF"/>
              </a:highlight>
              <a:latin typeface="Open Sans" panose="020B0606030504020204" pitchFamily="34" charset="0"/>
            </a:endParaRPr>
          </a:p>
          <a:p>
            <a:pPr marL="609600" indent="-609600" algn="just" eaLnBrk="1" hangingPunct="1">
              <a:buFontTx/>
              <a:buNone/>
            </a:pPr>
            <a:r>
              <a:rPr lang="pl-PL" sz="1600" b="1" dirty="0">
                <a:solidFill>
                  <a:schemeClr val="accent6"/>
                </a:solidFill>
                <a:highlight>
                  <a:srgbClr val="FFFFFF"/>
                </a:highlight>
                <a:latin typeface="Open Sans" panose="020B0606030504020204" pitchFamily="34" charset="0"/>
              </a:rPr>
              <a:t>Szerzej – uchwała 7 SN z 17.01.2024r., I KZP 4/23, OSNK 2024/4/18.</a:t>
            </a:r>
            <a:endParaRPr lang="pl-PL" sz="1600" b="1" dirty="0">
              <a:solidFill>
                <a:schemeClr val="accent6"/>
              </a:solidFill>
            </a:endParaRPr>
          </a:p>
        </p:txBody>
      </p:sp>
    </p:spTree>
    <p:extLst>
      <p:ext uri="{BB962C8B-B14F-4D97-AF65-F5344CB8AC3E}">
        <p14:creationId xmlns:p14="http://schemas.microsoft.com/office/powerpoint/2010/main" val="1428329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25</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79512" y="1562320"/>
            <a:ext cx="8229600" cy="4525963"/>
          </a:xfrm>
        </p:spPr>
        <p:txBody>
          <a:bodyPr/>
          <a:lstStyle/>
          <a:p>
            <a:pPr marL="609600" indent="-609600" algn="ctr" eaLnBrk="1" hangingPunct="1">
              <a:buFontTx/>
              <a:buNone/>
            </a:pPr>
            <a:endParaRPr lang="pl-PL" sz="1800" b="1" dirty="0">
              <a:solidFill>
                <a:schemeClr val="accent2"/>
              </a:solidFill>
            </a:endParaRPr>
          </a:p>
          <a:p>
            <a:pPr marL="609600" indent="-609600" algn="just" eaLnBrk="1" hangingPunct="1">
              <a:buFontTx/>
              <a:buNone/>
            </a:pPr>
            <a:r>
              <a:rPr lang="pl-PL" sz="1800" b="1" dirty="0">
                <a:solidFill>
                  <a:schemeClr val="accent2"/>
                </a:solidFill>
              </a:rPr>
              <a:t>	Celem ustalenia należnej wysokości odszkodowania należy dokonać odpowiednich przeliczeń i koniecznych uśrednień, przyjmując odpowiednio:</a:t>
            </a:r>
          </a:p>
          <a:p>
            <a:pPr marL="609600" indent="-609600" algn="just" eaLnBrk="1" hangingPunct="1">
              <a:buFontTx/>
              <a:buNone/>
            </a:pPr>
            <a:endParaRPr lang="pl-PL" sz="1800" b="1" dirty="0">
              <a:solidFill>
                <a:schemeClr val="accent2"/>
              </a:solidFill>
            </a:endParaRPr>
          </a:p>
          <a:p>
            <a:pPr eaLnBrk="1" hangingPunct="1">
              <a:buFont typeface="Wingdings" panose="05000000000000000000" pitchFamily="2" charset="2"/>
              <a:buChar char="Ø"/>
            </a:pPr>
            <a:r>
              <a:rPr lang="pl-PL" sz="1800" b="1" dirty="0">
                <a:solidFill>
                  <a:schemeClr val="accent2"/>
                </a:solidFill>
              </a:rPr>
              <a:t>Dokładny czas izolacji </a:t>
            </a:r>
          </a:p>
          <a:p>
            <a:pPr eaLnBrk="1" hangingPunct="1">
              <a:buFont typeface="Wingdings" panose="05000000000000000000" pitchFamily="2" charset="2"/>
              <a:buChar char="Ø"/>
            </a:pPr>
            <a:r>
              <a:rPr lang="pl-PL" sz="1800" b="1" dirty="0">
                <a:solidFill>
                  <a:schemeClr val="accent2"/>
                </a:solidFill>
              </a:rPr>
              <a:t>dochody osadzonego</a:t>
            </a:r>
          </a:p>
          <a:p>
            <a:pPr eaLnBrk="1" hangingPunct="1">
              <a:buFont typeface="Wingdings" panose="05000000000000000000" pitchFamily="2" charset="2"/>
              <a:buChar char="Ø"/>
            </a:pPr>
            <a:r>
              <a:rPr lang="pl-PL" sz="1800" b="1" dirty="0">
                <a:solidFill>
                  <a:schemeClr val="accent2"/>
                </a:solidFill>
              </a:rPr>
              <a:t>dochód dzienny,</a:t>
            </a:r>
          </a:p>
          <a:p>
            <a:pPr eaLnBrk="1" hangingPunct="1">
              <a:buFont typeface="Wingdings" panose="05000000000000000000" pitchFamily="2" charset="2"/>
              <a:buChar char="Ø"/>
            </a:pPr>
            <a:r>
              <a:rPr lang="pl-PL" sz="1800" b="1" dirty="0">
                <a:solidFill>
                  <a:schemeClr val="accent2"/>
                </a:solidFill>
              </a:rPr>
              <a:t>dochód miesięczny,</a:t>
            </a:r>
          </a:p>
          <a:p>
            <a:pPr eaLnBrk="1" hangingPunct="1">
              <a:buFont typeface="Wingdings" panose="05000000000000000000" pitchFamily="2" charset="2"/>
              <a:buChar char="Ø"/>
            </a:pPr>
            <a:r>
              <a:rPr lang="pl-PL" sz="1800" b="1" dirty="0">
                <a:solidFill>
                  <a:schemeClr val="accent2"/>
                </a:solidFill>
              </a:rPr>
              <a:t>miesięczne koszty utrzymania</a:t>
            </a:r>
          </a:p>
          <a:p>
            <a:pPr marL="0" indent="0" eaLnBrk="1" hangingPunct="1">
              <a:buNone/>
            </a:pPr>
            <a:endParaRPr lang="pl-PL" sz="1800" b="1" dirty="0">
              <a:solidFill>
                <a:schemeClr val="accent2"/>
              </a:solidFill>
            </a:endParaRPr>
          </a:p>
          <a:p>
            <a:pPr marL="0" indent="0" algn="just" eaLnBrk="1" hangingPunct="1">
              <a:buNone/>
            </a:pPr>
            <a:r>
              <a:rPr lang="pl-PL" sz="1800" b="1" u="sng" dirty="0">
                <a:solidFill>
                  <a:schemeClr val="accent2"/>
                </a:solidFill>
              </a:rPr>
              <a:t>Zmienne zapatrywania jurydyczne czy odjąć od dochodu należy miesięczny koszty utrzymania. </a:t>
            </a:r>
            <a:endParaRPr lang="pl-PL" sz="1400" b="1" u="sng" dirty="0"/>
          </a:p>
        </p:txBody>
      </p:sp>
    </p:spTree>
    <p:extLst>
      <p:ext uri="{BB962C8B-B14F-4D97-AF65-F5344CB8AC3E}">
        <p14:creationId xmlns:p14="http://schemas.microsoft.com/office/powerpoint/2010/main" val="1917731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26</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07504" y="1268760"/>
            <a:ext cx="8229600" cy="4525963"/>
          </a:xfrm>
        </p:spPr>
        <p:txBody>
          <a:bodyPr/>
          <a:lstStyle/>
          <a:p>
            <a:pPr marL="609600" indent="-609600" algn="ctr" eaLnBrk="1" hangingPunct="1">
              <a:buFontTx/>
              <a:buNone/>
            </a:pPr>
            <a:endParaRPr lang="pl-PL" sz="1800" b="1" dirty="0">
              <a:solidFill>
                <a:schemeClr val="accent2"/>
              </a:solidFill>
            </a:endParaRPr>
          </a:p>
          <a:p>
            <a:pPr marL="609600" indent="-609600" algn="ctr" eaLnBrk="1" hangingPunct="1">
              <a:buFontTx/>
              <a:buNone/>
            </a:pPr>
            <a:endParaRPr lang="pl-PL" sz="1800" b="1" dirty="0">
              <a:solidFill>
                <a:schemeClr val="accent2"/>
              </a:solidFill>
            </a:endParaRPr>
          </a:p>
          <a:p>
            <a:pPr marL="609600" indent="-609600" algn="just" eaLnBrk="1" hangingPunct="1">
              <a:buFontTx/>
              <a:buNone/>
            </a:pPr>
            <a:r>
              <a:rPr lang="pl-PL" sz="1800" b="1" dirty="0">
                <a:solidFill>
                  <a:schemeClr val="accent2"/>
                </a:solidFill>
              </a:rPr>
              <a:t>	Wysokość zadośćuczynienia nie może być oznaczona z taką dokładnością i przy zastosowaniu tych samych kryteriów oceny, co przy wyrównaniu szkody majątkowej. Stanowiąca przedmiot kompensacji w ramach zadośćuczynienia pieniężnego krzywda moralna stanowi bowiem uszczerbek niemajątkowy, który ze swej istoty nie przekłada się wprost na określoną wartość majątkową. Dał temu zresztą wyraz ustawodawca, wskazując w art. 445 i 448 k.c., że wysokość przyznanego zadośćuczynienia ma być "odpowiednia", zaś samo ustalenie owej odpowiedniej kwoty, stanowiącej właściwą kompensację krzywdy, pozostawione zostało uznaniu sądu. Tym samym instytucja zadośćuczynienia zaliczana jest do sfery prawa sędziowskiego, w której istnieje stosunkowo szeroki zakres uznania sądu, zobowiązanego do określenia wysokości należnego zadośćuczynienia przy uwzględnieniu wszystkich okoliczności faktycznych danego przypadku </a:t>
            </a:r>
            <a:endParaRPr lang="pl-PL" sz="1400" b="1" dirty="0"/>
          </a:p>
        </p:txBody>
      </p:sp>
    </p:spTree>
    <p:extLst>
      <p:ext uri="{BB962C8B-B14F-4D97-AF65-F5344CB8AC3E}">
        <p14:creationId xmlns:p14="http://schemas.microsoft.com/office/powerpoint/2010/main" val="18898331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27</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07504" y="1707671"/>
            <a:ext cx="8229600" cy="4525963"/>
          </a:xfrm>
        </p:spPr>
        <p:txBody>
          <a:bodyPr/>
          <a:lstStyle/>
          <a:p>
            <a:pPr marL="609600" indent="-609600" algn="ctr" eaLnBrk="1" hangingPunct="1">
              <a:buFontTx/>
              <a:buNone/>
            </a:pPr>
            <a:endParaRPr lang="pl-PL" sz="1800" b="1" dirty="0">
              <a:solidFill>
                <a:schemeClr val="accent2"/>
              </a:solidFill>
            </a:endParaRPr>
          </a:p>
          <a:p>
            <a:pPr marL="609600" indent="-609600" algn="ctr" eaLnBrk="1" hangingPunct="1">
              <a:buFontTx/>
              <a:buNone/>
            </a:pPr>
            <a:endParaRPr lang="pl-PL" sz="1800" b="1" dirty="0">
              <a:solidFill>
                <a:schemeClr val="accent2"/>
              </a:solidFill>
            </a:endParaRPr>
          </a:p>
          <a:p>
            <a:pPr marL="609600" indent="-609600" algn="just" eaLnBrk="1" hangingPunct="1">
              <a:buFontTx/>
              <a:buNone/>
            </a:pPr>
            <a:r>
              <a:rPr lang="pl-PL" sz="1800" b="1" dirty="0">
                <a:solidFill>
                  <a:schemeClr val="accent2"/>
                </a:solidFill>
              </a:rPr>
              <a:t>	Wskazać należy, że ustalenie zakresu i rozmiaru krzywdy ma podstawowe znaczenie dla określenia odpowiedniej sumy, która miałaby stanowić jej pieniężną kompensatę. Oczywistym jest, że suma „odpowiednia”, o której mowa w art. 445§1kc nie oznacza sumy dowolnej, określonej arbitralnie przez Sąd, a jej prawidłowe ustalenie wymaga uwzględnienia wszystkich okoliczności, mogących mieć w danym przypadku znaczenie. Bezsporne jest również, że zarówno okoliczności wpływające na wysokość zadośćuczynienia, jak i kryteria ich oceny powinny być rozważane indywidualnie, w związku z konkretną osobą pokrzywdzonego. </a:t>
            </a:r>
            <a:endParaRPr lang="pl-PL" sz="1400" b="1" dirty="0"/>
          </a:p>
        </p:txBody>
      </p:sp>
    </p:spTree>
    <p:extLst>
      <p:ext uri="{BB962C8B-B14F-4D97-AF65-F5344CB8AC3E}">
        <p14:creationId xmlns:p14="http://schemas.microsoft.com/office/powerpoint/2010/main" val="7528601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28</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79512" y="1562320"/>
            <a:ext cx="8229600" cy="4525963"/>
          </a:xfrm>
        </p:spPr>
        <p:txBody>
          <a:bodyPr/>
          <a:lstStyle/>
          <a:p>
            <a:pPr marL="609600" indent="-609600" algn="ctr" eaLnBrk="1" hangingPunct="1">
              <a:buFontTx/>
              <a:buNone/>
            </a:pPr>
            <a:endParaRPr lang="pl-PL" sz="1800" b="1" dirty="0">
              <a:solidFill>
                <a:schemeClr val="accent2"/>
              </a:solidFill>
            </a:endParaRPr>
          </a:p>
          <a:p>
            <a:pPr marL="609600" indent="-609600" algn="ctr" eaLnBrk="1" hangingPunct="1">
              <a:buFontTx/>
              <a:buNone/>
            </a:pPr>
            <a:endParaRPr lang="pl-PL" sz="1800" b="1" dirty="0">
              <a:solidFill>
                <a:schemeClr val="accent2"/>
              </a:solidFill>
            </a:endParaRPr>
          </a:p>
          <a:p>
            <a:pPr marL="609600" indent="-609600" algn="just" eaLnBrk="1" hangingPunct="1">
              <a:buFontTx/>
              <a:buNone/>
            </a:pPr>
            <a:r>
              <a:rPr lang="pl-PL" sz="1800" b="1" dirty="0">
                <a:solidFill>
                  <a:schemeClr val="accent2"/>
                </a:solidFill>
              </a:rPr>
              <a:t>	Skoro stosownie do art. 445 § 1 </a:t>
            </a:r>
            <a:r>
              <a:rPr lang="pl-PL" sz="1800" b="1" dirty="0" err="1">
                <a:solidFill>
                  <a:schemeClr val="accent2"/>
                </a:solidFill>
              </a:rPr>
              <a:t>kc</a:t>
            </a:r>
            <a:r>
              <a:rPr lang="pl-PL" sz="1800" b="1" dirty="0">
                <a:solidFill>
                  <a:schemeClr val="accent2"/>
                </a:solidFill>
              </a:rPr>
              <a:t> suma zadośćuczynienia pieniężnego za doznaną krzywdę powinna być „odpowiednia”, a jej wysokość musi opierać się musi na czytelnych kryteriach zweryfikowanych przeprowadzonymi dowodami oraz powszechnie przyjętymi zasadami zakreślającymi pojęcie subiektywnego odczucia krzywdy przez wnioskodawcę (wyrok SN z dnia 3 lipca 2007 r., II KK 321/06, Lex nr 299187). </a:t>
            </a:r>
            <a:r>
              <a:rPr lang="pl-PL" sz="1800" b="1" dirty="0">
                <a:solidFill>
                  <a:schemeClr val="accent2"/>
                </a:solidFill>
                <a:highlight>
                  <a:srgbClr val="FFFF00"/>
                </a:highlight>
              </a:rPr>
              <a:t>Pojęcie „sumy odpowiedniej” ma charakter niedookreślony, niemniej w judykaturze wskazane są kryteria, którymi należy kierować się przy ustalaniu wysokości zadośćuczynienia.</a:t>
            </a:r>
            <a:r>
              <a:rPr lang="pl-PL" sz="1800" b="1" dirty="0">
                <a:solidFill>
                  <a:schemeClr val="accent2"/>
                </a:solidFill>
              </a:rPr>
              <a:t> Na rozmiar krzywdy, a w konsekwencji na wysokość zadośćuczynienia, składają się cierpienia fizyczne i psychiczne, których rodzaj, natężenie i czas trwania należy każdorazowo określić w okolicznościach konkretnej sprawy. </a:t>
            </a:r>
            <a:endParaRPr lang="pl-PL" sz="1400" b="1" dirty="0"/>
          </a:p>
        </p:txBody>
      </p:sp>
    </p:spTree>
    <p:extLst>
      <p:ext uri="{BB962C8B-B14F-4D97-AF65-F5344CB8AC3E}">
        <p14:creationId xmlns:p14="http://schemas.microsoft.com/office/powerpoint/2010/main" val="3600653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29</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79512" y="1562320"/>
            <a:ext cx="8229600" cy="4525963"/>
          </a:xfrm>
        </p:spPr>
        <p:txBody>
          <a:bodyPr/>
          <a:lstStyle/>
          <a:p>
            <a:pPr marL="609600" indent="-609600" algn="ctr" eaLnBrk="1" hangingPunct="1">
              <a:buFontTx/>
              <a:buNone/>
            </a:pPr>
            <a:endParaRPr lang="pl-PL" sz="1800" b="1" dirty="0">
              <a:solidFill>
                <a:schemeClr val="accent2"/>
              </a:solidFill>
            </a:endParaRPr>
          </a:p>
          <a:p>
            <a:pPr marL="609600" indent="-609600" algn="ctr" eaLnBrk="1" hangingPunct="1">
              <a:buFontTx/>
              <a:buNone/>
            </a:pPr>
            <a:endParaRPr lang="pl-PL" sz="1800" b="1" dirty="0">
              <a:solidFill>
                <a:schemeClr val="accent2"/>
              </a:solidFill>
            </a:endParaRPr>
          </a:p>
          <a:p>
            <a:pPr marL="609600" indent="-609600" algn="ctr" eaLnBrk="1" hangingPunct="1">
              <a:buFontTx/>
              <a:buNone/>
            </a:pPr>
            <a:r>
              <a:rPr lang="pl-PL" sz="1800" b="1" dirty="0">
                <a:solidFill>
                  <a:schemeClr val="accent2"/>
                </a:solidFill>
              </a:rPr>
              <a:t>Ustalając wysokość zadośćuczynienia bierze się m. in. pod uwagę:</a:t>
            </a:r>
          </a:p>
          <a:p>
            <a:pPr marL="609600" indent="-609600" algn="just" eaLnBrk="1" hangingPunct="1">
              <a:buFontTx/>
              <a:buNone/>
            </a:pPr>
            <a:endParaRPr lang="pl-PL" sz="1800" b="1" dirty="0">
              <a:solidFill>
                <a:schemeClr val="accent2"/>
              </a:solidFill>
            </a:endParaRPr>
          </a:p>
          <a:p>
            <a:pPr algn="just" eaLnBrk="1" hangingPunct="1">
              <a:buFont typeface="Wingdings" panose="05000000000000000000" pitchFamily="2" charset="2"/>
              <a:buChar char="Ø"/>
            </a:pPr>
            <a:r>
              <a:rPr lang="pl-PL" sz="1800" b="1" dirty="0">
                <a:solidFill>
                  <a:schemeClr val="accent2"/>
                </a:solidFill>
              </a:rPr>
              <a:t>Czas trwania izolacji</a:t>
            </a:r>
          </a:p>
          <a:p>
            <a:pPr algn="just" eaLnBrk="1" hangingPunct="1">
              <a:buFont typeface="Wingdings" panose="05000000000000000000" pitchFamily="2" charset="2"/>
              <a:buChar char="Ø"/>
            </a:pPr>
            <a:r>
              <a:rPr lang="pl-PL" sz="1800" b="1" dirty="0">
                <a:solidFill>
                  <a:schemeClr val="accent2"/>
                </a:solidFill>
              </a:rPr>
              <a:t>Warunki osadzenia (cele, opieka medyczna itp.)</a:t>
            </a:r>
          </a:p>
          <a:p>
            <a:pPr algn="just" eaLnBrk="1" hangingPunct="1">
              <a:buFont typeface="Wingdings" panose="05000000000000000000" pitchFamily="2" charset="2"/>
              <a:buChar char="Ø"/>
            </a:pPr>
            <a:r>
              <a:rPr lang="pl-PL" sz="1800" b="1" dirty="0">
                <a:solidFill>
                  <a:schemeClr val="accent2"/>
                </a:solidFill>
              </a:rPr>
              <a:t>Kontakt z rodziną (rozłąka)</a:t>
            </a:r>
          </a:p>
          <a:p>
            <a:pPr algn="just" eaLnBrk="1" hangingPunct="1">
              <a:buFont typeface="Wingdings" panose="05000000000000000000" pitchFamily="2" charset="2"/>
              <a:buChar char="Ø"/>
            </a:pPr>
            <a:r>
              <a:rPr lang="pl-PL" sz="1800" b="1" dirty="0">
                <a:solidFill>
                  <a:schemeClr val="accent2"/>
                </a:solidFill>
              </a:rPr>
              <a:t>Wiek</a:t>
            </a:r>
          </a:p>
          <a:p>
            <a:pPr algn="just" eaLnBrk="1" hangingPunct="1">
              <a:buFont typeface="Wingdings" panose="05000000000000000000" pitchFamily="2" charset="2"/>
              <a:buChar char="Ø"/>
            </a:pPr>
            <a:r>
              <a:rPr lang="pl-PL" sz="1800" b="1" dirty="0">
                <a:solidFill>
                  <a:schemeClr val="accent2"/>
                </a:solidFill>
              </a:rPr>
              <a:t>Dotychczasową karalność</a:t>
            </a:r>
          </a:p>
          <a:p>
            <a:pPr algn="just" eaLnBrk="1" hangingPunct="1">
              <a:buFont typeface="Wingdings" panose="05000000000000000000" pitchFamily="2" charset="2"/>
              <a:buChar char="Ø"/>
            </a:pPr>
            <a:r>
              <a:rPr lang="pl-PL" sz="1800" b="1" dirty="0">
                <a:solidFill>
                  <a:schemeClr val="accent2"/>
                </a:solidFill>
              </a:rPr>
              <a:t>Negatywne przeżycia (psychiczne, fizyczne)</a:t>
            </a:r>
          </a:p>
          <a:p>
            <a:pPr algn="just" eaLnBrk="1" hangingPunct="1">
              <a:buFont typeface="Wingdings" panose="05000000000000000000" pitchFamily="2" charset="2"/>
              <a:buChar char="Ø"/>
            </a:pPr>
            <a:r>
              <a:rPr lang="pl-PL" sz="1800" b="1" dirty="0">
                <a:solidFill>
                  <a:schemeClr val="accent2"/>
                </a:solidFill>
              </a:rPr>
              <a:t>Utratę dobrego imienia</a:t>
            </a:r>
          </a:p>
          <a:p>
            <a:pPr algn="just" eaLnBrk="1" hangingPunct="1">
              <a:buFont typeface="Wingdings" panose="05000000000000000000" pitchFamily="2" charset="2"/>
              <a:buChar char="Ø"/>
            </a:pPr>
            <a:r>
              <a:rPr lang="pl-PL" sz="1800" b="1" dirty="0">
                <a:solidFill>
                  <a:schemeClr val="accent2"/>
                </a:solidFill>
              </a:rPr>
              <a:t>Zdarzenia ekstraordynaryjne</a:t>
            </a:r>
          </a:p>
        </p:txBody>
      </p:sp>
    </p:spTree>
    <p:extLst>
      <p:ext uri="{BB962C8B-B14F-4D97-AF65-F5344CB8AC3E}">
        <p14:creationId xmlns:p14="http://schemas.microsoft.com/office/powerpoint/2010/main" val="3417749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30</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79512" y="1562320"/>
            <a:ext cx="8229600" cy="4525963"/>
          </a:xfrm>
        </p:spPr>
        <p:txBody>
          <a:bodyPr/>
          <a:lstStyle/>
          <a:p>
            <a:pPr marL="609600" indent="-609600" algn="ctr" eaLnBrk="1" hangingPunct="1">
              <a:buFontTx/>
              <a:buNone/>
            </a:pPr>
            <a:endParaRPr lang="pl-PL" sz="1800" b="1" dirty="0">
              <a:solidFill>
                <a:schemeClr val="accent2"/>
              </a:solidFill>
            </a:endParaRPr>
          </a:p>
          <a:p>
            <a:pPr marL="609600" indent="-609600" algn="ctr" eaLnBrk="1" hangingPunct="1">
              <a:buFontTx/>
              <a:buNone/>
            </a:pPr>
            <a:endParaRPr lang="pl-PL" sz="1800" b="1" dirty="0">
              <a:solidFill>
                <a:schemeClr val="accent2"/>
              </a:solidFill>
            </a:endParaRPr>
          </a:p>
          <a:p>
            <a:pPr marL="609600" indent="-609600" algn="ctr" eaLnBrk="1" hangingPunct="1">
              <a:buFontTx/>
              <a:buNone/>
            </a:pPr>
            <a:r>
              <a:rPr lang="pl-PL" sz="1800" b="1" dirty="0">
                <a:solidFill>
                  <a:schemeClr val="accent2"/>
                </a:solidFill>
              </a:rPr>
              <a:t>Dowody:</a:t>
            </a:r>
          </a:p>
          <a:p>
            <a:pPr marL="609600" indent="-609600" algn="ctr" eaLnBrk="1" hangingPunct="1">
              <a:buFontTx/>
              <a:buNone/>
            </a:pPr>
            <a:endParaRPr lang="pl-PL" sz="1800" b="1" dirty="0">
              <a:solidFill>
                <a:schemeClr val="accent2"/>
              </a:solidFill>
            </a:endParaRPr>
          </a:p>
          <a:p>
            <a:pPr algn="just" eaLnBrk="1" hangingPunct="1">
              <a:buFont typeface="Wingdings" panose="05000000000000000000" pitchFamily="2" charset="2"/>
              <a:buChar char="Ø"/>
            </a:pPr>
            <a:r>
              <a:rPr lang="pl-PL" sz="1800" b="1" dirty="0">
                <a:solidFill>
                  <a:schemeClr val="accent2"/>
                </a:solidFill>
              </a:rPr>
              <a:t>Teczka osobowa (A i B)</a:t>
            </a:r>
          </a:p>
          <a:p>
            <a:pPr algn="just" eaLnBrk="1" hangingPunct="1">
              <a:buFont typeface="Wingdings" panose="05000000000000000000" pitchFamily="2" charset="2"/>
              <a:buChar char="Ø"/>
            </a:pPr>
            <a:r>
              <a:rPr lang="pl-PL" sz="1800" b="1" dirty="0">
                <a:solidFill>
                  <a:schemeClr val="accent2"/>
                </a:solidFill>
              </a:rPr>
              <a:t>Teczka ewidencyjna</a:t>
            </a:r>
          </a:p>
          <a:p>
            <a:pPr algn="just" eaLnBrk="1" hangingPunct="1">
              <a:buFont typeface="Wingdings" panose="05000000000000000000" pitchFamily="2" charset="2"/>
              <a:buChar char="Ø"/>
            </a:pPr>
            <a:r>
              <a:rPr lang="pl-PL" sz="1800" b="1" dirty="0">
                <a:solidFill>
                  <a:schemeClr val="accent2"/>
                </a:solidFill>
              </a:rPr>
              <a:t>Opinie z ZK/AŚ</a:t>
            </a:r>
          </a:p>
          <a:p>
            <a:pPr algn="just" eaLnBrk="1" hangingPunct="1">
              <a:buFont typeface="Wingdings" panose="05000000000000000000" pitchFamily="2" charset="2"/>
              <a:buChar char="Ø"/>
            </a:pPr>
            <a:r>
              <a:rPr lang="pl-PL" sz="1800" b="1" dirty="0">
                <a:solidFill>
                  <a:schemeClr val="accent2"/>
                </a:solidFill>
              </a:rPr>
              <a:t>Dokumentacja medyczna</a:t>
            </a:r>
          </a:p>
          <a:p>
            <a:pPr algn="just" eaLnBrk="1" hangingPunct="1">
              <a:buFont typeface="Wingdings" panose="05000000000000000000" pitchFamily="2" charset="2"/>
              <a:buChar char="Ø"/>
            </a:pPr>
            <a:r>
              <a:rPr lang="pl-PL" sz="1800" b="1" dirty="0">
                <a:solidFill>
                  <a:schemeClr val="accent2"/>
                </a:solidFill>
              </a:rPr>
              <a:t>Inne dowody (osobowe i z dokumentów)</a:t>
            </a:r>
            <a:endParaRPr lang="pl-PL" sz="1400" b="1" dirty="0"/>
          </a:p>
        </p:txBody>
      </p:sp>
    </p:spTree>
    <p:extLst>
      <p:ext uri="{BB962C8B-B14F-4D97-AF65-F5344CB8AC3E}">
        <p14:creationId xmlns:p14="http://schemas.microsoft.com/office/powerpoint/2010/main" val="11225539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31</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79512" y="1562320"/>
            <a:ext cx="8229600" cy="4525963"/>
          </a:xfrm>
        </p:spPr>
        <p:txBody>
          <a:bodyPr/>
          <a:lstStyle/>
          <a:p>
            <a:pPr marL="609600" indent="-609600" algn="ctr" eaLnBrk="1" hangingPunct="1">
              <a:buFontTx/>
              <a:buNone/>
            </a:pPr>
            <a:endParaRPr lang="pl-PL" sz="1800" b="1" dirty="0">
              <a:solidFill>
                <a:schemeClr val="accent2"/>
              </a:solidFill>
            </a:endParaRPr>
          </a:p>
          <a:p>
            <a:pPr marL="609600" indent="-609600" algn="ctr" eaLnBrk="1" hangingPunct="1">
              <a:buFontTx/>
              <a:buNone/>
            </a:pPr>
            <a:endParaRPr lang="pl-PL" sz="1800" b="1" dirty="0">
              <a:solidFill>
                <a:schemeClr val="accent2"/>
              </a:solidFill>
            </a:endParaRPr>
          </a:p>
          <a:p>
            <a:pPr marL="609600" indent="-609600" algn="ctr" eaLnBrk="1" hangingPunct="1">
              <a:buFontTx/>
              <a:buNone/>
            </a:pPr>
            <a:r>
              <a:rPr lang="pl-PL" sz="1800" b="1" dirty="0">
                <a:solidFill>
                  <a:schemeClr val="accent2"/>
                </a:solidFill>
              </a:rPr>
              <a:t>USTAWA</a:t>
            </a:r>
          </a:p>
          <a:p>
            <a:pPr marL="609600" indent="-609600" algn="ctr" eaLnBrk="1" hangingPunct="1">
              <a:buFontTx/>
              <a:buNone/>
            </a:pPr>
            <a:r>
              <a:rPr lang="pl-PL" sz="1800" b="1" dirty="0">
                <a:solidFill>
                  <a:schemeClr val="accent2"/>
                </a:solidFill>
              </a:rPr>
              <a:t>z dnia 23 lutego 1991 r.</a:t>
            </a:r>
          </a:p>
          <a:p>
            <a:pPr marL="609600" indent="-609600" algn="ctr" eaLnBrk="1" hangingPunct="1">
              <a:buFontTx/>
              <a:buNone/>
            </a:pPr>
            <a:endParaRPr lang="pl-PL" sz="1800" b="1" dirty="0">
              <a:solidFill>
                <a:schemeClr val="accent2"/>
              </a:solidFill>
            </a:endParaRPr>
          </a:p>
          <a:p>
            <a:pPr marL="609600" indent="-609600" algn="just" eaLnBrk="1" hangingPunct="1">
              <a:buFontTx/>
              <a:buNone/>
            </a:pPr>
            <a:r>
              <a:rPr lang="pl-PL" sz="1800" b="1" dirty="0">
                <a:solidFill>
                  <a:schemeClr val="accent2"/>
                </a:solidFill>
              </a:rPr>
              <a:t>	</a:t>
            </a:r>
            <a:r>
              <a:rPr lang="pl-PL" sz="2000" b="1" dirty="0">
                <a:solidFill>
                  <a:schemeClr val="accent2"/>
                </a:solidFill>
              </a:rPr>
              <a:t>o uznaniu za nieważne orzeczeń wydanych wobec osób represjonowanych za działalność na rzecz niepodległego bytu Państwa Polskiego.</a:t>
            </a:r>
          </a:p>
          <a:p>
            <a:pPr marL="609600" indent="-609600" algn="ctr" eaLnBrk="1" hangingPunct="1">
              <a:buFontTx/>
              <a:buNone/>
            </a:pPr>
            <a:endParaRPr lang="pl-PL" sz="1800" b="1" dirty="0">
              <a:solidFill>
                <a:schemeClr val="accent2"/>
              </a:solidFill>
            </a:endParaRPr>
          </a:p>
          <a:p>
            <a:pPr marL="609600" indent="-609600" algn="ctr" eaLnBrk="1" hangingPunct="1">
              <a:buFontTx/>
              <a:buNone/>
            </a:pPr>
            <a:r>
              <a:rPr lang="pl-PL" sz="1800" b="1" dirty="0">
                <a:solidFill>
                  <a:schemeClr val="accent2"/>
                </a:solidFill>
              </a:rPr>
              <a:t>(</a:t>
            </a:r>
            <a:r>
              <a:rPr lang="pl-PL" sz="1800" b="1" dirty="0" err="1">
                <a:solidFill>
                  <a:schemeClr val="accent2"/>
                </a:solidFill>
              </a:rPr>
              <a:t>t.j</a:t>
            </a:r>
            <a:r>
              <a:rPr lang="pl-PL" sz="1800" b="1" dirty="0">
                <a:solidFill>
                  <a:schemeClr val="accent2"/>
                </a:solidFill>
              </a:rPr>
              <a:t>. Dz. U. 2021, poz. 1693) </a:t>
            </a:r>
            <a:endParaRPr lang="pl-PL" sz="1400" b="1" dirty="0"/>
          </a:p>
        </p:txBody>
      </p:sp>
    </p:spTree>
    <p:extLst>
      <p:ext uri="{BB962C8B-B14F-4D97-AF65-F5344CB8AC3E}">
        <p14:creationId xmlns:p14="http://schemas.microsoft.com/office/powerpoint/2010/main" val="1626014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32</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323528" y="1554541"/>
            <a:ext cx="8229600" cy="4525963"/>
          </a:xfrm>
        </p:spPr>
        <p:txBody>
          <a:bodyPr/>
          <a:lstStyle/>
          <a:p>
            <a:pPr marL="609600" indent="-609600" eaLnBrk="1" hangingPunct="1">
              <a:buFontTx/>
              <a:buNone/>
            </a:pPr>
            <a:r>
              <a:rPr lang="pl-PL" sz="1800" dirty="0">
                <a:solidFill>
                  <a:schemeClr val="accent2"/>
                </a:solidFill>
              </a:rPr>
              <a:t>Art. 1.1 Ustawy lutowej</a:t>
            </a:r>
          </a:p>
          <a:p>
            <a:pPr marL="609600" indent="-609600" algn="just" eaLnBrk="1" hangingPunct="1">
              <a:buFontTx/>
              <a:buNone/>
            </a:pPr>
            <a:r>
              <a:rPr lang="pl-PL" sz="1800" dirty="0">
                <a:solidFill>
                  <a:schemeClr val="accent2"/>
                </a:solidFill>
              </a:rPr>
              <a:t>	Uznaje się za nieważne orzeczenia wydane przez polskie organy ścigania i wymiaru sprawiedliwości lub przez organy pozasądowe w okresie od rozpoczęcia ich działalności na ziemiach polskich, począwszy od 1 stycznia 1944 r. do 31 grudnia 1989 r., jeżeli czyn zarzucony lub przypisany był związany z działalnością na rzecz niepodległego bytu Państwa Polskiego albo orzeczenie wydano z powodu takiej działalności, jak również orzeczenia wydane za opór przeciwko kolektywizacji wsi oraz obowiązkowym dostawom.</a:t>
            </a:r>
          </a:p>
          <a:p>
            <a:pPr marL="609600" indent="-609600" eaLnBrk="1" hangingPunct="1">
              <a:buFontTx/>
              <a:buNone/>
            </a:pPr>
            <a:endParaRPr lang="pl-PL" sz="1800" dirty="0">
              <a:solidFill>
                <a:schemeClr val="accent2"/>
              </a:solidFill>
            </a:endParaRPr>
          </a:p>
          <a:p>
            <a:pPr marL="609600" indent="-609600" eaLnBrk="1" hangingPunct="1">
              <a:buFontTx/>
              <a:buNone/>
            </a:pPr>
            <a:r>
              <a:rPr lang="pl-PL" sz="1800" dirty="0">
                <a:solidFill>
                  <a:schemeClr val="accent2"/>
                </a:solidFill>
              </a:rPr>
              <a:t>Art. 2.1</a:t>
            </a:r>
          </a:p>
          <a:p>
            <a:pPr marL="609600" indent="-609600" algn="just" eaLnBrk="1" hangingPunct="1">
              <a:buFontTx/>
              <a:buNone/>
            </a:pPr>
            <a:r>
              <a:rPr lang="pl-PL" sz="1800" dirty="0">
                <a:solidFill>
                  <a:schemeClr val="accent2"/>
                </a:solidFill>
              </a:rPr>
              <a:t>	Nieważność orzeczenia stwierdza sąd okręgowy albo wojskowy sąd okręgowy, jeżeli zgodnie z obowiązującymi przepisami w dniu wejścia w życie ustawy właściwy do rozpoznania sprawy o czyn będący przedmiotem tego orzeczenia jest sąd wojskowy. Stwierdzenie nieważności orzeczenia uznaje się za równoznaczne z uniewinnieniem.</a:t>
            </a:r>
          </a:p>
          <a:p>
            <a:pPr marL="609600" indent="-609600" eaLnBrk="1" hangingPunct="1">
              <a:buFontTx/>
              <a:buNone/>
            </a:pPr>
            <a:r>
              <a:rPr lang="pl-PL" sz="1400" dirty="0"/>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33</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07504" y="1434995"/>
            <a:ext cx="8229600" cy="4525963"/>
          </a:xfrm>
        </p:spPr>
        <p:txBody>
          <a:bodyPr/>
          <a:lstStyle/>
          <a:p>
            <a:pPr marL="609600" indent="-609600" eaLnBrk="1" hangingPunct="1">
              <a:buFontTx/>
              <a:buNone/>
            </a:pPr>
            <a:r>
              <a:rPr lang="pl-PL" sz="1700" dirty="0">
                <a:solidFill>
                  <a:schemeClr val="accent2"/>
                </a:solidFill>
              </a:rPr>
              <a:t>Art. 3.1 Ustawy lutowej</a:t>
            </a:r>
          </a:p>
          <a:p>
            <a:pPr marL="609600" indent="-609600" algn="just" eaLnBrk="1" hangingPunct="1">
              <a:buFontTx/>
              <a:buNone/>
            </a:pPr>
            <a:r>
              <a:rPr lang="pl-PL" sz="1700" dirty="0">
                <a:solidFill>
                  <a:schemeClr val="accent2"/>
                </a:solidFill>
              </a:rPr>
              <a:t>	Stwierdzenie nieważności orzeczenia następuje na wniosek Rzecznika Praw Obywatelskich, Ministra Sprawiedliwości, prokuratora, osoby represjonowanej, osoby uprawnionej do składania na jej korzyść środków odwoławczych, a w razie śmierci, nieobecności w kraju lub choroby psychicznej osoby represjonowanej, także jej krewnego w linii prostej, przysposabiającego lub przysposobionego, rodzeństwa oraz małżonka; jak również organizacji zrzeszającej osoby represjonowane za działalność na rzecz niepodległego bytu Państwa Polskiego.</a:t>
            </a:r>
          </a:p>
          <a:p>
            <a:pPr marL="609600" indent="-609600" eaLnBrk="1" hangingPunct="1">
              <a:buFontTx/>
              <a:buNone/>
            </a:pPr>
            <a:r>
              <a:rPr lang="pl-PL" sz="1700" dirty="0">
                <a:solidFill>
                  <a:schemeClr val="accent2"/>
                </a:solidFill>
              </a:rPr>
              <a:t>Art. 3.4</a:t>
            </a:r>
          </a:p>
          <a:p>
            <a:pPr marL="609600" indent="-609600" algn="just" eaLnBrk="1" hangingPunct="1">
              <a:buFontTx/>
              <a:buNone/>
            </a:pPr>
            <a:r>
              <a:rPr lang="pl-PL" sz="1700" dirty="0">
                <a:solidFill>
                  <a:schemeClr val="accent2"/>
                </a:solidFill>
              </a:rPr>
              <a:t>	Jeżeli przepisy ustawy nie stanowią inaczej, w postępowaniu o stwierdzenie nieważności orzeczenia mają odpowiednie zastosowanie przepisy Kodeksu postępowania karnego, </a:t>
            </a:r>
            <a:r>
              <a:rPr lang="pl-PL" sz="1700" b="1" dirty="0">
                <a:solidFill>
                  <a:schemeClr val="accent2"/>
                </a:solidFill>
              </a:rPr>
              <a:t>z tym że udział prokuratora w posiedzeniu o stwierdzenie nieważności jest obowiązkowy</a:t>
            </a:r>
            <a:r>
              <a:rPr lang="pl-PL" sz="1700" dirty="0">
                <a:solidFill>
                  <a:schemeClr val="accent2"/>
                </a:solidFill>
              </a:rPr>
              <a:t>. W posiedzeniu ma prawo wziąć udział osoba represjonowana, osoba uprawniona do składania na jej korzyść środków odwoławczych, a w razie śmierci, nieobecności w kraju lub choroby psychicznej osoby represjonowanej, także jej krewny w linii prostej, przysposabiający lub przysposobiony, rodzeństwo oraz małżonek, a ponadto, za zgodą sądu, inne osoby. Z przebiegu posiedzenia sporządza się protokół.</a:t>
            </a:r>
            <a:r>
              <a:rPr lang="pl-PL" sz="1700" dirty="0"/>
              <a:t>	</a:t>
            </a:r>
            <a:r>
              <a:rPr lang="pl-PL" sz="1400" dirty="0"/>
              <a:t>.</a:t>
            </a:r>
          </a:p>
        </p:txBody>
      </p:sp>
    </p:spTree>
    <p:extLst>
      <p:ext uri="{BB962C8B-B14F-4D97-AF65-F5344CB8AC3E}">
        <p14:creationId xmlns:p14="http://schemas.microsoft.com/office/powerpoint/2010/main" val="1950848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34</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07504" y="1434995"/>
            <a:ext cx="8229600" cy="4525963"/>
          </a:xfrm>
        </p:spPr>
        <p:txBody>
          <a:bodyPr/>
          <a:lstStyle/>
          <a:p>
            <a:pPr marL="609600" indent="-609600" eaLnBrk="1" hangingPunct="1">
              <a:buFontTx/>
              <a:buNone/>
            </a:pPr>
            <a:endParaRPr lang="pl-PL" sz="1700" dirty="0">
              <a:solidFill>
                <a:schemeClr val="accent2"/>
              </a:solidFill>
            </a:endParaRPr>
          </a:p>
          <a:p>
            <a:pPr marL="609600" indent="-609600" eaLnBrk="1" hangingPunct="1">
              <a:buFontTx/>
              <a:buNone/>
            </a:pPr>
            <a:endParaRPr lang="pl-PL" sz="1700" dirty="0">
              <a:solidFill>
                <a:schemeClr val="accent2"/>
              </a:solidFill>
            </a:endParaRPr>
          </a:p>
          <a:p>
            <a:pPr marL="609600" indent="-609600" eaLnBrk="1" hangingPunct="1">
              <a:buFontTx/>
              <a:buNone/>
            </a:pPr>
            <a:r>
              <a:rPr lang="pl-PL" sz="1700" dirty="0">
                <a:solidFill>
                  <a:schemeClr val="accent2"/>
                </a:solidFill>
              </a:rPr>
              <a:t>Art. 6 Ustawy lutowej</a:t>
            </a:r>
          </a:p>
          <a:p>
            <a:pPr marL="609600" indent="-609600" algn="just" eaLnBrk="1" hangingPunct="1">
              <a:buFontTx/>
              <a:buNone/>
            </a:pPr>
            <a:r>
              <a:rPr lang="pl-PL" sz="1700" dirty="0">
                <a:solidFill>
                  <a:schemeClr val="accent2"/>
                </a:solidFill>
              </a:rPr>
              <a:t>	Stwierdzając nieważność orzeczenia, sąd poucza osoby uprawnione o </a:t>
            </a:r>
            <a:r>
              <a:rPr lang="pl-PL" sz="1700" b="1" dirty="0">
                <a:solidFill>
                  <a:schemeClr val="accent2"/>
                </a:solidFill>
              </a:rPr>
              <a:t>przysługujących im uprawnieniach do żądania odszkodowania za poniesioną szkodę i zadośćuczynienia za doznaną krzywdę</a:t>
            </a:r>
            <a:r>
              <a:rPr lang="pl-PL" sz="1700" dirty="0">
                <a:solidFill>
                  <a:schemeClr val="accent2"/>
                </a:solidFill>
              </a:rPr>
              <a:t>.</a:t>
            </a:r>
          </a:p>
          <a:p>
            <a:pPr marL="609600" indent="-609600" algn="just" eaLnBrk="1" hangingPunct="1">
              <a:buFontTx/>
              <a:buNone/>
            </a:pPr>
            <a:endParaRPr lang="pl-PL" sz="1700" dirty="0">
              <a:solidFill>
                <a:schemeClr val="accent2"/>
              </a:solidFill>
            </a:endParaRPr>
          </a:p>
          <a:p>
            <a:pPr marL="609600" indent="-609600" algn="just" eaLnBrk="1" hangingPunct="1">
              <a:buFontTx/>
              <a:buNone/>
            </a:pPr>
            <a:r>
              <a:rPr lang="pl-PL" sz="1700" dirty="0">
                <a:solidFill>
                  <a:schemeClr val="accent2"/>
                </a:solidFill>
              </a:rPr>
              <a:t>Art. 8.1</a:t>
            </a:r>
          </a:p>
          <a:p>
            <a:pPr marL="609600" indent="-609600" algn="just" eaLnBrk="1" hangingPunct="1">
              <a:buFontTx/>
              <a:buNone/>
            </a:pPr>
            <a:r>
              <a:rPr lang="pl-PL" sz="1700" dirty="0">
                <a:solidFill>
                  <a:schemeClr val="accent2"/>
                </a:solidFill>
              </a:rPr>
              <a:t>	</a:t>
            </a:r>
            <a:r>
              <a:rPr lang="pl-PL" sz="1700" dirty="0">
                <a:solidFill>
                  <a:schemeClr val="accent2"/>
                </a:solidFill>
                <a:highlight>
                  <a:srgbClr val="FFFF00"/>
                </a:highlight>
              </a:rPr>
              <a:t>Osobie, wobec której stwierdzono nieważność orzeczenia albo wydano decyzję o internowaniu w związku z wprowadzeniem w dniu 13 grudnia 1981 r. w Polsce stanu wojennego, </a:t>
            </a:r>
            <a:r>
              <a:rPr lang="pl-PL" sz="1700" b="1" dirty="0">
                <a:solidFill>
                  <a:schemeClr val="accent2"/>
                </a:solidFill>
                <a:highlight>
                  <a:srgbClr val="FFFF00"/>
                </a:highlight>
              </a:rPr>
              <a:t>przysługuje od Skarbu Państwa odszkodowanie za poniesioną szkodę i zadośćuczynienie za doznaną krzywdę wynikłe z wydania lub wykonania orzeczenia albo decyzji</a:t>
            </a:r>
            <a:r>
              <a:rPr lang="pl-PL" sz="1700" dirty="0">
                <a:solidFill>
                  <a:schemeClr val="accent2"/>
                </a:solidFill>
                <a:highlight>
                  <a:srgbClr val="FFFF00"/>
                </a:highlight>
              </a:rPr>
              <a:t>. </a:t>
            </a:r>
            <a:br>
              <a:rPr lang="pl-PL" sz="1700" dirty="0">
                <a:solidFill>
                  <a:schemeClr val="accent2"/>
                </a:solidFill>
                <a:highlight>
                  <a:srgbClr val="FFFF00"/>
                </a:highlight>
              </a:rPr>
            </a:br>
            <a:r>
              <a:rPr lang="pl-PL" sz="1700" u="sng" dirty="0">
                <a:solidFill>
                  <a:schemeClr val="accent2"/>
                </a:solidFill>
                <a:highlight>
                  <a:srgbClr val="FFFF00"/>
                </a:highlight>
              </a:rPr>
              <a:t>W razie śmierci tej osoby uprawnienie to przechodzi na małżonka, dzieci i rodziców.</a:t>
            </a:r>
            <a:r>
              <a:rPr lang="pl-PL" sz="1700" dirty="0">
                <a:highlight>
                  <a:srgbClr val="FFFF00"/>
                </a:highlight>
              </a:rPr>
              <a:t>	</a:t>
            </a:r>
            <a:endParaRPr lang="pl-PL" sz="1400" dirty="0">
              <a:highlight>
                <a:srgbClr val="FFFF00"/>
              </a:highlight>
            </a:endParaRPr>
          </a:p>
        </p:txBody>
      </p:sp>
    </p:spTree>
    <p:extLst>
      <p:ext uri="{BB962C8B-B14F-4D97-AF65-F5344CB8AC3E}">
        <p14:creationId xmlns:p14="http://schemas.microsoft.com/office/powerpoint/2010/main" val="4107168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35</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07504" y="1434995"/>
            <a:ext cx="8229600" cy="4525963"/>
          </a:xfrm>
        </p:spPr>
        <p:txBody>
          <a:bodyPr/>
          <a:lstStyle/>
          <a:p>
            <a:pPr marL="609600" indent="-609600" algn="just" eaLnBrk="1" hangingPunct="1">
              <a:buFontTx/>
              <a:buNone/>
            </a:pPr>
            <a:endParaRPr lang="pl-PL" sz="1700" dirty="0">
              <a:solidFill>
                <a:schemeClr val="accent2"/>
              </a:solidFill>
            </a:endParaRPr>
          </a:p>
          <a:p>
            <a:pPr marL="609600" indent="-609600" algn="just" eaLnBrk="1" hangingPunct="1">
              <a:buFontTx/>
              <a:buNone/>
            </a:pPr>
            <a:r>
              <a:rPr lang="pl-PL" sz="1700" dirty="0">
                <a:solidFill>
                  <a:schemeClr val="accent2"/>
                </a:solidFill>
              </a:rPr>
              <a:t>Art. 8</a:t>
            </a:r>
          </a:p>
          <a:p>
            <a:pPr marL="609600" indent="-609600" algn="just" eaLnBrk="1" hangingPunct="1">
              <a:buFontTx/>
              <a:buNone/>
            </a:pPr>
            <a:r>
              <a:rPr lang="pl-PL" sz="1700" dirty="0">
                <a:solidFill>
                  <a:schemeClr val="accent2"/>
                </a:solidFill>
              </a:rPr>
              <a:t>2d	</a:t>
            </a:r>
            <a:r>
              <a:rPr lang="pl-PL" sz="1700" b="1" dirty="0">
                <a:solidFill>
                  <a:schemeClr val="accent2"/>
                </a:solidFill>
              </a:rPr>
              <a:t>Odpis żądania, o którym mowa w ust. 2, sąd doręcza prokuratorowi z urzędu</a:t>
            </a:r>
            <a:r>
              <a:rPr lang="pl-PL" sz="1700" dirty="0">
                <a:solidFill>
                  <a:schemeClr val="accent2"/>
                </a:solidFill>
              </a:rPr>
              <a:t>.</a:t>
            </a:r>
          </a:p>
          <a:p>
            <a:pPr marL="609600" indent="-609600" algn="just" eaLnBrk="1" hangingPunct="1">
              <a:buFontTx/>
              <a:buNone/>
            </a:pPr>
            <a:r>
              <a:rPr lang="pl-PL" sz="1700" dirty="0">
                <a:solidFill>
                  <a:schemeClr val="accent2"/>
                </a:solidFill>
              </a:rPr>
              <a:t>3. 	W postępowaniu o odszkodowanie i zadośćuczynienie </a:t>
            </a:r>
            <a:r>
              <a:rPr lang="pl-PL" sz="1700" b="1" dirty="0">
                <a:solidFill>
                  <a:schemeClr val="accent2"/>
                </a:solidFill>
              </a:rPr>
              <a:t>mają odpowiednie zastosowanie przepisy rozdziału 58 Kodeksu postępowania karnego, z wyjątkiem art. 555.</a:t>
            </a:r>
          </a:p>
          <a:p>
            <a:pPr marL="609600" indent="-609600" algn="just" eaLnBrk="1" hangingPunct="1">
              <a:buFontTx/>
              <a:buNone/>
            </a:pPr>
            <a:r>
              <a:rPr lang="pl-PL" sz="1700" dirty="0">
                <a:solidFill>
                  <a:schemeClr val="accent2"/>
                </a:solidFill>
              </a:rPr>
              <a:t>4. 	Przepis ust. 1 nie ma zastosowania, jeżeli w wyniku rewizji nadzwyczajnej, kasacji lub wznowienia postępowania prawomocnie zasądzono odszkodowanie, chyba że za jego zastosowaniem przemawiają względy słuszności.</a:t>
            </a:r>
          </a:p>
          <a:p>
            <a:pPr marL="609600" indent="-609600" algn="just" eaLnBrk="1" hangingPunct="1">
              <a:buFontTx/>
              <a:buNone/>
            </a:pPr>
            <a:r>
              <a:rPr lang="pl-PL" sz="1700" dirty="0">
                <a:solidFill>
                  <a:schemeClr val="accent2"/>
                </a:solidFill>
              </a:rPr>
              <a:t>5. 	Przepisu ust. 1 nie stosuje się do osób, których działalność, w okresie będącym podstawą stwierdzenia nieważności orzeczenia albo uznania za nieważne decyzji określonej w ust. 1, </a:t>
            </a:r>
            <a:r>
              <a:rPr lang="pl-PL" sz="1700" b="1" dirty="0">
                <a:solidFill>
                  <a:schemeClr val="accent2"/>
                </a:solidFill>
              </a:rPr>
              <a:t>stanowiła zaprzeczenie działalności na rzecz niepodległego bytu Państwa Polskiego</a:t>
            </a:r>
            <a:r>
              <a:rPr lang="pl-PL" sz="1700" dirty="0">
                <a:solidFill>
                  <a:schemeClr val="accent2"/>
                </a:solidFill>
              </a:rPr>
              <a:t>.</a:t>
            </a:r>
            <a:endParaRPr lang="pl-PL" sz="1400" dirty="0"/>
          </a:p>
        </p:txBody>
      </p:sp>
    </p:spTree>
    <p:extLst>
      <p:ext uri="{BB962C8B-B14F-4D97-AF65-F5344CB8AC3E}">
        <p14:creationId xmlns:p14="http://schemas.microsoft.com/office/powerpoint/2010/main" val="871726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36</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07504" y="1957387"/>
            <a:ext cx="8229600" cy="4525963"/>
          </a:xfrm>
        </p:spPr>
        <p:txBody>
          <a:bodyPr/>
          <a:lstStyle/>
          <a:p>
            <a:pPr marL="609600" indent="-609600" algn="just" eaLnBrk="1" hangingPunct="1">
              <a:buFontTx/>
              <a:buNone/>
            </a:pPr>
            <a:endParaRPr lang="pl-PL" sz="1700" dirty="0">
              <a:solidFill>
                <a:schemeClr val="accent2"/>
              </a:solidFill>
            </a:endParaRPr>
          </a:p>
          <a:p>
            <a:pPr marL="609600" indent="-609600" algn="just" eaLnBrk="1" hangingPunct="1">
              <a:buFontTx/>
              <a:buNone/>
            </a:pPr>
            <a:r>
              <a:rPr lang="pl-PL" sz="1700" dirty="0">
                <a:solidFill>
                  <a:schemeClr val="accent2"/>
                </a:solidFill>
              </a:rPr>
              <a:t>Art. 8a</a:t>
            </a:r>
          </a:p>
          <a:p>
            <a:pPr marL="609600" indent="-609600" algn="just" eaLnBrk="1" hangingPunct="1">
              <a:buFontTx/>
              <a:buNone/>
            </a:pPr>
            <a:r>
              <a:rPr lang="pl-PL" sz="1700" b="1" dirty="0">
                <a:solidFill>
                  <a:schemeClr val="accent2"/>
                </a:solidFill>
              </a:rPr>
              <a:t>	</a:t>
            </a:r>
            <a:r>
              <a:rPr lang="pl-PL" sz="1700" dirty="0">
                <a:solidFill>
                  <a:schemeClr val="accent2"/>
                </a:solidFill>
              </a:rPr>
              <a:t>[Odszkodowanie i zadośćuczynienie w związku z powołaniem do służby wojskowej za działalność na rzecz niepodległego bytu Państwa Polskiego]</a:t>
            </a:r>
          </a:p>
          <a:p>
            <a:pPr marL="609600" indent="-609600" algn="just" eaLnBrk="1" hangingPunct="1">
              <a:buFontTx/>
              <a:buNone/>
            </a:pPr>
            <a:r>
              <a:rPr lang="pl-PL" sz="1700" dirty="0">
                <a:solidFill>
                  <a:schemeClr val="accent2"/>
                </a:solidFill>
              </a:rPr>
              <a:t>1. 	Osobie, która w okresie od dnia 1 listopada 1982 r. do dnia 28 lutego 1983 r. pełniła czynną służbę wojskową, do której odbycia została powołana za działalność na rzecz niepodległego bytu Państwa Polskiego, przysługuje od Skarbu Państwa odszkodowanie za poniesioną szkodę i zadośćuczynienie za doznaną krzywdę.</a:t>
            </a:r>
          </a:p>
          <a:p>
            <a:pPr marL="609600" indent="-609600" algn="just" eaLnBrk="1" hangingPunct="1">
              <a:buFontTx/>
              <a:buNone/>
            </a:pPr>
            <a:r>
              <a:rPr lang="pl-PL" sz="1700" dirty="0">
                <a:solidFill>
                  <a:schemeClr val="accent2"/>
                </a:solidFill>
              </a:rPr>
              <a:t>2. 	Przepisy art. 8 ust. 1 zdanie drugie, ust. 2c i ust. 3-5 stosuje się odpowiednio.</a:t>
            </a:r>
            <a:endParaRPr lang="pl-PL" sz="1400" dirty="0"/>
          </a:p>
        </p:txBody>
      </p:sp>
    </p:spTree>
    <p:extLst>
      <p:ext uri="{BB962C8B-B14F-4D97-AF65-F5344CB8AC3E}">
        <p14:creationId xmlns:p14="http://schemas.microsoft.com/office/powerpoint/2010/main" val="22203513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37</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107504" y="1957387"/>
            <a:ext cx="8229600" cy="4525963"/>
          </a:xfrm>
        </p:spPr>
        <p:txBody>
          <a:bodyPr/>
          <a:lstStyle/>
          <a:p>
            <a:pPr marL="609600" indent="-609600" algn="just" eaLnBrk="1" hangingPunct="1">
              <a:buFontTx/>
              <a:buNone/>
            </a:pPr>
            <a:endParaRPr lang="pl-PL" sz="1700" dirty="0">
              <a:solidFill>
                <a:schemeClr val="accent2"/>
              </a:solidFill>
            </a:endParaRPr>
          </a:p>
          <a:p>
            <a:pPr marL="609600" indent="-609600" algn="just" eaLnBrk="1" hangingPunct="1">
              <a:buFontTx/>
              <a:buNone/>
            </a:pPr>
            <a:r>
              <a:rPr lang="pl-PL" sz="1700" dirty="0">
                <a:solidFill>
                  <a:schemeClr val="accent2"/>
                </a:solidFill>
              </a:rPr>
              <a:t>Art. 8b</a:t>
            </a:r>
          </a:p>
          <a:p>
            <a:pPr marL="609600" indent="-609600" algn="just" eaLnBrk="1" hangingPunct="1">
              <a:buFontTx/>
              <a:buNone/>
            </a:pPr>
            <a:r>
              <a:rPr lang="pl-PL" sz="1700" b="1" dirty="0">
                <a:solidFill>
                  <a:schemeClr val="accent2"/>
                </a:solidFill>
              </a:rPr>
              <a:t>	</a:t>
            </a:r>
            <a:r>
              <a:rPr lang="pl-PL" sz="1700" dirty="0">
                <a:solidFill>
                  <a:schemeClr val="accent2"/>
                </a:solidFill>
              </a:rPr>
              <a:t>[Odszkodowanie i zadośćuczynienie przysługujące dziecku matki pozbawionej wolności]</a:t>
            </a:r>
          </a:p>
          <a:p>
            <a:pPr marL="609600" indent="-609600" algn="just" eaLnBrk="1" hangingPunct="1">
              <a:buFontTx/>
              <a:buNone/>
            </a:pPr>
            <a:r>
              <a:rPr lang="pl-PL" sz="1700" dirty="0">
                <a:solidFill>
                  <a:schemeClr val="accent2"/>
                </a:solidFill>
              </a:rPr>
              <a:t>1. 	Dziecku matki pozbawionej wolności, wobec której stwierdzono nieważność orzeczenia, które przebywało wraz z matką w więzieniu lub innym miejscu odosobnienia lub którego matka w okresie ciąży przebywała w więzieniu lub innym miejscu odosobnienia, przysługuje od Skarbu Państwa odszkodowanie za poniesioną szkodę i zadośćuczynienie za doznaną krzywdę.</a:t>
            </a:r>
          </a:p>
          <a:p>
            <a:pPr marL="609600" indent="-609600" algn="just" eaLnBrk="1" hangingPunct="1">
              <a:buFontTx/>
              <a:buNone/>
            </a:pPr>
            <a:r>
              <a:rPr lang="pl-PL" sz="1700" dirty="0">
                <a:solidFill>
                  <a:schemeClr val="accent2"/>
                </a:solidFill>
              </a:rPr>
              <a:t>2. 	Przepisy art. 8 ust. 1 zdanie drugie, ust. 2 oraz ust. 2d-5 stosuje się odpowiednio.</a:t>
            </a:r>
          </a:p>
          <a:p>
            <a:pPr marL="609600" indent="-609600" algn="just" eaLnBrk="1" hangingPunct="1">
              <a:buFontTx/>
              <a:buNone/>
            </a:pPr>
            <a:r>
              <a:rPr lang="pl-PL" sz="1700" dirty="0">
                <a:solidFill>
                  <a:schemeClr val="accent2"/>
                </a:solidFill>
              </a:rPr>
              <a:t>3. 	Stwierdzenie nieważności orzeczenia, z uwzględnieniem art. 3 ust. 1, może nastąpić także na wniosek dziecka, o którym mowa w ust. 1, a w razie jego śmierci - także na wniosek jego małżonka, dzieci i rodziców.</a:t>
            </a:r>
            <a:endParaRPr lang="pl-PL" sz="1400" dirty="0"/>
          </a:p>
        </p:txBody>
      </p:sp>
    </p:spTree>
    <p:extLst>
      <p:ext uri="{BB962C8B-B14F-4D97-AF65-F5344CB8AC3E}">
        <p14:creationId xmlns:p14="http://schemas.microsoft.com/office/powerpoint/2010/main" val="37225207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38</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30502" y="1268760"/>
            <a:ext cx="8229600" cy="4525963"/>
          </a:xfrm>
        </p:spPr>
        <p:txBody>
          <a:bodyPr/>
          <a:lstStyle/>
          <a:p>
            <a:pPr marL="609600" indent="-609600" algn="just" eaLnBrk="1" hangingPunct="1">
              <a:buFontTx/>
              <a:buNone/>
            </a:pPr>
            <a:endParaRPr lang="pl-PL" sz="1700" dirty="0">
              <a:solidFill>
                <a:schemeClr val="accent2"/>
              </a:solidFill>
            </a:endParaRPr>
          </a:p>
          <a:p>
            <a:pPr marL="609600" indent="-609600" algn="just" eaLnBrk="1" hangingPunct="1">
              <a:buFontTx/>
              <a:buNone/>
            </a:pPr>
            <a:r>
              <a:rPr lang="pl-PL" sz="1700" dirty="0">
                <a:solidFill>
                  <a:schemeClr val="accent2"/>
                </a:solidFill>
              </a:rPr>
              <a:t>Art. 10 [Zwrot mienia]</a:t>
            </a:r>
          </a:p>
          <a:p>
            <a:pPr marL="609600" indent="-609600" algn="just" eaLnBrk="1" hangingPunct="1">
              <a:buFontTx/>
              <a:buNone/>
            </a:pPr>
            <a:r>
              <a:rPr lang="pl-PL" sz="1700" dirty="0">
                <a:solidFill>
                  <a:schemeClr val="accent2"/>
                </a:solidFill>
              </a:rPr>
              <a:t>1. 	W przypadku stwierdzenia nieważności orzeczenia, osobie uprawnionej zwraca się mienie, którego przepadek lub konfiskatę orzeczono na rzecz Skarbu Państwa, oraz przedmioty zatrzymane w toku postępowania - z wyjątkiem przedmiotów, których posiadanie jest zakazane lub wymaga zezwolenia - jeżeli znajdują się one w posiadaniu państwowej jednostki organizacyjnej, a w razie niemożności zwrotu - ich równowartość wypłaca się ze środków Funduszu Reprywatyzacji, o którym mowa w art. 56 ust. 1 ustawy z dnia 30 sierpnia 1996 r. o komercjalizacji i niektórych uprawnieniach pracowników (Dz. U. z 2021 r. poz. 425 i 1535).</a:t>
            </a:r>
          </a:p>
          <a:p>
            <a:pPr marL="609600" indent="-609600" algn="just" eaLnBrk="1" hangingPunct="1">
              <a:buFontTx/>
              <a:buNone/>
            </a:pPr>
            <a:r>
              <a:rPr lang="pl-PL" sz="1700" dirty="0">
                <a:solidFill>
                  <a:schemeClr val="accent2"/>
                </a:solidFill>
              </a:rPr>
              <a:t>2. 	W sprawach, o których mowa w ust. 1, Skarb Państwa jest reprezentowany przez państwową jednostkę organizacyjną, w której władaniu jest mienie podlegające zwrotowi lub mienie zatrzymane w toku postępowania. W przypadku braku takiej jednostki Skarb Państwa jest reprezentowany przez organ administracji rządowej, któremu przekazano do dysponowania mienie w wyniku orzeczenia sądu, o którym mowa w art. 2 ust. 1. W przypadku braku takiej jednostki Skarb Państwa jest reprezentowany przez ministra właściwego do spraw finansów publicznych.</a:t>
            </a:r>
            <a:endParaRPr lang="pl-PL" sz="1400" dirty="0"/>
          </a:p>
        </p:txBody>
      </p:sp>
    </p:spTree>
    <p:extLst>
      <p:ext uri="{BB962C8B-B14F-4D97-AF65-F5344CB8AC3E}">
        <p14:creationId xmlns:p14="http://schemas.microsoft.com/office/powerpoint/2010/main" val="42715324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39</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a:xfrm>
            <a:off x="30502" y="1268760"/>
            <a:ext cx="8229600" cy="4525963"/>
          </a:xfrm>
        </p:spPr>
        <p:txBody>
          <a:bodyPr/>
          <a:lstStyle/>
          <a:p>
            <a:pPr marL="609600" indent="-609600" algn="just" eaLnBrk="1" hangingPunct="1">
              <a:buFontTx/>
              <a:buNone/>
            </a:pPr>
            <a:endParaRPr lang="pl-PL" sz="1700" dirty="0">
              <a:solidFill>
                <a:schemeClr val="accent2"/>
              </a:solidFill>
            </a:endParaRPr>
          </a:p>
          <a:p>
            <a:pPr marL="609600" indent="-609600" algn="just" eaLnBrk="1" hangingPunct="1">
              <a:buFontTx/>
              <a:buNone/>
            </a:pPr>
            <a:r>
              <a:rPr lang="pl-PL" sz="1700" dirty="0">
                <a:solidFill>
                  <a:schemeClr val="accent2"/>
                </a:solidFill>
              </a:rPr>
              <a:t>Art. 13 </a:t>
            </a:r>
            <a:r>
              <a:rPr lang="pl-PL" sz="1700" b="1" dirty="0">
                <a:solidFill>
                  <a:schemeClr val="accent2"/>
                </a:solidFill>
              </a:rPr>
              <a:t>Koszty postępowania w sprawach objętych ustawą, w tym z tytułu u</a:t>
            </a:r>
          </a:p>
          <a:p>
            <a:pPr marL="609600" indent="-609600" algn="just" eaLnBrk="1" hangingPunct="1">
              <a:buFontTx/>
              <a:buNone/>
            </a:pPr>
            <a:r>
              <a:rPr lang="pl-PL" sz="1700" b="1" dirty="0">
                <a:solidFill>
                  <a:schemeClr val="accent2"/>
                </a:solidFill>
              </a:rPr>
              <a:t>	stanowienia pełnomocnika, ponosi Skarb Państwa.</a:t>
            </a:r>
          </a:p>
          <a:p>
            <a:pPr marL="609600" indent="-609600" algn="just" eaLnBrk="1" hangingPunct="1">
              <a:buFontTx/>
              <a:buNone/>
            </a:pPr>
            <a:endParaRPr lang="pl-PL" sz="1400" b="1" dirty="0"/>
          </a:p>
          <a:p>
            <a:pPr marL="609600" indent="-609600" algn="ctr" eaLnBrk="1" hangingPunct="1">
              <a:buFontTx/>
              <a:buNone/>
            </a:pPr>
            <a:r>
              <a:rPr lang="pl-PL" sz="1400" b="1" dirty="0">
                <a:solidFill>
                  <a:schemeClr val="accent2"/>
                </a:solidFill>
              </a:rPr>
              <a:t>Krąg osób uprawnionych do roszczeń na podstawie ustawy lutowej - Wyrok Sądu Najwyższego III KK 45/22, wyrok z dnia 28 marca 2023 r.  LEX nr 3570678 </a:t>
            </a:r>
          </a:p>
          <a:p>
            <a:pPr marL="609600" indent="-609600" algn="just" eaLnBrk="1" hangingPunct="1">
              <a:buFontTx/>
              <a:buNone/>
            </a:pPr>
            <a:r>
              <a:rPr lang="pl-PL" sz="1400" dirty="0">
                <a:solidFill>
                  <a:schemeClr val="accent2"/>
                </a:solidFill>
              </a:rPr>
              <a:t>	Pomimo, iż prawa zmarłego związane ściśle z jego osobą, a więc roszczenia </a:t>
            </a:r>
            <a:br>
              <a:rPr lang="pl-PL" sz="1400" dirty="0">
                <a:solidFill>
                  <a:schemeClr val="accent2"/>
                </a:solidFill>
              </a:rPr>
            </a:br>
            <a:r>
              <a:rPr lang="pl-PL" sz="1400" dirty="0">
                <a:solidFill>
                  <a:schemeClr val="accent2"/>
                </a:solidFill>
              </a:rPr>
              <a:t>o zadośćuczynienie, </a:t>
            </a:r>
            <a:r>
              <a:rPr lang="pl-PL" sz="1400" b="1" dirty="0">
                <a:solidFill>
                  <a:schemeClr val="accent2"/>
                </a:solidFill>
              </a:rPr>
              <a:t>nie należą do spadku</a:t>
            </a:r>
            <a:r>
              <a:rPr lang="pl-PL" sz="1400" dirty="0">
                <a:solidFill>
                  <a:schemeClr val="accent2"/>
                </a:solidFill>
              </a:rPr>
              <a:t>, a więc </a:t>
            </a:r>
            <a:r>
              <a:rPr lang="pl-PL" sz="1400" b="1" dirty="0">
                <a:solidFill>
                  <a:schemeClr val="accent2"/>
                </a:solidFill>
              </a:rPr>
              <a:t>nie mogą być przedmiotem spadkobrania</a:t>
            </a:r>
            <a:r>
              <a:rPr lang="pl-PL" sz="1400" dirty="0">
                <a:solidFill>
                  <a:schemeClr val="accent2"/>
                </a:solidFill>
              </a:rPr>
              <a:t>, szczególne roszczenie jakim jest roszczenie przysługujące osobie, wobec której stwierdzono nieważność orzeczenia albo wydano decyzję o internowaniu w związku z wprowadzeniem w dniu 13 grudnia 1981 r. w Polsce stanu wojennego, od Skarbu Państwa z tytułu poniesienia szkody i doznanej krzywdy wynikłe z wydania lub wykonania orzeczenia albo decyzji, </a:t>
            </a:r>
            <a:r>
              <a:rPr lang="pl-PL" sz="1400" b="1" dirty="0">
                <a:solidFill>
                  <a:schemeClr val="accent2"/>
                </a:solidFill>
              </a:rPr>
              <a:t>przechodzi w razie śmierci tej osoby na małżonka, dzieci i rodziców, a więc wyłącznie na osoby wprost wymienione w art. 8 ust. 1 ustawy lutowej</a:t>
            </a:r>
            <a:r>
              <a:rPr lang="pl-PL" sz="1400" dirty="0">
                <a:solidFill>
                  <a:schemeClr val="accent2"/>
                </a:solidFill>
              </a:rPr>
              <a:t>. A contrario roszczenia represjonowanego nie przechodzą na inne osoby, w szczególności na spadkobierców małżonka, dzieci i rodziców represjonowanego. Przejście roszczeń </a:t>
            </a:r>
            <a:r>
              <a:rPr lang="pl-PL" sz="1400">
                <a:solidFill>
                  <a:schemeClr val="accent2"/>
                </a:solidFill>
              </a:rPr>
              <a:t>represjonowanego, o </a:t>
            </a:r>
            <a:r>
              <a:rPr lang="pl-PL" sz="1400" dirty="0">
                <a:solidFill>
                  <a:schemeClr val="accent2"/>
                </a:solidFill>
              </a:rPr>
              <a:t>którym mowa we wskazanym przepisie, może natomiast nastąpić wyłącznie na osoby żyjące w czasie orzekania o tych roszczeniach, skoro materializują się one w treści wyroku, </a:t>
            </a:r>
            <a:r>
              <a:rPr lang="pl-PL" sz="1400">
                <a:solidFill>
                  <a:schemeClr val="accent2"/>
                </a:solidFill>
              </a:rPr>
              <a:t>który o </a:t>
            </a:r>
            <a:r>
              <a:rPr lang="pl-PL" sz="1400" dirty="0">
                <a:solidFill>
                  <a:schemeClr val="accent2"/>
                </a:solidFill>
              </a:rPr>
              <a:t>nich rozstrzyga. W konsekwencji należy przyjąć, że zasądzeniu na rzecz wnioskodawców, którzy wystąpili w żądaniem, podlega taka część świadczenia przysługującego represjonowanemu, jaka wynika z podziału całej kwoty świadczenia przez liczbę uprawnionych osób w czasie orzekania.</a:t>
            </a:r>
          </a:p>
        </p:txBody>
      </p:sp>
    </p:spTree>
    <p:extLst>
      <p:ext uri="{BB962C8B-B14F-4D97-AF65-F5344CB8AC3E}">
        <p14:creationId xmlns:p14="http://schemas.microsoft.com/office/powerpoint/2010/main" val="34371564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numeru slajdu 5"/>
          <p:cNvSpPr>
            <a:spLocks noGrp="1"/>
          </p:cNvSpPr>
          <p:nvPr>
            <p:ph type="sldNum" sz="quarter" idx="12"/>
          </p:nvPr>
        </p:nvSpPr>
        <p:spPr>
          <a:noFill/>
        </p:spPr>
        <p:txBody>
          <a:bodyPr/>
          <a:lstStyle/>
          <a:p>
            <a:fld id="{772D747A-38D1-48E7-A9C4-9FB59BA3E510}" type="slidenum">
              <a:rPr lang="pl-PL" smtClean="0"/>
              <a:pPr/>
              <a:t>40</a:t>
            </a:fld>
            <a:endParaRPr lang="pl-PL"/>
          </a:p>
        </p:txBody>
      </p:sp>
      <p:sp>
        <p:nvSpPr>
          <p:cNvPr id="37891" name="Rectangle 2"/>
          <p:cNvSpPr>
            <a:spLocks noGrp="1" noChangeArrowheads="1"/>
          </p:cNvSpPr>
          <p:nvPr>
            <p:ph type="title"/>
          </p:nvPr>
        </p:nvSpPr>
        <p:spPr/>
        <p:txBody>
          <a:bodyPr/>
          <a:lstStyle/>
          <a:p>
            <a:pPr eaLnBrk="1" hangingPunct="1"/>
            <a:r>
              <a:rPr lang="pl-PL" sz="2000" b="1" dirty="0">
                <a:solidFill>
                  <a:srgbClr val="333399"/>
                </a:solidFill>
              </a:rPr>
              <a:t>Szkoda i jej dochodzenie przed sądem I instancji</a:t>
            </a:r>
            <a:endParaRPr lang="pl-PL" sz="2800" dirty="0">
              <a:solidFill>
                <a:schemeClr val="accent2"/>
              </a:solidFill>
            </a:endParaRPr>
          </a:p>
        </p:txBody>
      </p:sp>
      <p:sp>
        <p:nvSpPr>
          <p:cNvPr id="37892" name="Rectangle 3"/>
          <p:cNvSpPr>
            <a:spLocks noGrp="1" noChangeArrowheads="1"/>
          </p:cNvSpPr>
          <p:nvPr>
            <p:ph type="body" idx="1"/>
          </p:nvPr>
        </p:nvSpPr>
        <p:spPr/>
        <p:txBody>
          <a:bodyPr/>
          <a:lstStyle/>
          <a:p>
            <a:pPr marL="609600" indent="-609600" eaLnBrk="1" hangingPunct="1">
              <a:buFontTx/>
              <a:buNone/>
            </a:pPr>
            <a:endParaRPr lang="pl-PL" dirty="0"/>
          </a:p>
          <a:p>
            <a:pPr marL="609600" indent="-609600" eaLnBrk="1" hangingPunct="1">
              <a:buFontTx/>
              <a:buNone/>
            </a:pPr>
            <a:endParaRPr lang="pl-PL" dirty="0">
              <a:solidFill>
                <a:schemeClr val="accent2"/>
              </a:solidFill>
            </a:endParaRPr>
          </a:p>
          <a:p>
            <a:pPr marL="609600" indent="-609600" eaLnBrk="1" hangingPunct="1">
              <a:buFontTx/>
              <a:buNone/>
            </a:pPr>
            <a:endParaRPr lang="pl-PL" dirty="0">
              <a:solidFill>
                <a:schemeClr val="accent2"/>
              </a:solidFill>
            </a:endParaRPr>
          </a:p>
          <a:p>
            <a:pPr marL="609600" indent="-609600" eaLnBrk="1" hangingPunct="1">
              <a:buFontTx/>
              <a:buNone/>
            </a:pPr>
            <a:r>
              <a:rPr lang="pl-PL" dirty="0">
                <a:solidFill>
                  <a:schemeClr val="accent2"/>
                </a:solidFill>
              </a:rPr>
              <a:t>		</a:t>
            </a:r>
            <a:r>
              <a:rPr lang="pl-PL" sz="4000" b="1" dirty="0">
                <a:solidFill>
                  <a:schemeClr val="accent2"/>
                </a:solidFill>
              </a:rPr>
              <a:t>DZIĘKUJĘ ZA UWAGĘ</a:t>
            </a:r>
          </a:p>
        </p:txBody>
      </p:sp>
    </p:spTree>
    <p:extLst>
      <p:ext uri="{BB962C8B-B14F-4D97-AF65-F5344CB8AC3E}">
        <p14:creationId xmlns:p14="http://schemas.microsoft.com/office/powerpoint/2010/main" val="4085894466"/>
      </p:ext>
    </p:extLst>
  </p:cSld>
  <p:clrMapOvr>
    <a:masterClrMapping/>
  </p:clrMapOvr>
</p:sld>
</file>

<file path=ppt/theme/theme1.xml><?xml version="1.0" encoding="utf-8"?>
<a:theme xmlns:a="http://schemas.openxmlformats.org/drawingml/2006/main" name="1_Projekt domyślny">
  <a:themeElements>
    <a:clrScheme name="1_Projekt domyśln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Projekt domyślny">
      <a:majorFont>
        <a:latin typeface="Arial"/>
        <a:ea typeface=""/>
        <a:cs typeface=""/>
      </a:majorFont>
      <a:minorFont>
        <a:latin typeface="Arial"/>
        <a:ea typeface=""/>
        <a:cs typeface=""/>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Char char="•"/>
          <a:tabLst/>
          <a:defRPr kumimoji="0" lang="en-US" sz="3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Char char="•"/>
          <a:tabLst/>
          <a:defRPr kumimoji="0" lang="en-US" sz="3200" b="0" i="0" u="none" strike="noStrike" cap="none" normalizeH="0" baseline="0" smtClean="0">
            <a:ln>
              <a:noFill/>
            </a:ln>
            <a:solidFill>
              <a:schemeClr val="tx1"/>
            </a:solidFill>
            <a:effectLst/>
            <a:latin typeface="Arial" charset="0"/>
          </a:defRPr>
        </a:defPPr>
      </a:lstStyle>
    </a:lnDef>
  </a:objectDefaults>
  <a:extraClrSchemeLst>
    <a:extraClrScheme>
      <a:clrScheme name="1_Projekt domyśln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Projekt domyślny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Projekt domyślny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Projekt domyślny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Projekt domyślny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Projekt domyślny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Projekt domyślny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Projekt domyślny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Projekt domyślny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Projekt domyślny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Projekt domyślny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Projekt domyślny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Motyw pakietu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yw pakietu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15528</TotalTime>
  <Words>5345</Words>
  <Application>Microsoft Office PowerPoint</Application>
  <PresentationFormat>Pokaz na ekranie (4:3)</PresentationFormat>
  <Paragraphs>366</Paragraphs>
  <Slides>40</Slides>
  <Notes>4</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40</vt:i4>
      </vt:variant>
    </vt:vector>
  </HeadingPairs>
  <TitlesOfParts>
    <vt:vector size="45" baseType="lpstr">
      <vt:lpstr>Arial</vt:lpstr>
      <vt:lpstr>Open Sans</vt:lpstr>
      <vt:lpstr>Times New Roman</vt:lpstr>
      <vt:lpstr>Wingdings</vt:lpstr>
      <vt:lpstr>1_Projekt domyślny</vt:lpstr>
      <vt:lpstr>Prezentacja programu PowerPoint</vt:lpstr>
      <vt:lpstr>Prezentacja programu PowerPoint</vt:lpstr>
      <vt:lpstr>Prezentacja programu PowerPoint</vt:lpstr>
      <vt:lpstr>Szkoda i jej dochodzenie przed sądem I instancji</vt:lpstr>
      <vt:lpstr>Prezentacja programu PowerPoint</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w systemie prawa karnego</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lpstr>Szkoda i jej dochodzenie przed sądem I instancji</vt:lpstr>
    </vt:vector>
  </TitlesOfParts>
  <Company>TZMO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Nowości/Modyfikacje produktowe</dc:title>
  <dc:creator>mszymkow</dc:creator>
  <cp:lastModifiedBy>Zgoliński Igor</cp:lastModifiedBy>
  <cp:revision>992</cp:revision>
  <dcterms:created xsi:type="dcterms:W3CDTF">2007-04-12T10:32:33Z</dcterms:created>
  <dcterms:modified xsi:type="dcterms:W3CDTF">2024-07-15T09:49:27Z</dcterms:modified>
</cp:coreProperties>
</file>